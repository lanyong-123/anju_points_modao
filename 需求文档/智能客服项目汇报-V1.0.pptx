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2.svg" ContentType="image/svg+xml"/>
  <Override PartName="/ppt/media/image33.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6" r:id="rId4"/>
  </p:sldMasterIdLst>
  <p:notesMasterIdLst>
    <p:notesMasterId r:id="rId6"/>
  </p:notesMasterIdLst>
  <p:handoutMasterIdLst>
    <p:handoutMasterId r:id="rId31"/>
  </p:handoutMasterIdLst>
  <p:sldIdLst>
    <p:sldId id="256" r:id="rId5"/>
    <p:sldId id="258" r:id="rId7"/>
    <p:sldId id="1343" r:id="rId8"/>
    <p:sldId id="1278" r:id="rId9"/>
    <p:sldId id="260" r:id="rId10"/>
    <p:sldId id="1342" r:id="rId11"/>
    <p:sldId id="1313" r:id="rId12"/>
    <p:sldId id="1316" r:id="rId13"/>
    <p:sldId id="1317" r:id="rId14"/>
    <p:sldId id="1318" r:id="rId15"/>
    <p:sldId id="1341" r:id="rId16"/>
    <p:sldId id="1324" r:id="rId17"/>
    <p:sldId id="1344" r:id="rId18"/>
    <p:sldId id="1347" r:id="rId19"/>
    <p:sldId id="1345" r:id="rId20"/>
    <p:sldId id="1346" r:id="rId21"/>
    <p:sldId id="1325" r:id="rId22"/>
    <p:sldId id="1335" r:id="rId23"/>
    <p:sldId id="1336" r:id="rId24"/>
    <p:sldId id="261" r:id="rId25"/>
    <p:sldId id="1320" r:id="rId26"/>
    <p:sldId id="1319" r:id="rId27"/>
    <p:sldId id="1321" r:id="rId28"/>
    <p:sldId id="1322" r:id="rId29"/>
    <p:sldId id="259" r:id="rId30"/>
  </p:sldIdLst>
  <p:sldSz cx="12192000" cy="6858000"/>
  <p:notesSz cx="7105650" cy="10239375"/>
  <p:custDataLst>
    <p:tags r:id="rId36"/>
  </p:custDataLst>
  <p:defaultTextStyle>
    <a:defPPr>
      <a:defRPr lang="zh-CN"/>
    </a:defPPr>
    <a:lvl1pPr algn="l" rtl="0" eaLnBrk="0" fontAlgn="base" hangingPunct="0">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buFont typeface="Arial" panose="020B0604020202090204" pitchFamily="34" charset="0"/>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522" userDrawn="1">
          <p15:clr>
            <a:srgbClr val="A4A3A4"/>
          </p15:clr>
        </p15:guide>
        <p15:guide id="2" pos="38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Rachel S.Q. (GZ/MC)" initials="LR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C0A9"/>
    <a:srgbClr val="FF8439"/>
    <a:srgbClr val="0070C6"/>
    <a:srgbClr val="00B5D1"/>
    <a:srgbClr val="0086D1"/>
    <a:srgbClr val="0088D1"/>
    <a:srgbClr val="0091DA"/>
    <a:srgbClr val="E2E7E2"/>
    <a:srgbClr val="E6E6E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autoAdjust="0"/>
    <p:restoredTop sz="94316" autoAdjust="0"/>
  </p:normalViewPr>
  <p:slideViewPr>
    <p:cSldViewPr showGuides="1">
      <p:cViewPr varScale="1">
        <p:scale>
          <a:sx n="131" d="100"/>
          <a:sy n="131" d="100"/>
        </p:scale>
        <p:origin x="213" y="65"/>
      </p:cViewPr>
      <p:guideLst>
        <p:guide orient="horz" pos="2522"/>
        <p:guide pos="3888"/>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90" d="100"/>
          <a:sy n="90" d="100"/>
        </p:scale>
        <p:origin x="4454"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6" Type="http://schemas.openxmlformats.org/officeDocument/2006/relationships/tags" Target="tags/tag105.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3" y="2"/>
            <a:ext cx="3079889" cy="514097"/>
          </a:xfrm>
          <a:prstGeom prst="rect">
            <a:avLst/>
          </a:prstGeom>
        </p:spPr>
        <p:txBody>
          <a:bodyPr vert="horz" lIns="94706" tIns="47353" rIns="94706" bIns="47353" rtlCol="0"/>
          <a:lstStyle>
            <a:lvl1pPr algn="l">
              <a:defRPr sz="1200"/>
            </a:lvl1pPr>
          </a:lstStyle>
          <a:p>
            <a:endParaRPr lang="zh-CN" altLang="en-US"/>
          </a:p>
        </p:txBody>
      </p:sp>
      <p:sp>
        <p:nvSpPr>
          <p:cNvPr id="3" name="日期占位符 2"/>
          <p:cNvSpPr>
            <a:spLocks noGrp="1"/>
          </p:cNvSpPr>
          <p:nvPr>
            <p:ph type="dt" sz="quarter" idx="1"/>
          </p:nvPr>
        </p:nvSpPr>
        <p:spPr>
          <a:xfrm>
            <a:off x="4024109" y="2"/>
            <a:ext cx="3079889" cy="514097"/>
          </a:xfrm>
          <a:prstGeom prst="rect">
            <a:avLst/>
          </a:prstGeom>
        </p:spPr>
        <p:txBody>
          <a:bodyPr vert="horz" lIns="94706" tIns="47353" rIns="94706" bIns="47353" rtlCol="0"/>
          <a:lstStyle>
            <a:lvl1pPr algn="r">
              <a:defRPr sz="1200"/>
            </a:lvl1pPr>
          </a:lstStyle>
          <a:p>
            <a:fld id="{0253DA9E-0680-4CDF-ADCF-BCCA3BD6D2A4}" type="datetime1">
              <a:rPr lang="zh-CN" altLang="en-US" smtClean="0"/>
            </a:fld>
            <a:endParaRPr lang="zh-CN" altLang="en-US"/>
          </a:p>
        </p:txBody>
      </p:sp>
      <p:sp>
        <p:nvSpPr>
          <p:cNvPr id="4" name="页脚占位符 3"/>
          <p:cNvSpPr>
            <a:spLocks noGrp="1"/>
          </p:cNvSpPr>
          <p:nvPr>
            <p:ph type="ftr" sz="quarter" idx="2"/>
          </p:nvPr>
        </p:nvSpPr>
        <p:spPr>
          <a:xfrm>
            <a:off x="3" y="9725284"/>
            <a:ext cx="3079889" cy="514097"/>
          </a:xfrm>
          <a:prstGeom prst="rect">
            <a:avLst/>
          </a:prstGeom>
        </p:spPr>
        <p:txBody>
          <a:bodyPr vert="horz" lIns="94706" tIns="47353" rIns="94706" bIns="47353"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4109" y="9725284"/>
            <a:ext cx="3079889" cy="514097"/>
          </a:xfrm>
          <a:prstGeom prst="rect">
            <a:avLst/>
          </a:prstGeom>
        </p:spPr>
        <p:txBody>
          <a:bodyPr vert="horz" lIns="94706" tIns="47353" rIns="94706" bIns="47353" rtlCol="0" anchor="b"/>
          <a:lstStyle>
            <a:lvl1pPr algn="r">
              <a:defRPr sz="1200"/>
            </a:lvl1pPr>
          </a:lstStyle>
          <a:p>
            <a:fld id="{77430AA2-6492-4BD0-AEC3-4CF127E7E59E}"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9" y="6"/>
            <a:ext cx="3079115" cy="513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706" tIns="47353" rIns="94706" bIns="47353" numCol="1" anchor="t" anchorCtr="0" compatLnSpc="1"/>
          <a:lstStyle>
            <a:lvl1pPr>
              <a:defRPr sz="1200"/>
            </a:lvl1pPr>
          </a:lstStyle>
          <a:p>
            <a:pPr>
              <a:defRPr/>
            </a:pPr>
            <a:endParaRPr lang="zh-CN" altLang="zh-CN"/>
          </a:p>
        </p:txBody>
      </p:sp>
      <p:sp>
        <p:nvSpPr>
          <p:cNvPr id="2051" name="日期占位符 2"/>
          <p:cNvSpPr>
            <a:spLocks noGrp="1" noChangeArrowheads="1"/>
          </p:cNvSpPr>
          <p:nvPr>
            <p:ph type="dt" idx="1"/>
          </p:nvPr>
        </p:nvSpPr>
        <p:spPr bwMode="auto">
          <a:xfrm>
            <a:off x="4024900" y="6"/>
            <a:ext cx="3079115" cy="513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706" tIns="47353" rIns="94706" bIns="47353" numCol="1" anchor="t" anchorCtr="0" compatLnSpc="1"/>
          <a:lstStyle>
            <a:lvl1pPr algn="r">
              <a:defRPr/>
            </a:lvl1pPr>
          </a:lstStyle>
          <a:p>
            <a:pPr>
              <a:defRPr/>
            </a:pPr>
            <a:fld id="{2E5D18E1-C057-4EB3-A89E-6DA4646D45C3}" type="datetime1">
              <a:rPr lang="zh-CN" altLang="en-US" smtClean="0"/>
            </a:fld>
            <a:endParaRPr lang="zh-CN" altLang="en-US" sz="1200" dirty="0"/>
          </a:p>
        </p:txBody>
      </p:sp>
      <p:sp>
        <p:nvSpPr>
          <p:cNvPr id="24580" name="幻灯片图像占位符 3"/>
          <p:cNvSpPr>
            <a:spLocks noGrp="1" noRot="1" noChangeAspect="1" noChangeArrowheads="1"/>
          </p:cNvSpPr>
          <p:nvPr>
            <p:ph type="sldImg" idx="2"/>
          </p:nvPr>
        </p:nvSpPr>
        <p:spPr bwMode="auto">
          <a:xfrm>
            <a:off x="481013" y="1279525"/>
            <a:ext cx="6143625"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bevel/>
              </a14:hiddenLine>
            </a:ext>
          </a:extLst>
        </p:spPr>
      </p:sp>
      <p:sp>
        <p:nvSpPr>
          <p:cNvPr id="24581" name="备注占位符 4"/>
          <p:cNvSpPr>
            <a:spLocks noGrp="1" noRot="1" noChangeAspect="1" noChangeArrowheads="1"/>
          </p:cNvSpPr>
          <p:nvPr/>
        </p:nvSpPr>
        <p:spPr bwMode="auto">
          <a:xfrm>
            <a:off x="710568" y="4927702"/>
            <a:ext cx="5684520" cy="4031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bevel/>
              </a14:hiddenLine>
            </a:ext>
          </a:extLst>
        </p:spPr>
        <p:txBody>
          <a:bodyPr lIns="94706" tIns="47353" rIns="94706" bIns="47353" anchor="ctr"/>
          <a:lstStyle>
            <a:lvl1pPr defTabSz="0">
              <a:defRPr>
                <a:solidFill>
                  <a:schemeClr val="tx1"/>
                </a:solidFill>
                <a:latin typeface="Arial" panose="020B0604020202090204" pitchFamily="34" charset="0"/>
                <a:ea typeface="宋体" pitchFamily="2" charset="-122"/>
              </a:defRPr>
            </a:lvl1pPr>
            <a:lvl2pPr marL="742950" indent="-285750" defTabSz="0">
              <a:defRPr>
                <a:solidFill>
                  <a:schemeClr val="tx1"/>
                </a:solidFill>
                <a:latin typeface="Arial" panose="020B0604020202090204" pitchFamily="34" charset="0"/>
                <a:ea typeface="宋体" pitchFamily="2" charset="-122"/>
              </a:defRPr>
            </a:lvl2pPr>
            <a:lvl3pPr marL="1143000" indent="-228600" defTabSz="0">
              <a:defRPr>
                <a:solidFill>
                  <a:schemeClr val="tx1"/>
                </a:solidFill>
                <a:latin typeface="Arial" panose="020B0604020202090204" pitchFamily="34" charset="0"/>
                <a:ea typeface="宋体" pitchFamily="2" charset="-122"/>
              </a:defRPr>
            </a:lvl3pPr>
            <a:lvl4pPr marL="1600200" indent="-228600" defTabSz="0">
              <a:defRPr>
                <a:solidFill>
                  <a:schemeClr val="tx1"/>
                </a:solidFill>
                <a:latin typeface="Arial" panose="020B0604020202090204" pitchFamily="34" charset="0"/>
                <a:ea typeface="宋体" pitchFamily="2" charset="-122"/>
              </a:defRPr>
            </a:lvl4pPr>
            <a:lvl5pPr marL="2057400" indent="-228600" defTabSz="0">
              <a:defRPr>
                <a:solidFill>
                  <a:schemeClr val="tx1"/>
                </a:solidFill>
                <a:latin typeface="Arial" panose="020B0604020202090204" pitchFamily="34" charset="0"/>
                <a:ea typeface="宋体" pitchFamily="2" charset="-122"/>
              </a:defRPr>
            </a:lvl5pPr>
            <a:lvl6pPr marL="2514600" indent="-228600" defTabSz="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defTabSz="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defTabSz="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defTabSz="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spcBef>
                <a:spcPct val="30000"/>
              </a:spcBef>
              <a:buFontTx/>
              <a:buNone/>
            </a:pPr>
            <a:r>
              <a:rPr lang="zh-CN" altLang="en-US" sz="1200" dirty="0"/>
              <a:t>单击此处编辑母版文本样式</a:t>
            </a:r>
            <a:endParaRPr lang="zh-CN" altLang="en-US" sz="1200" dirty="0"/>
          </a:p>
          <a:p>
            <a:pPr>
              <a:spcBef>
                <a:spcPct val="30000"/>
              </a:spcBef>
              <a:buFontTx/>
              <a:buNone/>
            </a:pPr>
            <a:r>
              <a:rPr lang="zh-CN" altLang="en-US" sz="1200" dirty="0"/>
              <a:t>第二级</a:t>
            </a:r>
            <a:endParaRPr lang="zh-CN" altLang="en-US" sz="1200" dirty="0"/>
          </a:p>
          <a:p>
            <a:pPr>
              <a:spcBef>
                <a:spcPct val="30000"/>
              </a:spcBef>
              <a:buFontTx/>
              <a:buNone/>
            </a:pPr>
            <a:r>
              <a:rPr lang="zh-CN" altLang="en-US" sz="1200" dirty="0"/>
              <a:t>第三级</a:t>
            </a:r>
            <a:endParaRPr lang="zh-CN" altLang="en-US" sz="1200" dirty="0"/>
          </a:p>
          <a:p>
            <a:pPr>
              <a:spcBef>
                <a:spcPct val="30000"/>
              </a:spcBef>
              <a:buFontTx/>
              <a:buNone/>
            </a:pPr>
            <a:r>
              <a:rPr lang="zh-CN" altLang="en-US" sz="1200" dirty="0"/>
              <a:t>第四级</a:t>
            </a:r>
            <a:endParaRPr lang="zh-CN" altLang="en-US" sz="1200" dirty="0"/>
          </a:p>
          <a:p>
            <a:pPr>
              <a:spcBef>
                <a:spcPct val="30000"/>
              </a:spcBef>
              <a:buFontTx/>
              <a:buNone/>
            </a:pPr>
            <a:r>
              <a:rPr lang="zh-CN" altLang="en-US" sz="1200" dirty="0"/>
              <a:t>第五级</a:t>
            </a:r>
            <a:endParaRPr lang="zh-CN" altLang="en-US" sz="1200" dirty="0"/>
          </a:p>
        </p:txBody>
      </p:sp>
      <p:sp>
        <p:nvSpPr>
          <p:cNvPr id="2054" name="页脚占位符 5"/>
          <p:cNvSpPr>
            <a:spLocks noGrp="1" noChangeArrowheads="1"/>
          </p:cNvSpPr>
          <p:nvPr>
            <p:ph type="ftr" sz="quarter" idx="4"/>
          </p:nvPr>
        </p:nvSpPr>
        <p:spPr bwMode="auto">
          <a:xfrm>
            <a:off x="9" y="9725631"/>
            <a:ext cx="3079115" cy="513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706" tIns="47353" rIns="94706" bIns="47353" numCol="1" anchor="b" anchorCtr="0" compatLnSpc="1"/>
          <a:lstStyle>
            <a:lvl1pPr>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4024900" y="9725631"/>
            <a:ext cx="3079115" cy="513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706" tIns="47353" rIns="94706" bIns="47353" numCol="1" anchor="b" anchorCtr="0" compatLnSpc="1"/>
          <a:lstStyle>
            <a:lvl1pPr algn="r">
              <a:defRPr/>
            </a:lvl1pPr>
          </a:lstStyle>
          <a:p>
            <a:fld id="{9C451D31-6DB3-4853-A4B6-7D74BEE51832}" type="slidenum">
              <a:rPr lang="zh-CN" altLang="en-US"/>
            </a:fld>
            <a:endParaRPr lang="zh-CN" altLang="en-US" sz="1200" dirty="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1204" y="4927604"/>
            <a:ext cx="5683250" cy="4032250"/>
          </a:xfrm>
          <a:prstGeom prst="rect">
            <a:avLst/>
          </a:prstGeom>
        </p:spPr>
        <p:txBody>
          <a:bodyPr lIns="91358" tIns="45679" rIns="91358" bIns="45679"/>
          <a:lstStyle/>
          <a:p>
            <a:endParaRPr lang="zh-CN" altLang="en-US"/>
          </a:p>
        </p:txBody>
      </p:sp>
      <p:sp>
        <p:nvSpPr>
          <p:cNvPr id="4" name="日期占位符 3"/>
          <p:cNvSpPr>
            <a:spLocks noGrp="1"/>
          </p:cNvSpPr>
          <p:nvPr>
            <p:ph type="dt" idx="1"/>
          </p:nvPr>
        </p:nvSpPr>
        <p:spPr/>
        <p:txBody>
          <a:bodyPr/>
          <a:lstStyle/>
          <a:p>
            <a:pPr>
              <a:defRPr/>
            </a:pPr>
            <a:fld id="{2E5D18E1-C057-4EB3-A89E-6DA4646D45C3}" type="datetime1">
              <a:rPr lang="zh-CN" altLang="en-US" smtClean="0"/>
            </a:fld>
            <a:endParaRPr lang="zh-CN" altLang="en-US" sz="1200" dirty="0"/>
          </a:p>
        </p:txBody>
      </p:sp>
      <p:sp>
        <p:nvSpPr>
          <p:cNvPr id="5" name="灯片编号占位符 4"/>
          <p:cNvSpPr>
            <a:spLocks noGrp="1"/>
          </p:cNvSpPr>
          <p:nvPr>
            <p:ph type="sldNum" sz="quarter" idx="5"/>
          </p:nvPr>
        </p:nvSpPr>
        <p:spPr/>
        <p:txBody>
          <a:bodyPr/>
          <a:lstStyle/>
          <a:p>
            <a:fld id="{9C451D31-6DB3-4853-A4B6-7D74BEE51832}" type="slidenum">
              <a:rPr lang="zh-CN" altLang="en-US" smtClean="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235" y="4927280"/>
            <a:ext cx="5685184" cy="4031559"/>
          </a:xfrm>
          <a:prstGeom prst="rect">
            <a:avLst/>
          </a:prstGeom>
        </p:spPr>
        <p:txBody>
          <a:bodyPr lIns="94787" tIns="47393" rIns="94787" bIns="47393"/>
          <a:lstStyle/>
          <a:p>
            <a:endParaRPr lang="zh-CN" altLang="en-US" dirty="0"/>
          </a:p>
        </p:txBody>
      </p:sp>
      <p:sp>
        <p:nvSpPr>
          <p:cNvPr id="4" name="日期占位符 3"/>
          <p:cNvSpPr>
            <a:spLocks noGrp="1"/>
          </p:cNvSpPr>
          <p:nvPr>
            <p:ph type="dt" idx="1"/>
          </p:nvPr>
        </p:nvSpPr>
        <p:spPr/>
        <p:txBody>
          <a:bodyPr/>
          <a:lstStyle/>
          <a:p>
            <a:pPr>
              <a:defRPr/>
            </a:pPr>
            <a:fld id="{2E5D18E1-C057-4EB3-A89E-6DA4646D45C3}" type="datetime1">
              <a:rPr lang="zh-CN" altLang="en-US" smtClean="0"/>
            </a:fld>
            <a:endParaRPr lang="zh-CN" altLang="en-US" sz="1200" dirty="0"/>
          </a:p>
        </p:txBody>
      </p:sp>
      <p:sp>
        <p:nvSpPr>
          <p:cNvPr id="5" name="灯片编号占位符 4"/>
          <p:cNvSpPr>
            <a:spLocks noGrp="1"/>
          </p:cNvSpPr>
          <p:nvPr>
            <p:ph type="sldNum" sz="quarter" idx="5"/>
          </p:nvPr>
        </p:nvSpPr>
        <p:spPr/>
        <p:txBody>
          <a:bodyPr/>
          <a:lstStyle/>
          <a:p>
            <a:fld id="{9C451D31-6DB3-4853-A4B6-7D74BEE51832}" type="slidenum">
              <a:rPr lang="zh-CN" altLang="en-US" smtClean="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6.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image" Target="../media/image8.jpeg"/><Relationship Id="rId4" Type="http://schemas.openxmlformats.org/officeDocument/2006/relationships/image" Target="../media/image7.emf"/><Relationship Id="rId3" Type="http://schemas.openxmlformats.org/officeDocument/2006/relationships/oleObject" Target="../embeddings/oleObject2.bin"/><Relationship Id="rId2" Type="http://schemas.openxmlformats.org/officeDocument/2006/relationships/tags" Target="../tags/tag5.xm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tags" Target="../tags/tag7.xml"/><Relationship Id="rId4" Type="http://schemas.openxmlformats.org/officeDocument/2006/relationships/image" Target="../media/image9.emf"/><Relationship Id="rId3" Type="http://schemas.openxmlformats.org/officeDocument/2006/relationships/oleObject" Target="../embeddings/oleObject3.bin"/><Relationship Id="rId2" Type="http://schemas.openxmlformats.org/officeDocument/2006/relationships/tags" Target="../tags/tag6.xml"/><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54DDABF4-924C-4DEB-B2CA-DBF85D18367D}"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70F99140-9381-44F3-B08F-EE94986E0C3F}" type="slidenum">
              <a:rPr lang="zh-CN" altLang="en-US"/>
            </a:fld>
            <a:endParaRPr lang="zh-CN" altLang="en-US" sz="1800">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D8B72256-6990-4AF7-AB8D-B3CDF3C9E89B}"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765CE6C3-29C5-42B6-A4B2-A1189FDEB743}" type="slidenum">
              <a:rPr lang="zh-CN" altLang="en-US"/>
            </a:fld>
            <a:endParaRPr lang="zh-CN" altLang="en-US" sz="18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004E707B-8720-45C1-ABA3-F33676459E3C}"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35222DA6-1537-43DD-9C02-27775B4867E3}" type="slidenum">
              <a:rPr lang="zh-CN" altLang="en-US"/>
            </a:fld>
            <a:endParaRPr lang="zh-CN" altLang="en-US" sz="180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BEBF4FA9-EE76-4015-A7EF-4FA865A6F617}" type="datetime1">
              <a:rPr lang="zh-CN" altLang="en-US" smtClean="0"/>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3BB57223-B8FC-44C3-A4C3-A614B1F78229}" type="slidenum">
              <a:rPr lang="zh-CN" altLang="en-US"/>
            </a:fld>
            <a:endParaRPr lang="zh-CN" altLang="en-US" sz="18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5BB84A0C-EC4D-4DDE-920F-B82407DE4130}" type="datetime1">
              <a:rPr lang="zh-CN" altLang="en-US" smtClean="0"/>
            </a:fld>
            <a:endParaRPr lang="zh-CN" altLang="en-US" sz="1800">
              <a:solidFill>
                <a:schemeClr val="tx1"/>
              </a:solidFill>
            </a:endParaRPr>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9" name="灯片编号占位符 5"/>
          <p:cNvSpPr>
            <a:spLocks noGrp="1" noChangeArrowheads="1"/>
          </p:cNvSpPr>
          <p:nvPr>
            <p:ph type="sldNum" sz="quarter" idx="12"/>
          </p:nvPr>
        </p:nvSpPr>
        <p:spPr/>
        <p:txBody>
          <a:bodyPr/>
          <a:lstStyle>
            <a:lvl1pPr>
              <a:defRPr/>
            </a:lvl1pPr>
          </a:lstStyle>
          <a:p>
            <a:fld id="{93F811D5-1728-48BA-A900-8F962E21FDDC}" type="slidenum">
              <a:rPr lang="zh-CN" altLang="en-US"/>
            </a:fld>
            <a:endParaRPr lang="zh-CN" altLang="en-US" sz="180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D05C14FF-AC9C-47CE-B16E-63038790F9D0}"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37AFE80B-09B6-4BCD-9BD3-CFCD8FFB55F5}" type="slidenum">
              <a:rPr lang="zh-CN" altLang="en-US"/>
            </a:fld>
            <a:endParaRPr lang="zh-CN" altLang="en-US" sz="1800">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E1F97B78-9184-416D-95B9-AAE2A17C1BC8}" type="datetime1">
              <a:rPr lang="zh-CN" altLang="en-US" smtClean="0"/>
            </a:fld>
            <a:endParaRPr lang="zh-CN" altLang="en-US" sz="1800">
              <a:solidFill>
                <a:schemeClr val="tx1"/>
              </a:solidFill>
            </a:endParaRPr>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4" name="灯片编号占位符 5"/>
          <p:cNvSpPr>
            <a:spLocks noGrp="1" noChangeArrowheads="1"/>
          </p:cNvSpPr>
          <p:nvPr>
            <p:ph type="sldNum" sz="quarter" idx="12"/>
          </p:nvPr>
        </p:nvSpPr>
        <p:spPr/>
        <p:txBody>
          <a:bodyPr/>
          <a:lstStyle>
            <a:lvl1pPr>
              <a:defRPr/>
            </a:lvl1pPr>
          </a:lstStyle>
          <a:p>
            <a:fld id="{52C20735-B5E5-440B-9EFE-973A3AD8E943}" type="slidenum">
              <a:rPr lang="zh-CN" altLang="en-US"/>
            </a:fld>
            <a:endParaRPr lang="zh-CN" altLang="en-US" sz="1800">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9E942DC7-17AE-4A24-9842-505CD8214528}" type="datetime1">
              <a:rPr lang="zh-CN" altLang="en-US" smtClean="0"/>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2B32BB6F-51A9-4A1D-BE11-99C638A96CC4}" type="slidenum">
              <a:rPr lang="zh-CN" altLang="en-US"/>
            </a:fld>
            <a:endParaRPr lang="zh-CN" altLang="en-US" sz="1800">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anose="020F0502020204030204" pitchFamily="34" charset="0"/>
            </a:endParaRPr>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A6CF26AC-8DA3-415E-98C8-EAF7949D89D0}" type="datetime1">
              <a:rPr lang="zh-CN" altLang="en-US" smtClean="0"/>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073C6217-591F-4C7A-A268-4C433060C559}" type="slidenum">
              <a:rPr lang="zh-CN" altLang="en-US"/>
            </a:fld>
            <a:endParaRPr lang="zh-CN" altLang="en-US" sz="1800">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8986C9F5-598C-4096-81DC-E053DFC5394D}"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4BDA4DC8-B166-4FED-AA9F-A4A77E671B02}" type="slidenum">
              <a:rPr lang="zh-CN" altLang="en-US"/>
            </a:fld>
            <a:endParaRPr lang="zh-CN" altLang="en-US" sz="18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8"/>
            <a:ext cx="80772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29F7A697-A26F-4909-BFA9-DA7583637397}"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A01819F1-BA59-450B-934A-7A1F48FE46AD}" type="slidenum">
              <a:rPr lang="zh-CN" altLang="en-US"/>
            </a:fld>
            <a:endParaRPr lang="zh-CN" altLang="en-US" sz="1800">
              <a:solidFill>
                <a:schemeClr val="tx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任意多边形 1"/>
          <p:cNvSpPr/>
          <p:nvPr userDrawn="1"/>
        </p:nvSpPr>
        <p:spPr>
          <a:xfrm>
            <a:off x="-5283" y="6431378"/>
            <a:ext cx="12202363" cy="435195"/>
          </a:xfrm>
          <a:custGeom>
            <a:avLst/>
            <a:gdLst>
              <a:gd name="connsiteX0" fmla="*/ 6442848 w 12885696"/>
              <a:gd name="connsiteY0" fmla="*/ 0 h 677930"/>
              <a:gd name="connsiteX1" fmla="*/ 12818477 w 12885696"/>
              <a:gd name="connsiteY1" fmla="*/ 656546 h 677930"/>
              <a:gd name="connsiteX2" fmla="*/ 12885696 w 12885696"/>
              <a:gd name="connsiteY2" fmla="*/ 677930 h 677930"/>
              <a:gd name="connsiteX3" fmla="*/ 0 w 12885696"/>
              <a:gd name="connsiteY3" fmla="*/ 677930 h 677930"/>
              <a:gd name="connsiteX4" fmla="*/ 67219 w 12885696"/>
              <a:gd name="connsiteY4" fmla="*/ 656546 h 677930"/>
              <a:gd name="connsiteX5" fmla="*/ 6442848 w 12885696"/>
              <a:gd name="connsiteY5" fmla="*/ 0 h 67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85696" h="677930">
                <a:moveTo>
                  <a:pt x="6442848" y="0"/>
                </a:moveTo>
                <a:cubicBezTo>
                  <a:pt x="9144779" y="0"/>
                  <a:pt x="11510983" y="262931"/>
                  <a:pt x="12818477" y="656546"/>
                </a:cubicBezTo>
                <a:lnTo>
                  <a:pt x="12885696" y="677930"/>
                </a:lnTo>
                <a:lnTo>
                  <a:pt x="0" y="677930"/>
                </a:lnTo>
                <a:lnTo>
                  <a:pt x="67219" y="656546"/>
                </a:lnTo>
                <a:cubicBezTo>
                  <a:pt x="1374713" y="262931"/>
                  <a:pt x="3740917" y="0"/>
                  <a:pt x="6442848" y="0"/>
                </a:cubicBezTo>
                <a:close/>
              </a:path>
            </a:pathLst>
          </a:cu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54DDABF4-924C-4DEB-B2CA-DBF85D18367D}"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70F99140-9381-44F3-B08F-EE94986E0C3F}" type="slidenum">
              <a:rPr lang="zh-CN" altLang="en-US"/>
            </a:fld>
            <a:endParaRPr lang="zh-CN" altLang="en-US" sz="1800">
              <a:solidFill>
                <a:schemeClr val="tx1"/>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D8B72256-6990-4AF7-AB8D-B3CDF3C9E89B}"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765CE6C3-29C5-42B6-A4B2-A1189FDEB743}" type="slidenum">
              <a:rPr lang="zh-CN" altLang="en-US"/>
            </a:fld>
            <a:endParaRPr lang="zh-CN" altLang="en-US" sz="1800">
              <a:solidFill>
                <a:schemeClr val="tx1"/>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004E707B-8720-45C1-ABA3-F33676459E3C}"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35222DA6-1537-43DD-9C02-27775B4867E3}" type="slidenum">
              <a:rPr lang="zh-CN" altLang="en-US"/>
            </a:fld>
            <a:endParaRPr lang="zh-CN" altLang="en-US" sz="1800">
              <a:solidFill>
                <a:schemeClr val="tx1"/>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BEBF4FA9-EE76-4015-A7EF-4FA865A6F617}" type="datetime1">
              <a:rPr lang="zh-CN" altLang="en-US" smtClean="0"/>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3BB57223-B8FC-44C3-A4C3-A614B1F78229}" type="slidenum">
              <a:rPr lang="zh-CN" altLang="en-US"/>
            </a:fld>
            <a:endParaRPr lang="zh-CN" altLang="en-US" sz="1800">
              <a:solidFill>
                <a:schemeClr val="tx1"/>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5BB84A0C-EC4D-4DDE-920F-B82407DE4130}" type="datetime1">
              <a:rPr lang="zh-CN" altLang="en-US" smtClean="0"/>
            </a:fld>
            <a:endParaRPr lang="zh-CN" altLang="en-US" sz="1800">
              <a:solidFill>
                <a:schemeClr val="tx1"/>
              </a:solidFill>
            </a:endParaRPr>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9" name="灯片编号占位符 5"/>
          <p:cNvSpPr>
            <a:spLocks noGrp="1" noChangeArrowheads="1"/>
          </p:cNvSpPr>
          <p:nvPr>
            <p:ph type="sldNum" sz="quarter" idx="12"/>
          </p:nvPr>
        </p:nvSpPr>
        <p:spPr/>
        <p:txBody>
          <a:bodyPr/>
          <a:lstStyle>
            <a:lvl1pPr>
              <a:defRPr/>
            </a:lvl1pPr>
          </a:lstStyle>
          <a:p>
            <a:fld id="{93F811D5-1728-48BA-A900-8F962E21FDDC}" type="slidenum">
              <a:rPr lang="zh-CN" altLang="en-US"/>
            </a:fld>
            <a:endParaRPr lang="zh-CN" altLang="en-US" sz="1800">
              <a:solidFill>
                <a:schemeClr val="tx1"/>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D05C14FF-AC9C-47CE-B16E-63038790F9D0}"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37AFE80B-09B6-4BCD-9BD3-CFCD8FFB55F5}" type="slidenum">
              <a:rPr lang="zh-CN" altLang="en-US"/>
            </a:fld>
            <a:endParaRPr lang="zh-CN" altLang="en-US" sz="1800">
              <a:solidFill>
                <a:schemeClr val="tx1"/>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E1F97B78-9184-416D-95B9-AAE2A17C1BC8}" type="datetime1">
              <a:rPr lang="zh-CN" altLang="en-US" smtClean="0"/>
            </a:fld>
            <a:endParaRPr lang="zh-CN" altLang="en-US" sz="1800">
              <a:solidFill>
                <a:schemeClr val="tx1"/>
              </a:solidFill>
            </a:endParaRPr>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4" name="灯片编号占位符 5"/>
          <p:cNvSpPr>
            <a:spLocks noGrp="1" noChangeArrowheads="1"/>
          </p:cNvSpPr>
          <p:nvPr>
            <p:ph type="sldNum" sz="quarter" idx="12"/>
          </p:nvPr>
        </p:nvSpPr>
        <p:spPr/>
        <p:txBody>
          <a:bodyPr/>
          <a:lstStyle>
            <a:lvl1pPr>
              <a:defRPr/>
            </a:lvl1pPr>
          </a:lstStyle>
          <a:p>
            <a:fld id="{52C20735-B5E5-440B-9EFE-973A3AD8E943}" type="slidenum">
              <a:rPr lang="zh-CN" altLang="en-US"/>
            </a:fld>
            <a:endParaRPr lang="zh-CN" altLang="en-US" sz="1800">
              <a:solidFill>
                <a:schemeClr val="tx1"/>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9E942DC7-17AE-4A24-9842-505CD8214528}" type="datetime1">
              <a:rPr lang="zh-CN" altLang="en-US" smtClean="0"/>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2B32BB6F-51A9-4A1D-BE11-99C638A96CC4}" type="slidenum">
              <a:rPr lang="zh-CN" altLang="en-US"/>
            </a:fld>
            <a:endParaRPr lang="zh-CN" altLang="en-US" sz="1800">
              <a:solidFill>
                <a:schemeClr val="tx1"/>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anose="020F0502020204030204" pitchFamily="34" charset="0"/>
            </a:endParaRPr>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A6CF26AC-8DA3-415E-98C8-EAF7949D89D0}" type="datetime1">
              <a:rPr lang="zh-CN" altLang="en-US" smtClean="0"/>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073C6217-591F-4C7A-A268-4C433060C559}" type="slidenum">
              <a:rPr lang="zh-CN" altLang="en-US"/>
            </a:fld>
            <a:endParaRPr lang="zh-CN" altLang="en-US" sz="1800">
              <a:solidFill>
                <a:schemeClr val="tx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8986C9F5-598C-4096-81DC-E053DFC5394D}"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4BDA4DC8-B166-4FED-AA9F-A4A77E671B02}" type="slidenum">
              <a:rPr lang="zh-CN" altLang="en-US"/>
            </a:fld>
            <a:endParaRPr lang="zh-CN" altLang="en-US" sz="1800">
              <a:solidFill>
                <a:schemeClr val="tx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8"/>
            <a:ext cx="80772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29F7A697-A26F-4909-BFA9-DA7583637397}" type="datetime1">
              <a:rPr lang="zh-CN" altLang="en-US" smtClean="0"/>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A01819F1-BA59-450B-934A-7A1F48FE46AD}" type="slidenum">
              <a:rPr lang="zh-CN" altLang="en-US"/>
            </a:fld>
            <a:endParaRPr lang="zh-CN" altLang="en-US" sz="1800">
              <a:solidFill>
                <a:schemeClr val="tx1"/>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任意多边形 1"/>
          <p:cNvSpPr/>
          <p:nvPr userDrawn="1"/>
        </p:nvSpPr>
        <p:spPr>
          <a:xfrm>
            <a:off x="-5283" y="6431378"/>
            <a:ext cx="12202363" cy="435195"/>
          </a:xfrm>
          <a:custGeom>
            <a:avLst/>
            <a:gdLst>
              <a:gd name="connsiteX0" fmla="*/ 6442848 w 12885696"/>
              <a:gd name="connsiteY0" fmla="*/ 0 h 677930"/>
              <a:gd name="connsiteX1" fmla="*/ 12818477 w 12885696"/>
              <a:gd name="connsiteY1" fmla="*/ 656546 h 677930"/>
              <a:gd name="connsiteX2" fmla="*/ 12885696 w 12885696"/>
              <a:gd name="connsiteY2" fmla="*/ 677930 h 677930"/>
              <a:gd name="connsiteX3" fmla="*/ 0 w 12885696"/>
              <a:gd name="connsiteY3" fmla="*/ 677930 h 677930"/>
              <a:gd name="connsiteX4" fmla="*/ 67219 w 12885696"/>
              <a:gd name="connsiteY4" fmla="*/ 656546 h 677930"/>
              <a:gd name="connsiteX5" fmla="*/ 6442848 w 12885696"/>
              <a:gd name="connsiteY5" fmla="*/ 0 h 67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85696" h="677930">
                <a:moveTo>
                  <a:pt x="6442848" y="0"/>
                </a:moveTo>
                <a:cubicBezTo>
                  <a:pt x="9144779" y="0"/>
                  <a:pt x="11510983" y="262931"/>
                  <a:pt x="12818477" y="656546"/>
                </a:cubicBezTo>
                <a:lnTo>
                  <a:pt x="12885696" y="677930"/>
                </a:lnTo>
                <a:lnTo>
                  <a:pt x="0" y="677930"/>
                </a:lnTo>
                <a:lnTo>
                  <a:pt x="67219" y="656546"/>
                </a:lnTo>
                <a:cubicBezTo>
                  <a:pt x="1374713" y="262931"/>
                  <a:pt x="3740917" y="0"/>
                  <a:pt x="6442848" y="0"/>
                </a:cubicBezTo>
                <a:close/>
              </a:path>
            </a:pathLst>
          </a:cu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9" name="矩形 8"/>
          <p:cNvSpPr/>
          <p:nvPr userDrawn="1"/>
        </p:nvSpPr>
        <p:spPr>
          <a:xfrm>
            <a:off x="2" y="1"/>
            <a:ext cx="12191997" cy="68580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914400" eaLnBrk="1" fontAlgn="auto" hangingPunct="1"/>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8"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defTabSz="914400" eaLnBrk="1" fontAlgn="auto" hangingPunct="1"/>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11" name="Title 3"/>
          <p:cNvSpPr txBox="1"/>
          <p:nvPr userDrawn="1"/>
        </p:nvSpPr>
        <p:spPr>
          <a:xfrm>
            <a:off x="2881594" y="1188427"/>
            <a:ext cx="2625973" cy="769441"/>
          </a:xfrm>
          <a:prstGeom prst="rect">
            <a:avLst/>
          </a:prstGeom>
          <a:noFill/>
        </p:spPr>
        <p:txBody>
          <a:bodyPr wrap="square">
            <a:spAutoFit/>
          </a:bodyPr>
          <a:lstStyle>
            <a:defPPr>
              <a:defRPr lang="en-US"/>
            </a:defPPr>
            <a:lvl1pPr marR="0" lvl="0" indent="0" algn="ctr" defTabSz="457200" fontAlgn="auto">
              <a:lnSpc>
                <a:spcPct val="10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lvl="0" algn="l" eaLnBrk="1" hangingPunct="1"/>
            <a:r>
              <a:rPr lang="zh-CN" altLang="en-US" sz="4400" dirty="0"/>
              <a:t>目录</a:t>
            </a:r>
            <a:endParaRPr lang="en-GB" sz="4400" dirty="0"/>
          </a:p>
        </p:txBody>
      </p:sp>
      <p:sp>
        <p:nvSpPr>
          <p:cNvPr id="10" name="Freeform 19"/>
          <p:cNvSpPr>
            <a:spLocks noEditPoints="1"/>
          </p:cNvSpPr>
          <p:nvPr userDrawn="1"/>
        </p:nvSpPr>
        <p:spPr bwMode="auto">
          <a:xfrm>
            <a:off x="3034991" y="527532"/>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a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幻灯片" r:id="rId3" imgW="0" imgH="0" progId="TCLayout.ActiveDocument.1">
                  <p:embed/>
                </p:oleObj>
              </mc:Choice>
              <mc:Fallback>
                <p:oleObj name="think-cell 幻灯片" r:id="rId3" imgW="0" imgH="0" progId="TCLayout.ActiveDocument.1">
                  <p:embed/>
                  <p:pic>
                    <p:nvPicPr>
                      <p:cNvPr id="0" name="对象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579967" y="58640"/>
            <a:ext cx="10941050" cy="286232"/>
          </a:xfrm>
          <a:prstGeom prst="rect">
            <a:avLst/>
          </a:prstGeom>
          <a:noFill/>
        </p:spPr>
        <p:txBody>
          <a:bodyPr vert="horz" wrap="square" rtlCol="0">
            <a:spAutoFit/>
          </a:bodyPr>
          <a:lstStyle>
            <a:lvl1pPr>
              <a:defRPr lang="en-US" sz="1400" b="1" dirty="0">
                <a:solidFill>
                  <a:srgbClr val="00338D"/>
                </a:solidFill>
                <a:cs typeface="+mn-cs"/>
              </a:defRPr>
            </a:lvl1pPr>
          </a:lstStyle>
          <a:p>
            <a:pPr marL="0" lvl="0" algn="just" defTabSz="457200">
              <a:lnSpc>
                <a:spcPct val="90000"/>
              </a:lnSpc>
            </a:pPr>
            <a:r>
              <a:rPr lang="zh-CN" altLang="en-US" dirty="0"/>
              <a:t>输入副标题</a:t>
            </a:r>
            <a:endParaRPr lang="en-US" dirty="0"/>
          </a:p>
        </p:txBody>
      </p:sp>
      <p:sp>
        <p:nvSpPr>
          <p:cNvPr id="5" name="Text Placeholder 4"/>
          <p:cNvSpPr>
            <a:spLocks noGrp="1"/>
          </p:cNvSpPr>
          <p:nvPr>
            <p:ph type="body" sz="quarter" idx="11" hasCustomPrompt="1"/>
          </p:nvPr>
        </p:nvSpPr>
        <p:spPr>
          <a:xfrm>
            <a:off x="579966" y="307163"/>
            <a:ext cx="10941052" cy="681881"/>
          </a:xfrm>
          <a:prstGeom prst="rect">
            <a:avLst/>
          </a:prstGeom>
          <a:noFill/>
        </p:spPr>
        <p:txBody>
          <a:bodyPr wrap="square" rtlCol="0" anchor="ctr">
            <a:noAutofit/>
          </a:bodyPr>
          <a:lstStyle>
            <a:lvl1pPr>
              <a:defRPr lang="en-US" sz="2000" b="1" dirty="0">
                <a:solidFill>
                  <a:srgbClr val="00338D"/>
                </a:solidFill>
              </a:defRPr>
            </a:lvl1pPr>
          </a:lstStyle>
          <a:p>
            <a:pPr lvl="0" algn="just" defTabSz="457200">
              <a:lnSpc>
                <a:spcPct val="90000"/>
              </a:lnSpc>
              <a:spcBef>
                <a:spcPts val="1000"/>
              </a:spcBef>
            </a:pPr>
            <a:r>
              <a:rPr lang="zh-CN" altLang="en-US" dirty="0"/>
              <a:t>输入主标题</a:t>
            </a:r>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sp>
        <p:nvSpPr>
          <p:cNvPr id="13" name="矩形 12"/>
          <p:cNvSpPr/>
          <p:nvPr userDrawn="1"/>
        </p:nvSpPr>
        <p:spPr>
          <a:xfrm>
            <a:off x="152400" y="6038850"/>
            <a:ext cx="12039597" cy="819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914400" eaLnBrk="1" fontAlgn="auto" hangingPunct="1"/>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6"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defTabSz="914400" eaLnBrk="1" fontAlgn="auto" hangingPunct="1"/>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Text Placeholder 1"/>
          <p:cNvSpPr txBox="1"/>
          <p:nvPr userDrawn="1"/>
        </p:nvSpPr>
        <p:spPr>
          <a:xfrm>
            <a:off x="2332859" y="4209717"/>
            <a:ext cx="9188159" cy="230205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fontAlgn="auto">
              <a:lnSpc>
                <a:spcPts val="1660"/>
              </a:lnSpc>
              <a:spcBef>
                <a:spcPts val="275"/>
              </a:spcBef>
              <a:spcAft>
                <a:spcPts val="0"/>
              </a:spcAft>
              <a:tabLst>
                <a:tab pos="2808605" algn="r"/>
              </a:tabLst>
            </a:pPr>
            <a:endParaRPr lang="en-US" altLang="zh-CN" sz="925" dirty="0">
              <a:solidFill>
                <a:schemeClr val="tx1"/>
              </a:solidFill>
              <a:latin typeface="微软雅黑" panose="020B0503020204020204" pitchFamily="34" charset="-122"/>
              <a:ea typeface="微软雅黑" panose="020B0503020204020204" pitchFamily="34" charset="-122"/>
            </a:endParaRPr>
          </a:p>
          <a:p>
            <a:pPr algn="just" fontAlgn="auto">
              <a:lnSpc>
                <a:spcPts val="1660"/>
              </a:lnSpc>
              <a:spcBef>
                <a:spcPts val="275"/>
              </a:spcBef>
              <a:spcAft>
                <a:spcPts val="0"/>
              </a:spcAft>
              <a:tabLst>
                <a:tab pos="2808605" algn="r"/>
              </a:tabLst>
            </a:pPr>
            <a:r>
              <a:rPr lang="zh-CN" altLang="en-US" sz="925" dirty="0">
                <a:solidFill>
                  <a:schemeClr val="tx1"/>
                </a:solidFill>
                <a:latin typeface="微软雅黑" panose="020B0503020204020204" pitchFamily="34" charset="-122"/>
                <a:ea typeface="微软雅黑" panose="020B0503020204020204" pitchFamily="34" charset="-122"/>
              </a:rPr>
              <a:t>免责声明</a:t>
            </a:r>
            <a:endParaRPr lang="en-US" altLang="zh-CN" sz="925" dirty="0">
              <a:solidFill>
                <a:schemeClr val="tx1"/>
              </a:solidFill>
              <a:latin typeface="微软雅黑" panose="020B0503020204020204" pitchFamily="34" charset="-122"/>
              <a:ea typeface="微软雅黑" panose="020B0503020204020204" pitchFamily="34" charset="-122"/>
              <a:cs typeface="Arial" panose="020B0604020202090204" pitchFamily="34" charset="0"/>
            </a:endParaRPr>
          </a:p>
          <a:p>
            <a:pPr algn="just" fontAlgn="auto">
              <a:lnSpc>
                <a:spcPts val="1385"/>
              </a:lnSpc>
              <a:tabLst>
                <a:tab pos="2808605" algn="r"/>
              </a:tabLst>
            </a:pP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毕马威企业咨询 (中国) 有限公司是一家</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中国有限责任公司</a:t>
            </a: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同时也是与瑞士合作组织毕马威国际相关联的独立成员所全球性组织中的成员</a:t>
            </a:r>
            <a:r>
              <a:rPr lang="zh-CN" altLang="en-GB"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毕马威国际不提供任何客户服务。成员所与第三方的约定对毕马威国际或任何其他成员所均不具有任何约束力；而毕马威国际对任何成员所也不具有任何上述约束力。</a:t>
            </a:r>
            <a:endParaRPr lang="en-GB" altLang="zh-CN" sz="830" b="0" dirty="0">
              <a:solidFill>
                <a:schemeClr val="tx1"/>
              </a:solidFill>
              <a:latin typeface="微软雅黑" panose="020B0503020204020204" pitchFamily="34" charset="-122"/>
              <a:ea typeface="微软雅黑" panose="020B0503020204020204" pitchFamily="34" charset="-122"/>
            </a:endParaRPr>
          </a:p>
          <a:p>
            <a:pPr algn="just" fontAlgn="auto">
              <a:lnSpc>
                <a:spcPts val="1385"/>
              </a:lnSpc>
              <a:spcBef>
                <a:spcPts val="275"/>
              </a:spcBef>
              <a:defRPr/>
            </a:pP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毕马威企业咨询（中国）有限公司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中国有限责任公司，是与英国私营担保有限公司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毕马威国际有限公司 </a:t>
            </a: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毕马威国际”</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相关联的独立成员所全球性组织中的成员。版权所有，不得转载。中国印刷。 </a:t>
            </a:r>
            <a:endParaRPr lang="en-US" altLang="zh-CN" sz="740" b="0" dirty="0">
              <a:solidFill>
                <a:schemeClr val="tx1"/>
              </a:solidFill>
              <a:latin typeface="微软雅黑" panose="020B0503020204020204" pitchFamily="34" charset="-122"/>
              <a:ea typeface="微软雅黑" panose="020B0503020204020204" pitchFamily="34" charset="-122"/>
            </a:endParaRPr>
          </a:p>
          <a:p>
            <a:pPr algn="just" fontAlgn="auto">
              <a:lnSpc>
                <a:spcPts val="1475"/>
              </a:lnSpc>
              <a:spcBef>
                <a:spcPts val="275"/>
              </a:spcBef>
              <a:defRPr/>
            </a:pPr>
            <a:r>
              <a:rPr lang="zh-CN" altLang="en-US" sz="830" b="0" dirty="0">
                <a:solidFill>
                  <a:schemeClr val="tx1"/>
                </a:solidFill>
                <a:latin typeface="微软雅黑" panose="020B0503020204020204" pitchFamily="34" charset="-122"/>
                <a:ea typeface="微软雅黑" panose="020B0503020204020204" pitchFamily="34" charset="-122"/>
              </a:rPr>
              <a:t>毕马威的名称和标识均属于毕马威国际的商标或注册商标。</a:t>
            </a:r>
            <a:endParaRPr lang="zh-CN" altLang="en-US" sz="830" b="0" dirty="0">
              <a:solidFill>
                <a:schemeClr val="tx1"/>
              </a:solidFill>
              <a:latin typeface="微软雅黑" panose="020B0503020204020204" pitchFamily="34" charset="-122"/>
              <a:ea typeface="微软雅黑" panose="020B0503020204020204" pitchFamily="34" charset="-122"/>
            </a:endParaRPr>
          </a:p>
        </p:txBody>
      </p:sp>
      <p:sp>
        <p:nvSpPr>
          <p:cNvPr id="9" name="TextBox 9"/>
          <p:cNvSpPr txBox="1"/>
          <p:nvPr userDrawn="1"/>
        </p:nvSpPr>
        <p:spPr>
          <a:xfrm>
            <a:off x="2349793" y="2965395"/>
            <a:ext cx="3584448" cy="813669"/>
          </a:xfrm>
          <a:prstGeom prst="rect">
            <a:avLst/>
          </a:prstGeom>
          <a:noFill/>
        </p:spPr>
        <p:txBody>
          <a:bodyPr wrap="square" lIns="74280" tIns="37140" rIns="74280" bIns="37140" rtlCol="0">
            <a:spAutoFit/>
          </a:bodyPr>
          <a:lstStyle/>
          <a:p>
            <a:pPr defTabSz="914400" eaLnBrk="1" fontAlgn="auto" hangingPunct="1"/>
            <a:r>
              <a:rPr lang="zh-CN" altLang="en-US" sz="1200" b="1" dirty="0">
                <a:latin typeface="微软雅黑" panose="020B0503020204020204" pitchFamily="34" charset="-122"/>
                <a:ea typeface="微软雅黑" panose="020B0503020204020204" pitchFamily="34" charset="-122"/>
              </a:rPr>
              <a:t>高人伯</a:t>
            </a:r>
            <a:endParaRPr lang="en-US" altLang="zh-CN" sz="1200" b="1" dirty="0">
              <a:latin typeface="微软雅黑" panose="020B0503020204020204" pitchFamily="34" charset="-122"/>
              <a:ea typeface="微软雅黑" panose="020B0503020204020204" pitchFamily="34" charset="-122"/>
            </a:endParaRPr>
          </a:p>
          <a:p>
            <a:pPr defTabSz="914400" eaLnBrk="1" fontAlgn="auto" hangingPunct="1"/>
            <a:r>
              <a:rPr lang="zh-CN" altLang="en-US" sz="1200" b="1" dirty="0">
                <a:latin typeface="微软雅黑" panose="020B0503020204020204" pitchFamily="34" charset="-122"/>
                <a:ea typeface="微软雅黑" panose="020B0503020204020204" pitchFamily="34" charset="-122"/>
              </a:rPr>
              <a:t>合伙人</a:t>
            </a:r>
            <a:endParaRPr lang="en-US" altLang="zh-CN" sz="1200" b="1" dirty="0">
              <a:latin typeface="微软雅黑" panose="020B0503020204020204" pitchFamily="34" charset="-122"/>
              <a:ea typeface="微软雅黑" panose="020B0503020204020204" pitchFamily="34" charset="-122"/>
            </a:endParaRPr>
          </a:p>
          <a:p>
            <a:pPr defTabSz="914400" eaLnBrk="1" fontAlgn="auto" hangingPunct="1"/>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136 8888 8990</a:t>
            </a:r>
            <a:endParaRPr lang="en-US" altLang="zh-CN" sz="1200" dirty="0">
              <a:latin typeface="微软雅黑" panose="020B0503020204020204" pitchFamily="34" charset="-122"/>
              <a:ea typeface="微软雅黑" panose="020B0503020204020204" pitchFamily="34" charset="-122"/>
            </a:endParaRPr>
          </a:p>
          <a:p>
            <a:pPr defTabSz="914400" eaLnBrk="1" fontAlgn="auto" hangingPunct="1"/>
            <a:r>
              <a:rPr lang="en-US" altLang="zh-CN" sz="1200" dirty="0">
                <a:latin typeface="微软雅黑" panose="020B0503020204020204" pitchFamily="34" charset="-122"/>
                <a:ea typeface="微软雅黑" panose="020B0503020204020204" pitchFamily="34" charset="-122"/>
              </a:rPr>
              <a:t>dennis.gao</a:t>
            </a:r>
            <a:r>
              <a:rPr lang="en-US" altLang="en-US" sz="1200" dirty="0">
                <a:latin typeface="微软雅黑" panose="020B0503020204020204" pitchFamily="34" charset="-122"/>
                <a:ea typeface="微软雅黑" panose="020B0503020204020204" pitchFamily="34" charset="-122"/>
              </a:rPr>
              <a:t>@kpmg.com</a:t>
            </a:r>
            <a:endParaRPr lang="en-GB" altLang="en-US" sz="1200" dirty="0">
              <a:latin typeface="微软雅黑" panose="020B0503020204020204" pitchFamily="34" charset="-122"/>
              <a:ea typeface="微软雅黑" panose="020B0503020204020204" pitchFamily="34" charset="-122"/>
            </a:endParaRPr>
          </a:p>
        </p:txBody>
      </p:sp>
      <p:sp>
        <p:nvSpPr>
          <p:cNvPr id="10" name="矩形 77"/>
          <p:cNvSpPr/>
          <p:nvPr userDrawn="1"/>
        </p:nvSpPr>
        <p:spPr>
          <a:xfrm>
            <a:off x="2321570" y="1565804"/>
            <a:ext cx="2714071" cy="830997"/>
          </a:xfrm>
          <a:prstGeom prst="rect">
            <a:avLst/>
          </a:prstGeom>
        </p:spPr>
        <p:txBody>
          <a:bodyPr wrap="square">
            <a:spAutoFit/>
          </a:bodyPr>
          <a:lstStyle/>
          <a:p>
            <a:pPr lvl="0" algn="l" defTabSz="914400" eaLnBrk="1" fontAlgn="t" hangingPunct="1">
              <a:defRPr/>
            </a:pPr>
            <a:r>
              <a:rPr lang="zh-CN" altLang="en-US" sz="4800" b="1" dirty="0">
                <a:solidFill>
                  <a:srgbClr val="00338D"/>
                </a:solidFill>
                <a:latin typeface="微软雅黑" panose="020B0503020204020204" pitchFamily="34" charset="-122"/>
                <a:ea typeface="微软雅黑" panose="020B0503020204020204" pitchFamily="34" charset="-122"/>
              </a:rPr>
              <a:t>谢谢！</a:t>
            </a:r>
            <a:endParaRPr lang="en-US" altLang="zh-CN" sz="4800" b="1" dirty="0">
              <a:solidFill>
                <a:srgbClr val="00338D"/>
              </a:solidFill>
              <a:latin typeface="微软雅黑" panose="020B0503020204020204" pitchFamily="34" charset="-122"/>
              <a:ea typeface="微软雅黑" panose="020B0503020204020204" pitchFamily="34" charset="-122"/>
            </a:endParaRPr>
          </a:p>
        </p:txBody>
      </p:sp>
      <p:sp>
        <p:nvSpPr>
          <p:cNvPr id="11" name="Freeform 19"/>
          <p:cNvSpPr>
            <a:spLocks noEditPoints="1"/>
          </p:cNvSpPr>
          <p:nvPr userDrawn="1"/>
        </p:nvSpPr>
        <p:spPr bwMode="auto">
          <a:xfrm>
            <a:off x="2424347" y="497975"/>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a typeface="+mn-ea"/>
            </a:endParaRPr>
          </a:p>
        </p:txBody>
      </p:sp>
      <p:sp>
        <p:nvSpPr>
          <p:cNvPr id="12" name="TextBox 9"/>
          <p:cNvSpPr txBox="1"/>
          <p:nvPr userDrawn="1"/>
        </p:nvSpPr>
        <p:spPr>
          <a:xfrm>
            <a:off x="4528773" y="2965395"/>
            <a:ext cx="3584448" cy="813669"/>
          </a:xfrm>
          <a:prstGeom prst="rect">
            <a:avLst/>
          </a:prstGeom>
          <a:noFill/>
        </p:spPr>
        <p:txBody>
          <a:bodyPr wrap="square" lIns="74280" tIns="37140" rIns="74280" bIns="37140" rtlCol="0">
            <a:spAutoFit/>
          </a:bodyPr>
          <a:lstStyle/>
          <a:p>
            <a:pPr defTabSz="914400" eaLnBrk="1" fontAlgn="auto" hangingPunct="1"/>
            <a:r>
              <a:rPr lang="zh-CN" altLang="en-US" sz="1200" b="1" dirty="0">
                <a:latin typeface="微软雅黑" panose="020B0503020204020204" pitchFamily="34" charset="-122"/>
                <a:ea typeface="微软雅黑" panose="020B0503020204020204" pitchFamily="34" charset="-122"/>
              </a:rPr>
              <a:t>王克宇</a:t>
            </a:r>
            <a:endParaRPr lang="en-US" altLang="zh-CN" sz="1200" b="1" dirty="0">
              <a:latin typeface="微软雅黑" panose="020B0503020204020204" pitchFamily="34" charset="-122"/>
              <a:ea typeface="微软雅黑" panose="020B0503020204020204" pitchFamily="34" charset="-122"/>
            </a:endParaRPr>
          </a:p>
          <a:p>
            <a:pPr defTabSz="914400" eaLnBrk="1" fontAlgn="auto" hangingPunct="1"/>
            <a:r>
              <a:rPr lang="zh-CN" altLang="en-US" sz="1200" b="1" dirty="0">
                <a:latin typeface="微软雅黑" panose="020B0503020204020204" pitchFamily="34" charset="-122"/>
                <a:ea typeface="微软雅黑" panose="020B0503020204020204" pitchFamily="34" charset="-122"/>
              </a:rPr>
              <a:t>副总监</a:t>
            </a:r>
            <a:endParaRPr lang="en-US" altLang="zh-CN" sz="1200" b="1" dirty="0">
              <a:latin typeface="微软雅黑" panose="020B0503020204020204" pitchFamily="34" charset="-122"/>
              <a:ea typeface="微软雅黑" panose="020B0503020204020204" pitchFamily="34" charset="-122"/>
            </a:endParaRPr>
          </a:p>
          <a:p>
            <a:pPr defTabSz="914400" eaLnBrk="1" fontAlgn="auto" hangingPunct="1"/>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186 0086 2073</a:t>
            </a:r>
            <a:endParaRPr lang="en-US" altLang="zh-CN" sz="1200" dirty="0">
              <a:latin typeface="微软雅黑" panose="020B0503020204020204" pitchFamily="34" charset="-122"/>
              <a:ea typeface="微软雅黑" panose="020B0503020204020204" pitchFamily="34" charset="-122"/>
            </a:endParaRPr>
          </a:p>
          <a:p>
            <a:pPr defTabSz="914400" eaLnBrk="1" fontAlgn="auto" hangingPunct="1"/>
            <a:r>
              <a:rPr lang="en-US" altLang="zh-CN" sz="1200" dirty="0">
                <a:latin typeface="微软雅黑" panose="020B0503020204020204" pitchFamily="34" charset="-122"/>
                <a:ea typeface="微软雅黑" panose="020B0503020204020204" pitchFamily="34" charset="-122"/>
              </a:rPr>
              <a:t>k.k.wang@kpmg.com</a:t>
            </a:r>
            <a:endParaRPr lang="en-GB" altLang="en-US" sz="12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0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6"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fontAlgn="auto"/>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eaLnBrk="1" fontAlgn="auto" hangingPunct="1">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pPr defTabSz="914400" eaLnBrk="1" fontAlgn="auto" hangingPunct="1"/>
            <a:endParaRPr lang="en-GB" sz="1800" dirty="0">
              <a:solidFill>
                <a:srgbClr val="000000"/>
              </a:solidFill>
              <a:latin typeface="微软雅黑" panose="020B0503020204020204" pitchFamily="34" charset="-122"/>
              <a:ea typeface="+mn-ea"/>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eaLnBrk="1" fontAlgn="auto" hangingPunct="1">
              <a:defRPr/>
            </a:pPr>
            <a:r>
              <a:rPr lang="en-US" altLang="zh-CN" sz="600" dirty="0">
                <a:solidFill>
                  <a:prstClr val="white">
                    <a:lumMod val="65000"/>
                  </a:prstClr>
                </a:solidFill>
                <a:latin typeface="微软雅黑" panose="020B0503020204020204" pitchFamily="34" charset="-122"/>
                <a:ea typeface="+mn-ea"/>
              </a:rPr>
              <a:t>© 2022 </a:t>
            </a:r>
            <a:r>
              <a:rPr lang="zh-CN" altLang="en-US" sz="600" dirty="0">
                <a:solidFill>
                  <a:prstClr val="white">
                    <a:lumMod val="65000"/>
                  </a:prstClr>
                </a:solidFill>
                <a:latin typeface="微软雅黑" panose="020B0503020204020204" pitchFamily="34" charset="-122"/>
                <a:ea typeface="+mn-ea"/>
              </a:rPr>
              <a:t>毕马威企业咨询（中国）有限公司 </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中国有限责任公司，是与英国私营担保有限公司 </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毕马威国际有限公司 </a:t>
            </a:r>
            <a:r>
              <a:rPr lang="en-US" altLang="zh-CN" sz="600" dirty="0">
                <a:solidFill>
                  <a:prstClr val="white">
                    <a:lumMod val="65000"/>
                  </a:prstClr>
                </a:solidFill>
                <a:latin typeface="微软雅黑" panose="020B0503020204020204" pitchFamily="34" charset="-122"/>
                <a:ea typeface="+mn-ea"/>
              </a:rPr>
              <a:t>(“</a:t>
            </a:r>
            <a:r>
              <a:rPr lang="zh-CN" altLang="en-US" sz="600" dirty="0">
                <a:solidFill>
                  <a:prstClr val="white">
                    <a:lumMod val="65000"/>
                  </a:prstClr>
                </a:solidFill>
                <a:latin typeface="微软雅黑" panose="020B0503020204020204" pitchFamily="34" charset="-122"/>
                <a:ea typeface="+mn-ea"/>
              </a:rPr>
              <a:t>毕马威国际”</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相关联的独立成员所全球性组织中的成员。版权所有，不得转载。中国印刷。</a:t>
            </a:r>
            <a:endParaRPr lang="zh-CN" altLang="en-US" sz="600" dirty="0">
              <a:solidFill>
                <a:prstClr val="white">
                  <a:lumMod val="65000"/>
                </a:prstClr>
              </a:solidFill>
              <a:latin typeface="微软雅黑" panose="020B0503020204020204" pitchFamily="34" charset="-122"/>
              <a:ea typeface="+mn-ea"/>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eaLnBrk="1" fontAlgn="auto" hangingPunct="1">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pPr defTabSz="914400" eaLnBrk="1" fontAlgn="auto" hangingPunct="1"/>
            <a:endParaRPr lang="en-GB" sz="1800" dirty="0">
              <a:solidFill>
                <a:srgbClr val="000000"/>
              </a:solidFill>
              <a:latin typeface="微软雅黑" panose="020B0503020204020204" pitchFamily="34" charset="-122"/>
              <a:ea typeface="+mn-ea"/>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fontAlgn="auto"/>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eaLnBrk="1" fontAlgn="auto" hangingPunct="1">
              <a:defRPr/>
            </a:pPr>
            <a:r>
              <a:rPr lang="en-US" altLang="zh-CN" sz="600" dirty="0">
                <a:solidFill>
                  <a:prstClr val="white">
                    <a:lumMod val="65000"/>
                  </a:prstClr>
                </a:solidFill>
                <a:latin typeface="微软雅黑" panose="020B0503020204020204" pitchFamily="34" charset="-122"/>
                <a:ea typeface="+mn-ea"/>
              </a:rPr>
              <a:t>© 2022 </a:t>
            </a:r>
            <a:r>
              <a:rPr lang="zh-CN" altLang="en-US" sz="600" dirty="0">
                <a:solidFill>
                  <a:prstClr val="white">
                    <a:lumMod val="65000"/>
                  </a:prstClr>
                </a:solidFill>
                <a:latin typeface="微软雅黑" panose="020B0503020204020204" pitchFamily="34" charset="-122"/>
                <a:ea typeface="+mn-ea"/>
              </a:rPr>
              <a:t>毕马威企业咨询（中国）有限公司 </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中国有限责任公司，是与英国私营担保有限公司 </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毕马威国际有限公司 </a:t>
            </a:r>
            <a:r>
              <a:rPr lang="en-US" altLang="zh-CN" sz="600" dirty="0">
                <a:solidFill>
                  <a:prstClr val="white">
                    <a:lumMod val="65000"/>
                  </a:prstClr>
                </a:solidFill>
                <a:latin typeface="微软雅黑" panose="020B0503020204020204" pitchFamily="34" charset="-122"/>
                <a:ea typeface="+mn-ea"/>
              </a:rPr>
              <a:t>(“</a:t>
            </a:r>
            <a:r>
              <a:rPr lang="zh-CN" altLang="en-US" sz="600" dirty="0">
                <a:solidFill>
                  <a:prstClr val="white">
                    <a:lumMod val="65000"/>
                  </a:prstClr>
                </a:solidFill>
                <a:latin typeface="微软雅黑" panose="020B0503020204020204" pitchFamily="34" charset="-122"/>
                <a:ea typeface="+mn-ea"/>
              </a:rPr>
              <a:t>毕马威国际”</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相关联的独立成员所全球性组织中的成员。版权所有，不得转载。中国印刷。</a:t>
            </a:r>
            <a:endParaRPr lang="zh-CN" altLang="en-US" sz="600" dirty="0">
              <a:solidFill>
                <a:prstClr val="white">
                  <a:lumMod val="65000"/>
                </a:prstClr>
              </a:solidFill>
              <a:latin typeface="微软雅黑" panose="020B0503020204020204" pitchFamily="34" charset="-122"/>
              <a:ea typeface="+mn-ea"/>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1_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3" y="1435300"/>
            <a:ext cx="8489950" cy="3510000"/>
          </a:xfrm>
          <a:prstGeom prst="rect">
            <a:avLst/>
          </a:prstGeom>
        </p:spPr>
        <p:txBody>
          <a:bodyPr anchor="t" anchorCtr="0"/>
          <a:lstStyle>
            <a:lvl1pPr algn="l">
              <a:defRPr sz="11000"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lstStyle/>
          <a:p>
            <a:pPr defTabSz="914400" eaLnBrk="1" fontAlgn="auto" hangingPunct="1"/>
            <a:endParaRPr lang="en-GB" sz="1800" dirty="0">
              <a:latin typeface="微软雅黑" panose="020B0503020204020204" pitchFamily="34" charset="-122"/>
              <a:ea typeface="+mn-ea"/>
            </a:endParaRPr>
          </a:p>
        </p:txBody>
      </p:sp>
      <p:sp>
        <p:nvSpPr>
          <p:cNvPr id="10" name="object 3"/>
          <p:cNvSpPr/>
          <p:nvPr userDrawn="1"/>
        </p:nvSpPr>
        <p:spPr>
          <a:xfrm>
            <a:off x="2" y="1"/>
            <a:ext cx="158773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defTabSz="914400" eaLnBrk="1" fontAlgn="auto" hangingPunct="1"/>
            <a:endParaRPr sz="1800" dirty="0">
              <a:latin typeface="微软雅黑" panose="020B0503020204020204" pitchFamily="34" charset="-122"/>
              <a:ea typeface="+mn-ea"/>
            </a:endParaRPr>
          </a:p>
        </p:txBody>
      </p:sp>
      <p:sp>
        <p:nvSpPr>
          <p:cNvPr id="6" name="Text Placeholder 3"/>
          <p:cNvSpPr>
            <a:spLocks noGrp="1"/>
          </p:cNvSpPr>
          <p:nvPr>
            <p:ph type="body" sz="quarter" idx="11"/>
          </p:nvPr>
        </p:nvSpPr>
        <p:spPr>
          <a:xfrm>
            <a:off x="2749464"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2_ONE COLUMN TEXT">
    <p:spTree>
      <p:nvGrpSpPr>
        <p:cNvPr id="1" name=""/>
        <p:cNvGrpSpPr/>
        <p:nvPr/>
      </p:nvGrpSpPr>
      <p:grpSpPr>
        <a:xfrm>
          <a:off x="0" y="0"/>
          <a:ext cx="0" cy="0"/>
          <a:chOff x="0" y="0"/>
          <a:chExt cx="0" cy="0"/>
        </a:xfrm>
      </p:grpSpPr>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eaLnBrk="1" fontAlgn="auto" hangingPunct="1">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pPr defTabSz="914400" eaLnBrk="1" fontAlgn="auto" hangingPunct="1"/>
            <a:endParaRPr lang="en-GB" sz="1800" dirty="0">
              <a:solidFill>
                <a:srgbClr val="000000"/>
              </a:solidFill>
              <a:latin typeface="微软雅黑" panose="020B0503020204020204" pitchFamily="34" charset="-122"/>
              <a:ea typeface="+mn-ea"/>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fontAlgn="auto"/>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eaLnBrk="1" fontAlgn="auto" hangingPunct="1">
              <a:defRPr/>
            </a:pPr>
            <a:r>
              <a:rPr lang="en-US" altLang="zh-CN" sz="600" dirty="0">
                <a:solidFill>
                  <a:prstClr val="white">
                    <a:lumMod val="65000"/>
                  </a:prstClr>
                </a:solidFill>
                <a:latin typeface="微软雅黑" panose="020B0503020204020204" pitchFamily="34" charset="-122"/>
                <a:ea typeface="+mn-ea"/>
              </a:rPr>
              <a:t>© 2022 </a:t>
            </a:r>
            <a:r>
              <a:rPr lang="zh-CN" altLang="en-US" sz="600" dirty="0">
                <a:solidFill>
                  <a:prstClr val="white">
                    <a:lumMod val="65000"/>
                  </a:prstClr>
                </a:solidFill>
                <a:latin typeface="微软雅黑" panose="020B0503020204020204" pitchFamily="34" charset="-122"/>
                <a:ea typeface="+mn-ea"/>
              </a:rPr>
              <a:t>毕马威企业咨询（中国）有限公司 </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中国有限责任公司，是与英国私营担保有限公司 </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毕马威国际有限公司 </a:t>
            </a:r>
            <a:r>
              <a:rPr lang="en-US" altLang="zh-CN" sz="600" dirty="0">
                <a:solidFill>
                  <a:prstClr val="white">
                    <a:lumMod val="65000"/>
                  </a:prstClr>
                </a:solidFill>
                <a:latin typeface="微软雅黑" panose="020B0503020204020204" pitchFamily="34" charset="-122"/>
                <a:ea typeface="+mn-ea"/>
              </a:rPr>
              <a:t>(“</a:t>
            </a:r>
            <a:r>
              <a:rPr lang="zh-CN" altLang="en-US" sz="600" dirty="0">
                <a:solidFill>
                  <a:prstClr val="white">
                    <a:lumMod val="65000"/>
                  </a:prstClr>
                </a:solidFill>
                <a:latin typeface="微软雅黑" panose="020B0503020204020204" pitchFamily="34" charset="-122"/>
                <a:ea typeface="+mn-ea"/>
              </a:rPr>
              <a:t>毕马威国际”</a:t>
            </a:r>
            <a:r>
              <a:rPr lang="en-US" altLang="zh-CN" sz="600" dirty="0">
                <a:solidFill>
                  <a:prstClr val="white">
                    <a:lumMod val="65000"/>
                  </a:prstClr>
                </a:solidFill>
                <a:latin typeface="微软雅黑" panose="020B0503020204020204" pitchFamily="34" charset="-122"/>
                <a:ea typeface="+mn-ea"/>
              </a:rPr>
              <a:t>) </a:t>
            </a:r>
            <a:r>
              <a:rPr lang="zh-CN" altLang="en-US" sz="600" dirty="0">
                <a:solidFill>
                  <a:prstClr val="white">
                    <a:lumMod val="65000"/>
                  </a:prstClr>
                </a:solidFill>
                <a:latin typeface="微软雅黑" panose="020B0503020204020204" pitchFamily="34" charset="-122"/>
                <a:ea typeface="+mn-ea"/>
              </a:rPr>
              <a:t>相关联的独立成员所全球性组织中的成员。版权所有，不得转载。中国印刷。</a:t>
            </a:r>
            <a:endParaRPr lang="zh-CN" altLang="en-US" sz="600" dirty="0">
              <a:solidFill>
                <a:prstClr val="white">
                  <a:lumMod val="65000"/>
                </a:prstClr>
              </a:solidFill>
              <a:latin typeface="微软雅黑" panose="020B0503020204020204" pitchFamily="34" charset="-122"/>
              <a:ea typeface="+mn-ea"/>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2_TITLE SLIDE - Right vertical dark image">
    <p:bg>
      <p:bgPr>
        <a:solidFill>
          <a:schemeClr val="accent4"/>
        </a:solidFill>
        <a:effectLst/>
      </p:bgPr>
    </p:bg>
    <p:spTree>
      <p:nvGrpSpPr>
        <p:cNvPr id="1" name=""/>
        <p:cNvGrpSpPr/>
        <p:nvPr/>
      </p:nvGrpSpPr>
      <p:grpSpPr>
        <a:xfrm>
          <a:off x="0" y="0"/>
          <a:ext cx="0" cy="0"/>
          <a:chOff x="0" y="0"/>
          <a:chExt cx="0" cy="0"/>
        </a:xfrm>
      </p:grpSpPr>
      <p:graphicFrame>
        <p:nvGraphicFramePr>
          <p:cNvPr id="4" name="think-cell data - do not delete"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Slide" r:id="rId3" imgW="0" imgH="0" progId="TCLayout.ActiveDocument.1">
                  <p:embed/>
                </p:oleObj>
              </mc:Choice>
              <mc:Fallback>
                <p:oleObj name="think-cell Slide" r:id="rId3" imgW="0" imgH="0" progId="TCLayout.ActiveDocument.1">
                  <p:embed/>
                  <p:pic>
                    <p:nvPicPr>
                      <p:cNvPr id="0" name="think-cell data - do not delete"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19"/>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pPr defTabSz="914400" eaLnBrk="1" fontAlgn="auto" hangingPunct="1"/>
            <a:endParaRPr lang="en-GB"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Title 1"/>
          <p:cNvSpPr>
            <a:spLocks noGrp="1"/>
          </p:cNvSpPr>
          <p:nvPr>
            <p:ph type="ctrTitle" hasCustomPrompt="1"/>
          </p:nvPr>
        </p:nvSpPr>
        <p:spPr>
          <a:xfrm>
            <a:off x="998476" y="1485243"/>
            <a:ext cx="3600000" cy="3420000"/>
          </a:xfrm>
        </p:spPr>
        <p:txBody>
          <a:bodyPr vert="horz" anchor="t" anchorCtr="0"/>
          <a:lstStyle>
            <a:lvl1pPr algn="l">
              <a:defRPr sz="6600" baseline="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text only</a:t>
            </a:r>
            <a:endParaRPr lang="en-US" dirty="0"/>
          </a:p>
        </p:txBody>
      </p:sp>
      <p:sp>
        <p:nvSpPr>
          <p:cNvPr id="6" name="Text Placeholder 3"/>
          <p:cNvSpPr>
            <a:spLocks noGrp="1"/>
          </p:cNvSpPr>
          <p:nvPr>
            <p:ph type="body" sz="quarter" idx="11"/>
          </p:nvPr>
        </p:nvSpPr>
        <p:spPr>
          <a:xfrm>
            <a:off x="998478" y="5007010"/>
            <a:ext cx="3600000" cy="810000"/>
          </a:xfrm>
        </p:spPr>
        <p:txBody>
          <a:bodyPr anchor="b"/>
          <a:lstStyle>
            <a:lvl1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endParaRPr lang="en-US" dirty="0"/>
          </a:p>
          <a:p>
            <a:pPr lvl="1"/>
            <a:r>
              <a:rPr lang="en-US" dirty="0"/>
              <a:t>Second level</a:t>
            </a:r>
            <a:endParaRPr lang="en-US" dirty="0"/>
          </a:p>
        </p:txBody>
      </p:sp>
      <p:sp>
        <p:nvSpPr>
          <p:cNvPr id="12" name="Freeform 19"/>
          <p:cNvSpPr>
            <a:spLocks noEditPoints="1"/>
          </p:cNvSpPr>
          <p:nvPr userDrawn="1"/>
        </p:nvSpPr>
        <p:spPr bwMode="auto">
          <a:xfrm>
            <a:off x="614363" y="556966"/>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lstStyle/>
          <a:p>
            <a:pPr defTabSz="914400" eaLnBrk="1" fontAlgn="auto" hangingPunct="1"/>
            <a:endParaRPr lang="en-GB" sz="180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 name="Picture 9"/>
          <p:cNvPicPr>
            <a:picLocks noChangeAspect="1"/>
          </p:cNvPicPr>
          <p:nvPr userDrawn="1"/>
        </p:nvPicPr>
        <p:blipFill>
          <a:blip r:embed="rId5" cstate="email"/>
          <a:stretch>
            <a:fillRect/>
          </a:stretch>
        </p:blipFill>
        <p:spPr>
          <a:xfrm>
            <a:off x="3235452" y="0"/>
            <a:ext cx="8956548" cy="6858000"/>
          </a:xfrm>
          <a:prstGeom prst="rect">
            <a:avLst/>
          </a:prstGeom>
        </p:spPr>
      </p:pic>
      <p:sp>
        <p:nvSpPr>
          <p:cNvPr id="5"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defTabSz="914400" eaLnBrk="1" fontAlgn="auto" hangingPunct="1"/>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defTabSz="914400" eaLnBrk="1" fontAlgn="auto" hangingPunct="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a:xfrm>
            <a:off x="995364" y="431800"/>
            <a:ext cx="10204450" cy="533400"/>
          </a:xfrm>
        </p:spPr>
        <p:txBody>
          <a:bodyPr/>
          <a:lstStyle/>
          <a:p>
            <a:r>
              <a:rPr lang="en-US"/>
              <a:t>Click to edit Master title style</a:t>
            </a:r>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5.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5.pn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6" Type="http://schemas.openxmlformats.org/officeDocument/2006/relationships/theme" Target="../theme/theme3.xml"/><Relationship Id="rId15" Type="http://schemas.openxmlformats.org/officeDocument/2006/relationships/vmlDrawing" Target="../drawings/vmlDrawing4.vml"/><Relationship Id="rId14" Type="http://schemas.openxmlformats.org/officeDocument/2006/relationships/image" Target="../media/image10.emf"/><Relationship Id="rId13" Type="http://schemas.openxmlformats.org/officeDocument/2006/relationships/oleObject" Target="../embeddings/oleObject4.bin"/><Relationship Id="rId12" Type="http://schemas.openxmlformats.org/officeDocument/2006/relationships/tags" Target="../tags/tag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sym typeface="Calibri" panose="020F0502020204030204" pitchFamily="34" charset="0"/>
              </a:rPr>
              <a:t>单击此处编辑母版标题样式</a:t>
            </a:r>
            <a:endParaRPr lang="zh-CN">
              <a:sym typeface="Calibri" panose="020F0502020204030204" pitchFamily="34" charset="0"/>
            </a:endParaRPr>
          </a:p>
        </p:txBody>
      </p:sp>
      <p:sp>
        <p:nvSpPr>
          <p:cNvPr id="1027" name="文本占位符 2"/>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sym typeface="Calibri" panose="020F0502020204030204" pitchFamily="34" charset="0"/>
              </a:rPr>
              <a:t>单击此处编辑母版文本样式</a:t>
            </a:r>
            <a:endParaRPr lang="zh-CN">
              <a:sym typeface="Calibri" panose="020F0502020204030204" pitchFamily="34" charset="0"/>
            </a:endParaRPr>
          </a:p>
          <a:p>
            <a:pPr lvl="1"/>
            <a:r>
              <a:rPr lang="zh-CN">
                <a:sym typeface="Calibri" panose="020F0502020204030204" pitchFamily="34" charset="0"/>
              </a:rPr>
              <a:t>第二级</a:t>
            </a:r>
            <a:endParaRPr lang="zh-CN">
              <a:sym typeface="Calibri" panose="020F0502020204030204" pitchFamily="34" charset="0"/>
            </a:endParaRPr>
          </a:p>
          <a:p>
            <a:pPr lvl="2"/>
            <a:r>
              <a:rPr lang="zh-CN">
                <a:sym typeface="Calibri" panose="020F0502020204030204" pitchFamily="34" charset="0"/>
              </a:rPr>
              <a:t>第三级</a:t>
            </a:r>
            <a:endParaRPr lang="zh-CN">
              <a:sym typeface="Calibri" panose="020F0502020204030204" pitchFamily="34" charset="0"/>
            </a:endParaRPr>
          </a:p>
          <a:p>
            <a:pPr lvl="3"/>
            <a:r>
              <a:rPr lang="zh-CN">
                <a:sym typeface="Calibri" panose="020F0502020204030204" pitchFamily="34" charset="0"/>
              </a:rPr>
              <a:t>第四级</a:t>
            </a:r>
            <a:endParaRPr lang="zh-CN">
              <a:sym typeface="Calibri" panose="020F0502020204030204" pitchFamily="34" charset="0"/>
            </a:endParaRPr>
          </a:p>
          <a:p>
            <a:pPr lvl="4"/>
            <a:r>
              <a:rPr lang="zh-CN">
                <a:sym typeface="Calibri" panose="020F0502020204030204" pitchFamily="34" charset="0"/>
              </a:rPr>
              <a:t>第五级</a:t>
            </a:r>
            <a:endParaRPr lang="zh-CN">
              <a:sym typeface="Calibri" panose="020F0502020204030204" pitchFamily="34" charset="0"/>
            </a:endParaRPr>
          </a:p>
        </p:txBody>
      </p:sp>
      <p:sp>
        <p:nvSpPr>
          <p:cNvPr id="1028" name="日期占位符 3"/>
          <p:cNvSpPr>
            <a:spLocks noGrp="1" noChangeArrowheads="1"/>
          </p:cNvSpPr>
          <p:nvPr>
            <p:ph type="dt" sz="half" idx="2"/>
          </p:nvPr>
        </p:nvSpPr>
        <p:spPr bwMode="auto">
          <a:xfrm>
            <a:off x="609600" y="6356350"/>
            <a:ext cx="284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a:solidFill>
                  <a:srgbClr val="898989"/>
                </a:solidFill>
              </a:defRPr>
            </a:lvl1pPr>
          </a:lstStyle>
          <a:p>
            <a:pPr>
              <a:defRPr/>
            </a:pPr>
            <a:fld id="{F07CC834-C2A2-44D5-B063-B794170919D8}" type="datetime1">
              <a:rPr lang="zh-CN" altLang="en-US" smtClean="0"/>
            </a:fld>
            <a:endParaRPr lang="zh-CN" altLang="en-US" sz="1800">
              <a:solidFill>
                <a:schemeClr val="tx1"/>
              </a:solidFill>
            </a:endParaRPr>
          </a:p>
        </p:txBody>
      </p:sp>
      <p:sp>
        <p:nvSpPr>
          <p:cNvPr id="1029" name="页脚占位符 4"/>
          <p:cNvSpPr>
            <a:spLocks noGrp="1" noChangeArrowheads="1"/>
          </p:cNvSpPr>
          <p:nvPr>
            <p:ph type="ftr" sz="quarter" idx="3"/>
          </p:nvPr>
        </p:nvSpPr>
        <p:spPr bwMode="auto">
          <a:xfrm>
            <a:off x="4165600" y="6356350"/>
            <a:ext cx="3860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a:solidFill>
                  <a:srgbClr val="898989"/>
                </a:solidFill>
              </a:defRPr>
            </a:lvl1pPr>
          </a:lstStyle>
          <a:p>
            <a:pPr>
              <a:defRPr/>
            </a:pPr>
            <a:endParaRPr lang="zh-CN" altLang="zh-CN"/>
          </a:p>
        </p:txBody>
      </p:sp>
      <p:sp>
        <p:nvSpPr>
          <p:cNvPr id="1030" name="灯片编号占位符 5"/>
          <p:cNvSpPr>
            <a:spLocks noGrp="1" noChangeArrowheads="1"/>
          </p:cNvSpPr>
          <p:nvPr>
            <p:ph type="sldNum" sz="quarter" idx="4"/>
          </p:nvPr>
        </p:nvSpPr>
        <p:spPr bwMode="auto">
          <a:xfrm>
            <a:off x="8737600" y="6356350"/>
            <a:ext cx="284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a:solidFill>
                  <a:srgbClr val="898989"/>
                </a:solidFill>
              </a:defRPr>
            </a:lvl1pPr>
          </a:lstStyle>
          <a:p>
            <a:fld id="{D47E744A-179D-4985-9A3C-466C6CE4C61C}" type="slidenum">
              <a:rPr lang="zh-CN" altLang="en-US"/>
            </a:fld>
            <a:endParaRPr lang="zh-CN" altLang="en-US" sz="1800">
              <a:solidFill>
                <a:schemeClr val="tx1"/>
              </a:solidFill>
            </a:endParaRPr>
          </a:p>
        </p:txBody>
      </p:sp>
      <p:grpSp>
        <p:nvGrpSpPr>
          <p:cNvPr id="8" name="组合 7"/>
          <p:cNvGrpSpPr/>
          <p:nvPr userDrawn="1"/>
        </p:nvGrpSpPr>
        <p:grpSpPr>
          <a:xfrm>
            <a:off x="-312712" y="764704"/>
            <a:ext cx="11598260" cy="4936096"/>
            <a:chOff x="-56628" y="800394"/>
            <a:chExt cx="11598260" cy="4936096"/>
          </a:xfrm>
        </p:grpSpPr>
        <p:sp>
          <p:nvSpPr>
            <p:cNvPr id="9" name="文本框 8"/>
            <p:cNvSpPr txBox="1"/>
            <p:nvPr userDrawn="1"/>
          </p:nvSpPr>
          <p:spPr>
            <a:xfrm rot="19789023">
              <a:off x="-56628" y="800395"/>
              <a:ext cx="3965411" cy="369332"/>
            </a:xfrm>
            <a:prstGeom prst="rect">
              <a:avLst/>
            </a:prstGeom>
            <a:noFill/>
          </p:spPr>
          <p:txBody>
            <a:bodyPr wrap="square">
              <a:spAutoFit/>
            </a:bodyPr>
            <a:lstStyle/>
            <a:p>
              <a:pPr>
                <a:defRPr/>
              </a:pPr>
              <a:r>
                <a:rPr lang="zh-CN" altLang="en-US"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rgbClr val="FBFBFB"/>
                </a:solidFill>
                <a:latin typeface="微软雅黑" panose="020B0503020204020204" pitchFamily="34" charset="-122"/>
                <a:ea typeface="微软雅黑" panose="020B0503020204020204" pitchFamily="34" charset="-122"/>
              </a:endParaRPr>
            </a:p>
          </p:txBody>
        </p:sp>
        <p:sp>
          <p:nvSpPr>
            <p:cNvPr id="10" name="文本框 9"/>
            <p:cNvSpPr txBox="1"/>
            <p:nvPr userDrawn="1"/>
          </p:nvSpPr>
          <p:spPr>
            <a:xfrm rot="19789023">
              <a:off x="87390" y="2939143"/>
              <a:ext cx="3965411" cy="369332"/>
            </a:xfrm>
            <a:prstGeom prst="rect">
              <a:avLst/>
            </a:prstGeom>
            <a:noFill/>
          </p:spPr>
          <p:txBody>
            <a:bodyPr wrap="square">
              <a:spAutoFit/>
            </a:bodyPr>
            <a:lstStyle/>
            <a:p>
              <a:pPr>
                <a:defRPr/>
              </a:pPr>
              <a:r>
                <a:rPr lang="zh-CN" altLang="en-US"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rgbClr val="FBFBFB"/>
                </a:solidFill>
                <a:latin typeface="微软雅黑" panose="020B0503020204020204" pitchFamily="34" charset="-122"/>
                <a:ea typeface="微软雅黑" panose="020B0503020204020204" pitchFamily="34" charset="-122"/>
              </a:endParaRPr>
            </a:p>
          </p:txBody>
        </p:sp>
        <p:sp>
          <p:nvSpPr>
            <p:cNvPr id="11" name="文本框 10"/>
            <p:cNvSpPr txBox="1"/>
            <p:nvPr userDrawn="1"/>
          </p:nvSpPr>
          <p:spPr>
            <a:xfrm rot="19789023">
              <a:off x="231404" y="5367158"/>
              <a:ext cx="3965411" cy="369332"/>
            </a:xfrm>
            <a:prstGeom prst="rect">
              <a:avLst/>
            </a:prstGeom>
            <a:noFill/>
          </p:spPr>
          <p:txBody>
            <a:bodyPr wrap="square">
              <a:spAutoFit/>
            </a:bodyPr>
            <a:lstStyle/>
            <a:p>
              <a:pPr>
                <a:defRPr/>
              </a:pPr>
              <a:r>
                <a:rPr lang="zh-CN" altLang="en-US"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rgbClr val="FBFBFB"/>
                </a:solidFill>
                <a:latin typeface="微软雅黑" panose="020B0503020204020204" pitchFamily="34" charset="-122"/>
                <a:ea typeface="微软雅黑" panose="020B0503020204020204" pitchFamily="34" charset="-122"/>
              </a:endParaRPr>
            </a:p>
          </p:txBody>
        </p:sp>
        <p:sp>
          <p:nvSpPr>
            <p:cNvPr id="12" name="文本框 11"/>
            <p:cNvSpPr txBox="1"/>
            <p:nvPr userDrawn="1"/>
          </p:nvSpPr>
          <p:spPr>
            <a:xfrm rot="19789023">
              <a:off x="4142275" y="800394"/>
              <a:ext cx="3965411" cy="369332"/>
            </a:xfrm>
            <a:prstGeom prst="rect">
              <a:avLst/>
            </a:prstGeom>
            <a:noFill/>
          </p:spPr>
          <p:txBody>
            <a:bodyPr wrap="square">
              <a:spAutoFit/>
            </a:bodyPr>
            <a:lstStyle/>
            <a:p>
              <a:pPr>
                <a:defRPr/>
              </a:pPr>
              <a:r>
                <a:rPr lang="zh-CN" altLang="en-US"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rgbClr val="FBFBFB"/>
                </a:solidFill>
                <a:latin typeface="微软雅黑" panose="020B0503020204020204" pitchFamily="34" charset="-122"/>
                <a:ea typeface="微软雅黑" panose="020B0503020204020204" pitchFamily="34" charset="-122"/>
              </a:endParaRPr>
            </a:p>
          </p:txBody>
        </p:sp>
        <p:sp>
          <p:nvSpPr>
            <p:cNvPr id="13" name="文本框 12"/>
            <p:cNvSpPr txBox="1"/>
            <p:nvPr userDrawn="1"/>
          </p:nvSpPr>
          <p:spPr>
            <a:xfrm rot="19789023">
              <a:off x="4286293" y="2939142"/>
              <a:ext cx="3965411" cy="369332"/>
            </a:xfrm>
            <a:prstGeom prst="rect">
              <a:avLst/>
            </a:prstGeom>
            <a:noFill/>
          </p:spPr>
          <p:txBody>
            <a:bodyPr wrap="square">
              <a:spAutoFit/>
            </a:bodyPr>
            <a:lstStyle/>
            <a:p>
              <a:pPr>
                <a:defRPr/>
              </a:pPr>
              <a:r>
                <a:rPr lang="zh-CN" altLang="en-US"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rgbClr val="FBFBFB"/>
                </a:solidFill>
                <a:latin typeface="微软雅黑" panose="020B0503020204020204" pitchFamily="34" charset="-122"/>
                <a:ea typeface="微软雅黑" panose="020B0503020204020204" pitchFamily="34" charset="-122"/>
              </a:endParaRPr>
            </a:p>
          </p:txBody>
        </p:sp>
        <p:sp>
          <p:nvSpPr>
            <p:cNvPr id="14" name="文本框 13"/>
            <p:cNvSpPr txBox="1"/>
            <p:nvPr userDrawn="1"/>
          </p:nvSpPr>
          <p:spPr>
            <a:xfrm rot="19789023">
              <a:off x="4430307" y="5367157"/>
              <a:ext cx="3965411" cy="369332"/>
            </a:xfrm>
            <a:prstGeom prst="rect">
              <a:avLst/>
            </a:prstGeom>
            <a:noFill/>
          </p:spPr>
          <p:txBody>
            <a:bodyPr wrap="square">
              <a:spAutoFit/>
            </a:bodyPr>
            <a:lstStyle/>
            <a:p>
              <a:pPr>
                <a:defRPr/>
              </a:pPr>
              <a:r>
                <a:rPr lang="zh-CN" altLang="en-US"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rgbClr val="FBFBFB"/>
                </a:solidFill>
                <a:latin typeface="微软雅黑" panose="020B0503020204020204" pitchFamily="34" charset="-122"/>
                <a:ea typeface="微软雅黑" panose="020B0503020204020204" pitchFamily="34" charset="-122"/>
              </a:endParaRPr>
            </a:p>
          </p:txBody>
        </p:sp>
        <p:sp>
          <p:nvSpPr>
            <p:cNvPr id="15" name="文本框 14"/>
            <p:cNvSpPr txBox="1"/>
            <p:nvPr userDrawn="1"/>
          </p:nvSpPr>
          <p:spPr>
            <a:xfrm rot="19789023">
              <a:off x="7436983" y="2584130"/>
              <a:ext cx="3965411" cy="369332"/>
            </a:xfrm>
            <a:prstGeom prst="rect">
              <a:avLst/>
            </a:prstGeom>
            <a:noFill/>
          </p:spPr>
          <p:txBody>
            <a:bodyPr wrap="square">
              <a:spAutoFit/>
            </a:bodyPr>
            <a:lstStyle/>
            <a:p>
              <a:pPr>
                <a:defRPr/>
              </a:pPr>
              <a:r>
                <a:rPr lang="zh-CN" altLang="en-US"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rgbClr val="FBFBFB"/>
                </a:solidFill>
                <a:latin typeface="微软雅黑" panose="020B0503020204020204" pitchFamily="34" charset="-122"/>
                <a:ea typeface="微软雅黑" panose="020B0503020204020204" pitchFamily="34" charset="-122"/>
              </a:endParaRPr>
            </a:p>
          </p:txBody>
        </p:sp>
        <p:sp>
          <p:nvSpPr>
            <p:cNvPr id="16" name="文本框 15"/>
            <p:cNvSpPr txBox="1"/>
            <p:nvPr userDrawn="1"/>
          </p:nvSpPr>
          <p:spPr>
            <a:xfrm rot="19789023">
              <a:off x="7576221" y="4722878"/>
              <a:ext cx="3965411" cy="369332"/>
            </a:xfrm>
            <a:prstGeom prst="rect">
              <a:avLst/>
            </a:prstGeom>
            <a:noFill/>
          </p:spPr>
          <p:txBody>
            <a:bodyPr wrap="square">
              <a:spAutoFit/>
            </a:bodyPr>
            <a:lstStyle/>
            <a:p>
              <a:pPr>
                <a:defRPr/>
              </a:pPr>
              <a:r>
                <a:rPr lang="zh-CN" altLang="en-US"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rgbClr val="FBFBFB"/>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590290" y="-20852"/>
            <a:ext cx="2630327" cy="11311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marL="914400" indent="-914400"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90204" pitchFamily="34" charset="0"/>
        <a:buChar char="•"/>
        <a:defRPr sz="3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90204" pitchFamily="34" charset="0"/>
        <a:buChar char="–"/>
        <a:defRPr sz="2800">
          <a:solidFill>
            <a:schemeClr val="tx1"/>
          </a:solidFill>
          <a:latin typeface="+mn-lt"/>
          <a:ea typeface="+mn-ea"/>
          <a:sym typeface="Calibri" panose="020F0502020204030204" pitchFamily="34" charset="0"/>
        </a:defRPr>
      </a:lvl2pPr>
      <a:lvl3pPr marL="1143000" indent="-228600" algn="l" rtl="0" eaLnBrk="0" fontAlgn="base" hangingPunct="0">
        <a:spcBef>
          <a:spcPct val="20000"/>
        </a:spcBef>
        <a:spcAft>
          <a:spcPct val="0"/>
        </a:spcAft>
        <a:buFont typeface="Arial" panose="020B0604020202090204" pitchFamily="34" charset="0"/>
        <a:buChar char="•"/>
        <a:defRPr sz="2400">
          <a:solidFill>
            <a:schemeClr val="tx1"/>
          </a:solidFill>
          <a:latin typeface="+mn-lt"/>
          <a:ea typeface="+mn-ea"/>
          <a:sym typeface="Calibri" panose="020F0502020204030204" pitchFamily="34" charset="0"/>
        </a:defRPr>
      </a:lvl3pPr>
      <a:lvl4pPr marL="16002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4pPr>
      <a:lvl5pPr marL="20574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5pPr>
      <a:lvl6pPr marL="2514600" indent="-228600" algn="l" rtl="0" fontAlgn="base">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6pPr>
      <a:lvl7pPr marL="2971800" indent="-228600" algn="l" rtl="0" fontAlgn="base">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7pPr>
      <a:lvl8pPr marL="3429000" indent="-228600" algn="l" rtl="0" fontAlgn="base">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8pPr>
      <a:lvl9pPr marL="3886200" indent="-228600" algn="l" rtl="0" fontAlgn="base">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sym typeface="Calibri" panose="020F0502020204030204" pitchFamily="34" charset="0"/>
              </a:rPr>
              <a:t>单击此处编辑母版标题样式</a:t>
            </a:r>
            <a:endParaRPr lang="zh-CN">
              <a:sym typeface="Calibri" panose="020F0502020204030204" pitchFamily="34" charset="0"/>
            </a:endParaRPr>
          </a:p>
        </p:txBody>
      </p:sp>
      <p:sp>
        <p:nvSpPr>
          <p:cNvPr id="1027" name="文本占位符 2"/>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sym typeface="Calibri" panose="020F0502020204030204" pitchFamily="34" charset="0"/>
              </a:rPr>
              <a:t>单击此处编辑母版文本样式</a:t>
            </a:r>
            <a:endParaRPr lang="zh-CN">
              <a:sym typeface="Calibri" panose="020F0502020204030204" pitchFamily="34" charset="0"/>
            </a:endParaRPr>
          </a:p>
          <a:p>
            <a:pPr lvl="1"/>
            <a:r>
              <a:rPr lang="zh-CN">
                <a:sym typeface="Calibri" panose="020F0502020204030204" pitchFamily="34" charset="0"/>
              </a:rPr>
              <a:t>第二级</a:t>
            </a:r>
            <a:endParaRPr lang="zh-CN">
              <a:sym typeface="Calibri" panose="020F0502020204030204" pitchFamily="34" charset="0"/>
            </a:endParaRPr>
          </a:p>
          <a:p>
            <a:pPr lvl="2"/>
            <a:r>
              <a:rPr lang="zh-CN">
                <a:sym typeface="Calibri" panose="020F0502020204030204" pitchFamily="34" charset="0"/>
              </a:rPr>
              <a:t>第三级</a:t>
            </a:r>
            <a:endParaRPr lang="zh-CN">
              <a:sym typeface="Calibri" panose="020F0502020204030204" pitchFamily="34" charset="0"/>
            </a:endParaRPr>
          </a:p>
          <a:p>
            <a:pPr lvl="3"/>
            <a:r>
              <a:rPr lang="zh-CN">
                <a:sym typeface="Calibri" panose="020F0502020204030204" pitchFamily="34" charset="0"/>
              </a:rPr>
              <a:t>第四级</a:t>
            </a:r>
            <a:endParaRPr lang="zh-CN">
              <a:sym typeface="Calibri" panose="020F0502020204030204" pitchFamily="34" charset="0"/>
            </a:endParaRPr>
          </a:p>
          <a:p>
            <a:pPr lvl="4"/>
            <a:r>
              <a:rPr lang="zh-CN">
                <a:sym typeface="Calibri" panose="020F0502020204030204" pitchFamily="34" charset="0"/>
              </a:rPr>
              <a:t>第五级</a:t>
            </a:r>
            <a:endParaRPr lang="zh-CN">
              <a:sym typeface="Calibri" panose="020F0502020204030204" pitchFamily="34" charset="0"/>
            </a:endParaRPr>
          </a:p>
        </p:txBody>
      </p:sp>
      <p:sp>
        <p:nvSpPr>
          <p:cNvPr id="1028" name="日期占位符 3"/>
          <p:cNvSpPr>
            <a:spLocks noGrp="1" noChangeArrowheads="1"/>
          </p:cNvSpPr>
          <p:nvPr>
            <p:ph type="dt" sz="half" idx="2"/>
          </p:nvPr>
        </p:nvSpPr>
        <p:spPr bwMode="auto">
          <a:xfrm>
            <a:off x="609600" y="6356350"/>
            <a:ext cx="284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a:solidFill>
                  <a:srgbClr val="898989"/>
                </a:solidFill>
              </a:defRPr>
            </a:lvl1pPr>
          </a:lstStyle>
          <a:p>
            <a:pPr>
              <a:defRPr/>
            </a:pPr>
            <a:fld id="{F07CC834-C2A2-44D5-B063-B794170919D8}" type="datetime1">
              <a:rPr lang="zh-CN" altLang="en-US" smtClean="0"/>
            </a:fld>
            <a:endParaRPr lang="zh-CN" altLang="en-US" sz="1800">
              <a:solidFill>
                <a:schemeClr val="tx1"/>
              </a:solidFill>
            </a:endParaRPr>
          </a:p>
        </p:txBody>
      </p:sp>
      <p:sp>
        <p:nvSpPr>
          <p:cNvPr id="1029" name="页脚占位符 4"/>
          <p:cNvSpPr>
            <a:spLocks noGrp="1" noChangeArrowheads="1"/>
          </p:cNvSpPr>
          <p:nvPr>
            <p:ph type="ftr" sz="quarter" idx="3"/>
          </p:nvPr>
        </p:nvSpPr>
        <p:spPr bwMode="auto">
          <a:xfrm>
            <a:off x="4165600" y="6356350"/>
            <a:ext cx="3860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a:solidFill>
                  <a:srgbClr val="898989"/>
                </a:solidFill>
              </a:defRPr>
            </a:lvl1pPr>
          </a:lstStyle>
          <a:p>
            <a:pPr>
              <a:defRPr/>
            </a:pPr>
            <a:endParaRPr lang="zh-CN" altLang="zh-CN"/>
          </a:p>
        </p:txBody>
      </p:sp>
      <p:sp>
        <p:nvSpPr>
          <p:cNvPr id="1030" name="灯片编号占位符 5"/>
          <p:cNvSpPr>
            <a:spLocks noGrp="1" noChangeArrowheads="1"/>
          </p:cNvSpPr>
          <p:nvPr>
            <p:ph type="sldNum" sz="quarter" idx="4"/>
          </p:nvPr>
        </p:nvSpPr>
        <p:spPr bwMode="auto">
          <a:xfrm>
            <a:off x="8737600" y="6356350"/>
            <a:ext cx="284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a:solidFill>
                  <a:srgbClr val="898989"/>
                </a:solidFill>
              </a:defRPr>
            </a:lvl1pPr>
          </a:lstStyle>
          <a:p>
            <a:fld id="{D47E744A-179D-4985-9A3C-466C6CE4C61C}" type="slidenum">
              <a:rPr lang="zh-CN" altLang="en-US"/>
            </a:fld>
            <a:endParaRPr lang="zh-CN" altLang="en-US" sz="1800">
              <a:solidFill>
                <a:schemeClr val="tx1"/>
              </a:solidFill>
            </a:endParaRPr>
          </a:p>
        </p:txBody>
      </p:sp>
      <p:grpSp>
        <p:nvGrpSpPr>
          <p:cNvPr id="8" name="组合 7"/>
          <p:cNvGrpSpPr/>
          <p:nvPr userDrawn="1"/>
        </p:nvGrpSpPr>
        <p:grpSpPr>
          <a:xfrm>
            <a:off x="-312712" y="764704"/>
            <a:ext cx="11598260" cy="4936096"/>
            <a:chOff x="-56628" y="800394"/>
            <a:chExt cx="11598260" cy="4936096"/>
          </a:xfrm>
        </p:grpSpPr>
        <p:sp>
          <p:nvSpPr>
            <p:cNvPr id="9" name="文本框 8"/>
            <p:cNvSpPr txBox="1"/>
            <p:nvPr userDrawn="1"/>
          </p:nvSpPr>
          <p:spPr>
            <a:xfrm rot="19789023">
              <a:off x="-56628" y="800395"/>
              <a:ext cx="3965411" cy="369332"/>
            </a:xfrm>
            <a:prstGeom prst="rect">
              <a:avLst/>
            </a:prstGeom>
            <a:noFill/>
          </p:spPr>
          <p:txBody>
            <a:bodyPr wrap="square">
              <a:spAutoFit/>
            </a:bodyPr>
            <a:lstStyle/>
            <a:p>
              <a:pPr>
                <a:defRPr/>
              </a:pPr>
              <a:r>
                <a:rPr lang="zh-CN" altLang="en-US" sz="1800"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zh-CN" altLang="en-US" sz="1800" dirty="0">
                <a:solidFill>
                  <a:srgbClr val="FBFBFB"/>
                </a:solidFill>
                <a:latin typeface="微软雅黑" panose="020B0503020204020204" pitchFamily="34" charset="-122"/>
                <a:ea typeface="微软雅黑" panose="020B0503020204020204" pitchFamily="34" charset="-122"/>
              </a:endParaRPr>
            </a:p>
          </p:txBody>
        </p:sp>
        <p:sp>
          <p:nvSpPr>
            <p:cNvPr id="10" name="文本框 9"/>
            <p:cNvSpPr txBox="1"/>
            <p:nvPr userDrawn="1"/>
          </p:nvSpPr>
          <p:spPr>
            <a:xfrm rot="19789023">
              <a:off x="87390" y="2939143"/>
              <a:ext cx="3965411" cy="369332"/>
            </a:xfrm>
            <a:prstGeom prst="rect">
              <a:avLst/>
            </a:prstGeom>
            <a:noFill/>
          </p:spPr>
          <p:txBody>
            <a:bodyPr wrap="square">
              <a:spAutoFit/>
            </a:bodyPr>
            <a:lstStyle/>
            <a:p>
              <a:pPr>
                <a:defRPr/>
              </a:pPr>
              <a:r>
                <a:rPr lang="zh-CN" altLang="en-US" sz="1800"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zh-CN" altLang="en-US" sz="1800" dirty="0">
                <a:solidFill>
                  <a:srgbClr val="FBFBFB"/>
                </a:solidFill>
                <a:latin typeface="微软雅黑" panose="020B0503020204020204" pitchFamily="34" charset="-122"/>
                <a:ea typeface="微软雅黑" panose="020B0503020204020204" pitchFamily="34" charset="-122"/>
              </a:endParaRPr>
            </a:p>
          </p:txBody>
        </p:sp>
        <p:sp>
          <p:nvSpPr>
            <p:cNvPr id="11" name="文本框 10"/>
            <p:cNvSpPr txBox="1"/>
            <p:nvPr userDrawn="1"/>
          </p:nvSpPr>
          <p:spPr>
            <a:xfrm rot="19789023">
              <a:off x="231404" y="5367158"/>
              <a:ext cx="3965411" cy="369332"/>
            </a:xfrm>
            <a:prstGeom prst="rect">
              <a:avLst/>
            </a:prstGeom>
            <a:noFill/>
          </p:spPr>
          <p:txBody>
            <a:bodyPr wrap="square">
              <a:spAutoFit/>
            </a:bodyPr>
            <a:lstStyle/>
            <a:p>
              <a:pPr>
                <a:defRPr/>
              </a:pPr>
              <a:r>
                <a:rPr lang="zh-CN" altLang="en-US" sz="1800"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zh-CN" altLang="en-US" sz="1800" dirty="0">
                <a:solidFill>
                  <a:srgbClr val="FBFBFB"/>
                </a:solidFill>
                <a:latin typeface="微软雅黑" panose="020B0503020204020204" pitchFamily="34" charset="-122"/>
                <a:ea typeface="微软雅黑" panose="020B0503020204020204" pitchFamily="34" charset="-122"/>
              </a:endParaRPr>
            </a:p>
          </p:txBody>
        </p:sp>
        <p:sp>
          <p:nvSpPr>
            <p:cNvPr id="12" name="文本框 11"/>
            <p:cNvSpPr txBox="1"/>
            <p:nvPr userDrawn="1"/>
          </p:nvSpPr>
          <p:spPr>
            <a:xfrm rot="19789023">
              <a:off x="4142275" y="800394"/>
              <a:ext cx="3965411" cy="369332"/>
            </a:xfrm>
            <a:prstGeom prst="rect">
              <a:avLst/>
            </a:prstGeom>
            <a:noFill/>
          </p:spPr>
          <p:txBody>
            <a:bodyPr wrap="square">
              <a:spAutoFit/>
            </a:bodyPr>
            <a:lstStyle/>
            <a:p>
              <a:pPr>
                <a:defRPr/>
              </a:pPr>
              <a:r>
                <a:rPr lang="zh-CN" altLang="en-US" sz="1800"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zh-CN" altLang="en-US" sz="1800" dirty="0">
                <a:solidFill>
                  <a:srgbClr val="FBFBFB"/>
                </a:solidFill>
                <a:latin typeface="微软雅黑" panose="020B0503020204020204" pitchFamily="34" charset="-122"/>
                <a:ea typeface="微软雅黑" panose="020B0503020204020204" pitchFamily="34" charset="-122"/>
              </a:endParaRPr>
            </a:p>
          </p:txBody>
        </p:sp>
        <p:sp>
          <p:nvSpPr>
            <p:cNvPr id="13" name="文本框 12"/>
            <p:cNvSpPr txBox="1"/>
            <p:nvPr userDrawn="1"/>
          </p:nvSpPr>
          <p:spPr>
            <a:xfrm rot="19789023">
              <a:off x="4286293" y="2939142"/>
              <a:ext cx="3965411" cy="369332"/>
            </a:xfrm>
            <a:prstGeom prst="rect">
              <a:avLst/>
            </a:prstGeom>
            <a:noFill/>
          </p:spPr>
          <p:txBody>
            <a:bodyPr wrap="square">
              <a:spAutoFit/>
            </a:bodyPr>
            <a:lstStyle/>
            <a:p>
              <a:pPr>
                <a:defRPr/>
              </a:pPr>
              <a:r>
                <a:rPr lang="zh-CN" altLang="en-US" sz="1800"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zh-CN" altLang="en-US" sz="1800" dirty="0">
                <a:solidFill>
                  <a:srgbClr val="FBFBFB"/>
                </a:solidFill>
                <a:latin typeface="微软雅黑" panose="020B0503020204020204" pitchFamily="34" charset="-122"/>
                <a:ea typeface="微软雅黑" panose="020B0503020204020204" pitchFamily="34" charset="-122"/>
              </a:endParaRPr>
            </a:p>
          </p:txBody>
        </p:sp>
        <p:sp>
          <p:nvSpPr>
            <p:cNvPr id="14" name="文本框 13"/>
            <p:cNvSpPr txBox="1"/>
            <p:nvPr userDrawn="1"/>
          </p:nvSpPr>
          <p:spPr>
            <a:xfrm rot="19789023">
              <a:off x="4430307" y="5367157"/>
              <a:ext cx="3965411" cy="369332"/>
            </a:xfrm>
            <a:prstGeom prst="rect">
              <a:avLst/>
            </a:prstGeom>
            <a:noFill/>
          </p:spPr>
          <p:txBody>
            <a:bodyPr wrap="square">
              <a:spAutoFit/>
            </a:bodyPr>
            <a:lstStyle/>
            <a:p>
              <a:pPr>
                <a:defRPr/>
              </a:pPr>
              <a:r>
                <a:rPr lang="zh-CN" altLang="en-US" sz="1800"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zh-CN" altLang="en-US" sz="1800" dirty="0">
                <a:solidFill>
                  <a:srgbClr val="FBFBFB"/>
                </a:solidFill>
                <a:latin typeface="微软雅黑" panose="020B0503020204020204" pitchFamily="34" charset="-122"/>
                <a:ea typeface="微软雅黑" panose="020B0503020204020204" pitchFamily="34" charset="-122"/>
              </a:endParaRPr>
            </a:p>
          </p:txBody>
        </p:sp>
        <p:sp>
          <p:nvSpPr>
            <p:cNvPr id="15" name="文本框 14"/>
            <p:cNvSpPr txBox="1"/>
            <p:nvPr userDrawn="1"/>
          </p:nvSpPr>
          <p:spPr>
            <a:xfrm rot="19789023">
              <a:off x="7436983" y="2584130"/>
              <a:ext cx="3965411" cy="369332"/>
            </a:xfrm>
            <a:prstGeom prst="rect">
              <a:avLst/>
            </a:prstGeom>
            <a:noFill/>
          </p:spPr>
          <p:txBody>
            <a:bodyPr wrap="square">
              <a:spAutoFit/>
            </a:bodyPr>
            <a:lstStyle/>
            <a:p>
              <a:pPr>
                <a:defRPr/>
              </a:pPr>
              <a:r>
                <a:rPr lang="zh-CN" altLang="en-US" sz="1800"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zh-CN" altLang="en-US" sz="1800" dirty="0">
                <a:solidFill>
                  <a:srgbClr val="FBFBFB"/>
                </a:solidFill>
                <a:latin typeface="微软雅黑" panose="020B0503020204020204" pitchFamily="34" charset="-122"/>
                <a:ea typeface="微软雅黑" panose="020B0503020204020204" pitchFamily="34" charset="-122"/>
              </a:endParaRPr>
            </a:p>
          </p:txBody>
        </p:sp>
        <p:sp>
          <p:nvSpPr>
            <p:cNvPr id="16" name="文本框 15"/>
            <p:cNvSpPr txBox="1"/>
            <p:nvPr userDrawn="1"/>
          </p:nvSpPr>
          <p:spPr>
            <a:xfrm rot="19789023">
              <a:off x="7576221" y="4722878"/>
              <a:ext cx="3965411" cy="369332"/>
            </a:xfrm>
            <a:prstGeom prst="rect">
              <a:avLst/>
            </a:prstGeom>
            <a:noFill/>
          </p:spPr>
          <p:txBody>
            <a:bodyPr wrap="square">
              <a:spAutoFit/>
            </a:bodyPr>
            <a:lstStyle/>
            <a:p>
              <a:pPr>
                <a:defRPr/>
              </a:pPr>
              <a:r>
                <a:rPr lang="zh-CN" altLang="en-US" sz="1800" dirty="0">
                  <a:solidFill>
                    <a:srgbClr val="FBFBFB"/>
                  </a:solidFill>
                  <a:latin typeface="微软雅黑" panose="020B0503020204020204" pitchFamily="34" charset="-122"/>
                  <a:ea typeface="微软雅黑" panose="020B0503020204020204" pitchFamily="34" charset="-122"/>
                </a:rPr>
                <a:t>本材料知识产权归房屋租赁公司所有</a:t>
              </a:r>
              <a:endParaRPr lang="zh-CN" altLang="en-US" sz="1800" dirty="0">
                <a:solidFill>
                  <a:srgbClr val="FBFBFB"/>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590290" y="-20852"/>
            <a:ext cx="2630327" cy="1131199"/>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marL="914400" indent="-914400"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90204" pitchFamily="34" charset="0"/>
        <a:buChar char="•"/>
        <a:defRPr sz="3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90204" pitchFamily="34" charset="0"/>
        <a:buChar char="–"/>
        <a:defRPr sz="2800">
          <a:solidFill>
            <a:schemeClr val="tx1"/>
          </a:solidFill>
          <a:latin typeface="+mn-lt"/>
          <a:ea typeface="+mn-ea"/>
          <a:sym typeface="Calibri" panose="020F0502020204030204" pitchFamily="34" charset="0"/>
        </a:defRPr>
      </a:lvl2pPr>
      <a:lvl3pPr marL="1143000" indent="-228600" algn="l" rtl="0" eaLnBrk="0" fontAlgn="base" hangingPunct="0">
        <a:spcBef>
          <a:spcPct val="20000"/>
        </a:spcBef>
        <a:spcAft>
          <a:spcPct val="0"/>
        </a:spcAft>
        <a:buFont typeface="Arial" panose="020B0604020202090204" pitchFamily="34" charset="0"/>
        <a:buChar char="•"/>
        <a:defRPr sz="2400">
          <a:solidFill>
            <a:schemeClr val="tx1"/>
          </a:solidFill>
          <a:latin typeface="+mn-lt"/>
          <a:ea typeface="+mn-ea"/>
          <a:sym typeface="Calibri" panose="020F0502020204030204" pitchFamily="34" charset="0"/>
        </a:defRPr>
      </a:lvl3pPr>
      <a:lvl4pPr marL="16002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4pPr>
      <a:lvl5pPr marL="20574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5pPr>
      <a:lvl6pPr marL="2514600" indent="-228600" algn="l" rtl="0" fontAlgn="base">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6pPr>
      <a:lvl7pPr marL="2971800" indent="-228600" algn="l" rtl="0" fontAlgn="base">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7pPr>
      <a:lvl8pPr marL="3429000" indent="-228600" algn="l" rtl="0" fontAlgn="base">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8pPr>
      <a:lvl9pPr marL="3886200" indent="-228600" algn="l" rtl="0" fontAlgn="base">
        <a:spcBef>
          <a:spcPct val="20000"/>
        </a:spcBef>
        <a:spcAft>
          <a:spcPct val="0"/>
        </a:spcAft>
        <a:buFont typeface="Arial" panose="020B0604020202090204" pitchFamily="34" charset="0"/>
        <a:buChar char="»"/>
        <a:defRPr sz="2000">
          <a:solidFill>
            <a:schemeClr val="tx1"/>
          </a:solidFill>
          <a:latin typeface="+mn-lt"/>
          <a:ea typeface="+mn-ea"/>
          <a:sym typeface="Calibri" panose="020F050202020403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1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13" imgW="0" imgH="0" progId="TCLayout.ActiveDocument.1">
                  <p:embed/>
                </p:oleObj>
              </mc:Choice>
              <mc:Fallback>
                <p:oleObj name="think-cell 幻灯片" r:id="rId13" imgW="0" imgH="0" progId="TCLayout.ActiveDocument.1">
                  <p:embed/>
                  <p:pic>
                    <p:nvPicPr>
                      <p:cNvPr id="0" name="对象 2" hidden="1"/>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5"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fld>
            <a:endParaRPr lang="en-US" dirty="0"/>
          </a:p>
        </p:txBody>
      </p:sp>
      <p:sp>
        <p:nvSpPr>
          <p:cNvPr id="36"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7"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38"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fontAlgn="auto"/>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TextBox 24"/>
          <p:cNvSpPr txBox="1"/>
          <p:nvPr userDrawn="1"/>
        </p:nvSpPr>
        <p:spPr>
          <a:xfrm>
            <a:off x="2381693" y="6622684"/>
            <a:ext cx="7485320" cy="113772"/>
          </a:xfrm>
          <a:prstGeom prst="rect">
            <a:avLst/>
          </a:prstGeom>
          <a:noFill/>
        </p:spPr>
        <p:txBody>
          <a:bodyPr wrap="square" lIns="0" tIns="0" rIns="0" bIns="0" rtlCol="0">
            <a:noAutofit/>
          </a:bodyPr>
          <a:lstStyle/>
          <a:p>
            <a:pPr algn="ctr" defTabSz="378460" eaLnBrk="1" fontAlgn="auto" hangingPunct="1"/>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文档分类</a:t>
            </a:r>
            <a:r>
              <a:rPr lang="en-US" altLang="zh-CN" sz="555" b="1" dirty="0">
                <a:solidFill>
                  <a:srgbClr val="000000"/>
                </a:solidFill>
                <a:latin typeface="微软雅黑" panose="020B0503020204020204" pitchFamily="34" charset="-122"/>
                <a:ea typeface="微软雅黑" panose="020B0503020204020204" pitchFamily="34" charset="-122"/>
                <a:cs typeface="Arial" panose="020B0604020202090204"/>
              </a:rPr>
              <a:t>: </a:t>
            </a:r>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保密</a:t>
            </a:r>
            <a:endPar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endParaRPr>
          </a:p>
        </p:txBody>
      </p:sp>
      <p:sp>
        <p:nvSpPr>
          <p:cNvPr id="26" name="Freeform 19"/>
          <p:cNvSpPr>
            <a:spLocks noEditPoints="1"/>
          </p:cNvSpPr>
          <p:nvPr userDrawn="1"/>
        </p:nvSpPr>
        <p:spPr bwMode="auto">
          <a:xfrm>
            <a:off x="481689" y="6320118"/>
            <a:ext cx="392123"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84406" tIns="42203" rIns="84406" bIns="42203" numCol="1" anchor="t" anchorCtr="0" compatLnSpc="1"/>
          <a:lstStyle/>
          <a:p>
            <a:pPr defTabSz="914400" eaLnBrk="1" fontAlgn="auto" hangingPunct="1"/>
            <a:endParaRPr lang="en-GB" sz="1660" dirty="0">
              <a:latin typeface="微软雅黑" panose="020B0503020204020204" pitchFamily="34" charset="-122"/>
              <a:ea typeface="微软雅黑" panose="020B0503020204020204" pitchFamily="34" charset="-122"/>
            </a:endParaRPr>
          </a:p>
        </p:txBody>
      </p:sp>
      <p:cxnSp>
        <p:nvCxnSpPr>
          <p:cNvPr id="10" name="直接连接符 4"/>
          <p:cNvCxnSpPr/>
          <p:nvPr userDrawn="1"/>
        </p:nvCxnSpPr>
        <p:spPr>
          <a:xfrm>
            <a:off x="-10160" y="978091"/>
            <a:ext cx="12212320" cy="0"/>
          </a:xfrm>
          <a:prstGeom prst="line">
            <a:avLst/>
          </a:prstGeom>
          <a:ln w="28575">
            <a:solidFill>
              <a:srgbClr val="00338D"/>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1014167" y="6299808"/>
            <a:ext cx="767922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2025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毕马威企业咨询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有限公司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中国有限责任公司，是与英国私营担保有限公司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相关联的独立成员所全球性组织中的成员。版权所有，不得转载。在中国印刷。毕马威的名称和标识均属于毕马威国际的注册商标或商标</a:t>
            </a:r>
            <a:endPar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843915" rtl="0" eaLnBrk="1" latinLnBrk="0" hangingPunct="1">
        <a:lnSpc>
          <a:spcPct val="100000"/>
        </a:lnSpc>
        <a:spcBef>
          <a:spcPct val="0"/>
        </a:spcBef>
        <a:buNone/>
        <a:defRPr sz="4985" kern="1200">
          <a:solidFill>
            <a:schemeClr val="tx2"/>
          </a:solidFill>
          <a:latin typeface="微软雅黑" panose="020B0503020204020204" pitchFamily="34" charset="-122"/>
          <a:ea typeface="微软雅黑" panose="020B0503020204020204" pitchFamily="34" charset="-122"/>
          <a:cs typeface="+mj-cs"/>
        </a:defRPr>
      </a:lvl1pPr>
    </p:titleStyle>
    <p:bodyStyle>
      <a:lvl1pPr marL="0" indent="0" algn="l" defTabSz="843915" rtl="0" eaLnBrk="1" latinLnBrk="0" hangingPunct="1">
        <a:lnSpc>
          <a:spcPct val="100000"/>
        </a:lnSpc>
        <a:spcBef>
          <a:spcPts val="0"/>
        </a:spcBef>
        <a:spcAft>
          <a:spcPts val="555"/>
        </a:spcAft>
        <a:buFontTx/>
        <a:buNone/>
        <a:defRPr sz="925" b="1" kern="1200">
          <a:solidFill>
            <a:schemeClr val="tx2"/>
          </a:solidFill>
          <a:latin typeface="微软雅黑" panose="020B0503020204020204" pitchFamily="34" charset="-122"/>
          <a:ea typeface="微软雅黑" panose="020B0503020204020204" pitchFamily="34" charset="-122"/>
          <a:cs typeface="+mn-cs"/>
        </a:defRPr>
      </a:lvl1pPr>
      <a:lvl2pPr marL="0" indent="0" algn="l" defTabSz="843915" rtl="0" eaLnBrk="1" latinLnBrk="0" hangingPunct="1">
        <a:lnSpc>
          <a:spcPct val="100000"/>
        </a:lnSpc>
        <a:spcBef>
          <a:spcPts val="0"/>
        </a:spcBef>
        <a:spcAft>
          <a:spcPts val="555"/>
        </a:spcAft>
        <a:buFontTx/>
        <a:buNone/>
        <a:defRPr sz="925" kern="1200">
          <a:solidFill>
            <a:schemeClr val="tx2"/>
          </a:solidFill>
          <a:latin typeface="微软雅黑" panose="020B0503020204020204" pitchFamily="34" charset="-122"/>
          <a:ea typeface="微软雅黑" panose="020B0503020204020204" pitchFamily="34" charset="-122"/>
          <a:cs typeface="+mn-cs"/>
        </a:defRPr>
      </a:lvl2pPr>
      <a:lvl3pPr marL="199390"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3pPr>
      <a:lvl4pPr marL="33210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4pPr>
      <a:lvl5pPr marL="53149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baseline="0">
          <a:solidFill>
            <a:schemeClr val="tx2"/>
          </a:solidFill>
          <a:latin typeface="微软雅黑" panose="020B0503020204020204" pitchFamily="34" charset="-122"/>
          <a:ea typeface="微软雅黑" panose="020B0503020204020204" pitchFamily="34" charset="-122"/>
          <a:cs typeface="+mn-cs"/>
        </a:defRPr>
      </a:lvl5pPr>
      <a:lvl6pPr marL="66484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6pPr>
      <a:lvl7pPr marL="86423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7pPr>
      <a:lvl8pPr marL="996950"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8pPr>
      <a:lvl9pPr marL="3587115" indent="-210820" algn="l" defTabSz="843915" rtl="0" eaLnBrk="1" latinLnBrk="0" hangingPunct="1">
        <a:lnSpc>
          <a:spcPct val="90000"/>
        </a:lnSpc>
        <a:spcBef>
          <a:spcPts val="460"/>
        </a:spcBef>
        <a:buFont typeface="Arial" panose="020B0604020202090204" pitchFamily="34" charset="0"/>
        <a:buChar char="•"/>
        <a:defRPr sz="1660" kern="1200">
          <a:solidFill>
            <a:schemeClr val="tx1"/>
          </a:solidFill>
          <a:latin typeface="+mn-lt"/>
          <a:ea typeface="+mn-ea"/>
          <a:cs typeface="+mn-cs"/>
        </a:defRPr>
      </a:lvl9pPr>
    </p:bodyStyle>
    <p:otherStyle>
      <a:defPPr>
        <a:defRPr lang="en-US"/>
      </a:defPPr>
      <a:lvl1pPr marL="0" algn="l" defTabSz="843915" rtl="0" eaLnBrk="1" latinLnBrk="0" hangingPunct="1">
        <a:defRPr sz="1660" kern="1200">
          <a:solidFill>
            <a:schemeClr val="tx1"/>
          </a:solidFill>
          <a:latin typeface="+mn-lt"/>
          <a:ea typeface="+mn-ea"/>
          <a:cs typeface="+mn-cs"/>
        </a:defRPr>
      </a:lvl1pPr>
      <a:lvl2pPr marL="422275" algn="l" defTabSz="843915" rtl="0" eaLnBrk="1" latinLnBrk="0" hangingPunct="1">
        <a:defRPr sz="1660" kern="1200">
          <a:solidFill>
            <a:schemeClr val="tx1"/>
          </a:solidFill>
          <a:latin typeface="+mn-lt"/>
          <a:ea typeface="+mn-ea"/>
          <a:cs typeface="+mn-cs"/>
        </a:defRPr>
      </a:lvl2pPr>
      <a:lvl3pPr marL="843915" algn="l" defTabSz="843915" rtl="0" eaLnBrk="1" latinLnBrk="0" hangingPunct="1">
        <a:defRPr sz="1660" kern="1200">
          <a:solidFill>
            <a:schemeClr val="tx1"/>
          </a:solidFill>
          <a:latin typeface="+mn-lt"/>
          <a:ea typeface="+mn-ea"/>
          <a:cs typeface="+mn-cs"/>
        </a:defRPr>
      </a:lvl3pPr>
      <a:lvl4pPr marL="1266190" algn="l" defTabSz="843915" rtl="0" eaLnBrk="1" latinLnBrk="0" hangingPunct="1">
        <a:defRPr sz="1660" kern="1200">
          <a:solidFill>
            <a:schemeClr val="tx1"/>
          </a:solidFill>
          <a:latin typeface="+mn-lt"/>
          <a:ea typeface="+mn-ea"/>
          <a:cs typeface="+mn-cs"/>
        </a:defRPr>
      </a:lvl4pPr>
      <a:lvl5pPr marL="1688465" algn="l" defTabSz="843915" rtl="0" eaLnBrk="1" latinLnBrk="0" hangingPunct="1">
        <a:defRPr sz="1660" kern="1200">
          <a:solidFill>
            <a:schemeClr val="tx1"/>
          </a:solidFill>
          <a:latin typeface="+mn-lt"/>
          <a:ea typeface="+mn-ea"/>
          <a:cs typeface="+mn-cs"/>
        </a:defRPr>
      </a:lvl5pPr>
      <a:lvl6pPr marL="2110105" algn="l" defTabSz="843915" rtl="0" eaLnBrk="1" latinLnBrk="0" hangingPunct="1">
        <a:defRPr sz="1660" kern="1200">
          <a:solidFill>
            <a:schemeClr val="tx1"/>
          </a:solidFill>
          <a:latin typeface="+mn-lt"/>
          <a:ea typeface="+mn-ea"/>
          <a:cs typeface="+mn-cs"/>
        </a:defRPr>
      </a:lvl6pPr>
      <a:lvl7pPr marL="2532380" algn="l" defTabSz="843915" rtl="0" eaLnBrk="1" latinLnBrk="0" hangingPunct="1">
        <a:defRPr sz="1660" kern="1200">
          <a:solidFill>
            <a:schemeClr val="tx1"/>
          </a:solidFill>
          <a:latin typeface="+mn-lt"/>
          <a:ea typeface="+mn-ea"/>
          <a:cs typeface="+mn-cs"/>
        </a:defRPr>
      </a:lvl7pPr>
      <a:lvl8pPr marL="2954020" algn="l" defTabSz="843915" rtl="0" eaLnBrk="1" latinLnBrk="0" hangingPunct="1">
        <a:defRPr sz="1660" kern="1200">
          <a:solidFill>
            <a:schemeClr val="tx1"/>
          </a:solidFill>
          <a:latin typeface="+mn-lt"/>
          <a:ea typeface="+mn-ea"/>
          <a:cs typeface="+mn-cs"/>
        </a:defRPr>
      </a:lvl8pPr>
      <a:lvl9pPr marL="3376295" algn="l" defTabSz="843915" rtl="0" eaLnBrk="1" latinLnBrk="0" hangingPunct="1">
        <a:defRPr sz="16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3.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6" Type="http://schemas.openxmlformats.org/officeDocument/2006/relationships/notesSlide" Target="../notesSlides/notesSlide3.xml"/><Relationship Id="rId15" Type="http://schemas.openxmlformats.org/officeDocument/2006/relationships/slideLayout" Target="../slideLayouts/slideLayout12.xml"/><Relationship Id="rId14" Type="http://schemas.openxmlformats.org/officeDocument/2006/relationships/image" Target="../media/image29.svg"/><Relationship Id="rId13" Type="http://schemas.openxmlformats.org/officeDocument/2006/relationships/image" Target="../media/image28.png"/><Relationship Id="rId12" Type="http://schemas.openxmlformats.org/officeDocument/2006/relationships/image" Target="../media/image27.svg"/><Relationship Id="rId11" Type="http://schemas.openxmlformats.org/officeDocument/2006/relationships/image" Target="../media/image26.png"/><Relationship Id="rId10" Type="http://schemas.openxmlformats.org/officeDocument/2006/relationships/image" Target="../media/image25.svg"/><Relationship Id="rId1"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5.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5.xml"/><Relationship Id="rId4" Type="http://schemas.openxmlformats.org/officeDocument/2006/relationships/image" Target="../media/image34.svg"/><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image" Target="../media/image3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92" Type="http://schemas.openxmlformats.org/officeDocument/2006/relationships/notesSlide" Target="../notesSlides/notesSlide11.xml"/><Relationship Id="rId91" Type="http://schemas.openxmlformats.org/officeDocument/2006/relationships/slideLayout" Target="../slideLayouts/slideLayout36.xml"/><Relationship Id="rId90" Type="http://schemas.openxmlformats.org/officeDocument/2006/relationships/tags" Target="../tags/tag99.xml"/><Relationship Id="rId9" Type="http://schemas.openxmlformats.org/officeDocument/2006/relationships/tags" Target="../tags/tag18.xml"/><Relationship Id="rId89" Type="http://schemas.openxmlformats.org/officeDocument/2006/relationships/tags" Target="../tags/tag98.xml"/><Relationship Id="rId88" Type="http://schemas.openxmlformats.org/officeDocument/2006/relationships/tags" Target="../tags/tag97.xml"/><Relationship Id="rId87" Type="http://schemas.openxmlformats.org/officeDocument/2006/relationships/tags" Target="../tags/tag96.xml"/><Relationship Id="rId86" Type="http://schemas.openxmlformats.org/officeDocument/2006/relationships/tags" Target="../tags/tag95.xml"/><Relationship Id="rId85" Type="http://schemas.openxmlformats.org/officeDocument/2006/relationships/tags" Target="../tags/tag94.xml"/><Relationship Id="rId84" Type="http://schemas.openxmlformats.org/officeDocument/2006/relationships/tags" Target="../tags/tag93.xml"/><Relationship Id="rId83" Type="http://schemas.openxmlformats.org/officeDocument/2006/relationships/tags" Target="../tags/tag92.xml"/><Relationship Id="rId82" Type="http://schemas.openxmlformats.org/officeDocument/2006/relationships/tags" Target="../tags/tag91.xml"/><Relationship Id="rId81" Type="http://schemas.openxmlformats.org/officeDocument/2006/relationships/tags" Target="../tags/tag90.xml"/><Relationship Id="rId80" Type="http://schemas.openxmlformats.org/officeDocument/2006/relationships/tags" Target="../tags/tag89.xml"/><Relationship Id="rId8" Type="http://schemas.openxmlformats.org/officeDocument/2006/relationships/tags" Target="../tags/tag17.xml"/><Relationship Id="rId79" Type="http://schemas.openxmlformats.org/officeDocument/2006/relationships/tags" Target="../tags/tag88.xml"/><Relationship Id="rId78" Type="http://schemas.openxmlformats.org/officeDocument/2006/relationships/tags" Target="../tags/tag87.xml"/><Relationship Id="rId77" Type="http://schemas.openxmlformats.org/officeDocument/2006/relationships/tags" Target="../tags/tag86.xml"/><Relationship Id="rId76" Type="http://schemas.openxmlformats.org/officeDocument/2006/relationships/tags" Target="../tags/tag85.xml"/><Relationship Id="rId75" Type="http://schemas.openxmlformats.org/officeDocument/2006/relationships/tags" Target="../tags/tag84.xml"/><Relationship Id="rId74" Type="http://schemas.openxmlformats.org/officeDocument/2006/relationships/tags" Target="../tags/tag83.xml"/><Relationship Id="rId73" Type="http://schemas.openxmlformats.org/officeDocument/2006/relationships/tags" Target="../tags/tag82.xml"/><Relationship Id="rId72" Type="http://schemas.openxmlformats.org/officeDocument/2006/relationships/tags" Target="../tags/tag81.xml"/><Relationship Id="rId71" Type="http://schemas.openxmlformats.org/officeDocument/2006/relationships/tags" Target="../tags/tag80.xml"/><Relationship Id="rId70" Type="http://schemas.openxmlformats.org/officeDocument/2006/relationships/tags" Target="../tags/tag79.xml"/><Relationship Id="rId7" Type="http://schemas.openxmlformats.org/officeDocument/2006/relationships/tags" Target="../tags/tag16.xml"/><Relationship Id="rId69" Type="http://schemas.openxmlformats.org/officeDocument/2006/relationships/tags" Target="../tags/tag78.xml"/><Relationship Id="rId68" Type="http://schemas.openxmlformats.org/officeDocument/2006/relationships/tags" Target="../tags/tag77.xml"/><Relationship Id="rId67" Type="http://schemas.openxmlformats.org/officeDocument/2006/relationships/tags" Target="../tags/tag76.xml"/><Relationship Id="rId66" Type="http://schemas.openxmlformats.org/officeDocument/2006/relationships/tags" Target="../tags/tag75.xml"/><Relationship Id="rId65" Type="http://schemas.openxmlformats.org/officeDocument/2006/relationships/tags" Target="../tags/tag74.xml"/><Relationship Id="rId64" Type="http://schemas.openxmlformats.org/officeDocument/2006/relationships/tags" Target="../tags/tag73.xml"/><Relationship Id="rId63" Type="http://schemas.openxmlformats.org/officeDocument/2006/relationships/tags" Target="../tags/tag72.xml"/><Relationship Id="rId62" Type="http://schemas.openxmlformats.org/officeDocument/2006/relationships/tags" Target="../tags/tag71.xml"/><Relationship Id="rId61" Type="http://schemas.openxmlformats.org/officeDocument/2006/relationships/tags" Target="../tags/tag70.xml"/><Relationship Id="rId60" Type="http://schemas.openxmlformats.org/officeDocument/2006/relationships/tags" Target="../tags/tag69.xml"/><Relationship Id="rId6" Type="http://schemas.openxmlformats.org/officeDocument/2006/relationships/tags" Target="../tags/tag15.xml"/><Relationship Id="rId59" Type="http://schemas.openxmlformats.org/officeDocument/2006/relationships/tags" Target="../tags/tag68.xml"/><Relationship Id="rId58" Type="http://schemas.openxmlformats.org/officeDocument/2006/relationships/tags" Target="../tags/tag67.xml"/><Relationship Id="rId57" Type="http://schemas.openxmlformats.org/officeDocument/2006/relationships/tags" Target="../tags/tag66.xml"/><Relationship Id="rId56" Type="http://schemas.openxmlformats.org/officeDocument/2006/relationships/tags" Target="../tags/tag65.xml"/><Relationship Id="rId55" Type="http://schemas.openxmlformats.org/officeDocument/2006/relationships/tags" Target="../tags/tag64.xml"/><Relationship Id="rId54" Type="http://schemas.openxmlformats.org/officeDocument/2006/relationships/tags" Target="../tags/tag63.xml"/><Relationship Id="rId53" Type="http://schemas.openxmlformats.org/officeDocument/2006/relationships/tags" Target="../tags/tag62.xml"/><Relationship Id="rId52" Type="http://schemas.openxmlformats.org/officeDocument/2006/relationships/tags" Target="../tags/tag61.xml"/><Relationship Id="rId51" Type="http://schemas.openxmlformats.org/officeDocument/2006/relationships/tags" Target="../tags/tag60.xml"/><Relationship Id="rId50" Type="http://schemas.openxmlformats.org/officeDocument/2006/relationships/tags" Target="../tags/tag59.xml"/><Relationship Id="rId5" Type="http://schemas.openxmlformats.org/officeDocument/2006/relationships/tags" Target="../tags/tag14.xml"/><Relationship Id="rId49" Type="http://schemas.openxmlformats.org/officeDocument/2006/relationships/tags" Target="../tags/tag58.xml"/><Relationship Id="rId48" Type="http://schemas.openxmlformats.org/officeDocument/2006/relationships/tags" Target="../tags/tag57.xml"/><Relationship Id="rId47" Type="http://schemas.openxmlformats.org/officeDocument/2006/relationships/tags" Target="../tags/tag56.xml"/><Relationship Id="rId46" Type="http://schemas.openxmlformats.org/officeDocument/2006/relationships/tags" Target="../tags/tag55.xml"/><Relationship Id="rId45" Type="http://schemas.openxmlformats.org/officeDocument/2006/relationships/tags" Target="../tags/tag54.xml"/><Relationship Id="rId44" Type="http://schemas.openxmlformats.org/officeDocument/2006/relationships/tags" Target="../tags/tag53.xml"/><Relationship Id="rId43" Type="http://schemas.openxmlformats.org/officeDocument/2006/relationships/tags" Target="../tags/tag52.xml"/><Relationship Id="rId42" Type="http://schemas.openxmlformats.org/officeDocument/2006/relationships/tags" Target="../tags/tag51.xml"/><Relationship Id="rId41" Type="http://schemas.openxmlformats.org/officeDocument/2006/relationships/tags" Target="../tags/tag50.xml"/><Relationship Id="rId40" Type="http://schemas.openxmlformats.org/officeDocument/2006/relationships/tags" Target="../tags/tag49.xml"/><Relationship Id="rId4" Type="http://schemas.openxmlformats.org/officeDocument/2006/relationships/tags" Target="../tags/tag13.xml"/><Relationship Id="rId39" Type="http://schemas.openxmlformats.org/officeDocument/2006/relationships/tags" Target="../tags/tag48.xml"/><Relationship Id="rId38" Type="http://schemas.openxmlformats.org/officeDocument/2006/relationships/tags" Target="../tags/tag47.xml"/><Relationship Id="rId37" Type="http://schemas.openxmlformats.org/officeDocument/2006/relationships/tags" Target="../tags/tag46.xml"/><Relationship Id="rId36" Type="http://schemas.openxmlformats.org/officeDocument/2006/relationships/tags" Target="../tags/tag45.xml"/><Relationship Id="rId35" Type="http://schemas.openxmlformats.org/officeDocument/2006/relationships/tags" Target="../tags/tag44.xml"/><Relationship Id="rId34" Type="http://schemas.openxmlformats.org/officeDocument/2006/relationships/tags" Target="../tags/tag43.xml"/><Relationship Id="rId33" Type="http://schemas.openxmlformats.org/officeDocument/2006/relationships/tags" Target="../tags/tag42.xml"/><Relationship Id="rId32" Type="http://schemas.openxmlformats.org/officeDocument/2006/relationships/tags" Target="../tags/tag41.xml"/><Relationship Id="rId31" Type="http://schemas.openxmlformats.org/officeDocument/2006/relationships/tags" Target="../tags/tag40.xml"/><Relationship Id="rId30" Type="http://schemas.openxmlformats.org/officeDocument/2006/relationships/tags" Target="../tags/tag39.xml"/><Relationship Id="rId3" Type="http://schemas.openxmlformats.org/officeDocument/2006/relationships/tags" Target="../tags/tag12.xml"/><Relationship Id="rId29" Type="http://schemas.openxmlformats.org/officeDocument/2006/relationships/tags" Target="../tags/tag38.xml"/><Relationship Id="rId28" Type="http://schemas.openxmlformats.org/officeDocument/2006/relationships/tags" Target="../tags/tag37.xml"/><Relationship Id="rId27" Type="http://schemas.openxmlformats.org/officeDocument/2006/relationships/tags" Target="../tags/tag36.xml"/><Relationship Id="rId26" Type="http://schemas.openxmlformats.org/officeDocument/2006/relationships/tags" Target="../tags/tag35.xml"/><Relationship Id="rId25" Type="http://schemas.openxmlformats.org/officeDocument/2006/relationships/tags" Target="../tags/tag34.xml"/><Relationship Id="rId24" Type="http://schemas.openxmlformats.org/officeDocument/2006/relationships/tags" Target="../tags/tag33.xml"/><Relationship Id="rId23" Type="http://schemas.openxmlformats.org/officeDocument/2006/relationships/tags" Target="../tags/tag32.xml"/><Relationship Id="rId22" Type="http://schemas.openxmlformats.org/officeDocument/2006/relationships/tags" Target="../tags/tag31.xml"/><Relationship Id="rId21" Type="http://schemas.openxmlformats.org/officeDocument/2006/relationships/tags" Target="../tags/tag30.xml"/><Relationship Id="rId20" Type="http://schemas.openxmlformats.org/officeDocument/2006/relationships/tags" Target="../tags/tag29.xml"/><Relationship Id="rId2" Type="http://schemas.openxmlformats.org/officeDocument/2006/relationships/tags" Target="../tags/tag11.xml"/><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5.xml"/><Relationship Id="rId1" Type="http://schemas.openxmlformats.org/officeDocument/2006/relationships/image" Target="../media/image35.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5.xml"/><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5.xml"/><Relationship Id="rId1"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5.xml"/><Relationship Id="rId1" Type="http://schemas.openxmlformats.org/officeDocument/2006/relationships/image" Target="../media/image4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5.xml"/><Relationship Id="rId1" Type="http://schemas.openxmlformats.org/officeDocument/2006/relationships/image" Target="../media/image4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12189613" cy="6858000"/>
          </a:xfrm>
          <a:prstGeom prst="rect">
            <a:avLst/>
          </a:prstGeom>
        </p:spPr>
      </p:pic>
      <p:sp>
        <p:nvSpPr>
          <p:cNvPr id="3" name="副标题 2"/>
          <p:cNvSpPr>
            <a:spLocks noGrp="1"/>
          </p:cNvSpPr>
          <p:nvPr>
            <p:ph type="subTitle" idx="1"/>
          </p:nvPr>
        </p:nvSpPr>
        <p:spPr>
          <a:xfrm>
            <a:off x="407670" y="2204720"/>
            <a:ext cx="11305540" cy="1889125"/>
          </a:xfrm>
        </p:spPr>
        <p:txBody>
          <a:bodyPr>
            <a:noAutofit/>
          </a:bodyPr>
          <a:lstStyle/>
          <a:p>
            <a:pPr indent="0" algn="l">
              <a:lnSpc>
                <a:spcPct val="125000"/>
              </a:lnSpc>
              <a:defRPr/>
            </a:pPr>
            <a:r>
              <a:rPr lang="en-US" sz="4400" b="1">
                <a:solidFill>
                  <a:srgbClr val="FFFFFF"/>
                </a:solidFill>
                <a:latin typeface="Noto Sans SC"/>
                <a:ea typeface="Noto Sans SC"/>
                <a:cs typeface="Noto Sans SC"/>
                <a:sym typeface="Noto Sans SC"/>
              </a:rPr>
              <a:t>深圳市安居集团智能客服平台项目</a:t>
            </a:r>
            <a:endParaRPr lang="en-US" sz="4400" b="1">
              <a:solidFill>
                <a:srgbClr val="FFFFFF"/>
              </a:solidFill>
              <a:latin typeface="Noto Sans SC"/>
              <a:ea typeface="Noto Sans SC"/>
              <a:cs typeface="Noto Sans SC"/>
              <a:sym typeface="Noto Sans SC"/>
            </a:endParaRPr>
          </a:p>
          <a:p>
            <a:pPr indent="0" algn="l">
              <a:lnSpc>
                <a:spcPct val="125000"/>
              </a:lnSpc>
              <a:defRPr/>
            </a:pPr>
            <a:r>
              <a:rPr lang="zh-CN" altLang="en-US" sz="4400" b="1">
                <a:solidFill>
                  <a:srgbClr val="FFFFFF"/>
                </a:solidFill>
                <a:latin typeface="Noto Sans SC"/>
                <a:ea typeface="Noto Sans SC"/>
                <a:cs typeface="Noto Sans SC"/>
                <a:sym typeface="Noto Sans SC"/>
              </a:rPr>
              <a:t>进度</a:t>
            </a:r>
            <a:r>
              <a:rPr lang="zh-CN" altLang="en-US" sz="4400" b="1">
                <a:solidFill>
                  <a:srgbClr val="FFFFFF"/>
                </a:solidFill>
                <a:latin typeface="Noto Sans SC"/>
                <a:ea typeface="Noto Sans SC"/>
                <a:cs typeface="Noto Sans SC"/>
                <a:sym typeface="Noto Sans SC"/>
              </a:rPr>
              <a:t>汇报</a:t>
            </a:r>
            <a:endParaRPr kumimoji="1" lang="en-US" altLang="zh-CN" sz="4400" b="1" dirty="0">
              <a:solidFill>
                <a:schemeClr val="bg1"/>
              </a:solidFill>
              <a:latin typeface="微软雅黑" panose="020B0503020204020204" pitchFamily="34" charset="-122"/>
              <a:ea typeface="微软雅黑" panose="020B0503020204020204" pitchFamily="34" charset="-122"/>
            </a:endParaRPr>
          </a:p>
          <a:p>
            <a:pPr algn="r"/>
            <a:endParaRPr kumimoji="1" lang="en-US" altLang="zh-CN" dirty="0">
              <a:solidFill>
                <a:schemeClr val="bg1"/>
              </a:solidFill>
              <a:latin typeface="微软雅黑" panose="020B0503020204020204" pitchFamily="34" charset="-122"/>
              <a:ea typeface="微软雅黑" panose="020B0503020204020204" pitchFamily="34" charset="-122"/>
            </a:endParaRPr>
          </a:p>
          <a:p>
            <a:pPr algn="r"/>
            <a:endParaRPr kumimoji="1" lang="zh-CN" altLang="en-US" sz="1600" dirty="0">
              <a:solidFill>
                <a:schemeClr val="bg1"/>
              </a:solidFill>
              <a:latin typeface="微软雅黑" panose="020B0503020204020204" pitchFamily="34" charset="-122"/>
              <a:ea typeface="微软雅黑" panose="020B0503020204020204" pitchFamily="34" charset="-122"/>
            </a:endParaRPr>
          </a:p>
          <a:p>
            <a:pPr algn="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2" name="副标题 2"/>
          <p:cNvSpPr txBox="1"/>
          <p:nvPr/>
        </p:nvSpPr>
        <p:spPr>
          <a:xfrm>
            <a:off x="807019" y="5889903"/>
            <a:ext cx="5291762" cy="4619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a:buNone/>
              <a:defRPr sz="1600" kern="1200">
                <a:solidFill>
                  <a:schemeClr val="tx1"/>
                </a:solidFill>
                <a:latin typeface="+mn-lt"/>
                <a:ea typeface="+mn-ea"/>
                <a:cs typeface="+mn-cs"/>
              </a:defRPr>
            </a:lvl9pPr>
          </a:lstStyle>
          <a:p>
            <a:pPr algn="l"/>
            <a:r>
              <a:rPr kumimoji="1" lang="en-US" altLang="zh-CN" sz="1600" dirty="0">
                <a:solidFill>
                  <a:schemeClr val="bg1"/>
                </a:solidFill>
              </a:rPr>
              <a:t>2026/06</a:t>
            </a:r>
            <a:endParaRPr kumimoji="1" lang="zh-CN" altLang="en-US" sz="1600" dirty="0">
              <a:solidFill>
                <a:schemeClr val="bg1"/>
              </a:solidFill>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116632"/>
            <a:ext cx="3467200" cy="14897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73"/>
            <a:ext cx="12192000" cy="6857327"/>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5674348"/>
            <a:ext cx="12192001" cy="1247153"/>
          </a:xfrm>
          <a:prstGeom prst="rect">
            <a:avLst/>
          </a:prstGeom>
        </p:spPr>
      </p:pic>
      <p:pic>
        <p:nvPicPr>
          <p:cNvPr id="16" name="图片 15"/>
          <p:cNvPicPr>
            <a:picLocks noChangeAspect="1"/>
          </p:cNvPicPr>
          <p:nvPr/>
        </p:nvPicPr>
        <p:blipFill>
          <a:blip r:embed="rId3" cstate="print">
            <a:alphaModFix amt="37000"/>
            <a:extLst>
              <a:ext uri="{28A0092B-C50C-407E-A947-70E740481C1C}">
                <a14:useLocalDpi xmlns:a14="http://schemas.microsoft.com/office/drawing/2010/main" val="0"/>
              </a:ext>
            </a:extLst>
          </a:blip>
          <a:stretch>
            <a:fillRect/>
          </a:stretch>
        </p:blipFill>
        <p:spPr>
          <a:xfrm>
            <a:off x="785254" y="2400427"/>
            <a:ext cx="2128984" cy="2232000"/>
          </a:xfrm>
          <a:prstGeom prst="rect">
            <a:avLst/>
          </a:prstGeom>
        </p:spPr>
      </p:pic>
      <p:grpSp>
        <p:nvGrpSpPr>
          <p:cNvPr id="7" name="组合 6"/>
          <p:cNvGrpSpPr/>
          <p:nvPr/>
        </p:nvGrpSpPr>
        <p:grpSpPr>
          <a:xfrm>
            <a:off x="4892013" y="2492896"/>
            <a:ext cx="5740491" cy="2743559"/>
            <a:chOff x="7988357" y="2889355"/>
            <a:chExt cx="5740491" cy="2743559"/>
          </a:xfrm>
        </p:grpSpPr>
        <p:sp>
          <p:nvSpPr>
            <p:cNvPr id="8" name="文本框 7"/>
            <p:cNvSpPr txBox="1"/>
            <p:nvPr/>
          </p:nvSpPr>
          <p:spPr>
            <a:xfrm>
              <a:off x="8709690" y="4349384"/>
              <a:ext cx="5019158" cy="645160"/>
            </a:xfrm>
            <a:prstGeom prst="rect">
              <a:avLst/>
            </a:prstGeom>
            <a:noFill/>
          </p:spPr>
          <p:txBody>
            <a:bodyPr wrap="square" rtlCol="0">
              <a:spAutoFit/>
            </a:bodyPr>
            <a:lstStyle/>
            <a:p>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项目实施</a:t>
              </a:r>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规划</a:t>
              </a:r>
              <a:endPar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grpSp>
          <p:nvGrpSpPr>
            <p:cNvPr id="13" name="组合 12"/>
            <p:cNvGrpSpPr/>
            <p:nvPr/>
          </p:nvGrpSpPr>
          <p:grpSpPr>
            <a:xfrm>
              <a:off x="7988357" y="2889355"/>
              <a:ext cx="3651222" cy="2743559"/>
              <a:chOff x="7988357" y="2892799"/>
              <a:chExt cx="3651222" cy="2743559"/>
            </a:xfrm>
          </p:grpSpPr>
          <p:grpSp>
            <p:nvGrpSpPr>
              <p:cNvPr id="14" name="组合 13"/>
              <p:cNvGrpSpPr/>
              <p:nvPr/>
            </p:nvGrpSpPr>
            <p:grpSpPr>
              <a:xfrm>
                <a:off x="8709688" y="2920959"/>
                <a:ext cx="2929890" cy="645160"/>
                <a:chOff x="5933455" y="4527488"/>
                <a:chExt cx="3944960" cy="645160"/>
              </a:xfrm>
            </p:grpSpPr>
            <p:sp>
              <p:nvSpPr>
                <p:cNvPr id="29" name="文本框 28"/>
                <p:cNvSpPr txBox="1"/>
                <p:nvPr/>
              </p:nvSpPr>
              <p:spPr>
                <a:xfrm>
                  <a:off x="5933455" y="4527488"/>
                  <a:ext cx="3944960" cy="645160"/>
                </a:xfrm>
                <a:prstGeom prst="rect">
                  <a:avLst/>
                </a:prstGeom>
                <a:noFill/>
              </p:spPr>
              <p:txBody>
                <a:bodyPr wrap="none" rtlCol="0">
                  <a:spAutoFit/>
                </a:bodyPr>
                <a:lstStyle/>
                <a:p>
                  <a:r>
                    <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rPr>
                    <a:t>项目关键</a:t>
                  </a:r>
                  <a:r>
                    <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rPr>
                    <a:t>节点</a:t>
                  </a:r>
                  <a:endPar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cxnSp>
              <p:nvCxnSpPr>
                <p:cNvPr id="30" name="直接连接符 29"/>
                <p:cNvCxnSpPr/>
                <p:nvPr/>
              </p:nvCxnSpPr>
              <p:spPr>
                <a:xfrm>
                  <a:off x="6077472" y="5145659"/>
                  <a:ext cx="3672409" cy="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8709689" y="3642996"/>
                <a:ext cx="2929890" cy="645160"/>
                <a:chOff x="5933455" y="4663464"/>
                <a:chExt cx="3944957" cy="645160"/>
              </a:xfrm>
            </p:grpSpPr>
            <p:sp>
              <p:nvSpPr>
                <p:cNvPr id="27" name="文本框 26"/>
                <p:cNvSpPr txBox="1"/>
                <p:nvPr/>
              </p:nvSpPr>
              <p:spPr>
                <a:xfrm>
                  <a:off x="5933455" y="4663464"/>
                  <a:ext cx="3944957" cy="645160"/>
                </a:xfrm>
                <a:prstGeom prst="rect">
                  <a:avLst/>
                </a:prstGeom>
                <a:noFill/>
              </p:spPr>
              <p:txBody>
                <a:bodyPr wrap="none" rtlCol="0">
                  <a:spAutoFit/>
                </a:bodyPr>
                <a:lstStyle/>
                <a:p>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项目调研</a:t>
                  </a:r>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情况</a:t>
                  </a:r>
                  <a:endPar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cxnSp>
              <p:nvCxnSpPr>
                <p:cNvPr id="28" name="直接连接符 27"/>
                <p:cNvCxnSpPr/>
                <p:nvPr/>
              </p:nvCxnSpPr>
              <p:spPr>
                <a:xfrm flipV="1">
                  <a:off x="6077470" y="5281137"/>
                  <a:ext cx="3705558" cy="508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8816648" y="4964041"/>
                <a:ext cx="2680335" cy="1651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7988357" y="2923518"/>
                <a:ext cx="596059" cy="596059"/>
              </a:xfrm>
              <a:prstGeom prst="ellipse">
                <a:avLst/>
              </a:prstGeom>
              <a:solidFill>
                <a:srgbClr val="00659B"/>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eaLnBrk="1" fontAlgn="auto" hangingPunct="1">
                  <a:spcBef>
                    <a:spcPts val="0"/>
                  </a:spcBef>
                  <a:spcAft>
                    <a:spcPts val="0"/>
                  </a:spcAft>
                </a:pPr>
                <a:endParaRPr lang="zh-CN" altLang="en-US" sz="2400" kern="0" dirty="0">
                  <a:solidFill>
                    <a:prstClr val="white"/>
                  </a:solidFill>
                  <a:latin typeface="Arial" panose="020B0604020202090204" pitchFamily="34" charset="0"/>
                  <a:ea typeface="思源黑体"/>
                </a:endParaRPr>
              </a:p>
            </p:txBody>
          </p:sp>
          <p:sp>
            <p:nvSpPr>
              <p:cNvPr id="19" name="文本框 18"/>
              <p:cNvSpPr txBox="1"/>
              <p:nvPr/>
            </p:nvSpPr>
            <p:spPr>
              <a:xfrm>
                <a:off x="8075671" y="2892799"/>
                <a:ext cx="242465" cy="646331"/>
              </a:xfrm>
              <a:prstGeom prst="rect">
                <a:avLst/>
              </a:prstGeom>
              <a:noFill/>
            </p:spPr>
            <p:txBody>
              <a:bodyPr wrap="square" rtlCol="0">
                <a:spAutoFit/>
              </a:bodyPr>
              <a:lstStyle/>
              <a:p>
                <a:r>
                  <a:rPr lang="en-US" altLang="zh-CN" sz="3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1</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20" name="椭圆 19"/>
              <p:cNvSpPr/>
              <p:nvPr/>
            </p:nvSpPr>
            <p:spPr>
              <a:xfrm>
                <a:off x="7988357" y="3641039"/>
                <a:ext cx="596059" cy="59605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8070368" y="3610772"/>
                <a:ext cx="242465" cy="646331"/>
              </a:xfrm>
              <a:prstGeom prst="rect">
                <a:avLst/>
              </a:prstGeom>
              <a:noFill/>
            </p:spPr>
            <p:txBody>
              <a:bodyPr wrap="square" rtlCol="0">
                <a:spAutoFit/>
              </a:bodyPr>
              <a:lstStyle/>
              <a:p>
                <a:r>
                  <a:rPr lang="en-US" altLang="zh-CN" sz="3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2</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22" name="椭圆 21"/>
              <p:cNvSpPr/>
              <p:nvPr/>
            </p:nvSpPr>
            <p:spPr>
              <a:xfrm>
                <a:off x="8020221" y="4361119"/>
                <a:ext cx="596059" cy="59605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8105594" y="4339007"/>
                <a:ext cx="242465" cy="646331"/>
              </a:xfrm>
              <a:prstGeom prst="rect">
                <a:avLst/>
              </a:prstGeom>
              <a:noFill/>
            </p:spPr>
            <p:txBody>
              <a:bodyPr wrap="square" rtlCol="0">
                <a:spAutoFit/>
              </a:bodyPr>
              <a:lstStyle/>
              <a:p>
                <a:r>
                  <a:rPr lang="en-US" altLang="zh-CN" sz="3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3</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26" name="文本框 25"/>
              <p:cNvSpPr txBox="1"/>
              <p:nvPr/>
            </p:nvSpPr>
            <p:spPr>
              <a:xfrm>
                <a:off x="8075671" y="4990027"/>
                <a:ext cx="242465" cy="646331"/>
              </a:xfrm>
              <a:prstGeom prst="rect">
                <a:avLst/>
              </a:prstGeom>
              <a:noFill/>
            </p:spPr>
            <p:txBody>
              <a:bodyPr wrap="square" rtlCol="0">
                <a:spAutoFit/>
              </a:bodyPr>
              <a:lstStyle/>
              <a:p>
                <a:r>
                  <a:rPr lang="en-US" altLang="zh-CN" sz="3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4</a:t>
                </a:r>
                <a:endParaRPr lang="zh-CN" altLang="en-US" sz="3600" dirty="0">
                  <a:solidFill>
                    <a:schemeClr val="bg1"/>
                  </a:solidFill>
                  <a:latin typeface="Segoe UI Black" panose="020B0A02040204020203" pitchFamily="34" charset="0"/>
                  <a:cs typeface="Segoe UI Black" panose="020B0A02040204020203" pitchFamily="34" charset="0"/>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charset="0"/>
                <a:ea typeface="微软雅黑" charset="0"/>
                <a:cs typeface="Segoe UI Black" panose="020B0A02040204020203" pitchFamily="34" charset="0"/>
              </a:rPr>
              <a:t>项目范围与核心模块</a:t>
            </a:r>
            <a:endParaRPr lang="zh-CN" altLang="en-US" sz="2800" b="1" dirty="0">
              <a:solidFill>
                <a:schemeClr val="tx1">
                  <a:lumMod val="75000"/>
                  <a:lumOff val="25000"/>
                </a:schemeClr>
              </a:solidFill>
              <a:latin typeface="微软雅黑" charset="0"/>
              <a:ea typeface="微软雅黑" charset="0"/>
              <a:cs typeface="Segoe UI Black" panose="020B0A02040204020203" pitchFamily="34" charset="0"/>
            </a:endParaRPr>
          </a:p>
        </p:txBody>
      </p:sp>
      <p:sp>
        <p:nvSpPr>
          <p:cNvPr id="2" name="AutoShape 3"/>
          <p:cNvSpPr/>
          <p:nvPr/>
        </p:nvSpPr>
        <p:spPr>
          <a:xfrm>
            <a:off x="508000" y="1016000"/>
            <a:ext cx="11176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94A3B8">
                <a:alpha val="20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pic>
        <p:nvPicPr>
          <p:cNvPr id="20"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206500"/>
            <a:ext cx="508000" cy="508000"/>
          </a:xfrm>
          <a:prstGeom prst="rect">
            <a:avLst/>
          </a:prstGeom>
        </p:spPr>
      </p:pic>
      <p:sp>
        <p:nvSpPr>
          <p:cNvPr id="21" name="AutoShape 5"/>
          <p:cNvSpPr/>
          <p:nvPr/>
        </p:nvSpPr>
        <p:spPr>
          <a:xfrm>
            <a:off x="1397000" y="1143000"/>
            <a:ext cx="1003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E293B"/>
                </a:solidFill>
                <a:latin typeface="微软雅黑" charset="0"/>
                <a:ea typeface="微软雅黑" charset="0"/>
                <a:cs typeface="Noto Sans SC"/>
                <a:sym typeface="Noto Sans SC"/>
              </a:rPr>
              <a:t>项目全景总览：</a:t>
            </a:r>
            <a:r>
              <a:rPr lang="en-US" sz="1400" b="0" i="0" u="none" strike="noStrike">
                <a:solidFill>
                  <a:srgbClr val="475569"/>
                </a:solidFill>
                <a:latin typeface="微软雅黑" charset="0"/>
                <a:ea typeface="微软雅黑" charset="0"/>
                <a:cs typeface="Noto Sans SC"/>
                <a:sym typeface="Noto Sans SC"/>
              </a:rPr>
              <a:t>构建覆盖租赁、物业、商业三大业务板块的</a:t>
            </a:r>
            <a:r>
              <a:rPr lang="zh-CN" altLang="en-US" sz="1400" b="0" i="0" u="none" strike="noStrike">
                <a:solidFill>
                  <a:srgbClr val="475569"/>
                </a:solidFill>
                <a:latin typeface="微软雅黑" charset="0"/>
                <a:ea typeface="微软雅黑" charset="0"/>
                <a:cs typeface="Noto Sans SC"/>
                <a:sym typeface="Noto Sans SC"/>
              </a:rPr>
              <a:t>客户</a:t>
            </a:r>
            <a:r>
              <a:rPr lang="en-US" sz="1400" b="0" i="0" u="none" strike="noStrike">
                <a:solidFill>
                  <a:srgbClr val="475569"/>
                </a:solidFill>
                <a:latin typeface="微软雅黑" charset="0"/>
                <a:ea typeface="微软雅黑" charset="0"/>
                <a:cs typeface="Noto Sans SC"/>
                <a:sym typeface="Noto Sans SC"/>
              </a:rPr>
              <a:t>服务平台，整合智能客服、会员积分与客户数据管理三大核心</a:t>
            </a:r>
            <a:r>
              <a:rPr lang="zh-CN" altLang="en-US" sz="1400" b="0" i="0" u="none" strike="noStrike">
                <a:solidFill>
                  <a:srgbClr val="475569"/>
                </a:solidFill>
                <a:latin typeface="微软雅黑" charset="0"/>
                <a:ea typeface="微软雅黑" charset="0"/>
                <a:cs typeface="Noto Sans SC"/>
                <a:sym typeface="Noto Sans SC"/>
              </a:rPr>
              <a:t>模块</a:t>
            </a:r>
            <a:r>
              <a:rPr lang="en-US" sz="1400" b="0" i="0" u="none" strike="noStrike">
                <a:solidFill>
                  <a:srgbClr val="475569"/>
                </a:solidFill>
                <a:latin typeface="微软雅黑" charset="0"/>
                <a:ea typeface="微软雅黑" charset="0"/>
                <a:cs typeface="Noto Sans SC"/>
                <a:sym typeface="Noto Sans SC"/>
              </a:rPr>
              <a:t>，打造智能化基础体系。</a:t>
            </a:r>
            <a:endParaRPr lang="en-US" sz="1400">
              <a:latin typeface="微软雅黑" charset="0"/>
              <a:ea typeface="微软雅黑" charset="0"/>
            </a:endParaRPr>
          </a:p>
        </p:txBody>
      </p:sp>
      <p:sp>
        <p:nvSpPr>
          <p:cNvPr id="22" name="AutoShape 6"/>
          <p:cNvSpPr/>
          <p:nvPr/>
        </p:nvSpPr>
        <p:spPr>
          <a:xfrm>
            <a:off x="508000" y="2159000"/>
            <a:ext cx="3556000" cy="4191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94A3B8">
                <a:alpha val="20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23" name="AutoShape 7"/>
          <p:cNvSpPr/>
          <p:nvPr/>
        </p:nvSpPr>
        <p:spPr>
          <a:xfrm>
            <a:off x="508000" y="2159000"/>
            <a:ext cx="3556000" cy="76200"/>
          </a:xfrm>
          <a:prstGeom prst="roundRect">
            <a:avLst>
              <a:gd name="adj" fmla="val 166666"/>
            </a:avLst>
          </a:prstGeom>
          <a:solidFill>
            <a:srgbClr val="0070C6"/>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24"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413000"/>
            <a:ext cx="406400" cy="406400"/>
          </a:xfrm>
          <a:prstGeom prst="rect">
            <a:avLst/>
          </a:prstGeom>
        </p:spPr>
      </p:pic>
      <p:sp>
        <p:nvSpPr>
          <p:cNvPr id="25" name="AutoShape 9"/>
          <p:cNvSpPr/>
          <p:nvPr/>
        </p:nvSpPr>
        <p:spPr>
          <a:xfrm>
            <a:off x="1270000" y="24130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293B"/>
                </a:solidFill>
                <a:latin typeface="微软雅黑" charset="0"/>
                <a:ea typeface="微软雅黑" charset="0"/>
                <a:cs typeface="Noto Sans SC"/>
                <a:sym typeface="Noto Sans SC"/>
              </a:rPr>
              <a:t>智能客服系统</a:t>
            </a:r>
            <a:endParaRPr lang="en-US" sz="1600" b="1" i="0" u="none" strike="noStrike">
              <a:solidFill>
                <a:srgbClr val="1E293B"/>
              </a:solidFill>
              <a:latin typeface="微软雅黑" charset="0"/>
              <a:ea typeface="微软雅黑" charset="0"/>
              <a:cs typeface="Noto Sans SC"/>
              <a:sym typeface="Noto Sans SC"/>
            </a:endParaRPr>
          </a:p>
        </p:txBody>
      </p:sp>
      <p:cxnSp>
        <p:nvCxnSpPr>
          <p:cNvPr id="26" name="Connector 10"/>
          <p:cNvCxnSpPr/>
          <p:nvPr/>
        </p:nvCxnSpPr>
        <p:spPr>
          <a:xfrm rot="-14323">
            <a:off x="762013" y="2914650"/>
            <a:ext cx="3048000" cy="12700"/>
          </a:xfrm>
          <a:prstGeom prst="line">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27"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111500"/>
            <a:ext cx="203200" cy="203200"/>
          </a:xfrm>
          <a:prstGeom prst="rect">
            <a:avLst/>
          </a:prstGeom>
        </p:spPr>
      </p:pic>
      <p:sp>
        <p:nvSpPr>
          <p:cNvPr id="28" name="AutoShape 12"/>
          <p:cNvSpPr/>
          <p:nvPr/>
        </p:nvSpPr>
        <p:spPr>
          <a:xfrm>
            <a:off x="1016000" y="3086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呼叫中心：全渠道语音与在线客服</a:t>
            </a:r>
            <a:endParaRPr lang="en-US" sz="1400" b="0" i="0" u="none" strike="noStrike">
              <a:solidFill>
                <a:srgbClr val="475569"/>
              </a:solidFill>
              <a:latin typeface="微软雅黑" charset="0"/>
              <a:ea typeface="微软雅黑" charset="0"/>
              <a:cs typeface="Noto Sans SC"/>
              <a:sym typeface="Noto Sans SC"/>
            </a:endParaRPr>
          </a:p>
        </p:txBody>
      </p:sp>
      <p:pic>
        <p:nvPicPr>
          <p:cNvPr id="29"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429000"/>
            <a:ext cx="203200" cy="203200"/>
          </a:xfrm>
          <a:prstGeom prst="rect">
            <a:avLst/>
          </a:prstGeom>
        </p:spPr>
      </p:pic>
      <p:sp>
        <p:nvSpPr>
          <p:cNvPr id="30" name="AutoShape 14"/>
          <p:cNvSpPr/>
          <p:nvPr/>
        </p:nvSpPr>
        <p:spPr>
          <a:xfrm>
            <a:off x="1016000" y="34036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全自动工单：问题自动流转处理</a:t>
            </a:r>
            <a:endParaRPr lang="en-US" sz="1400" b="0" i="0" u="none" strike="noStrike">
              <a:solidFill>
                <a:srgbClr val="475569"/>
              </a:solidFill>
              <a:latin typeface="微软雅黑" charset="0"/>
              <a:ea typeface="微软雅黑" charset="0"/>
              <a:cs typeface="Noto Sans SC"/>
              <a:sym typeface="Noto Sans SC"/>
            </a:endParaRPr>
          </a:p>
        </p:txBody>
      </p:sp>
      <p:pic>
        <p:nvPicPr>
          <p:cNvPr id="31"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746500"/>
            <a:ext cx="203200" cy="203200"/>
          </a:xfrm>
          <a:prstGeom prst="rect">
            <a:avLst/>
          </a:prstGeom>
        </p:spPr>
      </p:pic>
      <p:sp>
        <p:nvSpPr>
          <p:cNvPr id="32" name="AutoShape 16"/>
          <p:cNvSpPr/>
          <p:nvPr/>
        </p:nvSpPr>
        <p:spPr>
          <a:xfrm>
            <a:off x="1016000" y="3721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微软雅黑" charset="0"/>
                <a:sym typeface="Noto Sans SC"/>
              </a:rPr>
              <a:t>AI交互平台：语音/对话AI智能服务</a:t>
            </a:r>
            <a:endParaRPr lang="en-US" sz="1400" b="0" i="0" u="none" strike="noStrike">
              <a:solidFill>
                <a:srgbClr val="475569"/>
              </a:solidFill>
              <a:latin typeface="微软雅黑" charset="0"/>
              <a:ea typeface="微软雅黑" charset="0"/>
              <a:cs typeface="微软雅黑" charset="0"/>
              <a:sym typeface="Noto Sans SC"/>
            </a:endParaRPr>
          </a:p>
        </p:txBody>
      </p:sp>
      <p:pic>
        <p:nvPicPr>
          <p:cNvPr id="33"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064000"/>
            <a:ext cx="203200" cy="203200"/>
          </a:xfrm>
          <a:prstGeom prst="rect">
            <a:avLst/>
          </a:prstGeom>
        </p:spPr>
      </p:pic>
      <p:sp>
        <p:nvSpPr>
          <p:cNvPr id="34" name="AutoShape 18"/>
          <p:cNvSpPr/>
          <p:nvPr/>
        </p:nvSpPr>
        <p:spPr>
          <a:xfrm>
            <a:off x="1016000" y="40386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475569"/>
                </a:solidFill>
                <a:latin typeface="微软雅黑" charset="0"/>
                <a:ea typeface="微软雅黑" charset="0"/>
                <a:cs typeface="Noto Sans SC"/>
                <a:sym typeface="Noto Sans SC"/>
              </a:rPr>
              <a:t>知识库</a:t>
            </a:r>
            <a:r>
              <a:rPr lang="en-US" altLang="zh-CN" sz="1400" b="0" i="0" u="none" strike="noStrike">
                <a:solidFill>
                  <a:srgbClr val="475569"/>
                </a:solidFill>
                <a:latin typeface="微软雅黑" charset="0"/>
                <a:ea typeface="微软雅黑" charset="0"/>
                <a:cs typeface="Noto Sans SC"/>
                <a:sym typeface="Noto Sans SC"/>
              </a:rPr>
              <a:t>、</a:t>
            </a:r>
            <a:r>
              <a:rPr lang="en-US" sz="1400" b="0" i="0" u="none" strike="noStrike">
                <a:solidFill>
                  <a:srgbClr val="475569"/>
                </a:solidFill>
                <a:latin typeface="微软雅黑" charset="0"/>
                <a:ea typeface="微软雅黑" charset="0"/>
                <a:cs typeface="Noto Sans SC"/>
                <a:sym typeface="Noto Sans SC"/>
              </a:rPr>
              <a:t>政策智慧问答</a:t>
            </a:r>
            <a:endParaRPr lang="en-US" sz="1400">
              <a:latin typeface="微软雅黑" charset="0"/>
              <a:ea typeface="微软雅黑" charset="0"/>
            </a:endParaRPr>
          </a:p>
        </p:txBody>
      </p:sp>
      <p:pic>
        <p:nvPicPr>
          <p:cNvPr id="35"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381500"/>
            <a:ext cx="203200" cy="203200"/>
          </a:xfrm>
          <a:prstGeom prst="rect">
            <a:avLst/>
          </a:prstGeom>
        </p:spPr>
      </p:pic>
      <p:sp>
        <p:nvSpPr>
          <p:cNvPr id="36" name="AutoShape 20"/>
          <p:cNvSpPr/>
          <p:nvPr/>
        </p:nvSpPr>
        <p:spPr>
          <a:xfrm>
            <a:off x="1016000" y="4356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智能质检：服务质量与风险管控</a:t>
            </a:r>
            <a:endParaRPr lang="en-US" sz="1400" b="0" i="0" u="none" strike="noStrike">
              <a:solidFill>
                <a:srgbClr val="475569"/>
              </a:solidFill>
              <a:latin typeface="微软雅黑" charset="0"/>
              <a:ea typeface="微软雅黑" charset="0"/>
              <a:cs typeface="Noto Sans SC"/>
              <a:sym typeface="Noto Sans SC"/>
            </a:endParaRPr>
          </a:p>
        </p:txBody>
      </p:sp>
      <p:sp>
        <p:nvSpPr>
          <p:cNvPr id="37" name="AutoShape 21"/>
          <p:cNvSpPr/>
          <p:nvPr/>
        </p:nvSpPr>
        <p:spPr>
          <a:xfrm>
            <a:off x="4318000" y="2159000"/>
            <a:ext cx="3556000" cy="4191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94A3B8">
                <a:alpha val="20000"/>
              </a:srgbClr>
            </a:outerShdw>
          </a:effectLst>
        </p:spPr>
        <p:txBody>
          <a:bodyPr vert="horz" wrap="square" lIns="63500" tIns="63500" rIns="63500" bIns="63500" rtlCol="0" anchor="ctr"/>
          <a:lstStyle/>
          <a:p>
            <a:pPr algn="ctr">
              <a:defRPr/>
            </a:pPr>
            <a:endParaRPr sz="1400">
              <a:latin typeface="微软雅黑" charset="0"/>
              <a:ea typeface="微软雅黑" charset="0"/>
            </a:endParaRPr>
          </a:p>
        </p:txBody>
      </p:sp>
      <p:sp>
        <p:nvSpPr>
          <p:cNvPr id="38" name="AutoShape 22"/>
          <p:cNvSpPr/>
          <p:nvPr/>
        </p:nvSpPr>
        <p:spPr>
          <a:xfrm>
            <a:off x="4318000" y="2159000"/>
            <a:ext cx="3556000" cy="76200"/>
          </a:xfrm>
          <a:prstGeom prst="roundRect">
            <a:avLst>
              <a:gd name="adj" fmla="val 166666"/>
            </a:avLst>
          </a:prstGeom>
          <a:solidFill>
            <a:srgbClr val="48C0A9"/>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39"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2413000"/>
            <a:ext cx="406400" cy="406400"/>
          </a:xfrm>
          <a:prstGeom prst="rect">
            <a:avLst/>
          </a:prstGeom>
        </p:spPr>
      </p:pic>
      <p:sp>
        <p:nvSpPr>
          <p:cNvPr id="40" name="AutoShape 24"/>
          <p:cNvSpPr/>
          <p:nvPr/>
        </p:nvSpPr>
        <p:spPr>
          <a:xfrm>
            <a:off x="5080000" y="24130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293B"/>
                </a:solidFill>
                <a:latin typeface="微软雅黑" charset="0"/>
                <a:ea typeface="微软雅黑" charset="0"/>
                <a:cs typeface="Noto Sans SC"/>
                <a:sym typeface="Noto Sans SC"/>
              </a:rPr>
              <a:t>会员与积分管理</a:t>
            </a:r>
            <a:endParaRPr lang="en-US" sz="1600" b="1" i="0" u="none" strike="noStrike">
              <a:solidFill>
                <a:srgbClr val="1E293B"/>
              </a:solidFill>
              <a:latin typeface="微软雅黑" charset="0"/>
              <a:ea typeface="微软雅黑" charset="0"/>
              <a:cs typeface="Noto Sans SC"/>
              <a:sym typeface="Noto Sans SC"/>
            </a:endParaRPr>
          </a:p>
        </p:txBody>
      </p:sp>
      <p:cxnSp>
        <p:nvCxnSpPr>
          <p:cNvPr id="42" name="Connector 25"/>
          <p:cNvCxnSpPr/>
          <p:nvPr/>
        </p:nvCxnSpPr>
        <p:spPr>
          <a:xfrm rot="-14323">
            <a:off x="4572013" y="2914650"/>
            <a:ext cx="3048000" cy="12700"/>
          </a:xfrm>
          <a:prstGeom prst="line">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43" name="Picture 2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3111500"/>
            <a:ext cx="203200" cy="203200"/>
          </a:xfrm>
          <a:prstGeom prst="rect">
            <a:avLst/>
          </a:prstGeom>
        </p:spPr>
      </p:pic>
      <p:sp>
        <p:nvSpPr>
          <p:cNvPr id="44" name="AutoShape 27"/>
          <p:cNvSpPr/>
          <p:nvPr/>
        </p:nvSpPr>
        <p:spPr>
          <a:xfrm>
            <a:off x="4826000" y="3086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会员中心：统一会员账户体系</a:t>
            </a:r>
            <a:endParaRPr lang="en-US" sz="1400" b="0" i="0" u="none" strike="noStrike">
              <a:solidFill>
                <a:srgbClr val="475569"/>
              </a:solidFill>
              <a:latin typeface="微软雅黑" charset="0"/>
              <a:ea typeface="微软雅黑" charset="0"/>
              <a:cs typeface="Noto Sans SC"/>
              <a:sym typeface="Noto Sans SC"/>
            </a:endParaRPr>
          </a:p>
        </p:txBody>
      </p:sp>
      <p:pic>
        <p:nvPicPr>
          <p:cNvPr id="45" name="Picture 2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3429000"/>
            <a:ext cx="203200" cy="203200"/>
          </a:xfrm>
          <a:prstGeom prst="rect">
            <a:avLst/>
          </a:prstGeom>
        </p:spPr>
      </p:pic>
      <p:sp>
        <p:nvSpPr>
          <p:cNvPr id="46" name="AutoShape 29"/>
          <p:cNvSpPr/>
          <p:nvPr/>
        </p:nvSpPr>
        <p:spPr>
          <a:xfrm>
            <a:off x="4826000" y="34036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积分中心：积分全生命周期管理</a:t>
            </a:r>
            <a:endParaRPr lang="en-US" sz="1400" b="0" i="0" u="none" strike="noStrike">
              <a:solidFill>
                <a:srgbClr val="475569"/>
              </a:solidFill>
              <a:latin typeface="微软雅黑" charset="0"/>
              <a:ea typeface="微软雅黑" charset="0"/>
              <a:cs typeface="Noto Sans SC"/>
              <a:sym typeface="Noto Sans SC"/>
            </a:endParaRPr>
          </a:p>
        </p:txBody>
      </p:sp>
      <p:pic>
        <p:nvPicPr>
          <p:cNvPr id="47" name="Picture 3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3746500"/>
            <a:ext cx="203200" cy="203200"/>
          </a:xfrm>
          <a:prstGeom prst="rect">
            <a:avLst/>
          </a:prstGeom>
        </p:spPr>
      </p:pic>
      <p:sp>
        <p:nvSpPr>
          <p:cNvPr id="48" name="AutoShape 31"/>
          <p:cNvSpPr/>
          <p:nvPr/>
        </p:nvSpPr>
        <p:spPr>
          <a:xfrm>
            <a:off x="4826000" y="3721100"/>
            <a:ext cx="2912745"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475569"/>
                </a:solidFill>
                <a:latin typeface="微软雅黑" charset="0"/>
                <a:ea typeface="微软雅黑" charset="0"/>
                <a:cs typeface="Noto Sans SC"/>
                <a:sym typeface="Noto Sans SC"/>
              </a:rPr>
              <a:t>优惠</a:t>
            </a:r>
            <a:r>
              <a:rPr lang="en-US" sz="1400" b="0" i="0" u="none" strike="noStrike">
                <a:solidFill>
                  <a:srgbClr val="475569"/>
                </a:solidFill>
                <a:latin typeface="微软雅黑" charset="0"/>
                <a:ea typeface="微软雅黑" charset="0"/>
                <a:cs typeface="Noto Sans SC"/>
                <a:sym typeface="Noto Sans SC"/>
              </a:rPr>
              <a:t>中心：</a:t>
            </a:r>
            <a:r>
              <a:rPr lang="zh-CN" altLang="en-US" sz="1400" b="0" i="0" u="none" strike="noStrike">
                <a:solidFill>
                  <a:srgbClr val="475569"/>
                </a:solidFill>
                <a:latin typeface="微软雅黑" charset="0"/>
                <a:ea typeface="微软雅黑" charset="0"/>
                <a:cs typeface="Noto Sans SC"/>
                <a:sym typeface="Noto Sans SC"/>
              </a:rPr>
              <a:t>丰富积分使用场景</a:t>
            </a:r>
            <a:endParaRPr lang="zh-CN" altLang="en-US" sz="1400" b="0" i="0" u="none" strike="noStrike">
              <a:solidFill>
                <a:srgbClr val="475569"/>
              </a:solidFill>
              <a:latin typeface="微软雅黑" charset="0"/>
              <a:ea typeface="微软雅黑" charset="0"/>
              <a:cs typeface="Noto Sans SC"/>
              <a:sym typeface="Noto Sans SC"/>
            </a:endParaRPr>
          </a:p>
        </p:txBody>
      </p:sp>
      <p:pic>
        <p:nvPicPr>
          <p:cNvPr id="49" name="Picture 3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4064000"/>
            <a:ext cx="203200" cy="203200"/>
          </a:xfrm>
          <a:prstGeom prst="rect">
            <a:avLst/>
          </a:prstGeom>
        </p:spPr>
      </p:pic>
      <p:sp>
        <p:nvSpPr>
          <p:cNvPr id="50" name="AutoShape 33"/>
          <p:cNvSpPr/>
          <p:nvPr/>
        </p:nvSpPr>
        <p:spPr>
          <a:xfrm>
            <a:off x="4826000" y="40386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a:solidFill>
                  <a:srgbClr val="475569"/>
                </a:solidFill>
                <a:latin typeface="微软雅黑" charset="0"/>
                <a:ea typeface="微软雅黑" charset="0"/>
                <a:cs typeface="Noto Sans SC"/>
                <a:sym typeface="Noto Sans SC"/>
              </a:rPr>
              <a:t>权益中心：丰富会员权益与兑换</a:t>
            </a:r>
            <a:endParaRPr lang="en-US" sz="1400">
              <a:solidFill>
                <a:srgbClr val="475569"/>
              </a:solidFill>
              <a:latin typeface="微软雅黑" charset="0"/>
              <a:ea typeface="微软雅黑" charset="0"/>
              <a:cs typeface="Noto Sans SC"/>
              <a:sym typeface="Noto Sans SC"/>
            </a:endParaRPr>
          </a:p>
        </p:txBody>
      </p:sp>
      <p:pic>
        <p:nvPicPr>
          <p:cNvPr id="51" name="Picture 3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4381500"/>
            <a:ext cx="203200" cy="203200"/>
          </a:xfrm>
          <a:prstGeom prst="rect">
            <a:avLst/>
          </a:prstGeom>
        </p:spPr>
      </p:pic>
      <p:sp>
        <p:nvSpPr>
          <p:cNvPr id="52" name="AutoShape 35"/>
          <p:cNvSpPr/>
          <p:nvPr/>
        </p:nvSpPr>
        <p:spPr>
          <a:xfrm>
            <a:off x="4826000" y="4356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清结算风控：保障积分体系安全</a:t>
            </a:r>
            <a:endParaRPr lang="en-US" sz="1400" b="0" i="0" u="none" strike="noStrike">
              <a:solidFill>
                <a:srgbClr val="475569"/>
              </a:solidFill>
              <a:latin typeface="微软雅黑" charset="0"/>
              <a:ea typeface="微软雅黑" charset="0"/>
              <a:cs typeface="Noto Sans SC"/>
              <a:sym typeface="Noto Sans SC"/>
            </a:endParaRPr>
          </a:p>
        </p:txBody>
      </p:sp>
      <p:sp>
        <p:nvSpPr>
          <p:cNvPr id="53" name="AutoShape 36"/>
          <p:cNvSpPr/>
          <p:nvPr/>
        </p:nvSpPr>
        <p:spPr>
          <a:xfrm>
            <a:off x="8128000" y="2159000"/>
            <a:ext cx="3556000" cy="4191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94A3B8">
                <a:alpha val="20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54" name="AutoShape 37"/>
          <p:cNvSpPr/>
          <p:nvPr/>
        </p:nvSpPr>
        <p:spPr>
          <a:xfrm>
            <a:off x="8128000" y="2159000"/>
            <a:ext cx="3556000" cy="76200"/>
          </a:xfrm>
          <a:prstGeom prst="roundRect">
            <a:avLst>
              <a:gd name="adj" fmla="val 166666"/>
            </a:avLst>
          </a:prstGeom>
          <a:solidFill>
            <a:srgbClr val="FF8439"/>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55" name="Picture 3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2413000"/>
            <a:ext cx="406400" cy="406400"/>
          </a:xfrm>
          <a:prstGeom prst="rect">
            <a:avLst/>
          </a:prstGeom>
        </p:spPr>
      </p:pic>
      <p:sp>
        <p:nvSpPr>
          <p:cNvPr id="56" name="AutoShape 39"/>
          <p:cNvSpPr/>
          <p:nvPr/>
        </p:nvSpPr>
        <p:spPr>
          <a:xfrm>
            <a:off x="8890000" y="24130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293B"/>
                </a:solidFill>
                <a:latin typeface="微软雅黑" charset="0"/>
                <a:ea typeface="微软雅黑" charset="0"/>
                <a:cs typeface="Noto Sans SC"/>
                <a:sym typeface="Noto Sans SC"/>
              </a:rPr>
              <a:t>客户数据管理</a:t>
            </a:r>
            <a:endParaRPr lang="en-US" sz="1600" b="1" i="0" u="none" strike="noStrike">
              <a:solidFill>
                <a:srgbClr val="1E293B"/>
              </a:solidFill>
              <a:latin typeface="微软雅黑" charset="0"/>
              <a:ea typeface="微软雅黑" charset="0"/>
              <a:cs typeface="Noto Sans SC"/>
              <a:sym typeface="Noto Sans SC"/>
            </a:endParaRPr>
          </a:p>
        </p:txBody>
      </p:sp>
      <p:cxnSp>
        <p:nvCxnSpPr>
          <p:cNvPr id="57" name="Connector 40"/>
          <p:cNvCxnSpPr/>
          <p:nvPr/>
        </p:nvCxnSpPr>
        <p:spPr>
          <a:xfrm rot="-14323">
            <a:off x="8382013" y="2914650"/>
            <a:ext cx="3048000" cy="12700"/>
          </a:xfrm>
          <a:prstGeom prst="line">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58" name="Picture 4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82000" y="3111500"/>
            <a:ext cx="203200" cy="203200"/>
          </a:xfrm>
          <a:prstGeom prst="rect">
            <a:avLst/>
          </a:prstGeom>
        </p:spPr>
      </p:pic>
      <p:sp>
        <p:nvSpPr>
          <p:cNvPr id="59" name="AutoShape 42"/>
          <p:cNvSpPr/>
          <p:nvPr/>
        </p:nvSpPr>
        <p:spPr>
          <a:xfrm>
            <a:off x="8636000" y="3086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数据采集：汇聚全渠道客户数据</a:t>
            </a:r>
            <a:endParaRPr lang="en-US" sz="1400" b="0" i="0" u="none" strike="noStrike">
              <a:solidFill>
                <a:srgbClr val="475569"/>
              </a:solidFill>
              <a:latin typeface="微软雅黑" charset="0"/>
              <a:ea typeface="微软雅黑" charset="0"/>
              <a:cs typeface="Noto Sans SC"/>
              <a:sym typeface="Noto Sans SC"/>
            </a:endParaRPr>
          </a:p>
        </p:txBody>
      </p:sp>
      <p:pic>
        <p:nvPicPr>
          <p:cNvPr id="60" name="Picture 4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82000" y="3429000"/>
            <a:ext cx="203200" cy="203200"/>
          </a:xfrm>
          <a:prstGeom prst="rect">
            <a:avLst/>
          </a:prstGeom>
        </p:spPr>
      </p:pic>
      <p:sp>
        <p:nvSpPr>
          <p:cNvPr id="61" name="AutoShape 44"/>
          <p:cNvSpPr/>
          <p:nvPr/>
        </p:nvSpPr>
        <p:spPr>
          <a:xfrm>
            <a:off x="8636000" y="34036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微软雅黑" charset="0"/>
                <a:sym typeface="Noto Sans SC"/>
              </a:rPr>
              <a:t>标签画像：构建360度客户全景</a:t>
            </a:r>
            <a:endParaRPr lang="en-US" sz="1400" b="0" i="0" u="none" strike="noStrike">
              <a:solidFill>
                <a:srgbClr val="475569"/>
              </a:solidFill>
              <a:latin typeface="微软雅黑" charset="0"/>
              <a:ea typeface="微软雅黑" charset="0"/>
              <a:cs typeface="微软雅黑" charset="0"/>
              <a:sym typeface="Noto Sans SC"/>
            </a:endParaRPr>
          </a:p>
        </p:txBody>
      </p:sp>
      <p:pic>
        <p:nvPicPr>
          <p:cNvPr id="62" name="Picture 4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82000" y="3746500"/>
            <a:ext cx="203200" cy="203200"/>
          </a:xfrm>
          <a:prstGeom prst="rect">
            <a:avLst/>
          </a:prstGeom>
        </p:spPr>
      </p:pic>
      <p:sp>
        <p:nvSpPr>
          <p:cNvPr id="63" name="AutoShape 46"/>
          <p:cNvSpPr/>
          <p:nvPr/>
        </p:nvSpPr>
        <p:spPr>
          <a:xfrm>
            <a:off x="8636000" y="3721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行为分析：洞察客户需求与偏好</a:t>
            </a:r>
            <a:endParaRPr lang="en-US" sz="1400" b="0" i="0" u="none" strike="noStrike">
              <a:solidFill>
                <a:srgbClr val="475569"/>
              </a:solidFill>
              <a:latin typeface="微软雅黑" charset="0"/>
              <a:ea typeface="微软雅黑" charset="0"/>
              <a:cs typeface="Noto Sans SC"/>
              <a:sym typeface="Noto Sans SC"/>
            </a:endParaRPr>
          </a:p>
        </p:txBody>
      </p:sp>
      <p:pic>
        <p:nvPicPr>
          <p:cNvPr id="64" name="Picture 4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82000" y="4064000"/>
            <a:ext cx="203200" cy="203200"/>
          </a:xfrm>
          <a:prstGeom prst="rect">
            <a:avLst/>
          </a:prstGeom>
        </p:spPr>
      </p:pic>
      <p:sp>
        <p:nvSpPr>
          <p:cNvPr id="65" name="AutoShape 48"/>
          <p:cNvSpPr/>
          <p:nvPr/>
        </p:nvSpPr>
        <p:spPr>
          <a:xfrm>
            <a:off x="8636000" y="4038600"/>
            <a:ext cx="288798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75569"/>
                </a:solidFill>
                <a:latin typeface="微软雅黑" charset="0"/>
                <a:ea typeface="微软雅黑" charset="0"/>
                <a:cs typeface="Noto Sans SC"/>
                <a:sym typeface="Noto Sans SC"/>
              </a:rPr>
              <a:t>数据安全：客户数据合规与权限管理</a:t>
            </a:r>
            <a:endParaRPr lang="en-US" sz="1400" b="0" i="0" u="none" strike="noStrike">
              <a:solidFill>
                <a:srgbClr val="475569"/>
              </a:solidFill>
              <a:latin typeface="微软雅黑" charset="0"/>
              <a:ea typeface="微软雅黑" charset="0"/>
              <a:cs typeface="Noto Sans SC"/>
              <a:sym typeface="Noto Sans SC"/>
            </a:endParaRPr>
          </a:p>
        </p:txBody>
      </p:sp>
      <p:pic>
        <p:nvPicPr>
          <p:cNvPr id="3"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7715" y="4678680"/>
            <a:ext cx="203200" cy="203200"/>
          </a:xfrm>
          <a:prstGeom prst="rect">
            <a:avLst/>
          </a:prstGeom>
        </p:spPr>
      </p:pic>
      <p:sp>
        <p:nvSpPr>
          <p:cNvPr id="4" name="AutoShape 20"/>
          <p:cNvSpPr/>
          <p:nvPr/>
        </p:nvSpPr>
        <p:spPr>
          <a:xfrm>
            <a:off x="1021715" y="465328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475569"/>
                </a:solidFill>
                <a:latin typeface="微软雅黑" charset="0"/>
                <a:ea typeface="微软雅黑" charset="0"/>
                <a:cs typeface="Noto Sans SC"/>
                <a:sym typeface="Noto Sans SC"/>
              </a:rPr>
              <a:t>企微客户运营</a:t>
            </a:r>
            <a:r>
              <a:rPr lang="zh-CN" altLang="en-US" sz="1400" b="0" i="0" u="none" strike="noStrike">
                <a:solidFill>
                  <a:srgbClr val="475569"/>
                </a:solidFill>
                <a:latin typeface="微软雅黑" charset="0"/>
                <a:ea typeface="微软雅黑" charset="0"/>
                <a:cs typeface="Noto Sans SC"/>
                <a:sym typeface="Noto Sans SC"/>
              </a:rPr>
              <a:t>管理</a:t>
            </a:r>
            <a:endParaRPr lang="zh-CN" altLang="en-US" sz="1400" b="0" i="0" u="none" strike="noStrike">
              <a:solidFill>
                <a:srgbClr val="475569"/>
              </a:solidFill>
              <a:latin typeface="微软雅黑" charset="0"/>
              <a:ea typeface="微软雅黑" charset="0"/>
              <a:cs typeface="Noto Sans SC"/>
              <a:sym typeface="Noto Sans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rPr>
              <a:t>项目关键节点</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graphicFrame>
        <p:nvGraphicFramePr>
          <p:cNvPr id="16" name="Table 7"/>
          <p:cNvGraphicFramePr>
            <a:graphicFrameLocks noGrp="1"/>
          </p:cNvGraphicFramePr>
          <p:nvPr>
            <p:custDataLst>
              <p:tags r:id="rId1"/>
            </p:custDataLst>
          </p:nvPr>
        </p:nvGraphicFramePr>
        <p:xfrm>
          <a:off x="545465" y="924560"/>
          <a:ext cx="11110595" cy="5734050"/>
        </p:xfrm>
        <a:graphic>
          <a:graphicData uri="http://schemas.openxmlformats.org/drawingml/2006/table">
            <a:tbl>
              <a:tblPr firstRow="1" bandRow="1"/>
              <a:tblGrid>
                <a:gridCol w="967105"/>
                <a:gridCol w="979170"/>
                <a:gridCol w="1527810"/>
                <a:gridCol w="1210945"/>
                <a:gridCol w="1196975"/>
                <a:gridCol w="715645"/>
                <a:gridCol w="966470"/>
                <a:gridCol w="1031875"/>
                <a:gridCol w="1251585"/>
                <a:gridCol w="1263015"/>
              </a:tblGrid>
              <a:tr h="31496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latin typeface="微软雅黑" charset="0"/>
                          <a:ea typeface="微软雅黑" charset="0"/>
                        </a:rPr>
                        <a:t>一级</a:t>
                      </a:r>
                      <a:endParaRPr lang="en-US" sz="1100" dirty="0">
                        <a:latin typeface="微软雅黑" charset="0"/>
                        <a:ea typeface="微软雅黑" charset="0"/>
                      </a:endParaRPr>
                    </a:p>
                  </a:txBody>
                  <a:tcPr anchor="ctr">
                    <a:lnL w="12700" cmpd="sng">
                      <a:noFill/>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latin typeface="微软雅黑" charset="0"/>
                          <a:ea typeface="微软雅黑" charset="0"/>
                        </a:rPr>
                        <a:t>二级</a:t>
                      </a:r>
                      <a:endParaRPr lang="en-US" sz="1100" dirty="0">
                        <a:latin typeface="微软雅黑" charset="0"/>
                        <a:ea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latin typeface="微软雅黑" charset="0"/>
                          <a:ea typeface="微软雅黑" charset="0"/>
                        </a:rPr>
                        <a:t>三级</a:t>
                      </a:r>
                      <a:endParaRPr lang="en-US" sz="1100" dirty="0">
                        <a:latin typeface="微软雅黑" charset="0"/>
                        <a:ea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latin typeface="微软雅黑" charset="0"/>
                          <a:ea typeface="微软雅黑" charset="0"/>
                        </a:rPr>
                        <a:t>计划开始时间</a:t>
                      </a:r>
                      <a:endParaRPr lang="en-US" sz="1100" dirty="0">
                        <a:latin typeface="微软雅黑" charset="0"/>
                        <a:ea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latin typeface="微软雅黑" charset="0"/>
                          <a:ea typeface="微软雅黑" charset="0"/>
                        </a:rPr>
                        <a:t>计划结束时间</a:t>
                      </a:r>
                      <a:endParaRPr lang="en-US" sz="1100" dirty="0">
                        <a:latin typeface="微软雅黑" charset="0"/>
                        <a:ea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latin typeface="微软雅黑" charset="0"/>
                          <a:ea typeface="微软雅黑" charset="0"/>
                        </a:rPr>
                        <a:t>耗时</a:t>
                      </a:r>
                      <a:endParaRPr lang="en-US" sz="1100" dirty="0">
                        <a:latin typeface="微软雅黑" charset="0"/>
                        <a:ea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charset="0"/>
                          <a:ea typeface="微软雅黑" charset="0"/>
                        </a:rPr>
                        <a:t>计划开始周</a:t>
                      </a:r>
                      <a:endParaRPr lang="zh-TW" altLang="en-US" sz="1100" b="1" i="0" u="none" strike="noStrike">
                        <a:solidFill>
                          <a:srgbClr val="FFFFFF"/>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charset="0"/>
                          <a:ea typeface="微软雅黑" charset="0"/>
                        </a:rPr>
                        <a:t>计划结束周</a:t>
                      </a:r>
                      <a:endParaRPr lang="zh-TW" altLang="en-US" sz="1100" b="1" i="0" u="none" strike="noStrike">
                        <a:solidFill>
                          <a:srgbClr val="FFFFFF"/>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latin typeface="微软雅黑" charset="0"/>
                          <a:ea typeface="微软雅黑" charset="0"/>
                        </a:rPr>
                        <a:t>实际开始时间</a:t>
                      </a:r>
                      <a:endParaRPr lang="en-US" sz="1100" dirty="0">
                        <a:latin typeface="微软雅黑" charset="0"/>
                        <a:ea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微软雅黑" charset="0"/>
                          <a:ea typeface="微软雅黑" charset="0"/>
                          <a:cs typeface="+mn-cs"/>
                        </a:rPr>
                        <a:t>实际结束时间</a:t>
                      </a:r>
                      <a:endParaRPr lang="en-US" sz="1100" b="1" kern="1200" dirty="0">
                        <a:solidFill>
                          <a:schemeClr val="lt1"/>
                        </a:solidFill>
                        <a:latin typeface="微软雅黑" charset="0"/>
                        <a:ea typeface="微软雅黑" charset="0"/>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422275">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latin typeface="微软雅黑" charset="0"/>
                          <a:ea typeface="微软雅黑" charset="0"/>
                        </a:rPr>
                        <a:t>项目启动</a:t>
                      </a:r>
                      <a:endParaRPr lang="en-US" sz="1100" b="1" dirty="0">
                        <a:latin typeface="微软雅黑" charset="0"/>
                        <a:ea typeface="微软雅黑" charset="0"/>
                      </a:endParaRPr>
                    </a:p>
                  </a:txBody>
                  <a:tcPr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latin typeface="微软雅黑" charset="0"/>
                          <a:ea typeface="微软雅黑" charset="0"/>
                        </a:rPr>
                        <a:t>/</a:t>
                      </a:r>
                      <a:endParaRPr lang="en-US" altLang="zh-CN" sz="1100" b="1" dirty="0">
                        <a:latin typeface="微软雅黑" charset="0"/>
                        <a:ea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latin typeface="微软雅黑" charset="0"/>
                          <a:ea typeface="微软雅黑" charset="0"/>
                        </a:rPr>
                        <a:t>/</a:t>
                      </a:r>
                      <a:endParaRPr lang="en-US" altLang="zh-CN" sz="1100" b="1" dirty="0">
                        <a:latin typeface="微软雅黑" charset="0"/>
                        <a:ea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微软雅黑" charset="0"/>
                          <a:ea typeface="微软雅黑" charset="0"/>
                          <a:cs typeface="微软雅黑" charset="0"/>
                        </a:rPr>
                        <a:t>2026</a:t>
                      </a:r>
                      <a:r>
                        <a:rPr lang="zh-TW" altLang="en-US" sz="1100" b="1" kern="1200">
                          <a:solidFill>
                            <a:schemeClr val="dk1"/>
                          </a:solidFill>
                          <a:latin typeface="微软雅黑" charset="0"/>
                          <a:ea typeface="微软雅黑" charset="0"/>
                          <a:cs typeface="微软雅黑" charset="0"/>
                        </a:rPr>
                        <a:t>年</a:t>
                      </a:r>
                      <a:r>
                        <a:rPr lang="en-US" altLang="zh-TW" sz="1100" b="1" kern="1200">
                          <a:solidFill>
                            <a:schemeClr val="dk1"/>
                          </a:solidFill>
                          <a:latin typeface="微软雅黑" charset="0"/>
                          <a:ea typeface="微软雅黑" charset="0"/>
                          <a:cs typeface="微软雅黑" charset="0"/>
                        </a:rPr>
                        <a:t>3</a:t>
                      </a:r>
                      <a:r>
                        <a:rPr lang="zh-TW" altLang="en-US" sz="1100" b="1" kern="1200">
                          <a:solidFill>
                            <a:schemeClr val="dk1"/>
                          </a:solidFill>
                          <a:latin typeface="微软雅黑" charset="0"/>
                          <a:ea typeface="微软雅黑" charset="0"/>
                          <a:cs typeface="微软雅黑" charset="0"/>
                        </a:rPr>
                        <a:t>月</a:t>
                      </a:r>
                      <a:r>
                        <a:rPr lang="en-US" altLang="zh-TW" sz="1100" b="1" kern="1200">
                          <a:solidFill>
                            <a:schemeClr val="dk1"/>
                          </a:solidFill>
                          <a:latin typeface="微软雅黑" charset="0"/>
                          <a:ea typeface="微软雅黑" charset="0"/>
                          <a:cs typeface="微软雅黑" charset="0"/>
                        </a:rPr>
                        <a:t>4</a:t>
                      </a:r>
                      <a:r>
                        <a:rPr lang="zh-TW" altLang="en-US" sz="1100" b="1" kern="1200">
                          <a:solidFill>
                            <a:schemeClr val="dk1"/>
                          </a:solidFill>
                          <a:latin typeface="微软雅黑" charset="0"/>
                          <a:ea typeface="微软雅黑" charset="0"/>
                          <a:cs typeface="微软雅黑" charset="0"/>
                        </a:rPr>
                        <a:t>日</a:t>
                      </a:r>
                      <a:endParaRPr lang="zh-TW" altLang="en-US" sz="1100" b="1" kern="1200">
                        <a:solidFill>
                          <a:schemeClr val="dk1"/>
                        </a:solidFill>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微软雅黑" charset="0"/>
                          <a:ea typeface="微软雅黑" charset="0"/>
                          <a:cs typeface="微软雅黑" charset="0"/>
                        </a:rPr>
                        <a:t>2026</a:t>
                      </a:r>
                      <a:r>
                        <a:rPr lang="zh-TW" altLang="en-US" sz="1100" b="1" kern="1200">
                          <a:solidFill>
                            <a:schemeClr val="dk1"/>
                          </a:solidFill>
                          <a:latin typeface="微软雅黑" charset="0"/>
                          <a:ea typeface="微软雅黑" charset="0"/>
                          <a:cs typeface="微软雅黑" charset="0"/>
                        </a:rPr>
                        <a:t>年</a:t>
                      </a:r>
                      <a:r>
                        <a:rPr lang="en-US" altLang="zh-TW" sz="1100" b="1" kern="1200">
                          <a:solidFill>
                            <a:schemeClr val="dk1"/>
                          </a:solidFill>
                          <a:latin typeface="微软雅黑" charset="0"/>
                          <a:ea typeface="微软雅黑" charset="0"/>
                          <a:cs typeface="微软雅黑" charset="0"/>
                        </a:rPr>
                        <a:t>3</a:t>
                      </a:r>
                      <a:r>
                        <a:rPr lang="zh-TW" altLang="en-US" sz="1100" b="1" kern="1200">
                          <a:solidFill>
                            <a:schemeClr val="dk1"/>
                          </a:solidFill>
                          <a:latin typeface="微软雅黑" charset="0"/>
                          <a:ea typeface="微软雅黑" charset="0"/>
                          <a:cs typeface="微软雅黑" charset="0"/>
                        </a:rPr>
                        <a:t>月</a:t>
                      </a:r>
                      <a:r>
                        <a:rPr lang="en-US" altLang="zh-TW" sz="1100" b="1" kern="1200">
                          <a:solidFill>
                            <a:schemeClr val="dk1"/>
                          </a:solidFill>
                          <a:latin typeface="微软雅黑" charset="0"/>
                          <a:ea typeface="微软雅黑" charset="0"/>
                          <a:cs typeface="微软雅黑" charset="0"/>
                        </a:rPr>
                        <a:t>13</a:t>
                      </a:r>
                      <a:r>
                        <a:rPr lang="zh-TW" altLang="en-US" sz="1100" b="1" kern="1200">
                          <a:solidFill>
                            <a:schemeClr val="dk1"/>
                          </a:solidFill>
                          <a:latin typeface="微软雅黑" charset="0"/>
                          <a:ea typeface="微软雅黑" charset="0"/>
                          <a:cs typeface="微软雅黑" charset="0"/>
                        </a:rPr>
                        <a:t>日</a:t>
                      </a:r>
                      <a:endParaRPr lang="zh-TW" altLang="en-US" sz="1100" b="1" kern="1200">
                        <a:solidFill>
                          <a:schemeClr val="dk1"/>
                        </a:solidFill>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微软雅黑" charset="0"/>
                          <a:ea typeface="微软雅黑" charset="0"/>
                          <a:cs typeface="微软雅黑" charset="0"/>
                        </a:rPr>
                        <a:t>1周</a:t>
                      </a:r>
                      <a:endParaRPr lang="en-US" sz="1100" b="1" kern="1200" dirty="0">
                        <a:solidFill>
                          <a:schemeClr val="dk1"/>
                        </a:solidFill>
                        <a:latin typeface="微软雅黑" charset="0"/>
                        <a:ea typeface="微软雅黑" charset="0"/>
                        <a:cs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微软雅黑" charset="0"/>
                          <a:ea typeface="微软雅黑" charset="0"/>
                          <a:cs typeface="+mn-cs"/>
                        </a:rPr>
                        <a:t>W0</a:t>
                      </a:r>
                      <a:endParaRPr lang="en-US" sz="1100" b="1"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微软雅黑" charset="0"/>
                          <a:ea typeface="微软雅黑" charset="0"/>
                          <a:cs typeface="+mn-cs"/>
                        </a:rPr>
                        <a:t>W1</a:t>
                      </a:r>
                      <a:endParaRPr lang="en-US" sz="1100" b="1"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微软雅黑" charset="0"/>
                          <a:ea typeface="微软雅黑" charset="0"/>
                          <a:cs typeface="微软雅黑" charset="0"/>
                        </a:rPr>
                        <a:t>2026年3月4日</a:t>
                      </a:r>
                      <a:endParaRPr lang="en-US" sz="1100" b="1" kern="1200" dirty="0">
                        <a:solidFill>
                          <a:schemeClr val="dk1"/>
                        </a:solidFill>
                        <a:latin typeface="微软雅黑" charset="0"/>
                        <a:ea typeface="微软雅黑" charset="0"/>
                        <a:cs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微软雅黑" charset="0"/>
                          <a:ea typeface="微软雅黑" charset="0"/>
                          <a:cs typeface="微软雅黑" charset="0"/>
                        </a:rPr>
                        <a:t>2026年3月13日</a:t>
                      </a:r>
                      <a:endParaRPr lang="en-US" sz="1100" b="1" kern="1200" dirty="0">
                        <a:solidFill>
                          <a:schemeClr val="dk1"/>
                        </a:solidFill>
                        <a:latin typeface="微软雅黑" charset="0"/>
                        <a:ea typeface="微软雅黑" charset="0"/>
                        <a:cs typeface="微软雅黑" charset="0"/>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96545">
                <a:tc rowSpan="5">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Tx/>
                        <a:buNone/>
                        <a:defRPr/>
                      </a:pPr>
                      <a:r>
                        <a:rPr lang="zh-CN" altLang="en-US" sz="1100" b="1" kern="1200">
                          <a:solidFill>
                            <a:schemeClr val="dk1"/>
                          </a:solidFill>
                          <a:latin typeface="微软雅黑" charset="0"/>
                          <a:ea typeface="微软雅黑" charset="0"/>
                          <a:cs typeface="+mn-cs"/>
                        </a:rPr>
                        <a:t>需求调研</a:t>
                      </a:r>
                      <a:endParaRPr lang="zh-CN" altLang="en-US" sz="1100" b="1" kern="1200" dirty="0">
                        <a:solidFill>
                          <a:schemeClr val="dk1"/>
                        </a:solidFill>
                        <a:latin typeface="微软雅黑" charset="0"/>
                        <a:ea typeface="微软雅黑" charset="0"/>
                        <a:cs typeface="+mn-cs"/>
                      </a:endParaRPr>
                    </a:p>
                  </a:txBody>
                  <a:tcPr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微软雅黑" charset="0"/>
                          <a:ea typeface="微软雅黑" charset="0"/>
                          <a:cs typeface="+mn-cs"/>
                        </a:rPr>
                        <a:t> /</a:t>
                      </a:r>
                      <a:endParaRPr lang="en-GB" sz="1100" b="1"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微软雅黑" charset="0"/>
                          <a:ea typeface="微软雅黑" charset="0"/>
                          <a:cs typeface="+mn-cs"/>
                        </a:rPr>
                        <a:t>/ </a:t>
                      </a:r>
                      <a:endParaRPr lang="en-GB" sz="1100" b="1"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charset="0"/>
                          <a:ea typeface="微软雅黑" charset="0"/>
                          <a:cs typeface="微软雅黑" charset="0"/>
                        </a:rPr>
                        <a:t>2026</a:t>
                      </a:r>
                      <a:r>
                        <a:rPr lang="zh-TW" altLang="en-US" sz="1100" b="1" i="0" u="none" strike="noStrike">
                          <a:solidFill>
                            <a:srgbClr val="C00000"/>
                          </a:solidFill>
                          <a:effectLst/>
                          <a:latin typeface="微软雅黑" charset="0"/>
                          <a:ea typeface="微软雅黑" charset="0"/>
                          <a:cs typeface="微软雅黑" charset="0"/>
                        </a:rPr>
                        <a:t>年</a:t>
                      </a:r>
                      <a:r>
                        <a:rPr lang="en-US" altLang="zh-TW" sz="1100" b="1" i="0" u="none" strike="noStrike">
                          <a:solidFill>
                            <a:srgbClr val="C00000"/>
                          </a:solidFill>
                          <a:effectLst/>
                          <a:latin typeface="微软雅黑" charset="0"/>
                          <a:ea typeface="微软雅黑" charset="0"/>
                          <a:cs typeface="微软雅黑" charset="0"/>
                        </a:rPr>
                        <a:t>3</a:t>
                      </a:r>
                      <a:r>
                        <a:rPr lang="zh-TW" altLang="en-US" sz="1100" b="1" i="0" u="none" strike="noStrike">
                          <a:solidFill>
                            <a:srgbClr val="C00000"/>
                          </a:solidFill>
                          <a:effectLst/>
                          <a:latin typeface="微软雅黑" charset="0"/>
                          <a:ea typeface="微软雅黑" charset="0"/>
                          <a:cs typeface="微软雅黑" charset="0"/>
                        </a:rPr>
                        <a:t>月</a:t>
                      </a:r>
                      <a:r>
                        <a:rPr lang="en-US" altLang="zh-TW" sz="1100" b="1" i="0" u="none" strike="noStrike">
                          <a:solidFill>
                            <a:srgbClr val="C00000"/>
                          </a:solidFill>
                          <a:effectLst/>
                          <a:latin typeface="微软雅黑" charset="0"/>
                          <a:ea typeface="微软雅黑" charset="0"/>
                          <a:cs typeface="微软雅黑" charset="0"/>
                        </a:rPr>
                        <a:t>13</a:t>
                      </a:r>
                      <a:r>
                        <a:rPr lang="zh-TW" altLang="en-US" sz="1100" b="1" i="0" u="none" strike="noStrike">
                          <a:solidFill>
                            <a:srgbClr val="C00000"/>
                          </a:solidFill>
                          <a:effectLst/>
                          <a:latin typeface="微软雅黑" charset="0"/>
                          <a:ea typeface="微软雅黑" charset="0"/>
                          <a:cs typeface="微软雅黑" charset="0"/>
                        </a:rPr>
                        <a:t>日</a:t>
                      </a:r>
                      <a:endParaRPr lang="zh-TW" altLang="en-US" sz="1100" b="1" i="0" u="none" strike="noStrike">
                        <a:solidFill>
                          <a:srgbClr val="C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charset="0"/>
                          <a:ea typeface="微软雅黑" charset="0"/>
                          <a:cs typeface="微软雅黑" charset="0"/>
                        </a:rPr>
                        <a:t>2026</a:t>
                      </a:r>
                      <a:r>
                        <a:rPr lang="zh-TW" altLang="en-US" sz="1100" b="1" i="0" u="none" strike="noStrike">
                          <a:solidFill>
                            <a:srgbClr val="C00000"/>
                          </a:solidFill>
                          <a:effectLst/>
                          <a:latin typeface="微软雅黑" charset="0"/>
                          <a:ea typeface="微软雅黑" charset="0"/>
                          <a:cs typeface="微软雅黑" charset="0"/>
                        </a:rPr>
                        <a:t>年</a:t>
                      </a:r>
                      <a:r>
                        <a:rPr lang="en-US" altLang="zh-TW" sz="1100" b="1" i="0" u="none" strike="noStrike">
                          <a:solidFill>
                            <a:srgbClr val="C00000"/>
                          </a:solidFill>
                          <a:effectLst/>
                          <a:latin typeface="微软雅黑" charset="0"/>
                          <a:ea typeface="微软雅黑" charset="0"/>
                          <a:cs typeface="微软雅黑" charset="0"/>
                        </a:rPr>
                        <a:t>6</a:t>
                      </a:r>
                      <a:r>
                        <a:rPr lang="zh-TW" altLang="en-US" sz="1100" b="1" i="0" u="none" strike="noStrike">
                          <a:solidFill>
                            <a:srgbClr val="C00000"/>
                          </a:solidFill>
                          <a:effectLst/>
                          <a:latin typeface="微软雅黑" charset="0"/>
                          <a:ea typeface="微软雅黑" charset="0"/>
                          <a:cs typeface="微软雅黑" charset="0"/>
                        </a:rPr>
                        <a:t>月</a:t>
                      </a:r>
                      <a:r>
                        <a:rPr lang="en-US" altLang="zh-TW" sz="1100" b="1" i="0" u="none" strike="noStrike">
                          <a:solidFill>
                            <a:srgbClr val="C00000"/>
                          </a:solidFill>
                          <a:effectLst/>
                          <a:latin typeface="微软雅黑" charset="0"/>
                          <a:ea typeface="微软雅黑" charset="0"/>
                          <a:cs typeface="微软雅黑" charset="0"/>
                        </a:rPr>
                        <a:t>12</a:t>
                      </a:r>
                      <a:r>
                        <a:rPr lang="zh-TW" altLang="en-US" sz="1100" b="1" i="0" u="none" strike="noStrike">
                          <a:solidFill>
                            <a:srgbClr val="C00000"/>
                          </a:solidFill>
                          <a:effectLst/>
                          <a:latin typeface="微软雅黑" charset="0"/>
                          <a:ea typeface="微软雅黑" charset="0"/>
                          <a:cs typeface="微软雅黑" charset="0"/>
                        </a:rPr>
                        <a:t>日</a:t>
                      </a:r>
                      <a:endParaRPr lang="zh-TW" altLang="en-US" sz="1100" b="1" i="0" u="none" strike="noStrike">
                        <a:solidFill>
                          <a:srgbClr val="C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charset="0"/>
                          <a:ea typeface="微软雅黑" charset="0"/>
                          <a:cs typeface="微软雅黑" charset="0"/>
                        </a:rPr>
                        <a:t>9</a:t>
                      </a:r>
                      <a:r>
                        <a:rPr lang="zh-TW" altLang="en-US" sz="1100" b="1" i="0" u="none" strike="noStrike">
                          <a:solidFill>
                            <a:srgbClr val="C00000"/>
                          </a:solidFill>
                          <a:effectLst/>
                          <a:latin typeface="微软雅黑" charset="0"/>
                          <a:ea typeface="微软雅黑" charset="0"/>
                          <a:cs typeface="微软雅黑" charset="0"/>
                        </a:rPr>
                        <a:t>周</a:t>
                      </a:r>
                      <a:endParaRPr lang="zh-TW" altLang="en-US" sz="1100" b="1" i="0" u="none" strike="noStrike">
                        <a:solidFill>
                          <a:srgbClr val="C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i="0" u="none" strike="noStrike">
                          <a:solidFill>
                            <a:srgbClr val="C00000"/>
                          </a:solidFill>
                          <a:effectLst/>
                          <a:latin typeface="微软雅黑" charset="0"/>
                          <a:ea typeface="微软雅黑" charset="0"/>
                        </a:rPr>
                        <a:t>W2</a:t>
                      </a:r>
                      <a:endParaRPr lang="en-GB" sz="1100" b="1" i="0" u="none" strike="noStrike">
                        <a:solidFill>
                          <a:srgbClr val="C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i="0" u="none" strike="noStrike">
                          <a:solidFill>
                            <a:srgbClr val="C00000"/>
                          </a:solidFill>
                          <a:effectLst/>
                          <a:latin typeface="微软雅黑" charset="0"/>
                          <a:ea typeface="微软雅黑" charset="0"/>
                        </a:rPr>
                        <a:t>W10</a:t>
                      </a:r>
                      <a:endParaRPr lang="en-GB" sz="1100" b="1" i="0" u="none" strike="noStrike">
                        <a:solidFill>
                          <a:srgbClr val="C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 typeface="Arial" panose="020B0604020202090204" pitchFamily="34" charset="0"/>
                        <a:buNone/>
                        <a:defRPr/>
                      </a:pPr>
                      <a:r>
                        <a:rPr lang="en-US" sz="1100" b="1" kern="1200">
                          <a:solidFill>
                            <a:schemeClr val="dk1"/>
                          </a:solidFill>
                          <a:latin typeface="微软雅黑" charset="0"/>
                          <a:ea typeface="微软雅黑" charset="0"/>
                          <a:cs typeface="微软雅黑" charset="0"/>
                        </a:rPr>
                        <a:t>2026年3月13日</a:t>
                      </a:r>
                      <a:endParaRPr lang="en-US" sz="1100" b="1" kern="1200">
                        <a:solidFill>
                          <a:schemeClr val="dk1"/>
                        </a:solidFill>
                        <a:latin typeface="微软雅黑" charset="0"/>
                        <a:ea typeface="微软雅黑" charset="0"/>
                        <a:cs typeface="微软雅黑" charset="0"/>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微软雅黑" charset="0"/>
                          <a:ea typeface="微软雅黑" charset="0"/>
                          <a:cs typeface="+mn-cs"/>
                        </a:rPr>
                        <a:t>进行中</a:t>
                      </a:r>
                      <a:endParaRPr lang="en-US" sz="1100" b="1" kern="1200" dirty="0">
                        <a:solidFill>
                          <a:schemeClr val="dk1"/>
                        </a:solidFill>
                        <a:latin typeface="微软雅黑" charset="0"/>
                        <a:ea typeface="微软雅黑" charset="0"/>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67335">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微软雅黑" charset="0"/>
                          <a:ea typeface="微软雅黑" charset="0"/>
                          <a:cs typeface="+mn-cs"/>
                        </a:rPr>
                        <a:t>调研</a:t>
                      </a:r>
                      <a:endParaRPr lang="zh-TW" altLang="en-US" sz="1100"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zh-TW" altLang="en-US" sz="1100">
                          <a:solidFill>
                            <a:srgbClr val="000000"/>
                          </a:solidFill>
                          <a:effectLst/>
                          <a:latin typeface="微软雅黑" charset="0"/>
                          <a:ea typeface="微软雅黑" charset="0"/>
                          <a:sym typeface="+mn-ea"/>
                        </a:rPr>
                        <a:t>业务</a:t>
                      </a:r>
                      <a:r>
                        <a:rPr lang="en-US" altLang="zh-CN" sz="1100">
                          <a:solidFill>
                            <a:srgbClr val="000000"/>
                          </a:solidFill>
                          <a:effectLst/>
                          <a:latin typeface="微软雅黑" charset="0"/>
                          <a:ea typeface="微软雅黑" charset="0"/>
                          <a:sym typeface="+mn-ea"/>
                        </a:rPr>
                        <a:t>、</a:t>
                      </a:r>
                      <a:r>
                        <a:rPr lang="zh-CN" altLang="en-US" sz="1100" b="0" i="0" u="none" strike="noStrike">
                          <a:solidFill>
                            <a:srgbClr val="000000"/>
                          </a:solidFill>
                          <a:effectLst/>
                          <a:latin typeface="微软雅黑" charset="0"/>
                          <a:ea typeface="微软雅黑" charset="0"/>
                        </a:rPr>
                        <a:t>系统</a:t>
                      </a:r>
                      <a:r>
                        <a:rPr lang="en-US" altLang="zh-CN" sz="1100" b="0" i="0" u="none" strike="noStrike">
                          <a:solidFill>
                            <a:srgbClr val="000000"/>
                          </a:solidFill>
                          <a:effectLst/>
                          <a:latin typeface="微软雅黑" charset="0"/>
                          <a:ea typeface="微软雅黑" charset="0"/>
                        </a:rPr>
                        <a:t>、</a:t>
                      </a:r>
                      <a:r>
                        <a:rPr lang="zh-CN" altLang="en-US" sz="1100" b="0" i="0" u="none" strike="noStrike">
                          <a:solidFill>
                            <a:srgbClr val="000000"/>
                          </a:solidFill>
                          <a:effectLst/>
                          <a:latin typeface="微软雅黑" charset="0"/>
                          <a:ea typeface="微软雅黑" charset="0"/>
                        </a:rPr>
                        <a:t>项目调研</a:t>
                      </a:r>
                      <a:endParaRPr lang="zh-CN" altLang="en-US"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3</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13</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4</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17</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5</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charset="0"/>
                          <a:ea typeface="微软雅黑" charset="0"/>
                        </a:rPr>
                        <a:t>W</a:t>
                      </a:r>
                      <a:r>
                        <a:rPr lang="en-US" altLang="en-GB" sz="1100" b="0" i="0" u="none" strike="noStrike">
                          <a:solidFill>
                            <a:srgbClr val="000000"/>
                          </a:solidFill>
                          <a:effectLst/>
                          <a:latin typeface="微软雅黑" charset="0"/>
                          <a:ea typeface="微软雅黑" charset="0"/>
                        </a:rPr>
                        <a:t>2</a:t>
                      </a:r>
                      <a:endParaRPr lang="en-US" alt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charset="0"/>
                          <a:ea typeface="微软雅黑" charset="0"/>
                        </a:rPr>
                        <a:t>W</a:t>
                      </a:r>
                      <a:r>
                        <a:rPr lang="en-US" altLang="en-GB" sz="1100" b="0" i="0" u="none" strike="noStrike">
                          <a:solidFill>
                            <a:srgbClr val="000000"/>
                          </a:solidFill>
                          <a:effectLst/>
                          <a:latin typeface="微软雅黑" charset="0"/>
                          <a:ea typeface="微软雅黑" charset="0"/>
                        </a:rPr>
                        <a:t>6</a:t>
                      </a:r>
                      <a:endParaRPr lang="en-US" alt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4"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微软雅黑" charset="0"/>
                          <a:ea typeface="微软雅黑" charset="0"/>
                          <a:cs typeface="+mn-cs"/>
                        </a:rPr>
                        <a:t>交付物：</a:t>
                      </a:r>
                      <a:endParaRPr lang="en-US" altLang="zh-CN" sz="1100" b="1" kern="1200">
                        <a:solidFill>
                          <a:schemeClr val="dk1"/>
                        </a:solidFill>
                        <a:latin typeface="微软雅黑" charset="0"/>
                        <a:ea typeface="微软雅黑" charset="0"/>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微软雅黑" charset="0"/>
                          <a:ea typeface="微软雅黑" charset="0"/>
                          <a:cs typeface="+mn-cs"/>
                        </a:rPr>
                        <a:t>《</a:t>
                      </a:r>
                      <a:r>
                        <a:rPr lang="zh-CN" altLang="en-US" sz="1100" kern="1200">
                          <a:solidFill>
                            <a:schemeClr val="dk1"/>
                          </a:solidFill>
                          <a:latin typeface="微软雅黑" charset="0"/>
                          <a:ea typeface="微软雅黑" charset="0"/>
                          <a:cs typeface="+mn-cs"/>
                        </a:rPr>
                        <a:t>需求清单</a:t>
                      </a:r>
                      <a:r>
                        <a:rPr lang="en-US" altLang="zh-CN" sz="1100" kern="1200">
                          <a:solidFill>
                            <a:schemeClr val="dk1"/>
                          </a:solidFill>
                          <a:latin typeface="微软雅黑" charset="0"/>
                          <a:ea typeface="微软雅黑" charset="0"/>
                          <a:cs typeface="+mn-cs"/>
                        </a:rPr>
                        <a:t>》</a:t>
                      </a:r>
                      <a:endParaRPr lang="en-US" altLang="zh-CN" sz="1100" kern="1200">
                        <a:solidFill>
                          <a:schemeClr val="dk1"/>
                        </a:solidFill>
                        <a:latin typeface="微软雅黑" charset="0"/>
                        <a:ea typeface="微软雅黑" charset="0"/>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微软雅黑" charset="0"/>
                          <a:ea typeface="微软雅黑" charset="0"/>
                          <a:cs typeface="+mn-cs"/>
                        </a:rPr>
                        <a:t>《</a:t>
                      </a:r>
                      <a:r>
                        <a:rPr lang="zh-CN" altLang="en-US" sz="1100" kern="1200">
                          <a:solidFill>
                            <a:schemeClr val="dk1"/>
                          </a:solidFill>
                          <a:latin typeface="微软雅黑" charset="0"/>
                          <a:ea typeface="微软雅黑" charset="0"/>
                          <a:cs typeface="+mn-cs"/>
                        </a:rPr>
                        <a:t>系统架构</a:t>
                      </a:r>
                      <a:r>
                        <a:rPr lang="en-US" altLang="zh-CN" sz="1100" kern="1200">
                          <a:solidFill>
                            <a:schemeClr val="dk1"/>
                          </a:solidFill>
                          <a:latin typeface="微软雅黑" charset="0"/>
                          <a:ea typeface="微软雅黑" charset="0"/>
                          <a:cs typeface="+mn-cs"/>
                        </a:rPr>
                        <a:t>》</a:t>
                      </a:r>
                      <a:endParaRPr lang="en-US" altLang="zh-CN" sz="1100" kern="1200">
                        <a:solidFill>
                          <a:schemeClr val="dk1"/>
                        </a:solidFill>
                        <a:latin typeface="微软雅黑" charset="0"/>
                        <a:ea typeface="微软雅黑" charset="0"/>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微软雅黑" charset="0"/>
                          <a:ea typeface="微软雅黑" charset="0"/>
                          <a:cs typeface="+mn-cs"/>
                        </a:rPr>
                        <a:t>《</a:t>
                      </a:r>
                      <a:r>
                        <a:rPr lang="zh-CN" altLang="en-US" sz="1100" kern="1200">
                          <a:solidFill>
                            <a:schemeClr val="dk1"/>
                          </a:solidFill>
                          <a:latin typeface="微软雅黑" charset="0"/>
                          <a:ea typeface="微软雅黑" charset="0"/>
                          <a:cs typeface="+mn-cs"/>
                        </a:rPr>
                        <a:t>调研报告</a:t>
                      </a:r>
                      <a:r>
                        <a:rPr lang="en-US" altLang="zh-CN" sz="1100" kern="1200">
                          <a:solidFill>
                            <a:schemeClr val="dk1"/>
                          </a:solidFill>
                          <a:latin typeface="微软雅黑" charset="0"/>
                          <a:ea typeface="微软雅黑" charset="0"/>
                          <a:cs typeface="+mn-cs"/>
                        </a:rPr>
                        <a:t>》</a:t>
                      </a:r>
                      <a:endParaRPr lang="en-US" sz="1100" kern="1200" dirty="0">
                        <a:solidFill>
                          <a:schemeClr val="dk1"/>
                        </a:solidFill>
                        <a:latin typeface="微软雅黑" charset="0"/>
                        <a:ea typeface="微软雅黑" charset="0"/>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4"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7335">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zh-TW" altLang="en-US" sz="1100" b="0" i="0" u="none" strike="noStrike">
                          <a:solidFill>
                            <a:srgbClr val="000000"/>
                          </a:solidFill>
                          <a:effectLst/>
                          <a:latin typeface="微软雅黑" charset="0"/>
                          <a:ea typeface="微软雅黑" charset="0"/>
                        </a:rPr>
                        <a:t>管理层访谈</a:t>
                      </a:r>
                      <a:endParaRPr lang="zh-TW" altLang="en-US"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5</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6</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charset="0"/>
                          <a:ea typeface="微软雅黑" charset="0"/>
                          <a:cs typeface="微软雅黑" charset="0"/>
                        </a:rPr>
                        <a:t>2026</a:t>
                      </a:r>
                      <a:r>
                        <a:rPr lang="zh-TW" altLang="en-US" sz="1100" b="0" i="0" u="none" strike="noStrike">
                          <a:solidFill>
                            <a:schemeClr val="tx1"/>
                          </a:solidFill>
                          <a:effectLst/>
                          <a:latin typeface="微软雅黑" charset="0"/>
                          <a:ea typeface="微软雅黑" charset="0"/>
                          <a:cs typeface="微软雅黑" charset="0"/>
                        </a:rPr>
                        <a:t>年</a:t>
                      </a:r>
                      <a:r>
                        <a:rPr lang="en-US" altLang="zh-TW" sz="1100" b="0" i="0" u="none" strike="noStrike">
                          <a:solidFill>
                            <a:schemeClr val="tx1"/>
                          </a:solidFill>
                          <a:effectLst/>
                          <a:latin typeface="微软雅黑" charset="0"/>
                          <a:ea typeface="微软雅黑" charset="0"/>
                          <a:cs typeface="微软雅黑" charset="0"/>
                        </a:rPr>
                        <a:t>6</a:t>
                      </a:r>
                      <a:r>
                        <a:rPr lang="zh-TW" altLang="en-US" sz="1100" b="0" i="0" u="none" strike="noStrike">
                          <a:solidFill>
                            <a:schemeClr val="tx1"/>
                          </a:solidFill>
                          <a:effectLst/>
                          <a:latin typeface="微软雅黑" charset="0"/>
                          <a:ea typeface="微软雅黑" charset="0"/>
                          <a:cs typeface="微软雅黑" charset="0"/>
                        </a:rPr>
                        <a:t>月</a:t>
                      </a:r>
                      <a:r>
                        <a:rPr lang="en-US" altLang="zh-TW" sz="1100" b="0" i="0" u="none" strike="noStrike">
                          <a:solidFill>
                            <a:schemeClr val="tx1"/>
                          </a:solidFill>
                          <a:effectLst/>
                          <a:latin typeface="微软雅黑" charset="0"/>
                          <a:ea typeface="微软雅黑" charset="0"/>
                          <a:cs typeface="微软雅黑" charset="0"/>
                        </a:rPr>
                        <a:t>12</a:t>
                      </a:r>
                      <a:r>
                        <a:rPr lang="zh-TW" altLang="en-US" sz="1100" b="0" i="0" u="none" strike="noStrike">
                          <a:solidFill>
                            <a:schemeClr val="tx1"/>
                          </a:solidFill>
                          <a:effectLst/>
                          <a:latin typeface="微软雅黑" charset="0"/>
                          <a:ea typeface="微软雅黑" charset="0"/>
                          <a:cs typeface="微软雅黑" charset="0"/>
                        </a:rPr>
                        <a:t>日</a:t>
                      </a:r>
                      <a:endParaRPr lang="zh-TW" altLang="en-US" sz="1100" b="0" i="0" u="none" strike="noStrike">
                        <a:solidFill>
                          <a:schemeClr val="tx1"/>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4</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charset="0"/>
                          <a:ea typeface="微软雅黑" charset="0"/>
                        </a:rPr>
                        <a:t>W5</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charset="0"/>
                          <a:ea typeface="微软雅黑" charset="0"/>
                        </a:rPr>
                        <a:t>W8</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7335">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CN" altLang="en-US" sz="1100" kern="1200">
                          <a:solidFill>
                            <a:schemeClr val="dk1"/>
                          </a:solidFill>
                          <a:latin typeface="微软雅黑" charset="0"/>
                          <a:ea typeface="微软雅黑" charset="0"/>
                          <a:cs typeface="+mn-cs"/>
                        </a:rPr>
                        <a:t>需求清单及</a:t>
                      </a:r>
                      <a:endParaRPr lang="en-US" altLang="zh-CN" sz="1100" kern="1200">
                        <a:solidFill>
                          <a:schemeClr val="dk1"/>
                        </a:solidFill>
                        <a:latin typeface="微软雅黑" charset="0"/>
                        <a:ea typeface="微软雅黑" charset="0"/>
                        <a:cs typeface="+mn-cs"/>
                      </a:endParaRPr>
                    </a:p>
                    <a:p>
                      <a:pPr marL="0" algn="ctr" defTabSz="843915" rtl="0" eaLnBrk="1" fontAlgn="b" latinLnBrk="0" hangingPunct="1"/>
                      <a:r>
                        <a:rPr lang="zh-CN" altLang="en-US" sz="1100" kern="1200">
                          <a:solidFill>
                            <a:schemeClr val="dk1"/>
                          </a:solidFill>
                          <a:latin typeface="微软雅黑" charset="0"/>
                          <a:ea typeface="微软雅黑" charset="0"/>
                          <a:cs typeface="+mn-cs"/>
                        </a:rPr>
                        <a:t>系统架构</a:t>
                      </a:r>
                      <a:endParaRPr lang="zh-CN" altLang="en-US" sz="1100"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zh-CN" altLang="en-US" sz="1100">
                          <a:solidFill>
                            <a:schemeClr val="dk1"/>
                          </a:solidFill>
                          <a:latin typeface="微软雅黑" charset="0"/>
                          <a:ea typeface="微软雅黑" charset="0"/>
                          <a:sym typeface="+mn-ea"/>
                        </a:rPr>
                        <a:t>需求清单梳理</a:t>
                      </a:r>
                      <a:endParaRPr lang="zh-CN" altLang="en-US" sz="1100">
                        <a:solidFill>
                          <a:schemeClr val="dk1"/>
                        </a:solidFill>
                        <a:latin typeface="微软雅黑" charset="0"/>
                        <a:ea typeface="微软雅黑" charset="0"/>
                        <a:sym typeface="+mn-ea"/>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5</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11</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charset="0"/>
                          <a:ea typeface="微软雅黑" charset="0"/>
                          <a:cs typeface="微软雅黑" charset="0"/>
                        </a:rPr>
                        <a:t>2026</a:t>
                      </a:r>
                      <a:r>
                        <a:rPr lang="zh-TW" altLang="en-US" sz="1100" b="0" i="0" u="none" strike="noStrike">
                          <a:solidFill>
                            <a:schemeClr val="tx1"/>
                          </a:solidFill>
                          <a:effectLst/>
                          <a:latin typeface="微软雅黑" charset="0"/>
                          <a:ea typeface="微软雅黑" charset="0"/>
                          <a:cs typeface="微软雅黑" charset="0"/>
                        </a:rPr>
                        <a:t>年</a:t>
                      </a:r>
                      <a:r>
                        <a:rPr lang="en-US" altLang="zh-TW" sz="1100" b="0" i="0" u="none" strike="noStrike">
                          <a:solidFill>
                            <a:schemeClr val="tx1"/>
                          </a:solidFill>
                          <a:effectLst/>
                          <a:latin typeface="微软雅黑" charset="0"/>
                          <a:ea typeface="微软雅黑" charset="0"/>
                          <a:cs typeface="微软雅黑" charset="0"/>
                        </a:rPr>
                        <a:t>5</a:t>
                      </a:r>
                      <a:r>
                        <a:rPr lang="zh-TW" altLang="en-US" sz="1100" b="0" i="0" u="none" strike="noStrike">
                          <a:solidFill>
                            <a:schemeClr val="tx1"/>
                          </a:solidFill>
                          <a:effectLst/>
                          <a:latin typeface="微软雅黑" charset="0"/>
                          <a:ea typeface="微软雅黑" charset="0"/>
                          <a:cs typeface="微软雅黑" charset="0"/>
                        </a:rPr>
                        <a:t>月</a:t>
                      </a:r>
                      <a:r>
                        <a:rPr lang="en-US" altLang="zh-TW" sz="1100" b="0" i="0" u="none" strike="noStrike">
                          <a:solidFill>
                            <a:schemeClr val="tx1"/>
                          </a:solidFill>
                          <a:effectLst/>
                          <a:latin typeface="微软雅黑" charset="0"/>
                          <a:ea typeface="微软雅黑" charset="0"/>
                          <a:cs typeface="微软雅黑" charset="0"/>
                        </a:rPr>
                        <a:t>29</a:t>
                      </a:r>
                      <a:r>
                        <a:rPr lang="zh-TW" altLang="en-US" sz="1100" b="0" i="0" u="none" strike="noStrike">
                          <a:solidFill>
                            <a:schemeClr val="tx1"/>
                          </a:solidFill>
                          <a:effectLst/>
                          <a:latin typeface="微软雅黑" charset="0"/>
                          <a:ea typeface="微软雅黑" charset="0"/>
                          <a:cs typeface="微软雅黑" charset="0"/>
                        </a:rPr>
                        <a:t>日</a:t>
                      </a:r>
                      <a:endParaRPr lang="zh-TW" altLang="en-US" sz="1100" b="0" i="0" u="none" strike="noStrike">
                        <a:solidFill>
                          <a:schemeClr val="tx1"/>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3</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charset="0"/>
                          <a:ea typeface="微软雅黑" charset="0"/>
                        </a:rPr>
                        <a:t>W6</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charset="0"/>
                          <a:ea typeface="微软雅黑" charset="0"/>
                        </a:rPr>
                        <a:t>W8</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7335">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zh-CN" altLang="zh-TW" sz="1100" b="0" i="0" u="none" strike="noStrike">
                          <a:solidFill>
                            <a:srgbClr val="000000"/>
                          </a:solidFill>
                          <a:effectLst/>
                          <a:latin typeface="微软雅黑" charset="0"/>
                          <a:ea typeface="微软雅黑" charset="0"/>
                        </a:rPr>
                        <a:t>业务部门</a:t>
                      </a:r>
                      <a:r>
                        <a:rPr lang="zh-TW" altLang="en-US" sz="1100" b="0" i="0" u="none" strike="noStrike">
                          <a:solidFill>
                            <a:srgbClr val="000000"/>
                          </a:solidFill>
                          <a:effectLst/>
                          <a:latin typeface="微软雅黑" charset="0"/>
                          <a:ea typeface="微软雅黑" charset="0"/>
                        </a:rPr>
                        <a:t>确认</a:t>
                      </a:r>
                      <a:endParaRPr lang="zh-TW" altLang="en-US"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5</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25</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charset="0"/>
                          <a:ea typeface="微软雅黑" charset="0"/>
                          <a:cs typeface="微软雅黑" charset="0"/>
                        </a:rPr>
                        <a:t>2026</a:t>
                      </a:r>
                      <a:r>
                        <a:rPr lang="zh-TW" altLang="en-US" sz="1100" b="0" i="0" u="none" strike="noStrike">
                          <a:solidFill>
                            <a:schemeClr val="tx1"/>
                          </a:solidFill>
                          <a:effectLst/>
                          <a:latin typeface="微软雅黑" charset="0"/>
                          <a:ea typeface="微软雅黑" charset="0"/>
                          <a:cs typeface="微软雅黑" charset="0"/>
                        </a:rPr>
                        <a:t>年</a:t>
                      </a:r>
                      <a:r>
                        <a:rPr lang="en-US" altLang="zh-TW" sz="1100" b="0" i="0" u="none" strike="noStrike">
                          <a:solidFill>
                            <a:schemeClr val="tx1"/>
                          </a:solidFill>
                          <a:effectLst/>
                          <a:latin typeface="微软雅黑" charset="0"/>
                          <a:ea typeface="微软雅黑" charset="0"/>
                          <a:cs typeface="微软雅黑" charset="0"/>
                        </a:rPr>
                        <a:t>6</a:t>
                      </a:r>
                      <a:r>
                        <a:rPr lang="zh-TW" altLang="en-US" sz="1100" b="0" i="0" u="none" strike="noStrike">
                          <a:solidFill>
                            <a:schemeClr val="tx1"/>
                          </a:solidFill>
                          <a:effectLst/>
                          <a:latin typeface="微软雅黑" charset="0"/>
                          <a:ea typeface="微软雅黑" charset="0"/>
                          <a:cs typeface="微软雅黑" charset="0"/>
                        </a:rPr>
                        <a:t>月</a:t>
                      </a:r>
                      <a:r>
                        <a:rPr lang="en-US" altLang="zh-TW" sz="1100" b="0" i="0" u="none" strike="noStrike">
                          <a:solidFill>
                            <a:schemeClr val="tx1"/>
                          </a:solidFill>
                          <a:effectLst/>
                          <a:latin typeface="微软雅黑" charset="0"/>
                          <a:ea typeface="微软雅黑" charset="0"/>
                          <a:cs typeface="微软雅黑" charset="0"/>
                        </a:rPr>
                        <a:t>12</a:t>
                      </a:r>
                      <a:r>
                        <a:rPr lang="zh-TW" altLang="en-US" sz="1100" b="0" i="0" u="none" strike="noStrike">
                          <a:solidFill>
                            <a:schemeClr val="tx1"/>
                          </a:solidFill>
                          <a:effectLst/>
                          <a:latin typeface="微软雅黑" charset="0"/>
                          <a:ea typeface="微软雅黑" charset="0"/>
                          <a:cs typeface="微软雅黑" charset="0"/>
                        </a:rPr>
                        <a:t>日</a:t>
                      </a:r>
                      <a:endParaRPr lang="zh-TW" altLang="en-US" sz="1100" b="0" i="0" u="none" strike="noStrike">
                        <a:solidFill>
                          <a:schemeClr val="tx1"/>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charset="0"/>
                          <a:ea typeface="微软雅黑" charset="0"/>
                          <a:cs typeface="微软雅黑" charset="0"/>
                        </a:rPr>
                        <a:t>3</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charset="0"/>
                          <a:ea typeface="微软雅黑" charset="0"/>
                        </a:rPr>
                        <a:t>W8</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charset="0"/>
                          <a:ea typeface="微软雅黑" charset="0"/>
                        </a:rPr>
                        <a:t>W10</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7335">
                <a:tc rowSpan="5">
                  <a:txBody>
                    <a:bodyPr/>
                    <a:p>
                      <a:pPr algn="ctr" fontAlgn="b"/>
                      <a:r>
                        <a:rPr lang="zh-TW" altLang="en-US" sz="1100" b="1" i="0" u="none" strike="noStrike">
                          <a:solidFill>
                            <a:srgbClr val="000000"/>
                          </a:solidFill>
                          <a:effectLst/>
                          <a:latin typeface="微软雅黑" charset="0"/>
                          <a:ea typeface="微软雅黑" charset="0"/>
                        </a:rPr>
                        <a:t>蓝图设计</a:t>
                      </a:r>
                      <a:endParaRPr lang="zh-TW" altLang="en-US" sz="1100" b="1" i="0" u="none" strike="noStrike">
                        <a:solidFill>
                          <a:srgbClr val="000000"/>
                        </a:solidFill>
                        <a:effectLst/>
                        <a:latin typeface="微软雅黑" charset="0"/>
                        <a:ea typeface="微软雅黑" charset="0"/>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algn="ctr" defTabSz="843915" rtl="0" eaLnBrk="1" fontAlgn="b" latinLnBrk="0" hangingPunct="1"/>
                      <a:r>
                        <a:rPr lang="en-GB" sz="1100" b="1" kern="1200">
                          <a:solidFill>
                            <a:schemeClr val="dk1"/>
                          </a:solidFill>
                          <a:latin typeface="微软雅黑" charset="0"/>
                          <a:ea typeface="微软雅黑" charset="0"/>
                          <a:cs typeface="+mn-cs"/>
                        </a:rPr>
                        <a:t> /</a:t>
                      </a:r>
                      <a:endParaRPr lang="en-GB" sz="1100" b="1" kern="1200">
                        <a:solidFill>
                          <a:schemeClr val="dk1"/>
                        </a:solidFill>
                        <a:latin typeface="微软雅黑" charset="0"/>
                        <a:ea typeface="微软雅黑" charset="0"/>
                        <a:cs typeface="+mn-cs"/>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algn="ctr" defTabSz="843915" rtl="0" eaLnBrk="1" fontAlgn="b" latinLnBrk="0" hangingPunct="1"/>
                      <a:r>
                        <a:rPr lang="en-GB" sz="1100" b="1" kern="1200">
                          <a:solidFill>
                            <a:schemeClr val="dk1"/>
                          </a:solidFill>
                          <a:latin typeface="微软雅黑" charset="0"/>
                          <a:ea typeface="微软雅黑" charset="0"/>
                          <a:cs typeface="+mn-cs"/>
                        </a:rPr>
                        <a:t>/ </a:t>
                      </a:r>
                      <a:endParaRPr lang="en-GB" sz="1100" b="1"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kern="1200">
                          <a:solidFill>
                            <a:srgbClr val="C00000"/>
                          </a:solidFill>
                          <a:latin typeface="微软雅黑" charset="0"/>
                          <a:ea typeface="微软雅黑" charset="0"/>
                          <a:cs typeface="微软雅黑" charset="0"/>
                        </a:rPr>
                        <a:t>2026</a:t>
                      </a:r>
                      <a:r>
                        <a:rPr lang="zh-TW" altLang="en-US" sz="1100" b="1" kern="1200">
                          <a:solidFill>
                            <a:srgbClr val="C00000"/>
                          </a:solidFill>
                          <a:latin typeface="微软雅黑" charset="0"/>
                          <a:ea typeface="微软雅黑" charset="0"/>
                          <a:cs typeface="微软雅黑" charset="0"/>
                        </a:rPr>
                        <a:t>年</a:t>
                      </a:r>
                      <a:r>
                        <a:rPr lang="en-US" altLang="zh-TW" sz="1100" b="1" kern="1200">
                          <a:solidFill>
                            <a:srgbClr val="C00000"/>
                          </a:solidFill>
                          <a:latin typeface="微软雅黑" charset="0"/>
                          <a:ea typeface="微软雅黑" charset="0"/>
                          <a:cs typeface="微软雅黑" charset="0"/>
                        </a:rPr>
                        <a:t>6</a:t>
                      </a:r>
                      <a:r>
                        <a:rPr lang="zh-TW" altLang="en-US" sz="1100" b="1" kern="1200">
                          <a:solidFill>
                            <a:srgbClr val="C00000"/>
                          </a:solidFill>
                          <a:latin typeface="微软雅黑" charset="0"/>
                          <a:ea typeface="微软雅黑" charset="0"/>
                          <a:cs typeface="微软雅黑" charset="0"/>
                        </a:rPr>
                        <a:t>月</a:t>
                      </a:r>
                      <a:r>
                        <a:rPr lang="en-US" altLang="zh-TW" sz="1100" b="1" kern="1200">
                          <a:solidFill>
                            <a:srgbClr val="C00000"/>
                          </a:solidFill>
                          <a:latin typeface="微软雅黑" charset="0"/>
                          <a:ea typeface="微软雅黑" charset="0"/>
                          <a:cs typeface="微软雅黑" charset="0"/>
                        </a:rPr>
                        <a:t>1</a:t>
                      </a:r>
                      <a:r>
                        <a:rPr lang="zh-TW" altLang="en-US" sz="1100" b="1" kern="1200">
                          <a:solidFill>
                            <a:srgbClr val="C00000"/>
                          </a:solidFill>
                          <a:latin typeface="微软雅黑" charset="0"/>
                          <a:ea typeface="微软雅黑" charset="0"/>
                          <a:cs typeface="微软雅黑" charset="0"/>
                        </a:rPr>
                        <a:t>日</a:t>
                      </a:r>
                      <a:endParaRPr lang="zh-TW" altLang="en-US" sz="1100" b="1" kern="1200">
                        <a:solidFill>
                          <a:srgbClr val="C00000"/>
                        </a:solidFill>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kern="1200">
                          <a:solidFill>
                            <a:srgbClr val="C00000"/>
                          </a:solidFill>
                          <a:latin typeface="微软雅黑" charset="0"/>
                          <a:ea typeface="微软雅黑" charset="0"/>
                          <a:cs typeface="微软雅黑" charset="0"/>
                        </a:rPr>
                        <a:t>2026</a:t>
                      </a:r>
                      <a:r>
                        <a:rPr lang="zh-TW" altLang="en-US" sz="1100" b="1" kern="1200">
                          <a:solidFill>
                            <a:srgbClr val="C00000"/>
                          </a:solidFill>
                          <a:latin typeface="微软雅黑" charset="0"/>
                          <a:ea typeface="微软雅黑" charset="0"/>
                          <a:cs typeface="微软雅黑" charset="0"/>
                        </a:rPr>
                        <a:t>年</a:t>
                      </a:r>
                      <a:r>
                        <a:rPr lang="en-US" altLang="zh-TW" sz="1100" b="1" kern="1200">
                          <a:solidFill>
                            <a:srgbClr val="C00000"/>
                          </a:solidFill>
                          <a:latin typeface="微软雅黑" charset="0"/>
                          <a:ea typeface="微软雅黑" charset="0"/>
                          <a:cs typeface="微软雅黑" charset="0"/>
                        </a:rPr>
                        <a:t>8</a:t>
                      </a:r>
                      <a:r>
                        <a:rPr lang="zh-TW" altLang="en-US" sz="1100" b="1" kern="1200">
                          <a:solidFill>
                            <a:srgbClr val="C00000"/>
                          </a:solidFill>
                          <a:latin typeface="微软雅黑" charset="0"/>
                          <a:ea typeface="微软雅黑" charset="0"/>
                          <a:cs typeface="微软雅黑" charset="0"/>
                        </a:rPr>
                        <a:t>月</a:t>
                      </a:r>
                      <a:r>
                        <a:rPr lang="en-US" altLang="zh-TW" sz="1100" b="1" kern="1200">
                          <a:solidFill>
                            <a:srgbClr val="C00000"/>
                          </a:solidFill>
                          <a:latin typeface="微软雅黑" charset="0"/>
                          <a:ea typeface="微软雅黑" charset="0"/>
                          <a:cs typeface="微软雅黑" charset="0"/>
                        </a:rPr>
                        <a:t>28</a:t>
                      </a:r>
                      <a:r>
                        <a:rPr lang="zh-TW" altLang="en-US" sz="1100" b="1" kern="1200">
                          <a:solidFill>
                            <a:srgbClr val="C00000"/>
                          </a:solidFill>
                          <a:latin typeface="微软雅黑" charset="0"/>
                          <a:ea typeface="微软雅黑" charset="0"/>
                          <a:cs typeface="微软雅黑" charset="0"/>
                        </a:rPr>
                        <a:t>日</a:t>
                      </a:r>
                      <a:endParaRPr lang="zh-TW" altLang="en-US" sz="1100" b="1" kern="1200">
                        <a:solidFill>
                          <a:srgbClr val="C00000"/>
                        </a:solidFill>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kern="1200">
                          <a:solidFill>
                            <a:srgbClr val="C00000"/>
                          </a:solidFill>
                          <a:latin typeface="微软雅黑" charset="0"/>
                          <a:ea typeface="微软雅黑" charset="0"/>
                          <a:cs typeface="微软雅黑" charset="0"/>
                        </a:rPr>
                        <a:t>14</a:t>
                      </a:r>
                      <a:r>
                        <a:rPr lang="zh-TW" altLang="en-US" sz="1100" b="1" kern="1200">
                          <a:solidFill>
                            <a:srgbClr val="C00000"/>
                          </a:solidFill>
                          <a:latin typeface="微软雅黑" charset="0"/>
                          <a:ea typeface="微软雅黑" charset="0"/>
                          <a:cs typeface="微软雅黑" charset="0"/>
                        </a:rPr>
                        <a:t>周</a:t>
                      </a:r>
                      <a:endParaRPr lang="zh-TW" altLang="en-US" sz="1100" b="1" kern="1200">
                        <a:solidFill>
                          <a:srgbClr val="C00000"/>
                        </a:solidFill>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GB" sz="1100" b="1" kern="1200">
                          <a:solidFill>
                            <a:srgbClr val="C00000"/>
                          </a:solidFill>
                          <a:latin typeface="微软雅黑" charset="0"/>
                          <a:ea typeface="微软雅黑" charset="0"/>
                          <a:cs typeface="+mn-cs"/>
                        </a:rPr>
                        <a:t>W9</a:t>
                      </a:r>
                      <a:endParaRPr lang="en-GB" sz="1100" b="1" kern="1200">
                        <a:solidFill>
                          <a:srgbClr val="C00000"/>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GB" sz="1100" b="1" kern="1200">
                          <a:solidFill>
                            <a:srgbClr val="C00000"/>
                          </a:solidFill>
                          <a:latin typeface="微软雅黑" charset="0"/>
                          <a:ea typeface="微软雅黑" charset="0"/>
                          <a:cs typeface="+mn-cs"/>
                        </a:rPr>
                        <a:t>W22</a:t>
                      </a:r>
                      <a:endParaRPr lang="en-GB" sz="1100" b="1" kern="1200">
                        <a:solidFill>
                          <a:srgbClr val="C00000"/>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marR="0" lvl="0" indent="0" algn="ctr" defTabSz="914400" rtl="0" eaLnBrk="1" fontAlgn="ctr" latinLnBrk="0" hangingPunct="1">
                        <a:lnSpc>
                          <a:spcPct val="100000"/>
                        </a:lnSpc>
                        <a:spcBef>
                          <a:spcPts val="0"/>
                        </a:spcBef>
                        <a:spcAft>
                          <a:spcPts val="0"/>
                        </a:spcAft>
                        <a:buClrTx/>
                        <a:buSzTx/>
                        <a:buFontTx/>
                        <a:buNone/>
                        <a:defRPr/>
                      </a:pPr>
                      <a:r>
                        <a:rPr lang="en-US" sz="1100" b="1">
                          <a:solidFill>
                            <a:schemeClr val="dk1"/>
                          </a:solidFill>
                          <a:latin typeface="微软雅黑" charset="0"/>
                          <a:ea typeface="微软雅黑" charset="0"/>
                          <a:cs typeface="微软雅黑" charset="0"/>
                          <a:sym typeface="+mn-ea"/>
                        </a:rPr>
                        <a:t>2026年6月1日</a:t>
                      </a:r>
                      <a:endParaRPr lang="en-US" sz="1100" b="0" kern="1200">
                        <a:solidFill>
                          <a:schemeClr val="tx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marR="0" lvl="0" indent="0" algn="ctr" defTabSz="914400" rtl="0" eaLnBrk="1" fontAlgn="b" latinLnBrk="0" hangingPunct="1">
                        <a:lnSpc>
                          <a:spcPct val="100000"/>
                        </a:lnSpc>
                        <a:spcBef>
                          <a:spcPts val="0"/>
                        </a:spcBef>
                        <a:spcAft>
                          <a:spcPts val="0"/>
                        </a:spcAft>
                        <a:buClrTx/>
                        <a:buSzTx/>
                        <a:buFontTx/>
                        <a:buNone/>
                        <a:defRPr/>
                      </a:pPr>
                      <a:r>
                        <a:rPr lang="en-US" sz="1100" b="1">
                          <a:solidFill>
                            <a:schemeClr val="dk1"/>
                          </a:solidFill>
                          <a:latin typeface="微软雅黑" charset="0"/>
                          <a:ea typeface="微软雅黑" charset="0"/>
                          <a:sym typeface="+mn-ea"/>
                        </a:rPr>
                        <a:t>进行中</a:t>
                      </a:r>
                      <a:endParaRPr lang="en-US" sz="1100" b="0" kern="1200">
                        <a:solidFill>
                          <a:schemeClr val="tx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66700">
                <a:tc vMerge="1">
                  <a:tcPr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rowSpan="2">
                  <a:txBody>
                    <a:bodyPr/>
                    <a:p>
                      <a:pPr algn="ctr" fontAlgn="t">
                        <a:buNone/>
                      </a:pPr>
                      <a:r>
                        <a:rPr lang="zh-CN" altLang="en-US" sz="1100" b="0" i="0" u="none" strike="noStrike">
                          <a:solidFill>
                            <a:srgbClr val="000000"/>
                          </a:solidFill>
                          <a:effectLst/>
                          <a:latin typeface="微软雅黑" charset="0"/>
                          <a:ea typeface="微软雅黑" charset="0"/>
                          <a:cs typeface="微软雅黑" charset="0"/>
                        </a:rPr>
                        <a:t>蓝图（初）</a:t>
                      </a:r>
                      <a:endParaRPr lang="en-US" altLang="zh-CN" sz="1100" b="0" i="0" u="none" strike="noStrike">
                        <a:solidFill>
                          <a:srgbClr val="000000"/>
                        </a:solidFill>
                        <a:effectLst/>
                        <a:latin typeface="微软雅黑" charset="0"/>
                        <a:ea typeface="微软雅黑" charset="0"/>
                        <a:cs typeface="微软雅黑" charset="0"/>
                      </a:endParaRPr>
                    </a:p>
                    <a:p>
                      <a:pPr algn="ctr" fontAlgn="t">
                        <a:buNone/>
                      </a:pPr>
                      <a:r>
                        <a:rPr lang="en-US" altLang="zh-CN" sz="1100" b="0" i="0" u="none" strike="noStrike">
                          <a:solidFill>
                            <a:srgbClr val="000000"/>
                          </a:solidFill>
                          <a:effectLst/>
                          <a:latin typeface="微软雅黑" charset="0"/>
                          <a:ea typeface="微软雅黑" charset="0"/>
                          <a:cs typeface="微软雅黑" charset="0"/>
                        </a:rPr>
                        <a:t>+</a:t>
                      </a:r>
                      <a:r>
                        <a:rPr lang="zh-CN" altLang="en-US" sz="1100" b="0" i="0" u="none" strike="noStrike">
                          <a:solidFill>
                            <a:srgbClr val="000000"/>
                          </a:solidFill>
                          <a:effectLst/>
                          <a:latin typeface="微软雅黑" charset="0"/>
                          <a:ea typeface="微软雅黑" charset="0"/>
                          <a:cs typeface="微软雅黑" charset="0"/>
                        </a:rPr>
                        <a:t>原型</a:t>
                      </a:r>
                      <a:endParaRPr lang="zh-CN"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zh-TW" altLang="en-US" sz="1100" b="0" i="0" u="none" strike="noStrike">
                          <a:solidFill>
                            <a:srgbClr val="000000"/>
                          </a:solidFill>
                          <a:effectLst/>
                          <a:latin typeface="微软雅黑" charset="0"/>
                          <a:ea typeface="微软雅黑" charset="0"/>
                        </a:rPr>
                        <a:t>编写及绘制</a:t>
                      </a:r>
                      <a:endParaRPr lang="zh-TW" altLang="en-US"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6</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1</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7</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3</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5</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W9</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W1</a:t>
                      </a:r>
                      <a:r>
                        <a:rPr lang="en-US" altLang="en-GB" sz="1100" b="0" i="0" u="none" strike="noStrike">
                          <a:solidFill>
                            <a:srgbClr val="000000"/>
                          </a:solidFill>
                          <a:effectLst/>
                          <a:latin typeface="微软雅黑" charset="0"/>
                          <a:ea typeface="微软雅黑" charset="0"/>
                        </a:rPr>
                        <a:t>3</a:t>
                      </a:r>
                      <a:endParaRPr lang="en-US" alt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4" gridSpan="2">
                  <a:txBody>
                    <a:bodyPr/>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微软雅黑" charset="0"/>
                          <a:ea typeface="微软雅黑" charset="0"/>
                          <a:cs typeface="+mn-cs"/>
                        </a:rPr>
                        <a:t>交付物：</a:t>
                      </a:r>
                      <a:endParaRPr lang="en-US" altLang="zh-CN" sz="1100" b="1" kern="1200">
                        <a:solidFill>
                          <a:schemeClr val="dk1"/>
                        </a:solidFill>
                        <a:latin typeface="微软雅黑" charset="0"/>
                        <a:ea typeface="微软雅黑" charset="0"/>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微软雅黑" charset="0"/>
                          <a:ea typeface="微软雅黑" charset="0"/>
                          <a:cs typeface="+mn-cs"/>
                        </a:rPr>
                        <a:t>《</a:t>
                      </a:r>
                      <a:r>
                        <a:rPr lang="zh-CN" altLang="en-US" sz="1100" kern="1200">
                          <a:solidFill>
                            <a:schemeClr val="dk1"/>
                          </a:solidFill>
                          <a:latin typeface="微软雅黑" charset="0"/>
                          <a:ea typeface="微软雅黑" charset="0"/>
                          <a:cs typeface="+mn-cs"/>
                        </a:rPr>
                        <a:t>功能说明书（蓝图方案）</a:t>
                      </a:r>
                      <a:r>
                        <a:rPr lang="en-US" altLang="zh-CN" sz="1100" kern="1200">
                          <a:solidFill>
                            <a:schemeClr val="dk1"/>
                          </a:solidFill>
                          <a:latin typeface="微软雅黑" charset="0"/>
                          <a:ea typeface="微软雅黑" charset="0"/>
                          <a:cs typeface="+mn-cs"/>
                        </a:rPr>
                        <a:t>》</a:t>
                      </a:r>
                      <a:endParaRPr lang="en-US" altLang="zh-CN" sz="1100" kern="1200">
                        <a:solidFill>
                          <a:schemeClr val="dk1"/>
                        </a:solidFill>
                        <a:latin typeface="微软雅黑" charset="0"/>
                        <a:ea typeface="微软雅黑" charset="0"/>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微软雅黑" charset="0"/>
                          <a:ea typeface="微软雅黑" charset="0"/>
                          <a:cs typeface="+mn-cs"/>
                        </a:rPr>
                        <a:t>《</a:t>
                      </a:r>
                      <a:r>
                        <a:rPr lang="zh-CN" altLang="en-US" sz="1100" kern="1200">
                          <a:solidFill>
                            <a:schemeClr val="dk1"/>
                          </a:solidFill>
                          <a:latin typeface="微软雅黑" charset="0"/>
                          <a:ea typeface="微软雅黑" charset="0"/>
                          <a:cs typeface="+mn-cs"/>
                        </a:rPr>
                        <a:t>原型设计</a:t>
                      </a:r>
                      <a:r>
                        <a:rPr lang="en-US" altLang="zh-CN" sz="1100" kern="1200">
                          <a:solidFill>
                            <a:schemeClr val="dk1"/>
                          </a:solidFill>
                          <a:latin typeface="微软雅黑" charset="0"/>
                          <a:ea typeface="微软雅黑" charset="0"/>
                          <a:cs typeface="+mn-cs"/>
                        </a:rPr>
                        <a:t>》</a:t>
                      </a:r>
                      <a:endParaRPr lang="en-US" altLang="zh-CN" sz="1100" kern="1200">
                        <a:solidFill>
                          <a:schemeClr val="dk1"/>
                        </a:solidFill>
                        <a:latin typeface="微软雅黑" charset="0"/>
                        <a:ea typeface="微软雅黑" charset="0"/>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微软雅黑" charset="0"/>
                          <a:ea typeface="微软雅黑" charset="0"/>
                          <a:cs typeface="+mn-cs"/>
                        </a:rPr>
                        <a:t>《</a:t>
                      </a:r>
                      <a:r>
                        <a:rPr lang="zh-CN" altLang="en-US" sz="1100" kern="1200">
                          <a:solidFill>
                            <a:schemeClr val="dk1"/>
                          </a:solidFill>
                          <a:latin typeface="微软雅黑" charset="0"/>
                          <a:ea typeface="微软雅黑" charset="0"/>
                          <a:cs typeface="+mn-cs"/>
                        </a:rPr>
                        <a:t>项目方案设计评审</a:t>
                      </a:r>
                      <a:r>
                        <a:rPr lang="en-US" altLang="zh-CN" sz="1100" kern="1200">
                          <a:solidFill>
                            <a:schemeClr val="dk1"/>
                          </a:solidFill>
                          <a:latin typeface="微软雅黑" charset="0"/>
                          <a:ea typeface="微软雅黑" charset="0"/>
                          <a:cs typeface="+mn-cs"/>
                        </a:rPr>
                        <a:t>》</a:t>
                      </a:r>
                      <a:r>
                        <a:rPr lang="zh-CN" altLang="en-US" sz="1100" kern="1200">
                          <a:solidFill>
                            <a:schemeClr val="dk1"/>
                          </a:solidFill>
                          <a:latin typeface="微软雅黑" charset="0"/>
                          <a:ea typeface="微软雅黑" charset="0"/>
                          <a:cs typeface="+mn-cs"/>
                        </a:rPr>
                        <a:t>汇报材料</a:t>
                      </a:r>
                      <a:endParaRPr lang="en-GB" sz="1100"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4"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7335">
                <a:tc vMerge="1">
                  <a:tcPr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zh-CN" altLang="en-US" sz="1100" b="0" i="0" u="none" strike="noStrike" kern="1200">
                          <a:solidFill>
                            <a:srgbClr val="000000"/>
                          </a:solidFill>
                          <a:effectLst/>
                          <a:latin typeface="微软雅黑" charset="0"/>
                          <a:ea typeface="微软雅黑" charset="0"/>
                          <a:cs typeface="+mn-cs"/>
                        </a:rPr>
                        <a:t>业务部门确认</a:t>
                      </a:r>
                      <a:endParaRPr lang="zh-CN" altLang="en-US" sz="1100" b="0" i="0" u="none" strike="noStrike" kern="1200">
                        <a:solidFill>
                          <a:srgbClr val="000000"/>
                        </a:solidFill>
                        <a:effectLst/>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6</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29</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7</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24</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4</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W13</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W1</a:t>
                      </a:r>
                      <a:r>
                        <a:rPr lang="en-US" altLang="en-GB" sz="1100" b="0" i="0" u="none" strike="noStrike">
                          <a:solidFill>
                            <a:srgbClr val="000000"/>
                          </a:solidFill>
                          <a:effectLst/>
                          <a:latin typeface="微软雅黑" charset="0"/>
                          <a:ea typeface="微软雅黑" charset="0"/>
                        </a:rPr>
                        <a:t>6</a:t>
                      </a:r>
                      <a:endParaRPr lang="en-US" alt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7335">
                <a:tc vMerge="1">
                  <a:tcPr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rowSpan="2">
                  <a:txBody>
                    <a:bodyPr/>
                    <a:p>
                      <a:pPr algn="ctr" fontAlgn="t">
                        <a:buNone/>
                      </a:pPr>
                      <a:r>
                        <a:rPr lang="zh-TW" altLang="en-US" sz="1100" b="0" i="0" u="none" strike="noStrike">
                          <a:solidFill>
                            <a:srgbClr val="000000"/>
                          </a:solidFill>
                          <a:effectLst/>
                          <a:latin typeface="微软雅黑" charset="0"/>
                          <a:ea typeface="微软雅黑" charset="0"/>
                        </a:rPr>
                        <a:t>蓝图（定）</a:t>
                      </a:r>
                      <a:endParaRPr lang="zh-TW" altLang="en-US" sz="1100" b="0" i="0" u="none" strike="noStrike">
                        <a:solidFill>
                          <a:srgbClr val="000000"/>
                        </a:solidFill>
                        <a:effectLst/>
                        <a:latin typeface="微软雅黑" charset="0"/>
                        <a:ea typeface="微软雅黑" charset="0"/>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zh-TW" altLang="en-US" sz="1100" b="0" i="0" u="none" strike="noStrike">
                          <a:solidFill>
                            <a:srgbClr val="000000"/>
                          </a:solidFill>
                          <a:effectLst/>
                          <a:latin typeface="微软雅黑" charset="0"/>
                          <a:ea typeface="微软雅黑" charset="0"/>
                        </a:rPr>
                        <a:t>专家评审</a:t>
                      </a:r>
                      <a:endParaRPr lang="zh-TW" altLang="en-US"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7</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20</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1" i="0" u="none" strike="noStrike">
                          <a:solidFill>
                            <a:schemeClr val="accent1"/>
                          </a:solidFill>
                          <a:effectLst/>
                          <a:latin typeface="微软雅黑" charset="0"/>
                          <a:ea typeface="微软雅黑" charset="0"/>
                          <a:cs typeface="微软雅黑" charset="0"/>
                        </a:rPr>
                        <a:t>2026</a:t>
                      </a:r>
                      <a:r>
                        <a:rPr lang="zh-TW" altLang="en-US" sz="1100" b="1" i="0" u="none" strike="noStrike">
                          <a:solidFill>
                            <a:schemeClr val="accent1"/>
                          </a:solidFill>
                          <a:effectLst/>
                          <a:latin typeface="微软雅黑" charset="0"/>
                          <a:ea typeface="微软雅黑" charset="0"/>
                          <a:cs typeface="微软雅黑" charset="0"/>
                        </a:rPr>
                        <a:t>年</a:t>
                      </a:r>
                      <a:r>
                        <a:rPr lang="en-US" altLang="zh-TW" sz="1100" b="1" i="0" u="none" strike="noStrike">
                          <a:solidFill>
                            <a:schemeClr val="accent1"/>
                          </a:solidFill>
                          <a:effectLst/>
                          <a:latin typeface="微软雅黑" charset="0"/>
                          <a:ea typeface="微软雅黑" charset="0"/>
                          <a:cs typeface="微软雅黑" charset="0"/>
                        </a:rPr>
                        <a:t>7</a:t>
                      </a:r>
                      <a:r>
                        <a:rPr lang="zh-TW" altLang="en-US" sz="1100" b="1" i="0" u="none" strike="noStrike">
                          <a:solidFill>
                            <a:schemeClr val="accent1"/>
                          </a:solidFill>
                          <a:effectLst/>
                          <a:latin typeface="微软雅黑" charset="0"/>
                          <a:ea typeface="微软雅黑" charset="0"/>
                          <a:cs typeface="微软雅黑" charset="0"/>
                        </a:rPr>
                        <a:t>月</a:t>
                      </a:r>
                      <a:r>
                        <a:rPr lang="en-US" altLang="zh-TW" sz="1100" b="1" i="0" u="none" strike="noStrike">
                          <a:solidFill>
                            <a:schemeClr val="accent1"/>
                          </a:solidFill>
                          <a:effectLst/>
                          <a:latin typeface="微软雅黑" charset="0"/>
                          <a:ea typeface="微软雅黑" charset="0"/>
                          <a:cs typeface="微软雅黑" charset="0"/>
                        </a:rPr>
                        <a:t>31</a:t>
                      </a:r>
                      <a:r>
                        <a:rPr lang="zh-TW" altLang="en-US" sz="1100" b="1" i="0" u="none" strike="noStrike">
                          <a:solidFill>
                            <a:schemeClr val="accent1"/>
                          </a:solidFill>
                          <a:effectLst/>
                          <a:latin typeface="微软雅黑" charset="0"/>
                          <a:ea typeface="微软雅黑" charset="0"/>
                          <a:cs typeface="微软雅黑" charset="0"/>
                        </a:rPr>
                        <a:t>日</a:t>
                      </a:r>
                      <a:endParaRPr lang="zh-TW" altLang="en-US" sz="1100" b="1" i="0" u="none" strike="noStrike">
                        <a:solidFill>
                          <a:schemeClr val="accent1"/>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W16</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W17</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7335">
                <a:tc vMerge="1">
                  <a:tcPr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zh-TW" altLang="en-US" sz="1100" b="0" i="0" u="none" strike="noStrike">
                          <a:solidFill>
                            <a:srgbClr val="000000"/>
                          </a:solidFill>
                          <a:effectLst/>
                          <a:latin typeface="微软雅黑" charset="0"/>
                          <a:ea typeface="微软雅黑" charset="0"/>
                        </a:rPr>
                        <a:t>集团评审</a:t>
                      </a:r>
                      <a:endParaRPr lang="zh-TW" altLang="en-US"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2026</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8</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3</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1" i="0" u="none" strike="noStrike">
                          <a:solidFill>
                            <a:schemeClr val="accent1"/>
                          </a:solidFill>
                          <a:effectLst/>
                          <a:latin typeface="微软雅黑" charset="0"/>
                          <a:ea typeface="微软雅黑" charset="0"/>
                          <a:cs typeface="微软雅黑" charset="0"/>
                        </a:rPr>
                        <a:t>2026</a:t>
                      </a:r>
                      <a:r>
                        <a:rPr lang="zh-TW" altLang="en-US" sz="1100" b="1" i="0" u="none" strike="noStrike">
                          <a:solidFill>
                            <a:schemeClr val="accent1"/>
                          </a:solidFill>
                          <a:effectLst/>
                          <a:latin typeface="微软雅黑" charset="0"/>
                          <a:ea typeface="微软雅黑" charset="0"/>
                          <a:cs typeface="微软雅黑" charset="0"/>
                        </a:rPr>
                        <a:t>年</a:t>
                      </a:r>
                      <a:r>
                        <a:rPr lang="en-US" altLang="zh-TW" sz="1100" b="1" i="0" u="none" strike="noStrike">
                          <a:solidFill>
                            <a:schemeClr val="accent1"/>
                          </a:solidFill>
                          <a:effectLst/>
                          <a:latin typeface="微软雅黑" charset="0"/>
                          <a:ea typeface="微软雅黑" charset="0"/>
                          <a:cs typeface="微软雅黑" charset="0"/>
                        </a:rPr>
                        <a:t>8</a:t>
                      </a:r>
                      <a:r>
                        <a:rPr lang="zh-TW" altLang="en-US" sz="1100" b="1" i="0" u="none" strike="noStrike">
                          <a:solidFill>
                            <a:schemeClr val="accent1"/>
                          </a:solidFill>
                          <a:effectLst/>
                          <a:latin typeface="微软雅黑" charset="0"/>
                          <a:ea typeface="微软雅黑" charset="0"/>
                          <a:cs typeface="微软雅黑" charset="0"/>
                        </a:rPr>
                        <a:t>月</a:t>
                      </a:r>
                      <a:r>
                        <a:rPr lang="en-US" altLang="zh-TW" sz="1100" b="1" i="0" u="none" strike="noStrike">
                          <a:solidFill>
                            <a:schemeClr val="accent1"/>
                          </a:solidFill>
                          <a:effectLst/>
                          <a:latin typeface="微软雅黑" charset="0"/>
                          <a:ea typeface="微软雅黑" charset="0"/>
                          <a:cs typeface="微软雅黑" charset="0"/>
                        </a:rPr>
                        <a:t>28</a:t>
                      </a:r>
                      <a:r>
                        <a:rPr lang="zh-TW" altLang="en-US" sz="1100" b="1" i="0" u="none" strike="noStrike">
                          <a:solidFill>
                            <a:schemeClr val="accent1"/>
                          </a:solidFill>
                          <a:effectLst/>
                          <a:latin typeface="微软雅黑" charset="0"/>
                          <a:ea typeface="微软雅黑" charset="0"/>
                          <a:cs typeface="微软雅黑" charset="0"/>
                        </a:rPr>
                        <a:t>日</a:t>
                      </a:r>
                      <a:endParaRPr lang="zh-TW" altLang="en-US" sz="1100" b="1" i="0" u="none" strike="noStrike">
                        <a:solidFill>
                          <a:schemeClr val="accent1"/>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4</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W18</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W21</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7335">
                <a:tc rowSpan="3">
                  <a:txBody>
                    <a:bodyPr/>
                    <a:p>
                      <a:pPr algn="ctr" fontAlgn="b">
                        <a:buNone/>
                      </a:pPr>
                      <a:r>
                        <a:rPr lang="zh-CN" altLang="zh-TW" sz="1100" b="1">
                          <a:solidFill>
                            <a:srgbClr val="000000"/>
                          </a:solidFill>
                          <a:effectLst/>
                          <a:latin typeface="微软雅黑" charset="0"/>
                          <a:ea typeface="微软雅黑" charset="0"/>
                          <a:sym typeface="+mn-ea"/>
                        </a:rPr>
                        <a:t>开发</a:t>
                      </a:r>
                      <a:endParaRPr lang="zh-CN" altLang="zh-TW" sz="1100" b="1">
                        <a:solidFill>
                          <a:srgbClr val="000000"/>
                        </a:solidFill>
                        <a:effectLst/>
                        <a:latin typeface="微软雅黑" charset="0"/>
                        <a:ea typeface="微软雅黑" charset="0"/>
                        <a:sym typeface="+mn-ea"/>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algn="ctr" defTabSz="843915" rtl="0" eaLnBrk="1" fontAlgn="b" latinLnBrk="0" hangingPunct="1"/>
                      <a:r>
                        <a:rPr lang="en-GB" sz="1100" b="1" kern="1200">
                          <a:solidFill>
                            <a:schemeClr val="dk1"/>
                          </a:solidFill>
                          <a:latin typeface="微软雅黑" charset="0"/>
                          <a:ea typeface="微软雅黑" charset="0"/>
                          <a:cs typeface="+mn-cs"/>
                        </a:rPr>
                        <a:t> /</a:t>
                      </a:r>
                      <a:endParaRPr lang="en-GB" sz="1100" b="1" kern="1200">
                        <a:solidFill>
                          <a:schemeClr val="dk1"/>
                        </a:solidFill>
                        <a:latin typeface="微软雅黑" charset="0"/>
                        <a:ea typeface="微软雅黑" charset="0"/>
                        <a:cs typeface="+mn-cs"/>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algn="ctr" defTabSz="843915" rtl="0" eaLnBrk="1" fontAlgn="b" latinLnBrk="0" hangingPunct="1"/>
                      <a:r>
                        <a:rPr lang="en-GB" sz="1100" b="1" kern="1200">
                          <a:solidFill>
                            <a:schemeClr val="dk1"/>
                          </a:solidFill>
                          <a:latin typeface="微软雅黑" charset="0"/>
                          <a:ea typeface="微软雅黑" charset="0"/>
                          <a:cs typeface="+mn-cs"/>
                        </a:rPr>
                        <a:t>/ </a:t>
                      </a:r>
                      <a:endParaRPr lang="en-GB" sz="1100" b="1"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kern="1200">
                          <a:solidFill>
                            <a:srgbClr val="C00000"/>
                          </a:solidFill>
                          <a:latin typeface="微软雅黑" charset="0"/>
                          <a:ea typeface="微软雅黑" charset="0"/>
                          <a:cs typeface="微软雅黑" charset="0"/>
                        </a:rPr>
                        <a:t>2026</a:t>
                      </a:r>
                      <a:r>
                        <a:rPr lang="zh-TW" altLang="en-US" sz="1100" b="1" kern="1200">
                          <a:solidFill>
                            <a:srgbClr val="C00000"/>
                          </a:solidFill>
                          <a:latin typeface="微软雅黑" charset="0"/>
                          <a:ea typeface="微软雅黑" charset="0"/>
                          <a:cs typeface="微软雅黑" charset="0"/>
                        </a:rPr>
                        <a:t>年</a:t>
                      </a:r>
                      <a:r>
                        <a:rPr lang="en-US" altLang="zh-TW" sz="1100" b="1" kern="1200">
                          <a:solidFill>
                            <a:srgbClr val="C00000"/>
                          </a:solidFill>
                          <a:latin typeface="微软雅黑" charset="0"/>
                          <a:ea typeface="微软雅黑" charset="0"/>
                          <a:cs typeface="微软雅黑" charset="0"/>
                        </a:rPr>
                        <a:t>6</a:t>
                      </a:r>
                      <a:r>
                        <a:rPr lang="zh-TW" altLang="en-US" sz="1100" b="1" kern="1200">
                          <a:solidFill>
                            <a:srgbClr val="C00000"/>
                          </a:solidFill>
                          <a:latin typeface="微软雅黑" charset="0"/>
                          <a:ea typeface="微软雅黑" charset="0"/>
                          <a:cs typeface="微软雅黑" charset="0"/>
                        </a:rPr>
                        <a:t>月</a:t>
                      </a:r>
                      <a:r>
                        <a:rPr lang="en-US" altLang="zh-TW" sz="1100" b="1" kern="1200">
                          <a:solidFill>
                            <a:srgbClr val="C00000"/>
                          </a:solidFill>
                          <a:latin typeface="微软雅黑" charset="0"/>
                          <a:ea typeface="微软雅黑" charset="0"/>
                          <a:cs typeface="微软雅黑" charset="0"/>
                        </a:rPr>
                        <a:t>29</a:t>
                      </a:r>
                      <a:r>
                        <a:rPr lang="zh-TW" altLang="en-US" sz="1100" b="1" kern="1200">
                          <a:solidFill>
                            <a:srgbClr val="C00000"/>
                          </a:solidFill>
                          <a:latin typeface="微软雅黑" charset="0"/>
                          <a:ea typeface="微软雅黑" charset="0"/>
                          <a:cs typeface="微软雅黑" charset="0"/>
                        </a:rPr>
                        <a:t>日</a:t>
                      </a:r>
                      <a:endParaRPr lang="zh-TW" altLang="en-US" sz="1100" b="1" kern="1200">
                        <a:solidFill>
                          <a:srgbClr val="C00000"/>
                        </a:solidFill>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kern="1200">
                          <a:solidFill>
                            <a:srgbClr val="C00000"/>
                          </a:solidFill>
                          <a:latin typeface="微软雅黑" charset="0"/>
                          <a:ea typeface="微软雅黑" charset="0"/>
                          <a:cs typeface="微软雅黑" charset="0"/>
                        </a:rPr>
                        <a:t>2026</a:t>
                      </a:r>
                      <a:r>
                        <a:rPr lang="zh-TW" altLang="en-US" sz="1100" b="1" kern="1200">
                          <a:solidFill>
                            <a:srgbClr val="C00000"/>
                          </a:solidFill>
                          <a:latin typeface="微软雅黑" charset="0"/>
                          <a:ea typeface="微软雅黑" charset="0"/>
                          <a:cs typeface="微软雅黑" charset="0"/>
                        </a:rPr>
                        <a:t>年</a:t>
                      </a:r>
                      <a:r>
                        <a:rPr lang="en-US" altLang="zh-TW" sz="1100" b="1" kern="1200">
                          <a:solidFill>
                            <a:srgbClr val="C00000"/>
                          </a:solidFill>
                          <a:latin typeface="微软雅黑" charset="0"/>
                          <a:ea typeface="微软雅黑" charset="0"/>
                          <a:cs typeface="微软雅黑" charset="0"/>
                        </a:rPr>
                        <a:t>2</a:t>
                      </a:r>
                      <a:r>
                        <a:rPr lang="zh-TW" altLang="en-US" sz="1100" b="1" kern="1200">
                          <a:solidFill>
                            <a:srgbClr val="C00000"/>
                          </a:solidFill>
                          <a:latin typeface="微软雅黑" charset="0"/>
                          <a:ea typeface="微软雅黑" charset="0"/>
                          <a:cs typeface="微软雅黑" charset="0"/>
                        </a:rPr>
                        <a:t>月</a:t>
                      </a:r>
                      <a:r>
                        <a:rPr lang="en-US" altLang="zh-TW" sz="1100" b="1" kern="1200">
                          <a:solidFill>
                            <a:srgbClr val="C00000"/>
                          </a:solidFill>
                          <a:latin typeface="微软雅黑" charset="0"/>
                          <a:ea typeface="微软雅黑" charset="0"/>
                          <a:cs typeface="微软雅黑" charset="0"/>
                        </a:rPr>
                        <a:t>26</a:t>
                      </a:r>
                      <a:r>
                        <a:rPr lang="zh-TW" altLang="en-US" sz="1100" b="1" kern="1200">
                          <a:solidFill>
                            <a:srgbClr val="C00000"/>
                          </a:solidFill>
                          <a:latin typeface="微软雅黑" charset="0"/>
                          <a:ea typeface="微软雅黑" charset="0"/>
                          <a:cs typeface="微软雅黑" charset="0"/>
                        </a:rPr>
                        <a:t>日</a:t>
                      </a:r>
                      <a:endParaRPr lang="zh-TW" altLang="en-US" sz="1100" b="1" kern="1200">
                        <a:solidFill>
                          <a:srgbClr val="C00000"/>
                        </a:solidFill>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kern="1200">
                          <a:solidFill>
                            <a:srgbClr val="C00000"/>
                          </a:solidFill>
                          <a:latin typeface="微软雅黑" charset="0"/>
                          <a:ea typeface="微软雅黑" charset="0"/>
                          <a:cs typeface="微软雅黑" charset="0"/>
                        </a:rPr>
                        <a:t>17</a:t>
                      </a:r>
                      <a:r>
                        <a:rPr lang="zh-TW" altLang="en-US" sz="1100" b="1" kern="1200">
                          <a:solidFill>
                            <a:srgbClr val="C00000"/>
                          </a:solidFill>
                          <a:latin typeface="微软雅黑" charset="0"/>
                          <a:ea typeface="微软雅黑" charset="0"/>
                          <a:cs typeface="微软雅黑" charset="0"/>
                        </a:rPr>
                        <a:t>周</a:t>
                      </a:r>
                      <a:endParaRPr lang="zh-TW" altLang="en-US" sz="1100" b="1" kern="1200">
                        <a:solidFill>
                          <a:srgbClr val="C00000"/>
                        </a:solidFill>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GB" sz="1100" b="1" kern="1200">
                          <a:solidFill>
                            <a:srgbClr val="C00000"/>
                          </a:solidFill>
                          <a:latin typeface="微软雅黑" charset="0"/>
                          <a:ea typeface="微软雅黑" charset="0"/>
                          <a:cs typeface="+mn-cs"/>
                        </a:rPr>
                        <a:t>W</a:t>
                      </a:r>
                      <a:r>
                        <a:rPr lang="en-US" altLang="en-GB" sz="1100" b="1" kern="1200">
                          <a:solidFill>
                            <a:srgbClr val="C00000"/>
                          </a:solidFill>
                          <a:latin typeface="微软雅黑" charset="0"/>
                          <a:ea typeface="微软雅黑" charset="0"/>
                          <a:cs typeface="+mn-cs"/>
                        </a:rPr>
                        <a:t>13</a:t>
                      </a:r>
                      <a:endParaRPr lang="en-US" altLang="en-GB" sz="1100" b="1" kern="1200">
                        <a:solidFill>
                          <a:srgbClr val="C00000"/>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GB" sz="1100" b="1" kern="1200">
                          <a:solidFill>
                            <a:srgbClr val="C00000"/>
                          </a:solidFill>
                          <a:latin typeface="微软雅黑" charset="0"/>
                          <a:ea typeface="微软雅黑" charset="0"/>
                          <a:cs typeface="+mn-cs"/>
                        </a:rPr>
                        <a:t>W</a:t>
                      </a:r>
                      <a:r>
                        <a:rPr lang="en-US" altLang="en-GB" sz="1100" b="1" kern="1200">
                          <a:solidFill>
                            <a:srgbClr val="C00000"/>
                          </a:solidFill>
                          <a:latin typeface="微软雅黑" charset="0"/>
                          <a:ea typeface="微软雅黑" charset="0"/>
                          <a:cs typeface="+mn-cs"/>
                        </a:rPr>
                        <a:t>48</a:t>
                      </a:r>
                      <a:endParaRPr lang="en-US" altLang="en-GB" sz="1100" b="1" kern="1200">
                        <a:solidFill>
                          <a:srgbClr val="C00000"/>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微软雅黑" charset="0"/>
                          <a:ea typeface="微软雅黑" charset="0"/>
                          <a:cs typeface="+mn-cs"/>
                        </a:rPr>
                        <a:t>/</a:t>
                      </a:r>
                      <a:endParaRPr lang="en-US" sz="1100" b="0" kern="1200">
                        <a:solidFill>
                          <a:schemeClr val="tx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微软雅黑" charset="0"/>
                          <a:ea typeface="微软雅黑" charset="0"/>
                          <a:cs typeface="+mn-cs"/>
                        </a:rPr>
                        <a:t>/</a:t>
                      </a:r>
                      <a:endParaRPr lang="en-US" sz="1100" b="0" kern="1200">
                        <a:solidFill>
                          <a:schemeClr val="tx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488950">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p>
                      <a:pPr algn="ctr" fontAlgn="ctr">
                        <a:buNone/>
                      </a:pPr>
                      <a:r>
                        <a:rPr lang="zh-TW" altLang="en-US" sz="1100" b="1" i="0" u="none" strike="noStrike">
                          <a:solidFill>
                            <a:srgbClr val="000000"/>
                          </a:solidFill>
                          <a:effectLst/>
                          <a:latin typeface="微软雅黑" charset="0"/>
                          <a:ea typeface="微软雅黑" charset="0"/>
                        </a:rPr>
                        <a:t>一阶段</a:t>
                      </a:r>
                      <a:endParaRPr lang="zh-TW" altLang="en-US" sz="1100" b="1" i="0" u="none" strike="noStrike">
                        <a:solidFill>
                          <a:srgbClr val="000000"/>
                        </a:solidFill>
                        <a:effectLst/>
                        <a:latin typeface="微软雅黑" charset="0"/>
                        <a:ea typeface="微软雅黑" charset="0"/>
                        <a:sym typeface="+mn-ea"/>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i="0" u="none" strike="noStrike">
                          <a:solidFill>
                            <a:srgbClr val="000000"/>
                          </a:solidFill>
                          <a:effectLst/>
                          <a:latin typeface="微软雅黑" charset="0"/>
                          <a:ea typeface="微软雅黑" charset="0"/>
                          <a:cs typeface="微软雅黑" charset="0"/>
                        </a:rPr>
                        <a:t>2026年6月29日</a:t>
                      </a:r>
                      <a:endParaRPr lang="en-GB" sz="110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b="1" i="0" u="none" strike="noStrike">
                          <a:solidFill>
                            <a:schemeClr val="accent1"/>
                          </a:solidFill>
                          <a:effectLst/>
                          <a:latin typeface="微软雅黑" charset="0"/>
                          <a:ea typeface="微软雅黑" charset="0"/>
                          <a:cs typeface="微软雅黑" charset="0"/>
                        </a:rPr>
                        <a:t>2026年10月23日</a:t>
                      </a:r>
                      <a:endParaRPr lang="en-GB" sz="1100" b="1" i="0" u="none" strike="noStrike">
                        <a:solidFill>
                          <a:schemeClr val="accent1"/>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i="0" u="none" strike="noStrike">
                          <a:solidFill>
                            <a:srgbClr val="000000"/>
                          </a:solidFill>
                          <a:effectLst/>
                          <a:latin typeface="微软雅黑" charset="0"/>
                          <a:ea typeface="微软雅黑" charset="0"/>
                          <a:cs typeface="微软雅黑" charset="0"/>
                        </a:rPr>
                        <a:t>17周</a:t>
                      </a:r>
                      <a:endParaRPr lang="en-GB" sz="110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i="0" u="none" strike="noStrike">
                          <a:solidFill>
                            <a:srgbClr val="000000"/>
                          </a:solidFill>
                          <a:effectLst/>
                          <a:latin typeface="微软雅黑" charset="0"/>
                          <a:ea typeface="微软雅黑" charset="0"/>
                        </a:rPr>
                        <a:t>W13</a:t>
                      </a:r>
                      <a:endParaRPr lang="en-GB" sz="110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i="0" u="none" strike="noStrike">
                          <a:solidFill>
                            <a:srgbClr val="000000"/>
                          </a:solidFill>
                          <a:effectLst/>
                          <a:latin typeface="微软雅黑" charset="0"/>
                          <a:ea typeface="微软雅黑" charset="0"/>
                        </a:rPr>
                        <a:t>W29</a:t>
                      </a:r>
                      <a:endParaRPr lang="en-GB" sz="110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gridSpan="2">
                  <a:txBody>
                    <a:bodyPr/>
                    <a:p>
                      <a:pPr marL="0" indent="0" algn="l" defTabSz="843915" rtl="0" eaLnBrk="1" fontAlgn="b" latinLnBrk="0" hangingPunct="1">
                        <a:buFont typeface="Arial" panose="020B0604020202090204" pitchFamily="34" charset="0"/>
                        <a:buNone/>
                      </a:pPr>
                      <a:r>
                        <a:rPr lang="zh-CN" altLang="en-US" sz="1100" b="1">
                          <a:solidFill>
                            <a:schemeClr val="dk1"/>
                          </a:solidFill>
                          <a:ea typeface="微软雅黑"/>
                          <a:sym typeface="+mn-ea"/>
                        </a:rPr>
                        <a:t>交付物：</a:t>
                      </a:r>
                      <a:endParaRPr lang="en-US" altLang="zh-CN" sz="1100" b="1"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a:solidFill>
                            <a:schemeClr val="dk1"/>
                          </a:solidFill>
                          <a:ea typeface="微软雅黑"/>
                          <a:sym typeface="+mn-ea"/>
                        </a:rPr>
                        <a:t>《</a:t>
                      </a:r>
                      <a:r>
                        <a:rPr lang="zh-CN" altLang="en-US" sz="1100">
                          <a:solidFill>
                            <a:schemeClr val="dk1"/>
                          </a:solidFill>
                          <a:ea typeface="微软雅黑"/>
                          <a:sym typeface="+mn-ea"/>
                        </a:rPr>
                        <a:t>系统架构设计说明书</a:t>
                      </a:r>
                      <a:r>
                        <a:rPr lang="en-US" altLang="zh-CN" sz="1100">
                          <a:solidFill>
                            <a:schemeClr val="dk1"/>
                          </a:solidFill>
                          <a:ea typeface="微软雅黑"/>
                          <a:sym typeface="+mn-ea"/>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a:solidFill>
                            <a:schemeClr val="dk1"/>
                          </a:solidFill>
                          <a:ea typeface="微软雅黑"/>
                          <a:sym typeface="+mn-ea"/>
                        </a:rPr>
                        <a:t>《</a:t>
                      </a:r>
                      <a:r>
                        <a:rPr lang="zh-CN" altLang="en-US" sz="1100">
                          <a:solidFill>
                            <a:schemeClr val="dk1"/>
                          </a:solidFill>
                          <a:ea typeface="微软雅黑"/>
                          <a:sym typeface="+mn-ea"/>
                        </a:rPr>
                        <a:t>系统测试用例</a:t>
                      </a:r>
                      <a:r>
                        <a:rPr lang="en-US" altLang="zh-CN" sz="1100">
                          <a:solidFill>
                            <a:schemeClr val="dk1"/>
                          </a:solidFill>
                          <a:ea typeface="微软雅黑"/>
                          <a:sym typeface="+mn-ea"/>
                        </a:rPr>
                        <a:t>、</a:t>
                      </a:r>
                      <a:r>
                        <a:rPr lang="zh-CN" altLang="en-US" sz="1100">
                          <a:solidFill>
                            <a:schemeClr val="dk1"/>
                          </a:solidFill>
                          <a:ea typeface="微软雅黑"/>
                          <a:sym typeface="+mn-ea"/>
                        </a:rPr>
                        <a:t>报告</a:t>
                      </a:r>
                      <a:r>
                        <a:rPr lang="en-US" altLang="zh-CN" sz="1100">
                          <a:solidFill>
                            <a:schemeClr val="dk1"/>
                          </a:solidFill>
                          <a:ea typeface="微软雅黑"/>
                          <a:sym typeface="+mn-ea"/>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a:solidFill>
                            <a:schemeClr val="dk1"/>
                          </a:solidFill>
                          <a:ea typeface="微软雅黑"/>
                          <a:sym typeface="+mn-ea"/>
                        </a:rPr>
                        <a:t>《</a:t>
                      </a:r>
                      <a:r>
                        <a:rPr lang="zh-CN" altLang="en-US" sz="1100">
                          <a:solidFill>
                            <a:schemeClr val="dk1"/>
                          </a:solidFill>
                          <a:ea typeface="微软雅黑"/>
                          <a:sym typeface="+mn-ea"/>
                        </a:rPr>
                        <a:t>系统设计说明书</a:t>
                      </a:r>
                      <a:r>
                        <a:rPr lang="en-US" altLang="zh-CN" sz="1100">
                          <a:solidFill>
                            <a:schemeClr val="dk1"/>
                          </a:solidFill>
                          <a:ea typeface="微软雅黑"/>
                          <a:sym typeface="+mn-ea"/>
                        </a:rPr>
                        <a:t>、</a:t>
                      </a:r>
                      <a:r>
                        <a:rPr lang="zh-CN" altLang="en-US" sz="1100">
                          <a:solidFill>
                            <a:schemeClr val="dk1"/>
                          </a:solidFill>
                          <a:ea typeface="微软雅黑"/>
                          <a:sym typeface="+mn-ea"/>
                        </a:rPr>
                        <a:t>操作手册</a:t>
                      </a:r>
                      <a:r>
                        <a:rPr lang="en-US" altLang="zh-CN" sz="1100">
                          <a:solidFill>
                            <a:schemeClr val="dk1"/>
                          </a:solidFill>
                          <a:ea typeface="微软雅黑"/>
                          <a:sym typeface="+mn-ea"/>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a:solidFill>
                            <a:schemeClr val="dk1"/>
                          </a:solidFill>
                          <a:ea typeface="微软雅黑"/>
                          <a:sym typeface="+mn-ea"/>
                        </a:rPr>
                        <a:t>《</a:t>
                      </a:r>
                      <a:r>
                        <a:rPr lang="zh-CN" altLang="en-US" sz="1100">
                          <a:solidFill>
                            <a:schemeClr val="dk1"/>
                          </a:solidFill>
                          <a:ea typeface="微软雅黑"/>
                          <a:sym typeface="+mn-ea"/>
                        </a:rPr>
                        <a:t>前后端代码</a:t>
                      </a:r>
                      <a:r>
                        <a:rPr lang="en-US" altLang="zh-CN" sz="1100">
                          <a:solidFill>
                            <a:schemeClr val="dk1"/>
                          </a:solidFill>
                          <a:ea typeface="微软雅黑"/>
                          <a:sym typeface="+mn-ea"/>
                        </a:rPr>
                        <a:t>、</a:t>
                      </a:r>
                      <a:r>
                        <a:rPr lang="zh-CN" altLang="en-US" sz="1100">
                          <a:solidFill>
                            <a:schemeClr val="dk1"/>
                          </a:solidFill>
                          <a:ea typeface="微软雅黑"/>
                          <a:sym typeface="+mn-ea"/>
                        </a:rPr>
                        <a:t>部署手册</a:t>
                      </a:r>
                      <a:r>
                        <a:rPr lang="en-US" altLang="zh-CN" sz="1100">
                          <a:solidFill>
                            <a:schemeClr val="dk1"/>
                          </a:solidFill>
                          <a:ea typeface="微软雅黑"/>
                          <a:sym typeface="+mn-ea"/>
                        </a:rPr>
                        <a:t>》</a:t>
                      </a:r>
                      <a:endParaRPr lang="en-GB" altLang="en-US" sz="1100" kern="1200">
                        <a:solidFill>
                          <a:schemeClr val="dk1"/>
                        </a:solidFill>
                        <a:latin typeface="微软雅黑" charset="0"/>
                        <a:ea typeface="微软雅黑" charset="0"/>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440690">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p>
                      <a:pPr algn="ctr" fontAlgn="t">
                        <a:buNone/>
                      </a:pPr>
                      <a:r>
                        <a:rPr lang="zh-TW" altLang="en-US" sz="1100" b="1" i="0" u="none" strike="noStrike">
                          <a:solidFill>
                            <a:srgbClr val="000000"/>
                          </a:solidFill>
                          <a:effectLst/>
                          <a:latin typeface="微软雅黑" charset="0"/>
                          <a:ea typeface="微软雅黑" charset="0"/>
                        </a:rPr>
                        <a:t>二阶段</a:t>
                      </a:r>
                      <a:endParaRPr lang="zh-TW" altLang="en-US" sz="1100" b="1" i="0" u="none" strike="noStrike">
                        <a:solidFill>
                          <a:srgbClr val="000000"/>
                        </a:solidFill>
                        <a:effectLst/>
                        <a:latin typeface="微软雅黑" charset="0"/>
                        <a:ea typeface="微软雅黑" charset="0"/>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i="0" u="none" strike="noStrike">
                          <a:solidFill>
                            <a:srgbClr val="000000"/>
                          </a:solidFill>
                          <a:effectLst/>
                          <a:latin typeface="微软雅黑" charset="0"/>
                          <a:ea typeface="微软雅黑" charset="0"/>
                          <a:cs typeface="微软雅黑" charset="0"/>
                        </a:rPr>
                        <a:t>2026年10月8日</a:t>
                      </a:r>
                      <a:endParaRPr lang="en-GB" sz="110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b="1" i="0" u="none" strike="noStrike">
                          <a:solidFill>
                            <a:schemeClr val="accent1"/>
                          </a:solidFill>
                          <a:effectLst/>
                          <a:latin typeface="微软雅黑" charset="0"/>
                          <a:ea typeface="微软雅黑" charset="0"/>
                          <a:cs typeface="微软雅黑" charset="0"/>
                        </a:rPr>
                        <a:t>2027年2月26日</a:t>
                      </a:r>
                      <a:endParaRPr lang="en-GB" sz="1100" b="1" i="0" u="none" strike="noStrike">
                        <a:solidFill>
                          <a:schemeClr val="accent1"/>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i="0" u="none" strike="noStrike">
                          <a:solidFill>
                            <a:srgbClr val="000000"/>
                          </a:solidFill>
                          <a:effectLst/>
                          <a:latin typeface="微软雅黑" charset="0"/>
                          <a:ea typeface="微软雅黑" charset="0"/>
                          <a:cs typeface="微软雅黑" charset="0"/>
                        </a:rPr>
                        <a:t>22周</a:t>
                      </a:r>
                      <a:endParaRPr lang="en-GB" sz="110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i="0" u="none" strike="noStrike">
                          <a:solidFill>
                            <a:srgbClr val="000000"/>
                          </a:solidFill>
                          <a:effectLst/>
                          <a:latin typeface="微软雅黑" charset="0"/>
                          <a:ea typeface="微软雅黑" charset="0"/>
                        </a:rPr>
                        <a:t>W27</a:t>
                      </a:r>
                      <a:endParaRPr lang="en-GB" sz="110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ClrTx/>
                        <a:buSzTx/>
                        <a:buFontTx/>
                        <a:buNone/>
                      </a:pPr>
                      <a:r>
                        <a:rPr lang="en-GB" sz="1100" i="0" u="none" strike="noStrike">
                          <a:solidFill>
                            <a:srgbClr val="000000"/>
                          </a:solidFill>
                          <a:effectLst/>
                          <a:latin typeface="微软雅黑" charset="0"/>
                          <a:ea typeface="微软雅黑" charset="0"/>
                        </a:rPr>
                        <a:t>W48</a:t>
                      </a:r>
                      <a:endParaRPr lang="en-GB" sz="110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35915">
                <a:tc rowSpan="3">
                  <a:txBody>
                    <a:bodyPr/>
                    <a:p>
                      <a:pPr algn="ctr" fontAlgn="b">
                        <a:buNone/>
                      </a:pPr>
                      <a:r>
                        <a:rPr lang="zh-CN" altLang="zh-TW" sz="1100" b="1">
                          <a:solidFill>
                            <a:srgbClr val="000000"/>
                          </a:solidFill>
                          <a:effectLst/>
                          <a:latin typeface="微软雅黑" charset="0"/>
                          <a:ea typeface="微软雅黑" charset="0"/>
                          <a:sym typeface="+mn-ea"/>
                        </a:rPr>
                        <a:t>交付</a:t>
                      </a:r>
                      <a:endParaRPr lang="zh-CN" altLang="zh-TW" sz="1100" b="1">
                        <a:solidFill>
                          <a:srgbClr val="000000"/>
                        </a:solidFill>
                        <a:effectLst/>
                        <a:latin typeface="微软雅黑" charset="0"/>
                        <a:ea typeface="微软雅黑" charset="0"/>
                        <a:sym typeface="+mn-ea"/>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algn="ctr" defTabSz="843915" rtl="0" eaLnBrk="1" fontAlgn="b" latinLnBrk="0" hangingPunct="1"/>
                      <a:r>
                        <a:rPr lang="en-GB" sz="1100" b="1" kern="1200">
                          <a:solidFill>
                            <a:schemeClr val="dk1"/>
                          </a:solidFill>
                          <a:latin typeface="微软雅黑" charset="0"/>
                          <a:ea typeface="微软雅黑" charset="0"/>
                          <a:cs typeface="+mn-cs"/>
                        </a:rPr>
                        <a:t> /</a:t>
                      </a:r>
                      <a:endParaRPr lang="en-GB" sz="1100" b="1" kern="1200">
                        <a:solidFill>
                          <a:schemeClr val="dk1"/>
                        </a:solidFill>
                        <a:latin typeface="微软雅黑" charset="0"/>
                        <a:ea typeface="微软雅黑" charset="0"/>
                        <a:cs typeface="+mn-cs"/>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algn="ctr" defTabSz="843915" rtl="0" eaLnBrk="1" fontAlgn="b" latinLnBrk="0" hangingPunct="1"/>
                      <a:r>
                        <a:rPr lang="en-GB" sz="1100" b="1" kern="1200">
                          <a:solidFill>
                            <a:schemeClr val="dk1"/>
                          </a:solidFill>
                          <a:latin typeface="微软雅黑" charset="0"/>
                          <a:ea typeface="微软雅黑" charset="0"/>
                          <a:cs typeface="+mn-cs"/>
                        </a:rPr>
                        <a:t>/ </a:t>
                      </a:r>
                      <a:endParaRPr lang="en-GB" sz="1100" b="1" kern="1200">
                        <a:solidFill>
                          <a:schemeClr val="dk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i="0" u="none" strike="noStrike">
                          <a:solidFill>
                            <a:srgbClr val="C00000"/>
                          </a:solidFill>
                          <a:effectLst/>
                          <a:latin typeface="微软雅黑" charset="0"/>
                          <a:ea typeface="微软雅黑" charset="0"/>
                          <a:cs typeface="微软雅黑" charset="0"/>
                        </a:rPr>
                        <a:t>2027</a:t>
                      </a:r>
                      <a:r>
                        <a:rPr lang="zh-TW" altLang="en-US" sz="1100" b="1" i="0" u="none" strike="noStrike">
                          <a:solidFill>
                            <a:srgbClr val="C00000"/>
                          </a:solidFill>
                          <a:effectLst/>
                          <a:latin typeface="微软雅黑" charset="0"/>
                          <a:ea typeface="微软雅黑" charset="0"/>
                          <a:cs typeface="微软雅黑" charset="0"/>
                        </a:rPr>
                        <a:t>年</a:t>
                      </a:r>
                      <a:r>
                        <a:rPr lang="en-US" altLang="zh-TW" sz="1100" b="1" i="0" u="none" strike="noStrike">
                          <a:solidFill>
                            <a:srgbClr val="C00000"/>
                          </a:solidFill>
                          <a:effectLst/>
                          <a:latin typeface="微软雅黑" charset="0"/>
                          <a:ea typeface="微软雅黑" charset="0"/>
                          <a:cs typeface="微软雅黑" charset="0"/>
                        </a:rPr>
                        <a:t>2</a:t>
                      </a:r>
                      <a:r>
                        <a:rPr lang="zh-TW" altLang="en-US" sz="1100" b="1" i="0" u="none" strike="noStrike">
                          <a:solidFill>
                            <a:srgbClr val="C00000"/>
                          </a:solidFill>
                          <a:effectLst/>
                          <a:latin typeface="微软雅黑" charset="0"/>
                          <a:ea typeface="微软雅黑" charset="0"/>
                          <a:cs typeface="微软雅黑" charset="0"/>
                        </a:rPr>
                        <a:t>月</a:t>
                      </a:r>
                      <a:r>
                        <a:rPr lang="en-US" altLang="zh-TW" sz="1100" b="1" i="0" u="none" strike="noStrike">
                          <a:solidFill>
                            <a:srgbClr val="C00000"/>
                          </a:solidFill>
                          <a:effectLst/>
                          <a:latin typeface="微软雅黑" charset="0"/>
                          <a:ea typeface="微软雅黑" charset="0"/>
                          <a:cs typeface="微软雅黑" charset="0"/>
                        </a:rPr>
                        <a:t>22</a:t>
                      </a:r>
                      <a:r>
                        <a:rPr lang="zh-TW" altLang="en-US" sz="1100" b="1" i="0" u="none" strike="noStrike">
                          <a:solidFill>
                            <a:srgbClr val="C00000"/>
                          </a:solidFill>
                          <a:effectLst/>
                          <a:latin typeface="微软雅黑" charset="0"/>
                          <a:ea typeface="微软雅黑" charset="0"/>
                          <a:cs typeface="微软雅黑" charset="0"/>
                        </a:rPr>
                        <a:t>日</a:t>
                      </a:r>
                      <a:endParaRPr lang="zh-TW" altLang="en-US" sz="1100" b="1" i="0" u="none" strike="noStrike">
                        <a:solidFill>
                          <a:srgbClr val="C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i="0" u="none" strike="noStrike">
                          <a:solidFill>
                            <a:srgbClr val="C00000"/>
                          </a:solidFill>
                          <a:effectLst/>
                          <a:latin typeface="微软雅黑" charset="0"/>
                          <a:ea typeface="微软雅黑" charset="0"/>
                          <a:cs typeface="微软雅黑" charset="0"/>
                        </a:rPr>
                        <a:t>2027</a:t>
                      </a:r>
                      <a:r>
                        <a:rPr lang="zh-TW" altLang="en-US" sz="1100" b="1" i="0" u="none" strike="noStrike">
                          <a:solidFill>
                            <a:srgbClr val="C00000"/>
                          </a:solidFill>
                          <a:effectLst/>
                          <a:latin typeface="微软雅黑" charset="0"/>
                          <a:ea typeface="微软雅黑" charset="0"/>
                          <a:cs typeface="微软雅黑" charset="0"/>
                        </a:rPr>
                        <a:t>年</a:t>
                      </a:r>
                      <a:r>
                        <a:rPr lang="en-US" altLang="zh-TW" sz="1100" b="1" i="0" u="none" strike="noStrike">
                          <a:solidFill>
                            <a:srgbClr val="C00000"/>
                          </a:solidFill>
                          <a:effectLst/>
                          <a:latin typeface="微软雅黑" charset="0"/>
                          <a:ea typeface="微软雅黑" charset="0"/>
                          <a:cs typeface="微软雅黑" charset="0"/>
                        </a:rPr>
                        <a:t>4</a:t>
                      </a:r>
                      <a:r>
                        <a:rPr lang="zh-TW" altLang="en-US" sz="1100" b="1" i="0" u="none" strike="noStrike">
                          <a:solidFill>
                            <a:srgbClr val="C00000"/>
                          </a:solidFill>
                          <a:effectLst/>
                          <a:latin typeface="微软雅黑" charset="0"/>
                          <a:ea typeface="微软雅黑" charset="0"/>
                          <a:cs typeface="微软雅黑" charset="0"/>
                        </a:rPr>
                        <a:t>月</a:t>
                      </a:r>
                      <a:r>
                        <a:rPr lang="en-US" altLang="zh-TW" sz="1100" b="1" i="0" u="none" strike="noStrike">
                          <a:solidFill>
                            <a:srgbClr val="C00000"/>
                          </a:solidFill>
                          <a:effectLst/>
                          <a:latin typeface="微软雅黑" charset="0"/>
                          <a:ea typeface="微软雅黑" charset="0"/>
                          <a:cs typeface="微软雅黑" charset="0"/>
                        </a:rPr>
                        <a:t>2</a:t>
                      </a:r>
                      <a:r>
                        <a:rPr lang="zh-TW" altLang="en-US" sz="1100" b="1" i="0" u="none" strike="noStrike">
                          <a:solidFill>
                            <a:srgbClr val="C00000"/>
                          </a:solidFill>
                          <a:effectLst/>
                          <a:latin typeface="微软雅黑" charset="0"/>
                          <a:ea typeface="微软雅黑" charset="0"/>
                          <a:cs typeface="微软雅黑" charset="0"/>
                        </a:rPr>
                        <a:t>日</a:t>
                      </a:r>
                      <a:endParaRPr lang="zh-TW" altLang="en-US" sz="1100" b="1" i="0" u="none" strike="noStrike">
                        <a:solidFill>
                          <a:srgbClr val="C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US" altLang="zh-TW" sz="1100" b="1" i="0" u="none" strike="noStrike">
                          <a:solidFill>
                            <a:srgbClr val="C00000"/>
                          </a:solidFill>
                          <a:effectLst/>
                          <a:latin typeface="微软雅黑" charset="0"/>
                          <a:ea typeface="微软雅黑" charset="0"/>
                          <a:cs typeface="微软雅黑" charset="0"/>
                        </a:rPr>
                        <a:t>7</a:t>
                      </a:r>
                      <a:r>
                        <a:rPr lang="zh-TW" altLang="en-US" sz="1100" b="1" i="0" u="none" strike="noStrike">
                          <a:solidFill>
                            <a:srgbClr val="C00000"/>
                          </a:solidFill>
                          <a:effectLst/>
                          <a:latin typeface="微软雅黑" charset="0"/>
                          <a:ea typeface="微软雅黑" charset="0"/>
                          <a:cs typeface="微软雅黑" charset="0"/>
                        </a:rPr>
                        <a:t>周</a:t>
                      </a:r>
                      <a:endParaRPr lang="zh-TW" altLang="en-US" sz="1100" b="1" i="0" u="none" strike="noStrike">
                        <a:solidFill>
                          <a:srgbClr val="C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GB" sz="1100" b="1" i="0" u="none" strike="noStrike">
                          <a:solidFill>
                            <a:srgbClr val="C00000"/>
                          </a:solidFill>
                          <a:effectLst/>
                          <a:latin typeface="微软雅黑" charset="0"/>
                          <a:ea typeface="微软雅黑" charset="0"/>
                        </a:rPr>
                        <a:t>W48</a:t>
                      </a:r>
                      <a:endParaRPr lang="en-GB" sz="1100" b="1" i="0" u="none" strike="noStrike">
                        <a:solidFill>
                          <a:srgbClr val="C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algn="ctr" fontAlgn="ctr">
                        <a:buNone/>
                      </a:pPr>
                      <a:r>
                        <a:rPr lang="en-GB" sz="1100" b="1" i="0" u="none" strike="noStrike">
                          <a:solidFill>
                            <a:srgbClr val="C00000"/>
                          </a:solidFill>
                          <a:effectLst/>
                          <a:latin typeface="微软雅黑" charset="0"/>
                          <a:ea typeface="微软雅黑" charset="0"/>
                        </a:rPr>
                        <a:t>W54</a:t>
                      </a:r>
                      <a:endParaRPr lang="en-GB" sz="1100" b="1" i="0" u="none" strike="noStrike">
                        <a:solidFill>
                          <a:srgbClr val="C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微软雅黑" charset="0"/>
                          <a:ea typeface="微软雅黑" charset="0"/>
                          <a:cs typeface="+mn-cs"/>
                        </a:rPr>
                        <a:t>/</a:t>
                      </a:r>
                      <a:endParaRPr lang="en-US" sz="1100" b="0" kern="1200">
                        <a:solidFill>
                          <a:schemeClr val="tx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微软雅黑" charset="0"/>
                          <a:ea typeface="微软雅黑" charset="0"/>
                          <a:cs typeface="+mn-cs"/>
                        </a:rPr>
                        <a:t>/</a:t>
                      </a:r>
                      <a:endParaRPr lang="en-US" sz="1100" b="0" kern="1200">
                        <a:solidFill>
                          <a:schemeClr val="tx1"/>
                        </a:solidFill>
                        <a:latin typeface="微软雅黑" charset="0"/>
                        <a:ea typeface="微软雅黑" charset="0"/>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99415">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p>
                      <a:pPr algn="ctr" fontAlgn="t">
                        <a:buNone/>
                      </a:pPr>
                      <a:r>
                        <a:rPr lang="zh-TW" altLang="en-US" sz="1100" b="0" i="0" u="none" strike="noStrike">
                          <a:solidFill>
                            <a:srgbClr val="000000"/>
                          </a:solidFill>
                          <a:effectLst/>
                          <a:latin typeface="微软雅黑" charset="0"/>
                          <a:ea typeface="微软雅黑" charset="0"/>
                        </a:rPr>
                        <a:t>试运行</a:t>
                      </a:r>
                      <a:endParaRPr lang="zh-TW" altLang="en-US" sz="1100" b="0" i="0" u="none" strike="noStrike">
                        <a:solidFill>
                          <a:srgbClr val="000000"/>
                        </a:solidFill>
                        <a:effectLst/>
                        <a:latin typeface="微软雅黑" charset="0"/>
                        <a:ea typeface="微软雅黑" charset="0"/>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2027</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2</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22</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2027</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3</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19</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4</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W48</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W51</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gridSpan="2">
                  <a:txBody>
                    <a:bodyPr/>
                    <a:p>
                      <a:pPr marL="0" indent="0" algn="l" defTabSz="843915" rtl="0" eaLnBrk="1" fontAlgn="b" latinLnBrk="0" hangingPunct="1">
                        <a:buFont typeface="Arial" panose="020B0604020202090204" pitchFamily="34" charset="0"/>
                        <a:buNone/>
                      </a:pPr>
                      <a:r>
                        <a:rPr lang="zh-CN" altLang="en-US" sz="1100" b="1">
                          <a:solidFill>
                            <a:schemeClr val="dk1"/>
                          </a:solidFill>
                          <a:latin typeface="微软雅黑" charset="0"/>
                          <a:ea typeface="微软雅黑" charset="0"/>
                          <a:sym typeface="+mn-ea"/>
                        </a:rPr>
                        <a:t>交付物：</a:t>
                      </a:r>
                      <a:endParaRPr lang="en-US" altLang="zh-CN" sz="1100" b="1" kern="1200">
                        <a:solidFill>
                          <a:schemeClr val="dk1"/>
                        </a:solidFill>
                        <a:latin typeface="微软雅黑" charset="0"/>
                        <a:ea typeface="微软雅黑" charset="0"/>
                        <a:cs typeface="+mn-cs"/>
                      </a:endParaRPr>
                    </a:p>
                    <a:p>
                      <a:pPr marL="0" indent="-182880" algn="l" defTabSz="843915" rtl="0" eaLnBrk="1" fontAlgn="b" latinLnBrk="0" hangingPunct="1">
                        <a:buFont typeface="Arial" panose="020B0604020202090204" pitchFamily="34" charset="0"/>
                        <a:buChar char="•"/>
                      </a:pPr>
                      <a:r>
                        <a:rPr lang="en-US" altLang="zh-CN" sz="1100">
                          <a:solidFill>
                            <a:schemeClr val="dk1"/>
                          </a:solidFill>
                          <a:ea typeface="微软雅黑" panose="020B0503020204020204" pitchFamily="34" charset="-122"/>
                          <a:sym typeface="+mn-ea"/>
                        </a:rPr>
                        <a:t>《</a:t>
                      </a:r>
                      <a:r>
                        <a:rPr lang="zh-CN" altLang="en-US" sz="1100">
                          <a:solidFill>
                            <a:schemeClr val="dk1"/>
                          </a:solidFill>
                          <a:ea typeface="微软雅黑" panose="020B0503020204020204" pitchFamily="34" charset="-122"/>
                          <a:sym typeface="+mn-ea"/>
                        </a:rPr>
                        <a:t>试运行方案</a:t>
                      </a:r>
                      <a:r>
                        <a:rPr lang="en-US" altLang="zh-CN" sz="1100">
                          <a:solidFill>
                            <a:schemeClr val="dk1"/>
                          </a:solidFill>
                          <a:ea typeface="微软雅黑" panose="020B0503020204020204" pitchFamily="34" charset="-122"/>
                          <a:sym typeface="+mn-ea"/>
                        </a:rPr>
                        <a:t>、</a:t>
                      </a:r>
                      <a:r>
                        <a:rPr lang="zh-CN" altLang="en-US" sz="1100">
                          <a:solidFill>
                            <a:schemeClr val="dk1"/>
                          </a:solidFill>
                          <a:ea typeface="微软雅黑" panose="020B0503020204020204" pitchFamily="34" charset="-122"/>
                          <a:sym typeface="+mn-ea"/>
                        </a:rPr>
                        <a:t>报告</a:t>
                      </a:r>
                      <a:r>
                        <a:rPr lang="en-US" altLang="zh-CN" sz="1100">
                          <a:solidFill>
                            <a:schemeClr val="dk1"/>
                          </a:solidFill>
                          <a:ea typeface="微软雅黑" panose="020B0503020204020204" pitchFamily="34" charset="-122"/>
                          <a:sym typeface="+mn-ea"/>
                        </a:rPr>
                        <a:t>》</a:t>
                      </a:r>
                      <a:endParaRPr lang="en-US" altLang="zh-CN" sz="1100" kern="1200">
                        <a:solidFill>
                          <a:schemeClr val="dk1"/>
                        </a:solidFill>
                        <a:latin typeface="+mn-lt"/>
                        <a:ea typeface="微软雅黑" panose="020B0503020204020204" pitchFamily="34" charset="-122"/>
                        <a:cs typeface="+mn-cs"/>
                      </a:endParaRPr>
                    </a:p>
                    <a:p>
                      <a:pPr marL="0" indent="-182880" algn="l" defTabSz="843915" rtl="0" eaLnBrk="1" fontAlgn="b" latinLnBrk="0" hangingPunct="1">
                        <a:buFont typeface="Arial" panose="020B0604020202090204" pitchFamily="34" charset="0"/>
                        <a:buChar char="•"/>
                      </a:pPr>
                      <a:r>
                        <a:rPr lang="en-US" altLang="zh-CN" sz="1100">
                          <a:solidFill>
                            <a:schemeClr val="dk1"/>
                          </a:solidFill>
                          <a:ea typeface="微软雅黑" panose="020B0503020204020204" pitchFamily="34" charset="-122"/>
                          <a:sym typeface="+mn-ea"/>
                        </a:rPr>
                        <a:t>《</a:t>
                      </a:r>
                      <a:r>
                        <a:rPr lang="zh-CN" altLang="en-US" sz="1100">
                          <a:solidFill>
                            <a:schemeClr val="dk1"/>
                          </a:solidFill>
                          <a:ea typeface="微软雅黑" panose="020B0503020204020204" pitchFamily="34" charset="-122"/>
                          <a:sym typeface="+mn-ea"/>
                        </a:rPr>
                        <a:t>业务</a:t>
                      </a:r>
                      <a:r>
                        <a:rPr lang="en-US" altLang="zh-CN" sz="1100">
                          <a:solidFill>
                            <a:schemeClr val="dk1"/>
                          </a:solidFill>
                          <a:ea typeface="微软雅黑" panose="020B0503020204020204" pitchFamily="34" charset="-122"/>
                          <a:sym typeface="+mn-ea"/>
                        </a:rPr>
                        <a:t>、</a:t>
                      </a:r>
                      <a:r>
                        <a:rPr lang="zh-CN" altLang="en-US" sz="1100">
                          <a:solidFill>
                            <a:schemeClr val="dk1"/>
                          </a:solidFill>
                          <a:ea typeface="微软雅黑" panose="020B0503020204020204" pitchFamily="34" charset="-122"/>
                          <a:sym typeface="+mn-ea"/>
                        </a:rPr>
                        <a:t>技术</a:t>
                      </a:r>
                      <a:r>
                        <a:rPr lang="zh-CN" altLang="en-US" sz="1100">
                          <a:solidFill>
                            <a:schemeClr val="dk1"/>
                          </a:solidFill>
                          <a:ea typeface="微软雅黑" panose="020B0503020204020204" pitchFamily="34" charset="-122"/>
                          <a:sym typeface="+mn-ea"/>
                        </a:rPr>
                        <a:t>验收报告</a:t>
                      </a:r>
                      <a:r>
                        <a:rPr lang="en-US" altLang="zh-CN" sz="1100">
                          <a:solidFill>
                            <a:schemeClr val="dk1"/>
                          </a:solidFill>
                          <a:ea typeface="微软雅黑" panose="020B0503020204020204" pitchFamily="34" charset="-122"/>
                          <a:sym typeface="+mn-ea"/>
                        </a:rPr>
                        <a:t>》</a:t>
                      </a:r>
                      <a:endParaRPr lang="en-US" altLang="zh-CN" sz="1100" kern="1200">
                        <a:solidFill>
                          <a:schemeClr val="dk1"/>
                        </a:solidFill>
                        <a:latin typeface="+mn-lt"/>
                        <a:ea typeface="微软雅黑" panose="020B0503020204020204" pitchFamily="34" charset="-122"/>
                        <a:cs typeface="+mn-cs"/>
                      </a:endParaRPr>
                    </a:p>
                    <a:p>
                      <a:pPr marL="0" indent="-182880" algn="l" defTabSz="843915" rtl="0" eaLnBrk="1" fontAlgn="b" latinLnBrk="0" hangingPunct="1">
                        <a:buFont typeface="Arial" panose="020B0604020202090204" pitchFamily="34" charset="0"/>
                        <a:buChar char="•"/>
                      </a:pPr>
                      <a:r>
                        <a:rPr lang="en-US" altLang="zh-CN" sz="1100">
                          <a:solidFill>
                            <a:schemeClr val="dk1"/>
                          </a:solidFill>
                          <a:ea typeface="微软雅黑" panose="020B0503020204020204" pitchFamily="34" charset="-122"/>
                          <a:sym typeface="+mn-ea"/>
                        </a:rPr>
                        <a:t>《</a:t>
                      </a:r>
                      <a:r>
                        <a:rPr lang="zh-CN" altLang="en-US" sz="1100">
                          <a:solidFill>
                            <a:schemeClr val="dk1"/>
                          </a:solidFill>
                          <a:ea typeface="微软雅黑" panose="020B0503020204020204" pitchFamily="34" charset="-122"/>
                          <a:sym typeface="+mn-ea"/>
                        </a:rPr>
                        <a:t>运维培训文档</a:t>
                      </a:r>
                      <a:r>
                        <a:rPr lang="en-US" altLang="zh-CN" sz="1100">
                          <a:solidFill>
                            <a:schemeClr val="dk1"/>
                          </a:solidFill>
                          <a:ea typeface="微软雅黑" panose="020B0503020204020204" pitchFamily="34" charset="-122"/>
                          <a:sym typeface="+mn-ea"/>
                        </a:rPr>
                        <a:t>》《</a:t>
                      </a:r>
                      <a:r>
                        <a:rPr lang="zh-CN" altLang="en-US" sz="1100">
                          <a:solidFill>
                            <a:schemeClr val="dk1"/>
                          </a:solidFill>
                          <a:ea typeface="微软雅黑" panose="020B0503020204020204" pitchFamily="34" charset="-122"/>
                          <a:sym typeface="+mn-ea"/>
                        </a:rPr>
                        <a:t>运维服务方案</a:t>
                      </a:r>
                      <a:r>
                        <a:rPr lang="en-US" altLang="zh-CN" sz="1100">
                          <a:solidFill>
                            <a:schemeClr val="dk1"/>
                          </a:solidFill>
                          <a:ea typeface="微软雅黑" panose="020B0503020204020204" pitchFamily="34" charset="-122"/>
                          <a:sym typeface="+mn-ea"/>
                        </a:rPr>
                        <a:t>》</a:t>
                      </a:r>
                      <a:endParaRPr lang="en-GB" altLang="en-US" sz="1100" kern="1200">
                        <a:solidFill>
                          <a:schemeClr val="dk1"/>
                        </a:solidFill>
                        <a:latin typeface="微软雅黑" charset="0"/>
                        <a:ea typeface="微软雅黑" charset="0"/>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24485">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p>
                      <a:pPr algn="ctr" fontAlgn="t">
                        <a:buNone/>
                      </a:pPr>
                      <a:r>
                        <a:rPr lang="zh-TW" altLang="en-US" sz="1100" b="0" i="0" u="none" strike="noStrike">
                          <a:solidFill>
                            <a:srgbClr val="000000"/>
                          </a:solidFill>
                          <a:effectLst/>
                          <a:latin typeface="微软雅黑" charset="0"/>
                          <a:ea typeface="微软雅黑" charset="0"/>
                        </a:rPr>
                        <a:t>回顾总结</a:t>
                      </a:r>
                      <a:endParaRPr lang="zh-TW" altLang="en-US" sz="1100" b="0" i="0" u="none" strike="noStrike">
                        <a:solidFill>
                          <a:srgbClr val="000000"/>
                        </a:solidFill>
                        <a:effectLst/>
                        <a:latin typeface="微软雅黑" charset="0"/>
                        <a:ea typeface="微软雅黑" charset="0"/>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2027</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3</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22</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2027</a:t>
                      </a:r>
                      <a:r>
                        <a:rPr lang="zh-TW" altLang="en-US" sz="1100" b="0" i="0" u="none" strike="noStrike">
                          <a:solidFill>
                            <a:srgbClr val="000000"/>
                          </a:solidFill>
                          <a:effectLst/>
                          <a:latin typeface="微软雅黑" charset="0"/>
                          <a:ea typeface="微软雅黑" charset="0"/>
                          <a:cs typeface="微软雅黑" charset="0"/>
                        </a:rPr>
                        <a:t>年</a:t>
                      </a:r>
                      <a:r>
                        <a:rPr lang="en-US" altLang="zh-TW" sz="1100" b="0" i="0" u="none" strike="noStrike">
                          <a:solidFill>
                            <a:srgbClr val="000000"/>
                          </a:solidFill>
                          <a:effectLst/>
                          <a:latin typeface="微软雅黑" charset="0"/>
                          <a:ea typeface="微软雅黑" charset="0"/>
                          <a:cs typeface="微软雅黑" charset="0"/>
                        </a:rPr>
                        <a:t>4</a:t>
                      </a:r>
                      <a:r>
                        <a:rPr lang="zh-TW" altLang="en-US" sz="1100" b="0" i="0" u="none" strike="noStrike">
                          <a:solidFill>
                            <a:srgbClr val="000000"/>
                          </a:solidFill>
                          <a:effectLst/>
                          <a:latin typeface="微软雅黑" charset="0"/>
                          <a:ea typeface="微软雅黑" charset="0"/>
                          <a:cs typeface="微软雅黑" charset="0"/>
                        </a:rPr>
                        <a:t>月</a:t>
                      </a:r>
                      <a:r>
                        <a:rPr lang="en-US" altLang="zh-TW" sz="1100" b="0" i="0" u="none" strike="noStrike">
                          <a:solidFill>
                            <a:srgbClr val="000000"/>
                          </a:solidFill>
                          <a:effectLst/>
                          <a:latin typeface="微软雅黑" charset="0"/>
                          <a:ea typeface="微软雅黑" charset="0"/>
                          <a:cs typeface="微软雅黑" charset="0"/>
                        </a:rPr>
                        <a:t>2</a:t>
                      </a:r>
                      <a:r>
                        <a:rPr lang="zh-TW" altLang="en-US" sz="1100" b="0" i="0" u="none" strike="noStrike">
                          <a:solidFill>
                            <a:srgbClr val="000000"/>
                          </a:solidFill>
                          <a:effectLst/>
                          <a:latin typeface="微软雅黑" charset="0"/>
                          <a:ea typeface="微软雅黑" charset="0"/>
                          <a:cs typeface="微软雅黑" charset="0"/>
                        </a:rPr>
                        <a:t>日</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US" altLang="zh-TW" sz="1100" b="0" i="0" u="none" strike="noStrike">
                          <a:solidFill>
                            <a:srgbClr val="000000"/>
                          </a:solidFill>
                          <a:effectLst/>
                          <a:latin typeface="微软雅黑" charset="0"/>
                          <a:ea typeface="微软雅黑" charset="0"/>
                          <a:cs typeface="微软雅黑" charset="0"/>
                        </a:rPr>
                        <a:t>3</a:t>
                      </a:r>
                      <a:r>
                        <a:rPr lang="zh-TW" altLang="en-US" sz="1100" b="0" i="0" u="none" strike="noStrike">
                          <a:solidFill>
                            <a:srgbClr val="000000"/>
                          </a:solidFill>
                          <a:effectLst/>
                          <a:latin typeface="微软雅黑" charset="0"/>
                          <a:ea typeface="微软雅黑" charset="0"/>
                          <a:cs typeface="微软雅黑" charset="0"/>
                        </a:rPr>
                        <a:t>周</a:t>
                      </a:r>
                      <a:endParaRPr lang="zh-TW" altLang="en-US" sz="1100" b="0" i="0" u="none" strike="noStrike">
                        <a:solidFill>
                          <a:srgbClr val="000000"/>
                        </a:solidFill>
                        <a:effectLst/>
                        <a:latin typeface="微软雅黑" charset="0"/>
                        <a:ea typeface="微软雅黑" charset="0"/>
                        <a:cs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W52</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fontAlgn="t">
                        <a:buNone/>
                      </a:pPr>
                      <a:r>
                        <a:rPr lang="en-GB" sz="1100" b="0" i="0" u="none" strike="noStrike">
                          <a:solidFill>
                            <a:srgbClr val="000000"/>
                          </a:solidFill>
                          <a:effectLst/>
                          <a:latin typeface="微软雅黑" charset="0"/>
                          <a:ea typeface="微软雅黑" charset="0"/>
                        </a:rPr>
                        <a:t>W54</a:t>
                      </a:r>
                      <a:endParaRPr lang="en-GB" sz="1100" b="0" i="0" u="none" strike="noStrike">
                        <a:solidFill>
                          <a:srgbClr val="000000"/>
                        </a:solidFill>
                        <a:effectLst/>
                        <a:latin typeface="微软雅黑" charset="0"/>
                        <a:ea typeface="微软雅黑" charset="0"/>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37" name="虚尾箭头 36"/>
          <p:cNvSpPr/>
          <p:nvPr/>
        </p:nvSpPr>
        <p:spPr>
          <a:xfrm>
            <a:off x="2316480" y="3215640"/>
            <a:ext cx="539115" cy="394970"/>
          </a:xfrm>
          <a:prstGeom prst="stripedRightArrow">
            <a:avLst/>
          </a:prstGeom>
          <a:solidFill>
            <a:srgbClr val="C00000"/>
          </a:solidFill>
        </p:spPr>
        <p:style>
          <a:lnRef idx="0">
            <a:srgbClr val="FFFFFF"/>
          </a:lnRef>
          <a:fillRef idx="1">
            <a:schemeClr val="accent1"/>
          </a:fillRef>
          <a:effectRef idx="1">
            <a:schemeClr val="accent1"/>
          </a:effectRef>
          <a:fontRef idx="minor">
            <a:schemeClr val="lt1"/>
          </a:fontRef>
        </p:style>
        <p:txBody>
          <a:bodyPr lIns="0" tIns="0" rIns="0" bIns="0"/>
          <a:p>
            <a:pPr algn="ctr">
              <a:lnSpc>
                <a:spcPct val="110000"/>
              </a:lnSpc>
            </a:pPr>
            <a:r>
              <a:rPr lang="zh-CN" altLang="en-US" sz="1200" b="1" dirty="0">
                <a:latin typeface="微软雅黑" charset="0"/>
                <a:ea typeface="微软雅黑" charset="0"/>
              </a:rPr>
              <a:t>当前</a:t>
            </a:r>
            <a:endParaRPr lang="zh-CN" altLang="en-US" sz="1200" b="1" dirty="0">
              <a:latin typeface="微软雅黑" charset="0"/>
              <a:ea typeface="微软雅黑"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7327"/>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5674348"/>
            <a:ext cx="12192001" cy="1247153"/>
          </a:xfrm>
          <a:prstGeom prst="rect">
            <a:avLst/>
          </a:prstGeom>
        </p:spPr>
      </p:pic>
      <p:pic>
        <p:nvPicPr>
          <p:cNvPr id="10" name="图片 9"/>
          <p:cNvPicPr>
            <a:picLocks noChangeAspect="1"/>
          </p:cNvPicPr>
          <p:nvPr/>
        </p:nvPicPr>
        <p:blipFill>
          <a:blip r:embed="rId3" cstate="print">
            <a:alphaModFix amt="37000"/>
            <a:extLst>
              <a:ext uri="{28A0092B-C50C-407E-A947-70E740481C1C}">
                <a14:useLocalDpi xmlns:a14="http://schemas.microsoft.com/office/drawing/2010/main" val="0"/>
              </a:ext>
            </a:extLst>
          </a:blip>
          <a:stretch>
            <a:fillRect/>
          </a:stretch>
        </p:blipFill>
        <p:spPr>
          <a:xfrm>
            <a:off x="802911" y="2397452"/>
            <a:ext cx="2128985" cy="2232000"/>
          </a:xfrm>
          <a:prstGeom prst="rect">
            <a:avLst/>
          </a:prstGeom>
        </p:spPr>
      </p:pic>
      <p:grpSp>
        <p:nvGrpSpPr>
          <p:cNvPr id="2" name="组合 1"/>
          <p:cNvGrpSpPr/>
          <p:nvPr/>
        </p:nvGrpSpPr>
        <p:grpSpPr>
          <a:xfrm>
            <a:off x="4892013" y="2492896"/>
            <a:ext cx="5740491" cy="2743559"/>
            <a:chOff x="7988357" y="2889355"/>
            <a:chExt cx="5740491" cy="2743559"/>
          </a:xfrm>
        </p:grpSpPr>
        <p:sp>
          <p:nvSpPr>
            <p:cNvPr id="3" name="文本框 2"/>
            <p:cNvSpPr txBox="1"/>
            <p:nvPr/>
          </p:nvSpPr>
          <p:spPr>
            <a:xfrm>
              <a:off x="8709690" y="4349384"/>
              <a:ext cx="5019158" cy="645160"/>
            </a:xfrm>
            <a:prstGeom prst="rect">
              <a:avLst/>
            </a:prstGeom>
            <a:noFill/>
          </p:spPr>
          <p:txBody>
            <a:bodyPr wrap="square" rtlCol="0">
              <a:spAutoFit/>
            </a:bodyPr>
            <a:lstStyle/>
            <a:p>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项目实施</a:t>
              </a:r>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规划</a:t>
              </a:r>
              <a:endPar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grpSp>
          <p:nvGrpSpPr>
            <p:cNvPr id="4" name="组合 3"/>
            <p:cNvGrpSpPr/>
            <p:nvPr/>
          </p:nvGrpSpPr>
          <p:grpSpPr>
            <a:xfrm>
              <a:off x="7988357" y="2889355"/>
              <a:ext cx="3651222" cy="2743559"/>
              <a:chOff x="7988357" y="2892799"/>
              <a:chExt cx="3651222" cy="2743559"/>
            </a:xfrm>
          </p:grpSpPr>
          <p:grpSp>
            <p:nvGrpSpPr>
              <p:cNvPr id="6" name="组合 5"/>
              <p:cNvGrpSpPr/>
              <p:nvPr/>
            </p:nvGrpSpPr>
            <p:grpSpPr>
              <a:xfrm>
                <a:off x="8709688" y="2920959"/>
                <a:ext cx="2929890" cy="645160"/>
                <a:chOff x="5933455" y="4527488"/>
                <a:chExt cx="3944960" cy="645160"/>
              </a:xfrm>
            </p:grpSpPr>
            <p:sp>
              <p:nvSpPr>
                <p:cNvPr id="20" name="文本框 19"/>
                <p:cNvSpPr txBox="1"/>
                <p:nvPr/>
              </p:nvSpPr>
              <p:spPr>
                <a:xfrm>
                  <a:off x="5933455" y="4527488"/>
                  <a:ext cx="3944960" cy="645160"/>
                </a:xfrm>
                <a:prstGeom prst="rect">
                  <a:avLst/>
                </a:prstGeom>
                <a:noFill/>
              </p:spPr>
              <p:txBody>
                <a:bodyPr wrap="none" rtlCol="0">
                  <a:spAutoFit/>
                </a:bodyPr>
                <a:lstStyle/>
                <a:p>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项目关键</a:t>
                  </a:r>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节点</a:t>
                  </a:r>
                  <a:endPar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cxnSp>
              <p:nvCxnSpPr>
                <p:cNvPr id="21" name="直接连接符 20"/>
                <p:cNvCxnSpPr/>
                <p:nvPr/>
              </p:nvCxnSpPr>
              <p:spPr>
                <a:xfrm>
                  <a:off x="6077472" y="5145659"/>
                  <a:ext cx="3672409" cy="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8709689" y="3642996"/>
                <a:ext cx="2929890" cy="645160"/>
                <a:chOff x="5933455" y="4663464"/>
                <a:chExt cx="3944957" cy="645160"/>
              </a:xfrm>
            </p:grpSpPr>
            <p:sp>
              <p:nvSpPr>
                <p:cNvPr id="18" name="文本框 17"/>
                <p:cNvSpPr txBox="1"/>
                <p:nvPr/>
              </p:nvSpPr>
              <p:spPr>
                <a:xfrm>
                  <a:off x="5933455" y="4663464"/>
                  <a:ext cx="3944957" cy="645160"/>
                </a:xfrm>
                <a:prstGeom prst="rect">
                  <a:avLst/>
                </a:prstGeom>
                <a:noFill/>
              </p:spPr>
              <p:txBody>
                <a:bodyPr wrap="none" rtlCol="0">
                  <a:spAutoFit/>
                </a:bodyPr>
                <a:lstStyle/>
                <a:p>
                  <a:r>
                    <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rPr>
                    <a:t>项目调研</a:t>
                  </a:r>
                  <a:r>
                    <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rPr>
                    <a:t>情况</a:t>
                  </a:r>
                  <a:endPar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cxnSp>
              <p:nvCxnSpPr>
                <p:cNvPr id="19" name="直接连接符 18"/>
                <p:cNvCxnSpPr/>
                <p:nvPr/>
              </p:nvCxnSpPr>
              <p:spPr>
                <a:xfrm flipV="1">
                  <a:off x="6077470" y="5281137"/>
                  <a:ext cx="3608943" cy="508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cxnSp>
            <p:nvCxnSpPr>
              <p:cNvPr id="8" name="直接连接符 7"/>
              <p:cNvCxnSpPr/>
              <p:nvPr/>
            </p:nvCxnSpPr>
            <p:spPr>
              <a:xfrm>
                <a:off x="8816648" y="4964041"/>
                <a:ext cx="2752090" cy="1651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7988357" y="2923518"/>
                <a:ext cx="596059" cy="59605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mn-lt"/>
                  <a:ea typeface="+mn-ea"/>
                </a:endParaRPr>
              </a:p>
            </p:txBody>
          </p:sp>
          <p:sp>
            <p:nvSpPr>
              <p:cNvPr id="12" name="文本框 11"/>
              <p:cNvSpPr txBox="1"/>
              <p:nvPr/>
            </p:nvSpPr>
            <p:spPr>
              <a:xfrm>
                <a:off x="8075671" y="2892799"/>
                <a:ext cx="242465" cy="646331"/>
              </a:xfrm>
              <a:prstGeom prst="rect">
                <a:avLst/>
              </a:prstGeom>
              <a:noFill/>
            </p:spPr>
            <p:txBody>
              <a:bodyPr wrap="square" rtlCol="0">
                <a:spAutoFit/>
              </a:bodyPr>
              <a:lstStyle/>
              <a:p>
                <a:r>
                  <a:rPr lang="en-US" altLang="zh-CN" sz="3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1</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13" name="椭圆 12"/>
              <p:cNvSpPr/>
              <p:nvPr/>
            </p:nvSpPr>
            <p:spPr>
              <a:xfrm>
                <a:off x="7988357" y="3641039"/>
                <a:ext cx="596059" cy="596059"/>
              </a:xfrm>
              <a:prstGeom prst="ellipse">
                <a:avLst/>
              </a:prstGeom>
              <a:solidFill>
                <a:srgbClr val="00659B"/>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eaLnBrk="1" fontAlgn="auto" hangingPunct="1">
                  <a:spcBef>
                    <a:spcPts val="0"/>
                  </a:spcBef>
                  <a:spcAft>
                    <a:spcPts val="0"/>
                  </a:spcAft>
                </a:pPr>
                <a:endParaRPr lang="zh-CN" altLang="en-US" sz="2400" kern="0" dirty="0">
                  <a:solidFill>
                    <a:prstClr val="white"/>
                  </a:solidFill>
                  <a:latin typeface="Arial" panose="020B0604020202090204" pitchFamily="34" charset="0"/>
                </a:endParaRPr>
              </a:p>
            </p:txBody>
          </p:sp>
          <p:sp>
            <p:nvSpPr>
              <p:cNvPr id="14" name="文本框 13"/>
              <p:cNvSpPr txBox="1"/>
              <p:nvPr/>
            </p:nvSpPr>
            <p:spPr>
              <a:xfrm>
                <a:off x="8070368" y="3610772"/>
                <a:ext cx="242465" cy="646331"/>
              </a:xfrm>
              <a:prstGeom prst="rect">
                <a:avLst/>
              </a:prstGeom>
              <a:noFill/>
            </p:spPr>
            <p:txBody>
              <a:bodyPr wrap="square" rtlCol="0">
                <a:spAutoFit/>
              </a:bodyPr>
              <a:lstStyle/>
              <a:p>
                <a:r>
                  <a:rPr lang="en-US" altLang="zh-CN" sz="3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2</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15" name="椭圆 14"/>
              <p:cNvSpPr/>
              <p:nvPr/>
            </p:nvSpPr>
            <p:spPr>
              <a:xfrm>
                <a:off x="8020221" y="4361119"/>
                <a:ext cx="596059" cy="59605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8105594" y="4339007"/>
                <a:ext cx="242465" cy="646331"/>
              </a:xfrm>
              <a:prstGeom prst="rect">
                <a:avLst/>
              </a:prstGeom>
              <a:noFill/>
            </p:spPr>
            <p:txBody>
              <a:bodyPr wrap="square" rtlCol="0">
                <a:spAutoFit/>
              </a:bodyPr>
              <a:lstStyle/>
              <a:p>
                <a:r>
                  <a:rPr lang="en-US" altLang="zh-CN" sz="3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3</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17" name="文本框 16"/>
              <p:cNvSpPr txBox="1"/>
              <p:nvPr/>
            </p:nvSpPr>
            <p:spPr>
              <a:xfrm>
                <a:off x="8075671" y="4990027"/>
                <a:ext cx="242465" cy="646331"/>
              </a:xfrm>
              <a:prstGeom prst="rect">
                <a:avLst/>
              </a:prstGeom>
              <a:noFill/>
            </p:spPr>
            <p:txBody>
              <a:bodyPr wrap="square" rtlCol="0">
                <a:spAutoFit/>
              </a:bodyPr>
              <a:lstStyle/>
              <a:p>
                <a:r>
                  <a:rPr lang="en-US" altLang="zh-CN" sz="36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4</a:t>
                </a:r>
                <a:endParaRPr lang="zh-CN" altLang="en-US" sz="3600" dirty="0">
                  <a:solidFill>
                    <a:schemeClr val="bg1"/>
                  </a:solidFill>
                  <a:latin typeface="Segoe UI Black" panose="020B0A02040204020203" pitchFamily="34" charset="0"/>
                  <a:cs typeface="Segoe UI Black" panose="020B0A02040204020203" pitchFamily="34" charset="0"/>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rPr>
              <a:t>项目调研情况</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8" name="矩形 7"/>
          <p:cNvSpPr>
            <a:spLocks noGrp="1"/>
          </p:cNvSpPr>
          <p:nvPr/>
        </p:nvSpPr>
        <p:spPr>
          <a:xfrm>
            <a:off x="767715" y="1052830"/>
            <a:ext cx="7887335" cy="29146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A6B7A"/>
                </a:solidFill>
                <a:latin typeface="微软雅黑"/>
                <a:ea typeface="微软雅黑"/>
                <a:cs typeface="微软雅黑"/>
              </a:defRPr>
            </a:pPr>
            <a:r>
              <a:rPr sz="1600" b="0">
                <a:solidFill>
                  <a:srgbClr val="5A6B7A"/>
                </a:solidFill>
                <a:latin typeface="微软雅黑" charset="0"/>
                <a:ea typeface="微软雅黑" charset="0"/>
                <a:cs typeface="微软雅黑"/>
              </a:rPr>
              <a:t>围绕集团、租赁公司、乐寓及关键业务系统展开，沉淀智能客服建设前置认知。</a:t>
            </a:r>
            <a:endParaRPr sz="1600" b="0">
              <a:solidFill>
                <a:srgbClr val="5A6B7A"/>
              </a:solidFill>
              <a:latin typeface="微软雅黑" charset="0"/>
              <a:ea typeface="微软雅黑" charset="0"/>
              <a:cs typeface="微软雅黑"/>
            </a:endParaRPr>
          </a:p>
        </p:txBody>
      </p:sp>
      <p:sp>
        <p:nvSpPr>
          <p:cNvPr id="9" name="一、业务调研 panel"/>
          <p:cNvSpPr>
            <a:spLocks noGrp="1"/>
          </p:cNvSpPr>
          <p:nvPr/>
        </p:nvSpPr>
        <p:spPr>
          <a:xfrm>
            <a:off x="514350" y="1737360"/>
            <a:ext cx="3486150" cy="4248150"/>
          </a:xfrm>
          <a:prstGeom prst="rect">
            <a:avLst/>
          </a:prstGeom>
          <a:solidFill>
            <a:srgbClr val="FFFFFF"/>
          </a:solidFill>
          <a:ln w="11906">
            <a:solidFill>
              <a:srgbClr val="B8DFF4"/>
            </a:solidFill>
            <a:prstDash val="solid"/>
          </a:ln>
        </p:spPr>
      </p:sp>
      <p:sp>
        <p:nvSpPr>
          <p:cNvPr id="10" name="矩形 9"/>
          <p:cNvSpPr>
            <a:spLocks noGrp="1"/>
          </p:cNvSpPr>
          <p:nvPr/>
        </p:nvSpPr>
        <p:spPr>
          <a:xfrm>
            <a:off x="514350" y="1737360"/>
            <a:ext cx="3486150" cy="66675"/>
          </a:xfrm>
          <a:prstGeom prst="rect">
            <a:avLst/>
          </a:prstGeom>
          <a:solidFill>
            <a:srgbClr val="0070C6"/>
          </a:solidFill>
          <a:ln w="0">
            <a:solidFill>
              <a:srgbClr val="000000">
                <a:alpha val="0"/>
              </a:srgbClr>
            </a:solidFill>
            <a:prstDash val="solid"/>
          </a:ln>
        </p:spPr>
      </p:sp>
      <p:sp>
        <p:nvSpPr>
          <p:cNvPr id="11" name="矩形 10"/>
          <p:cNvSpPr>
            <a:spLocks noGrp="1"/>
          </p:cNvSpPr>
          <p:nvPr/>
        </p:nvSpPr>
        <p:spPr>
          <a:xfrm>
            <a:off x="742950" y="2004060"/>
            <a:ext cx="457200" cy="457200"/>
          </a:xfrm>
          <a:prstGeom prst="rect">
            <a:avLst/>
          </a:prstGeom>
          <a:solidFill>
            <a:srgbClr val="E7F5FC"/>
          </a:solidFill>
          <a:ln w="0">
            <a:solidFill>
              <a:srgbClr val="000000">
                <a:alpha val="0"/>
              </a:srgbClr>
            </a:solidFill>
            <a:prstDash val="solid"/>
          </a:ln>
        </p:spPr>
      </p:sp>
      <p:sp>
        <p:nvSpPr>
          <p:cNvPr id="12" name="矩形 11"/>
          <p:cNvSpPr>
            <a:spLocks noGrp="1"/>
          </p:cNvSpPr>
          <p:nvPr/>
        </p:nvSpPr>
        <p:spPr>
          <a:xfrm>
            <a:off x="1352550" y="1946910"/>
            <a:ext cx="2419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05B93"/>
                </a:solidFill>
                <a:latin typeface="微软雅黑"/>
                <a:ea typeface="微软雅黑"/>
                <a:cs typeface="微软雅黑"/>
              </a:defRPr>
            </a:pPr>
            <a:r>
              <a:rPr sz="2000" b="1">
                <a:solidFill>
                  <a:srgbClr val="0070C6"/>
                </a:solidFill>
                <a:latin typeface="微软雅黑" charset="0"/>
                <a:ea typeface="微软雅黑" charset="0"/>
                <a:cs typeface="微软雅黑"/>
              </a:rPr>
              <a:t>一、业务调研</a:t>
            </a:r>
            <a:endParaRPr sz="2000" b="1">
              <a:solidFill>
                <a:srgbClr val="0070C6"/>
              </a:solidFill>
              <a:latin typeface="微软雅黑" charset="0"/>
              <a:ea typeface="微软雅黑" charset="0"/>
              <a:cs typeface="微软雅黑"/>
            </a:endParaRPr>
          </a:p>
        </p:txBody>
      </p:sp>
      <p:sp>
        <p:nvSpPr>
          <p:cNvPr id="13" name="矩形 12"/>
          <p:cNvSpPr>
            <a:spLocks noGrp="1"/>
          </p:cNvSpPr>
          <p:nvPr/>
        </p:nvSpPr>
        <p:spPr>
          <a:xfrm>
            <a:off x="1352550" y="2308860"/>
            <a:ext cx="2419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A6B7A"/>
                </a:solidFill>
                <a:latin typeface="微软雅黑"/>
                <a:ea typeface="微软雅黑"/>
                <a:cs typeface="微软雅黑"/>
              </a:defRPr>
            </a:pPr>
            <a:r>
              <a:rPr lang="zh-CN" sz="1125" b="0">
                <a:solidFill>
                  <a:srgbClr val="5A6B7A"/>
                </a:solidFill>
                <a:latin typeface="微软雅黑" charset="0"/>
                <a:ea typeface="微软雅黑" charset="0"/>
                <a:cs typeface="微软雅黑" charset="0"/>
              </a:rPr>
              <a:t>集团</a:t>
            </a:r>
            <a:r>
              <a:rPr lang="en-US" altLang="zh-CN" sz="1125" b="0">
                <a:solidFill>
                  <a:srgbClr val="5A6B7A"/>
                </a:solidFill>
                <a:latin typeface="微软雅黑" charset="0"/>
                <a:ea typeface="微软雅黑" charset="0"/>
                <a:cs typeface="微软雅黑" charset="0"/>
              </a:rPr>
              <a:t>、</a:t>
            </a:r>
            <a:r>
              <a:rPr lang="zh-CN" altLang="en-US" sz="1125" b="0">
                <a:solidFill>
                  <a:srgbClr val="5A6B7A"/>
                </a:solidFill>
                <a:latin typeface="微软雅黑" charset="0"/>
                <a:ea typeface="微软雅黑" charset="0"/>
                <a:cs typeface="微软雅黑" charset="0"/>
              </a:rPr>
              <a:t>租赁公司</a:t>
            </a:r>
            <a:r>
              <a:rPr lang="en-US" altLang="zh-CN" sz="1125" b="0">
                <a:solidFill>
                  <a:srgbClr val="5A6B7A"/>
                </a:solidFill>
                <a:latin typeface="微软雅黑" charset="0"/>
                <a:ea typeface="微软雅黑" charset="0"/>
                <a:cs typeface="微软雅黑" charset="0"/>
              </a:rPr>
              <a:t>、</a:t>
            </a:r>
            <a:r>
              <a:rPr lang="zh-CN" altLang="en-US" sz="1125" b="0">
                <a:solidFill>
                  <a:srgbClr val="5A6B7A"/>
                </a:solidFill>
                <a:latin typeface="微软雅黑" charset="0"/>
                <a:ea typeface="微软雅黑" charset="0"/>
                <a:cs typeface="微软雅黑" charset="0"/>
              </a:rPr>
              <a:t>乐寓</a:t>
            </a:r>
            <a:endParaRPr sz="1125" b="0">
              <a:solidFill>
                <a:srgbClr val="5A6B7A"/>
              </a:solidFill>
              <a:latin typeface="微软雅黑" charset="0"/>
              <a:ea typeface="微软雅黑" charset="0"/>
              <a:cs typeface="微软雅黑" charset="0"/>
            </a:endParaRPr>
          </a:p>
        </p:txBody>
      </p:sp>
      <p:sp>
        <p:nvSpPr>
          <p:cNvPr id="14" name="二、系统调研 panel"/>
          <p:cNvSpPr>
            <a:spLocks noGrp="1"/>
          </p:cNvSpPr>
          <p:nvPr/>
        </p:nvSpPr>
        <p:spPr>
          <a:xfrm>
            <a:off x="4343400" y="1737360"/>
            <a:ext cx="3486150" cy="4248150"/>
          </a:xfrm>
          <a:prstGeom prst="rect">
            <a:avLst/>
          </a:prstGeom>
          <a:solidFill>
            <a:srgbClr val="FFFFFF"/>
          </a:solidFill>
          <a:ln w="11906">
            <a:solidFill>
              <a:srgbClr val="B8DFF4"/>
            </a:solidFill>
            <a:prstDash val="solid"/>
          </a:ln>
        </p:spPr>
      </p:sp>
      <p:sp>
        <p:nvSpPr>
          <p:cNvPr id="15" name="矩形 14"/>
          <p:cNvSpPr>
            <a:spLocks noGrp="1"/>
          </p:cNvSpPr>
          <p:nvPr/>
        </p:nvSpPr>
        <p:spPr>
          <a:xfrm>
            <a:off x="4343400" y="1737360"/>
            <a:ext cx="3486150" cy="66675"/>
          </a:xfrm>
          <a:prstGeom prst="rect">
            <a:avLst/>
          </a:prstGeom>
          <a:solidFill>
            <a:srgbClr val="48C0A9"/>
          </a:solidFill>
          <a:ln w="0">
            <a:solidFill>
              <a:srgbClr val="000000">
                <a:alpha val="0"/>
              </a:srgbClr>
            </a:solidFill>
            <a:prstDash val="solid"/>
          </a:ln>
        </p:spPr>
      </p:sp>
      <p:sp>
        <p:nvSpPr>
          <p:cNvPr id="16" name="矩形 15"/>
          <p:cNvSpPr>
            <a:spLocks noGrp="1"/>
          </p:cNvSpPr>
          <p:nvPr/>
        </p:nvSpPr>
        <p:spPr>
          <a:xfrm>
            <a:off x="4572000" y="2004060"/>
            <a:ext cx="457200" cy="457200"/>
          </a:xfrm>
          <a:prstGeom prst="rect">
            <a:avLst/>
          </a:prstGeom>
          <a:solidFill>
            <a:srgbClr val="E7F5FC"/>
          </a:solidFill>
          <a:ln w="0">
            <a:solidFill>
              <a:srgbClr val="000000">
                <a:alpha val="0"/>
              </a:srgbClr>
            </a:solidFill>
            <a:prstDash val="solid"/>
          </a:ln>
        </p:spPr>
      </p:sp>
      <p:sp>
        <p:nvSpPr>
          <p:cNvPr id="17" name="矩形 16"/>
          <p:cNvSpPr>
            <a:spLocks noGrp="1"/>
          </p:cNvSpPr>
          <p:nvPr/>
        </p:nvSpPr>
        <p:spPr>
          <a:xfrm>
            <a:off x="5181600" y="1946910"/>
            <a:ext cx="2419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05B93"/>
                </a:solidFill>
                <a:latin typeface="微软雅黑"/>
                <a:ea typeface="微软雅黑"/>
                <a:cs typeface="微软雅黑"/>
              </a:defRPr>
            </a:pPr>
            <a:r>
              <a:rPr sz="2000" b="1">
                <a:solidFill>
                  <a:srgbClr val="0070C6"/>
                </a:solidFill>
                <a:latin typeface="微软雅黑" charset="0"/>
                <a:ea typeface="微软雅黑" charset="0"/>
                <a:cs typeface="微软雅黑"/>
              </a:rPr>
              <a:t>二、系统调研</a:t>
            </a:r>
            <a:endParaRPr sz="2000" b="1">
              <a:solidFill>
                <a:srgbClr val="0070C6"/>
              </a:solidFill>
              <a:latin typeface="微软雅黑" charset="0"/>
              <a:ea typeface="微软雅黑" charset="0"/>
              <a:cs typeface="微软雅黑"/>
            </a:endParaRPr>
          </a:p>
        </p:txBody>
      </p:sp>
      <p:sp>
        <p:nvSpPr>
          <p:cNvPr id="18" name="矩形 17"/>
          <p:cNvSpPr>
            <a:spLocks noGrp="1"/>
          </p:cNvSpPr>
          <p:nvPr/>
        </p:nvSpPr>
        <p:spPr>
          <a:xfrm>
            <a:off x="5181600" y="2308860"/>
            <a:ext cx="2419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A6B7A"/>
                </a:solidFill>
                <a:latin typeface="微软雅黑"/>
                <a:ea typeface="微软雅黑"/>
                <a:cs typeface="微软雅黑"/>
              </a:defRPr>
            </a:pPr>
            <a:r>
              <a:rPr sz="1125" b="0">
                <a:solidFill>
                  <a:srgbClr val="5A6B7A"/>
                </a:solidFill>
                <a:latin typeface="微软雅黑" charset="0"/>
                <a:ea typeface="微软雅黑" charset="0"/>
                <a:cs typeface="微软雅黑" charset="0"/>
              </a:rPr>
              <a:t>关联系统平台</a:t>
            </a:r>
            <a:endParaRPr sz="1125" b="0">
              <a:solidFill>
                <a:srgbClr val="5A6B7A"/>
              </a:solidFill>
              <a:latin typeface="微软雅黑" charset="0"/>
              <a:ea typeface="微软雅黑" charset="0"/>
              <a:cs typeface="微软雅黑" charset="0"/>
            </a:endParaRPr>
          </a:p>
        </p:txBody>
      </p:sp>
      <p:sp>
        <p:nvSpPr>
          <p:cNvPr id="19" name="三、项目调研 panel"/>
          <p:cNvSpPr>
            <a:spLocks noGrp="1"/>
          </p:cNvSpPr>
          <p:nvPr/>
        </p:nvSpPr>
        <p:spPr>
          <a:xfrm>
            <a:off x="8172450" y="1737360"/>
            <a:ext cx="3486150" cy="4248150"/>
          </a:xfrm>
          <a:prstGeom prst="rect">
            <a:avLst/>
          </a:prstGeom>
          <a:solidFill>
            <a:srgbClr val="FFFFFF"/>
          </a:solidFill>
          <a:ln w="11906">
            <a:solidFill>
              <a:srgbClr val="B8DFF4"/>
            </a:solidFill>
            <a:prstDash val="solid"/>
          </a:ln>
        </p:spPr>
      </p:sp>
      <p:sp>
        <p:nvSpPr>
          <p:cNvPr id="20" name="矩形 19"/>
          <p:cNvSpPr>
            <a:spLocks noGrp="1"/>
          </p:cNvSpPr>
          <p:nvPr/>
        </p:nvSpPr>
        <p:spPr>
          <a:xfrm>
            <a:off x="8172450" y="1737360"/>
            <a:ext cx="3486150" cy="66675"/>
          </a:xfrm>
          <a:prstGeom prst="rect">
            <a:avLst/>
          </a:prstGeom>
          <a:solidFill>
            <a:srgbClr val="FF8439"/>
          </a:solidFill>
          <a:ln w="0">
            <a:solidFill>
              <a:srgbClr val="000000">
                <a:alpha val="0"/>
              </a:srgbClr>
            </a:solidFill>
            <a:prstDash val="solid"/>
          </a:ln>
        </p:spPr>
      </p:sp>
      <p:sp>
        <p:nvSpPr>
          <p:cNvPr id="21" name="矩形 20"/>
          <p:cNvSpPr>
            <a:spLocks noGrp="1"/>
          </p:cNvSpPr>
          <p:nvPr/>
        </p:nvSpPr>
        <p:spPr>
          <a:xfrm>
            <a:off x="8401050" y="2004060"/>
            <a:ext cx="457200" cy="457200"/>
          </a:xfrm>
          <a:prstGeom prst="rect">
            <a:avLst/>
          </a:prstGeom>
          <a:solidFill>
            <a:srgbClr val="E7F5FC"/>
          </a:solidFill>
          <a:ln w="0">
            <a:solidFill>
              <a:srgbClr val="000000">
                <a:alpha val="0"/>
              </a:srgbClr>
            </a:solidFill>
            <a:prstDash val="solid"/>
          </a:ln>
        </p:spPr>
      </p:sp>
      <p:sp>
        <p:nvSpPr>
          <p:cNvPr id="22" name="矩形 21"/>
          <p:cNvSpPr>
            <a:spLocks noGrp="1"/>
          </p:cNvSpPr>
          <p:nvPr/>
        </p:nvSpPr>
        <p:spPr>
          <a:xfrm>
            <a:off x="9010650" y="1946910"/>
            <a:ext cx="2419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05B93"/>
                </a:solidFill>
                <a:latin typeface="微软雅黑"/>
                <a:ea typeface="微软雅黑"/>
                <a:cs typeface="微软雅黑"/>
              </a:defRPr>
            </a:pPr>
            <a:r>
              <a:rPr sz="2000" b="1">
                <a:solidFill>
                  <a:srgbClr val="0070C6"/>
                </a:solidFill>
                <a:latin typeface="微软雅黑" charset="0"/>
                <a:ea typeface="微软雅黑" charset="0"/>
                <a:cs typeface="微软雅黑"/>
              </a:rPr>
              <a:t>三、项目调研</a:t>
            </a:r>
            <a:endParaRPr sz="2000" b="1">
              <a:solidFill>
                <a:srgbClr val="0070C6"/>
              </a:solidFill>
              <a:latin typeface="微软雅黑" charset="0"/>
              <a:ea typeface="微软雅黑" charset="0"/>
              <a:cs typeface="微软雅黑"/>
            </a:endParaRPr>
          </a:p>
        </p:txBody>
      </p:sp>
      <p:sp>
        <p:nvSpPr>
          <p:cNvPr id="23" name="矩形 22"/>
          <p:cNvSpPr>
            <a:spLocks noGrp="1"/>
          </p:cNvSpPr>
          <p:nvPr/>
        </p:nvSpPr>
        <p:spPr>
          <a:xfrm>
            <a:off x="9010650" y="2308860"/>
            <a:ext cx="2419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A6B7A"/>
                </a:solidFill>
                <a:latin typeface="微软雅黑"/>
                <a:ea typeface="微软雅黑"/>
                <a:cs typeface="微软雅黑"/>
              </a:defRPr>
            </a:pPr>
            <a:r>
              <a:rPr sz="1125" b="0">
                <a:solidFill>
                  <a:srgbClr val="5A6B7A"/>
                </a:solidFill>
                <a:latin typeface="微软雅黑" charset="0"/>
                <a:ea typeface="微软雅黑" charset="0"/>
                <a:cs typeface="微软雅黑" charset="0"/>
              </a:rPr>
              <a:t>项目样本</a:t>
            </a:r>
            <a:endParaRPr sz="1125" b="0">
              <a:solidFill>
                <a:srgbClr val="5A6B7A"/>
              </a:solidFill>
              <a:latin typeface="微软雅黑" charset="0"/>
              <a:ea typeface="微软雅黑" charset="0"/>
              <a:cs typeface="微软雅黑" charset="0"/>
            </a:endParaRPr>
          </a:p>
        </p:txBody>
      </p:sp>
      <p:pic>
        <p:nvPicPr>
          <p:cNvPr id="24" name="图片 2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8200" y="2099310"/>
            <a:ext cx="266700" cy="266700"/>
          </a:xfrm>
          <a:prstGeom prst="rect">
            <a:avLst/>
          </a:prstGeom>
        </p:spPr>
      </p:pic>
      <p:pic>
        <p:nvPicPr>
          <p:cNvPr id="25" name="图片 24"/>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4667250" y="2099310"/>
            <a:ext cx="266700" cy="266700"/>
          </a:xfrm>
          <a:prstGeom prst="rect">
            <a:avLst/>
          </a:prstGeom>
        </p:spPr>
      </p:pic>
      <p:pic>
        <p:nvPicPr>
          <p:cNvPr id="26" name="图片 25"/>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8496300" y="2099310"/>
            <a:ext cx="266700" cy="266700"/>
          </a:xfrm>
          <a:prstGeom prst="rect">
            <a:avLst/>
          </a:prstGeom>
        </p:spPr>
      </p:pic>
      <p:sp>
        <p:nvSpPr>
          <p:cNvPr id="27" name="矩形 26"/>
          <p:cNvSpPr>
            <a:spLocks noGrp="1"/>
          </p:cNvSpPr>
          <p:nvPr/>
        </p:nvSpPr>
        <p:spPr>
          <a:xfrm>
            <a:off x="762000" y="2708910"/>
            <a:ext cx="66675" cy="66675"/>
          </a:xfrm>
          <a:prstGeom prst="rect">
            <a:avLst/>
          </a:prstGeom>
          <a:solidFill>
            <a:srgbClr val="0086D1"/>
          </a:solidFill>
          <a:ln w="0">
            <a:solidFill>
              <a:srgbClr val="000000">
                <a:alpha val="0"/>
              </a:srgbClr>
            </a:solidFill>
            <a:prstDash val="solid"/>
          </a:ln>
        </p:spPr>
      </p:sp>
      <p:sp>
        <p:nvSpPr>
          <p:cNvPr id="28" name="矩形 27"/>
          <p:cNvSpPr>
            <a:spLocks noGrp="1"/>
          </p:cNvSpPr>
          <p:nvPr/>
        </p:nvSpPr>
        <p:spPr>
          <a:xfrm>
            <a:off x="914400" y="2642235"/>
            <a:ext cx="2476500"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7324D"/>
                </a:solidFill>
                <a:latin typeface="微软雅黑"/>
                <a:ea typeface="微软雅黑"/>
                <a:cs typeface="微软雅黑"/>
              </a:defRPr>
            </a:pPr>
            <a:r>
              <a:rPr sz="1600" b="1">
                <a:solidFill>
                  <a:srgbClr val="17324D"/>
                </a:solidFill>
                <a:latin typeface="微软雅黑" charset="0"/>
                <a:ea typeface="微软雅黑" charset="0"/>
                <a:cs typeface="微软雅黑"/>
              </a:rPr>
              <a:t>集团</a:t>
            </a:r>
            <a:endParaRPr sz="1600" b="1">
              <a:solidFill>
                <a:srgbClr val="17324D"/>
              </a:solidFill>
              <a:latin typeface="微软雅黑" charset="0"/>
              <a:ea typeface="微软雅黑" charset="0"/>
              <a:cs typeface="微软雅黑"/>
            </a:endParaRPr>
          </a:p>
        </p:txBody>
      </p:sp>
      <p:sp>
        <p:nvSpPr>
          <p:cNvPr id="29" name="矩形 28"/>
          <p:cNvSpPr>
            <a:spLocks noGrp="1"/>
          </p:cNvSpPr>
          <p:nvPr/>
        </p:nvSpPr>
        <p:spPr>
          <a:xfrm>
            <a:off x="800100" y="3051810"/>
            <a:ext cx="47625" cy="47625"/>
          </a:xfrm>
          <a:prstGeom prst="rect">
            <a:avLst/>
          </a:prstGeom>
          <a:solidFill>
            <a:srgbClr val="0086D1"/>
          </a:solidFill>
          <a:ln w="0">
            <a:solidFill>
              <a:srgbClr val="000000">
                <a:alpha val="0"/>
              </a:srgbClr>
            </a:solidFill>
            <a:prstDash val="solid"/>
          </a:ln>
        </p:spPr>
      </p:sp>
      <p:sp>
        <p:nvSpPr>
          <p:cNvPr id="30" name="矩形 29"/>
          <p:cNvSpPr>
            <a:spLocks noGrp="1"/>
          </p:cNvSpPr>
          <p:nvPr/>
        </p:nvSpPr>
        <p:spPr>
          <a:xfrm>
            <a:off x="933450" y="2966085"/>
            <a:ext cx="133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324D"/>
                </a:solidFill>
                <a:latin typeface="微软雅黑"/>
                <a:ea typeface="微软雅黑"/>
                <a:cs typeface="微软雅黑"/>
              </a:defRPr>
            </a:pPr>
            <a:r>
              <a:rPr sz="1400" b="0">
                <a:solidFill>
                  <a:srgbClr val="17324D"/>
                </a:solidFill>
                <a:latin typeface="微软雅黑" charset="0"/>
                <a:ea typeface="微软雅黑" charset="0"/>
                <a:cs typeface="微软雅黑"/>
              </a:rPr>
              <a:t>住房服务中心</a:t>
            </a:r>
            <a:endParaRPr sz="1400" b="0">
              <a:solidFill>
                <a:srgbClr val="17324D"/>
              </a:solidFill>
              <a:latin typeface="微软雅黑" charset="0"/>
              <a:ea typeface="微软雅黑" charset="0"/>
              <a:cs typeface="微软雅黑"/>
            </a:endParaRPr>
          </a:p>
        </p:txBody>
      </p:sp>
      <p:sp>
        <p:nvSpPr>
          <p:cNvPr id="31" name="矩形 30"/>
          <p:cNvSpPr>
            <a:spLocks noGrp="1"/>
          </p:cNvSpPr>
          <p:nvPr/>
        </p:nvSpPr>
        <p:spPr>
          <a:xfrm>
            <a:off x="800100" y="3318510"/>
            <a:ext cx="47625" cy="47625"/>
          </a:xfrm>
          <a:prstGeom prst="rect">
            <a:avLst/>
          </a:prstGeom>
          <a:solidFill>
            <a:srgbClr val="0086D1"/>
          </a:solidFill>
          <a:ln w="0">
            <a:solidFill>
              <a:srgbClr val="000000">
                <a:alpha val="0"/>
              </a:srgbClr>
            </a:solidFill>
            <a:prstDash val="solid"/>
          </a:ln>
        </p:spPr>
      </p:sp>
      <p:sp>
        <p:nvSpPr>
          <p:cNvPr id="32" name="矩形 31"/>
          <p:cNvSpPr>
            <a:spLocks noGrp="1"/>
          </p:cNvSpPr>
          <p:nvPr/>
        </p:nvSpPr>
        <p:spPr>
          <a:xfrm>
            <a:off x="933450" y="3232785"/>
            <a:ext cx="1143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324D"/>
                </a:solidFill>
                <a:latin typeface="微软雅黑"/>
                <a:ea typeface="微软雅黑"/>
                <a:cs typeface="微软雅黑"/>
              </a:defRPr>
            </a:pPr>
            <a:r>
              <a:rPr sz="1400" b="0">
                <a:solidFill>
                  <a:srgbClr val="17324D"/>
                </a:solidFill>
                <a:latin typeface="微软雅黑" charset="0"/>
                <a:ea typeface="微软雅黑" charset="0"/>
                <a:cs typeface="微软雅黑"/>
              </a:rPr>
              <a:t>财务部</a:t>
            </a:r>
            <a:endParaRPr sz="1400" b="0">
              <a:solidFill>
                <a:srgbClr val="17324D"/>
              </a:solidFill>
              <a:latin typeface="微软雅黑" charset="0"/>
              <a:ea typeface="微软雅黑" charset="0"/>
              <a:cs typeface="微软雅黑"/>
            </a:endParaRPr>
          </a:p>
        </p:txBody>
      </p:sp>
      <p:sp>
        <p:nvSpPr>
          <p:cNvPr id="33" name="矩形 32"/>
          <p:cNvSpPr>
            <a:spLocks noGrp="1"/>
          </p:cNvSpPr>
          <p:nvPr/>
        </p:nvSpPr>
        <p:spPr>
          <a:xfrm>
            <a:off x="800100" y="3585210"/>
            <a:ext cx="47625" cy="47625"/>
          </a:xfrm>
          <a:prstGeom prst="rect">
            <a:avLst/>
          </a:prstGeom>
          <a:solidFill>
            <a:srgbClr val="0086D1"/>
          </a:solidFill>
          <a:ln w="0">
            <a:solidFill>
              <a:srgbClr val="000000">
                <a:alpha val="0"/>
              </a:srgbClr>
            </a:solidFill>
            <a:prstDash val="solid"/>
          </a:ln>
        </p:spPr>
      </p:sp>
      <p:sp>
        <p:nvSpPr>
          <p:cNvPr id="34" name="矩形 33"/>
          <p:cNvSpPr>
            <a:spLocks noGrp="1"/>
          </p:cNvSpPr>
          <p:nvPr/>
        </p:nvSpPr>
        <p:spPr>
          <a:xfrm>
            <a:off x="933450" y="3499485"/>
            <a:ext cx="133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324D"/>
                </a:solidFill>
                <a:latin typeface="微软雅黑"/>
                <a:ea typeface="微软雅黑"/>
                <a:cs typeface="微软雅黑"/>
              </a:defRPr>
            </a:pPr>
            <a:r>
              <a:rPr sz="1400" b="0">
                <a:solidFill>
                  <a:srgbClr val="17324D"/>
                </a:solidFill>
                <a:latin typeface="微软雅黑" charset="0"/>
                <a:ea typeface="微软雅黑" charset="0"/>
                <a:cs typeface="微软雅黑"/>
              </a:rPr>
              <a:t>信息管理部</a:t>
            </a:r>
            <a:endParaRPr sz="1400" b="0">
              <a:solidFill>
                <a:srgbClr val="17324D"/>
              </a:solidFill>
              <a:latin typeface="微软雅黑" charset="0"/>
              <a:ea typeface="微软雅黑" charset="0"/>
              <a:cs typeface="微软雅黑"/>
            </a:endParaRPr>
          </a:p>
        </p:txBody>
      </p:sp>
      <p:sp>
        <p:nvSpPr>
          <p:cNvPr id="35" name="矩形 34"/>
          <p:cNvSpPr>
            <a:spLocks noGrp="1"/>
          </p:cNvSpPr>
          <p:nvPr/>
        </p:nvSpPr>
        <p:spPr>
          <a:xfrm>
            <a:off x="800100" y="3851910"/>
            <a:ext cx="47625" cy="47625"/>
          </a:xfrm>
          <a:prstGeom prst="rect">
            <a:avLst/>
          </a:prstGeom>
          <a:solidFill>
            <a:srgbClr val="0086D1"/>
          </a:solidFill>
          <a:ln w="0">
            <a:solidFill>
              <a:srgbClr val="000000">
                <a:alpha val="0"/>
              </a:srgbClr>
            </a:solidFill>
            <a:prstDash val="solid"/>
          </a:ln>
        </p:spPr>
      </p:sp>
      <p:sp>
        <p:nvSpPr>
          <p:cNvPr id="36" name="矩形 35"/>
          <p:cNvSpPr>
            <a:spLocks noGrp="1"/>
          </p:cNvSpPr>
          <p:nvPr/>
        </p:nvSpPr>
        <p:spPr>
          <a:xfrm>
            <a:off x="933450" y="3766185"/>
            <a:ext cx="1809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324D"/>
                </a:solidFill>
                <a:latin typeface="微软雅黑"/>
                <a:ea typeface="微软雅黑"/>
                <a:cs typeface="微软雅黑"/>
              </a:defRPr>
            </a:pPr>
            <a:r>
              <a:rPr sz="1400" b="0">
                <a:solidFill>
                  <a:srgbClr val="17324D"/>
                </a:solidFill>
                <a:latin typeface="微软雅黑" charset="0"/>
                <a:ea typeface="微软雅黑" charset="0"/>
                <a:cs typeface="微软雅黑"/>
              </a:rPr>
              <a:t>数智（深圳）共享</a:t>
            </a:r>
            <a:endParaRPr sz="1400" b="0">
              <a:solidFill>
                <a:srgbClr val="17324D"/>
              </a:solidFill>
              <a:latin typeface="微软雅黑" charset="0"/>
              <a:ea typeface="微软雅黑" charset="0"/>
              <a:cs typeface="微软雅黑"/>
            </a:endParaRPr>
          </a:p>
        </p:txBody>
      </p:sp>
      <p:sp>
        <p:nvSpPr>
          <p:cNvPr id="37" name="矩形 36"/>
          <p:cNvSpPr>
            <a:spLocks noGrp="1"/>
          </p:cNvSpPr>
          <p:nvPr/>
        </p:nvSpPr>
        <p:spPr>
          <a:xfrm>
            <a:off x="762000" y="4271010"/>
            <a:ext cx="66675" cy="66675"/>
          </a:xfrm>
          <a:prstGeom prst="rect">
            <a:avLst/>
          </a:prstGeom>
          <a:solidFill>
            <a:srgbClr val="0086D1"/>
          </a:solidFill>
          <a:ln w="0">
            <a:solidFill>
              <a:srgbClr val="000000">
                <a:alpha val="0"/>
              </a:srgbClr>
            </a:solidFill>
            <a:prstDash val="solid"/>
          </a:ln>
        </p:spPr>
      </p:sp>
      <p:sp>
        <p:nvSpPr>
          <p:cNvPr id="38" name="矩形 37"/>
          <p:cNvSpPr>
            <a:spLocks noGrp="1"/>
          </p:cNvSpPr>
          <p:nvPr/>
        </p:nvSpPr>
        <p:spPr>
          <a:xfrm>
            <a:off x="914400" y="4204335"/>
            <a:ext cx="2476500"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7324D"/>
                </a:solidFill>
                <a:latin typeface="微软雅黑"/>
                <a:ea typeface="微软雅黑"/>
                <a:cs typeface="微软雅黑"/>
              </a:defRPr>
            </a:pPr>
            <a:r>
              <a:rPr sz="1600" b="1">
                <a:solidFill>
                  <a:srgbClr val="17324D"/>
                </a:solidFill>
                <a:latin typeface="微软雅黑" charset="0"/>
                <a:ea typeface="微软雅黑" charset="0"/>
                <a:cs typeface="微软雅黑"/>
              </a:rPr>
              <a:t>租赁公司</a:t>
            </a:r>
            <a:endParaRPr sz="1600" b="1">
              <a:solidFill>
                <a:srgbClr val="17324D"/>
              </a:solidFill>
              <a:latin typeface="微软雅黑" charset="0"/>
              <a:ea typeface="微软雅黑" charset="0"/>
              <a:cs typeface="微软雅黑"/>
            </a:endParaRPr>
          </a:p>
        </p:txBody>
      </p:sp>
      <p:sp>
        <p:nvSpPr>
          <p:cNvPr id="39" name="矩形 38"/>
          <p:cNvSpPr>
            <a:spLocks noGrp="1"/>
          </p:cNvSpPr>
          <p:nvPr/>
        </p:nvSpPr>
        <p:spPr>
          <a:xfrm>
            <a:off x="933450" y="4528185"/>
            <a:ext cx="2571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324D"/>
                </a:solidFill>
                <a:latin typeface="微软雅黑"/>
                <a:ea typeface="微软雅黑"/>
                <a:cs typeface="微软雅黑"/>
              </a:defRPr>
            </a:pPr>
            <a:r>
              <a:rPr sz="1400" b="0">
                <a:solidFill>
                  <a:srgbClr val="17324D"/>
                </a:solidFill>
                <a:latin typeface="微软雅黑" charset="0"/>
                <a:ea typeface="微软雅黑" charset="0"/>
                <a:cs typeface="微软雅黑" charset="0"/>
              </a:rPr>
              <a:t>城服  /  住房部  /  商业部</a:t>
            </a:r>
            <a:endParaRPr sz="1400" b="0">
              <a:solidFill>
                <a:srgbClr val="17324D"/>
              </a:solidFill>
              <a:latin typeface="微软雅黑" charset="0"/>
              <a:ea typeface="微软雅黑" charset="0"/>
              <a:cs typeface="微软雅黑" charset="0"/>
            </a:endParaRPr>
          </a:p>
        </p:txBody>
      </p:sp>
      <p:sp>
        <p:nvSpPr>
          <p:cNvPr id="40" name="矩形 39"/>
          <p:cNvSpPr>
            <a:spLocks noGrp="1"/>
          </p:cNvSpPr>
          <p:nvPr/>
        </p:nvSpPr>
        <p:spPr>
          <a:xfrm>
            <a:off x="933450" y="4823460"/>
            <a:ext cx="27622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324D"/>
                </a:solidFill>
                <a:latin typeface="微软雅黑"/>
                <a:ea typeface="微软雅黑"/>
                <a:cs typeface="微软雅黑"/>
              </a:defRPr>
            </a:pPr>
            <a:r>
              <a:rPr sz="1400" b="0">
                <a:solidFill>
                  <a:srgbClr val="17324D"/>
                </a:solidFill>
                <a:latin typeface="微软雅黑" charset="0"/>
                <a:ea typeface="微软雅黑" charset="0"/>
                <a:cs typeface="微软雅黑" charset="0"/>
              </a:rPr>
              <a:t>数营部  /  财务部  /  安技部  /  综合部</a:t>
            </a:r>
            <a:endParaRPr sz="1400" b="0">
              <a:solidFill>
                <a:srgbClr val="17324D"/>
              </a:solidFill>
              <a:latin typeface="微软雅黑" charset="0"/>
              <a:ea typeface="微软雅黑" charset="0"/>
              <a:cs typeface="微软雅黑" charset="0"/>
            </a:endParaRPr>
          </a:p>
        </p:txBody>
      </p:sp>
      <p:sp>
        <p:nvSpPr>
          <p:cNvPr id="3" name="矩形 2"/>
          <p:cNvSpPr>
            <a:spLocks noGrp="1"/>
          </p:cNvSpPr>
          <p:nvPr/>
        </p:nvSpPr>
        <p:spPr>
          <a:xfrm>
            <a:off x="762000" y="5528310"/>
            <a:ext cx="66675" cy="66675"/>
          </a:xfrm>
          <a:prstGeom prst="rect">
            <a:avLst/>
          </a:prstGeom>
          <a:solidFill>
            <a:srgbClr val="0086D1"/>
          </a:solidFill>
          <a:ln w="0">
            <a:solidFill>
              <a:srgbClr val="000000">
                <a:alpha val="0"/>
              </a:srgbClr>
            </a:solidFill>
            <a:prstDash val="solid"/>
          </a:ln>
        </p:spPr>
      </p:sp>
      <p:sp>
        <p:nvSpPr>
          <p:cNvPr id="42" name="矩形 41"/>
          <p:cNvSpPr>
            <a:spLocks noGrp="1"/>
          </p:cNvSpPr>
          <p:nvPr/>
        </p:nvSpPr>
        <p:spPr>
          <a:xfrm>
            <a:off x="914400" y="5461635"/>
            <a:ext cx="2476500"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7324D"/>
                </a:solidFill>
                <a:latin typeface="微软雅黑"/>
                <a:ea typeface="微软雅黑"/>
                <a:cs typeface="微软雅黑"/>
              </a:defRPr>
            </a:pPr>
            <a:r>
              <a:rPr sz="1600" b="1">
                <a:solidFill>
                  <a:srgbClr val="17324D"/>
                </a:solidFill>
                <a:latin typeface="微软雅黑" charset="0"/>
                <a:ea typeface="微软雅黑" charset="0"/>
                <a:cs typeface="微软雅黑"/>
              </a:rPr>
              <a:t>乐寓</a:t>
            </a:r>
            <a:endParaRPr sz="1600" b="1">
              <a:solidFill>
                <a:srgbClr val="17324D"/>
              </a:solidFill>
              <a:latin typeface="微软雅黑" charset="0"/>
              <a:ea typeface="微软雅黑" charset="0"/>
              <a:cs typeface="微软雅黑"/>
            </a:endParaRPr>
          </a:p>
        </p:txBody>
      </p:sp>
      <p:sp>
        <p:nvSpPr>
          <p:cNvPr id="43" name="矩形 42"/>
          <p:cNvSpPr>
            <a:spLocks noGrp="1"/>
          </p:cNvSpPr>
          <p:nvPr/>
        </p:nvSpPr>
        <p:spPr>
          <a:xfrm>
            <a:off x="4629150" y="2699385"/>
            <a:ext cx="1257300" cy="571500"/>
          </a:xfrm>
          <a:prstGeom prst="rect">
            <a:avLst/>
          </a:prstGeom>
          <a:solidFill>
            <a:srgbClr val="E7F5FC"/>
          </a:solidFill>
          <a:ln w="9525">
            <a:solidFill>
              <a:srgbClr val="B8DFF4"/>
            </a:solidFill>
            <a:prstDash val="solid"/>
          </a:ln>
        </p:spPr>
      </p:sp>
      <p:sp>
        <p:nvSpPr>
          <p:cNvPr id="44" name="矩形 43"/>
          <p:cNvSpPr>
            <a:spLocks noGrp="1"/>
          </p:cNvSpPr>
          <p:nvPr/>
        </p:nvSpPr>
        <p:spPr>
          <a:xfrm>
            <a:off x="4743450" y="2875915"/>
            <a:ext cx="1028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5B93"/>
                </a:solidFill>
                <a:latin typeface="微软雅黑"/>
                <a:ea typeface="微软雅黑"/>
                <a:cs typeface="微软雅黑"/>
              </a:defRPr>
            </a:pPr>
            <a:r>
              <a:rPr>
                <a:solidFill>
                  <a:srgbClr val="005B93"/>
                </a:solidFill>
                <a:latin typeface="微软雅黑" charset="0"/>
                <a:ea typeface="微软雅黑" charset="0"/>
                <a:cs typeface="微软雅黑"/>
              </a:rPr>
              <a:t>一体化系统</a:t>
            </a:r>
            <a:endParaRPr>
              <a:solidFill>
                <a:srgbClr val="005B93"/>
              </a:solidFill>
              <a:latin typeface="微软雅黑" charset="0"/>
              <a:ea typeface="微软雅黑" charset="0"/>
              <a:cs typeface="微软雅黑"/>
            </a:endParaRPr>
          </a:p>
        </p:txBody>
      </p:sp>
      <p:sp>
        <p:nvSpPr>
          <p:cNvPr id="45" name="矩形 44"/>
          <p:cNvSpPr>
            <a:spLocks noGrp="1"/>
          </p:cNvSpPr>
          <p:nvPr/>
        </p:nvSpPr>
        <p:spPr>
          <a:xfrm>
            <a:off x="6115050" y="2699385"/>
            <a:ext cx="1257300" cy="571500"/>
          </a:xfrm>
          <a:prstGeom prst="rect">
            <a:avLst/>
          </a:prstGeom>
          <a:solidFill>
            <a:srgbClr val="E7F5FC"/>
          </a:solidFill>
          <a:ln w="9525">
            <a:solidFill>
              <a:srgbClr val="B8DFF4"/>
            </a:solidFill>
            <a:prstDash val="solid"/>
          </a:ln>
        </p:spPr>
      </p:sp>
      <p:sp>
        <p:nvSpPr>
          <p:cNvPr id="46" name="矩形 45"/>
          <p:cNvSpPr>
            <a:spLocks noGrp="1"/>
          </p:cNvSpPr>
          <p:nvPr/>
        </p:nvSpPr>
        <p:spPr>
          <a:xfrm>
            <a:off x="6229350" y="2875915"/>
            <a:ext cx="1028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5B93"/>
                </a:solidFill>
                <a:latin typeface="微软雅黑"/>
                <a:ea typeface="微软雅黑"/>
                <a:cs typeface="微软雅黑"/>
              </a:defRPr>
            </a:pPr>
            <a:r>
              <a:rPr>
                <a:solidFill>
                  <a:srgbClr val="005B93"/>
                </a:solidFill>
                <a:latin typeface="微软雅黑" charset="0"/>
                <a:ea typeface="微软雅黑" charset="0"/>
                <a:cs typeface="微软雅黑"/>
              </a:rPr>
              <a:t>商业系统</a:t>
            </a:r>
            <a:endParaRPr>
              <a:solidFill>
                <a:srgbClr val="005B93"/>
              </a:solidFill>
              <a:latin typeface="微软雅黑" charset="0"/>
              <a:ea typeface="微软雅黑" charset="0"/>
              <a:cs typeface="微软雅黑"/>
            </a:endParaRPr>
          </a:p>
        </p:txBody>
      </p:sp>
      <p:sp>
        <p:nvSpPr>
          <p:cNvPr id="49" name="矩形 48"/>
          <p:cNvSpPr>
            <a:spLocks noGrp="1"/>
          </p:cNvSpPr>
          <p:nvPr/>
        </p:nvSpPr>
        <p:spPr>
          <a:xfrm>
            <a:off x="6115050" y="3404235"/>
            <a:ext cx="1257300" cy="571500"/>
          </a:xfrm>
          <a:prstGeom prst="rect">
            <a:avLst/>
          </a:prstGeom>
          <a:solidFill>
            <a:srgbClr val="E7F5FC"/>
          </a:solidFill>
          <a:ln w="9525">
            <a:solidFill>
              <a:srgbClr val="B8DFF4"/>
            </a:solidFill>
            <a:prstDash val="solid"/>
          </a:ln>
        </p:spPr>
      </p:sp>
      <p:sp>
        <p:nvSpPr>
          <p:cNvPr id="50" name="矩形 49"/>
          <p:cNvSpPr>
            <a:spLocks noGrp="1"/>
          </p:cNvSpPr>
          <p:nvPr/>
        </p:nvSpPr>
        <p:spPr>
          <a:xfrm>
            <a:off x="6229350" y="3580765"/>
            <a:ext cx="1028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5B93"/>
                </a:solidFill>
                <a:latin typeface="微软雅黑"/>
                <a:ea typeface="微软雅黑"/>
                <a:cs typeface="微软雅黑"/>
              </a:defRPr>
            </a:pPr>
            <a:r>
              <a:rPr b="1">
                <a:solidFill>
                  <a:srgbClr val="005B93"/>
                </a:solidFill>
                <a:latin typeface="微软雅黑" charset="0"/>
                <a:ea typeface="微软雅黑" charset="0"/>
                <a:cs typeface="微软雅黑"/>
              </a:rPr>
              <a:t>停车系统</a:t>
            </a:r>
            <a:endParaRPr b="1">
              <a:solidFill>
                <a:srgbClr val="005B93"/>
              </a:solidFill>
              <a:latin typeface="微软雅黑" charset="0"/>
              <a:ea typeface="微软雅黑" charset="0"/>
              <a:cs typeface="微软雅黑"/>
            </a:endParaRPr>
          </a:p>
        </p:txBody>
      </p:sp>
      <p:sp>
        <p:nvSpPr>
          <p:cNvPr id="51" name="矩形 50"/>
          <p:cNvSpPr>
            <a:spLocks noGrp="1"/>
          </p:cNvSpPr>
          <p:nvPr/>
        </p:nvSpPr>
        <p:spPr>
          <a:xfrm>
            <a:off x="4629150" y="4109085"/>
            <a:ext cx="1257300" cy="571500"/>
          </a:xfrm>
          <a:prstGeom prst="rect">
            <a:avLst/>
          </a:prstGeom>
          <a:solidFill>
            <a:srgbClr val="E7F5FC"/>
          </a:solidFill>
          <a:ln w="9525">
            <a:solidFill>
              <a:srgbClr val="B8DFF4"/>
            </a:solidFill>
            <a:prstDash val="solid"/>
          </a:ln>
        </p:spPr>
      </p:sp>
      <p:sp>
        <p:nvSpPr>
          <p:cNvPr id="52" name="矩形 51"/>
          <p:cNvSpPr>
            <a:spLocks noGrp="1"/>
          </p:cNvSpPr>
          <p:nvPr/>
        </p:nvSpPr>
        <p:spPr>
          <a:xfrm>
            <a:off x="4743450" y="4285615"/>
            <a:ext cx="1028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5B93"/>
                </a:solidFill>
                <a:latin typeface="微软雅黑"/>
                <a:ea typeface="微软雅黑"/>
                <a:cs typeface="微软雅黑"/>
              </a:defRPr>
            </a:pPr>
            <a:r>
              <a:rPr>
                <a:solidFill>
                  <a:srgbClr val="005B93"/>
                </a:solidFill>
                <a:latin typeface="微软雅黑" charset="0"/>
                <a:ea typeface="微软雅黑" charset="0"/>
                <a:cs typeface="微软雅黑"/>
              </a:rPr>
              <a:t>充电桩系统</a:t>
            </a:r>
            <a:endParaRPr>
              <a:solidFill>
                <a:srgbClr val="005B93"/>
              </a:solidFill>
              <a:latin typeface="微软雅黑" charset="0"/>
              <a:ea typeface="微软雅黑" charset="0"/>
              <a:cs typeface="微软雅黑"/>
            </a:endParaRPr>
          </a:p>
        </p:txBody>
      </p:sp>
      <p:sp>
        <p:nvSpPr>
          <p:cNvPr id="53" name="矩形 52"/>
          <p:cNvSpPr>
            <a:spLocks noGrp="1"/>
          </p:cNvSpPr>
          <p:nvPr/>
        </p:nvSpPr>
        <p:spPr>
          <a:xfrm>
            <a:off x="6115050" y="4109085"/>
            <a:ext cx="1257300" cy="571500"/>
          </a:xfrm>
          <a:prstGeom prst="rect">
            <a:avLst/>
          </a:prstGeom>
          <a:solidFill>
            <a:srgbClr val="E7F5FC"/>
          </a:solidFill>
          <a:ln w="9525">
            <a:solidFill>
              <a:srgbClr val="B8DFF4"/>
            </a:solidFill>
            <a:prstDash val="solid"/>
          </a:ln>
        </p:spPr>
      </p:sp>
      <p:sp>
        <p:nvSpPr>
          <p:cNvPr id="54" name="矩形 53"/>
          <p:cNvSpPr>
            <a:spLocks noGrp="1"/>
          </p:cNvSpPr>
          <p:nvPr/>
        </p:nvSpPr>
        <p:spPr>
          <a:xfrm>
            <a:off x="6229350" y="4213860"/>
            <a:ext cx="1028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005B93"/>
                </a:solidFill>
                <a:latin typeface="微软雅黑"/>
                <a:ea typeface="微软雅黑"/>
                <a:cs typeface="微软雅黑"/>
              </a:defRPr>
            </a:pPr>
            <a:r>
              <a:rPr sz="1200">
                <a:solidFill>
                  <a:srgbClr val="005B93"/>
                </a:solidFill>
                <a:latin typeface="微软雅黑" charset="0"/>
                <a:ea typeface="微软雅黑" charset="0"/>
                <a:cs typeface="微软雅黑" charset="0"/>
              </a:rPr>
              <a:t>12345民生诉求平台</a:t>
            </a:r>
            <a:endParaRPr sz="1200">
              <a:solidFill>
                <a:srgbClr val="005B93"/>
              </a:solidFill>
              <a:latin typeface="微软雅黑" charset="0"/>
              <a:ea typeface="微软雅黑" charset="0"/>
              <a:cs typeface="微软雅黑" charset="0"/>
            </a:endParaRPr>
          </a:p>
        </p:txBody>
      </p:sp>
      <p:sp>
        <p:nvSpPr>
          <p:cNvPr id="55" name="矩形 54"/>
          <p:cNvSpPr>
            <a:spLocks noGrp="1"/>
          </p:cNvSpPr>
          <p:nvPr/>
        </p:nvSpPr>
        <p:spPr>
          <a:xfrm>
            <a:off x="4629150" y="5042535"/>
            <a:ext cx="27241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A6B7A"/>
                </a:solidFill>
                <a:latin typeface="微软雅黑"/>
                <a:ea typeface="微软雅黑"/>
                <a:cs typeface="微软雅黑"/>
              </a:defRPr>
            </a:pPr>
            <a:r>
              <a:rPr sz="1400" b="0">
                <a:solidFill>
                  <a:srgbClr val="5A6B7A"/>
                </a:solidFill>
                <a:latin typeface="微软雅黑" charset="0"/>
                <a:ea typeface="微软雅黑" charset="0"/>
                <a:cs typeface="微软雅黑"/>
              </a:rPr>
              <a:t>系统侧重点：接口链路、</a:t>
            </a:r>
            <a:r>
              <a:rPr lang="zh-CN" sz="1400" b="0">
                <a:solidFill>
                  <a:srgbClr val="5A6B7A"/>
                </a:solidFill>
                <a:latin typeface="微软雅黑" charset="0"/>
                <a:ea typeface="微软雅黑" charset="0"/>
                <a:cs typeface="微软雅黑"/>
              </a:rPr>
              <a:t>对接时间周期</a:t>
            </a:r>
            <a:r>
              <a:rPr sz="1400" b="0">
                <a:solidFill>
                  <a:srgbClr val="5A6B7A"/>
                </a:solidFill>
                <a:latin typeface="微软雅黑" charset="0"/>
                <a:ea typeface="微软雅黑" charset="0"/>
                <a:cs typeface="微软雅黑"/>
              </a:rPr>
              <a:t>、工单流转与民生诉求对接。</a:t>
            </a:r>
            <a:endParaRPr sz="1400" b="0">
              <a:solidFill>
                <a:srgbClr val="5A6B7A"/>
              </a:solidFill>
              <a:latin typeface="微软雅黑" charset="0"/>
              <a:ea typeface="微软雅黑" charset="0"/>
              <a:cs typeface="微软雅黑"/>
            </a:endParaRPr>
          </a:p>
        </p:txBody>
      </p:sp>
      <p:sp>
        <p:nvSpPr>
          <p:cNvPr id="56" name="矩形 55"/>
          <p:cNvSpPr>
            <a:spLocks noGrp="1"/>
          </p:cNvSpPr>
          <p:nvPr/>
        </p:nvSpPr>
        <p:spPr>
          <a:xfrm>
            <a:off x="8667750" y="2870835"/>
            <a:ext cx="2000250" cy="590550"/>
          </a:xfrm>
          <a:prstGeom prst="rect">
            <a:avLst/>
          </a:prstGeom>
          <a:solidFill>
            <a:srgbClr val="FFF3EC"/>
          </a:solidFill>
          <a:ln w="9525">
            <a:solidFill>
              <a:srgbClr val="FF8439"/>
            </a:solidFill>
            <a:prstDash val="solid"/>
          </a:ln>
        </p:spPr>
      </p:sp>
      <p:sp>
        <p:nvSpPr>
          <p:cNvPr id="57" name="矩形 56"/>
          <p:cNvSpPr>
            <a:spLocks noGrp="1"/>
          </p:cNvSpPr>
          <p:nvPr/>
        </p:nvSpPr>
        <p:spPr>
          <a:xfrm>
            <a:off x="8858250" y="3061335"/>
            <a:ext cx="209550" cy="209550"/>
          </a:xfrm>
          <a:prstGeom prst="rect">
            <a:avLst/>
          </a:prstGeom>
          <a:solidFill>
            <a:srgbClr val="FF8439"/>
          </a:solidFill>
          <a:ln w="0">
            <a:solidFill>
              <a:srgbClr val="000000">
                <a:alpha val="0"/>
              </a:srgbClr>
            </a:solidFill>
            <a:prstDash val="solid"/>
          </a:ln>
        </p:spPr>
      </p:sp>
      <p:sp>
        <p:nvSpPr>
          <p:cNvPr id="58" name="矩形 57"/>
          <p:cNvSpPr>
            <a:spLocks noGrp="1"/>
          </p:cNvSpPr>
          <p:nvPr/>
        </p:nvSpPr>
        <p:spPr>
          <a:xfrm>
            <a:off x="9258300" y="3051810"/>
            <a:ext cx="904875" cy="36703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A94A17"/>
                </a:solidFill>
                <a:latin typeface="微软雅黑"/>
                <a:ea typeface="微软雅黑"/>
                <a:cs typeface="微软雅黑"/>
              </a:defRPr>
            </a:pPr>
            <a:r>
              <a:rPr sz="1400" b="1">
                <a:solidFill>
                  <a:srgbClr val="FF8439"/>
                </a:solidFill>
                <a:latin typeface="微软雅黑" charset="0"/>
                <a:ea typeface="微软雅黑" charset="0"/>
                <a:cs typeface="微软雅黑"/>
              </a:rPr>
              <a:t>承福苑</a:t>
            </a:r>
            <a:endParaRPr sz="1400" b="1">
              <a:solidFill>
                <a:srgbClr val="FF8439"/>
              </a:solidFill>
              <a:latin typeface="微软雅黑" charset="0"/>
              <a:ea typeface="微软雅黑" charset="0"/>
              <a:cs typeface="微软雅黑"/>
            </a:endParaRPr>
          </a:p>
        </p:txBody>
      </p:sp>
      <p:sp>
        <p:nvSpPr>
          <p:cNvPr id="62" name="矩形 61"/>
          <p:cNvSpPr>
            <a:spLocks noGrp="1"/>
          </p:cNvSpPr>
          <p:nvPr/>
        </p:nvSpPr>
        <p:spPr>
          <a:xfrm>
            <a:off x="8667750" y="5013325"/>
            <a:ext cx="23812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A6B7A"/>
                </a:solidFill>
                <a:latin typeface="微软雅黑"/>
                <a:ea typeface="微软雅黑"/>
                <a:cs typeface="微软雅黑"/>
              </a:defRPr>
            </a:pPr>
            <a:r>
              <a:rPr lang="zh-CN" sz="1400" b="0">
                <a:solidFill>
                  <a:srgbClr val="5A6B7A"/>
                </a:solidFill>
                <a:latin typeface="微软雅黑" charset="0"/>
                <a:ea typeface="微软雅黑" charset="0"/>
                <a:cs typeface="微软雅黑"/>
              </a:rPr>
              <a:t>了解</a:t>
            </a:r>
            <a:r>
              <a:rPr sz="1400" b="0">
                <a:solidFill>
                  <a:srgbClr val="5A6B7A"/>
                </a:solidFill>
                <a:latin typeface="微软雅黑" charset="0"/>
                <a:ea typeface="微软雅黑" charset="0"/>
                <a:cs typeface="微软雅黑"/>
              </a:rPr>
              <a:t>真实业务场景、服务对象差异与系统协同需求。</a:t>
            </a:r>
            <a:endParaRPr sz="1400" b="0">
              <a:solidFill>
                <a:srgbClr val="5A6B7A"/>
              </a:solidFill>
              <a:latin typeface="微软雅黑" charset="0"/>
              <a:ea typeface="微软雅黑" charset="0"/>
              <a:cs typeface="微软雅黑"/>
            </a:endParaRPr>
          </a:p>
        </p:txBody>
      </p:sp>
      <p:sp>
        <p:nvSpPr>
          <p:cNvPr id="4" name="矩形 3"/>
          <p:cNvSpPr>
            <a:spLocks noGrp="1"/>
          </p:cNvSpPr>
          <p:nvPr/>
        </p:nvSpPr>
        <p:spPr>
          <a:xfrm>
            <a:off x="4629150" y="3397885"/>
            <a:ext cx="1257300" cy="571500"/>
          </a:xfrm>
          <a:prstGeom prst="rect">
            <a:avLst/>
          </a:prstGeom>
          <a:solidFill>
            <a:srgbClr val="E7F5FC"/>
          </a:solidFill>
          <a:ln w="9525">
            <a:solidFill>
              <a:srgbClr val="B8DFF4"/>
            </a:solidFill>
            <a:prstDash val="solid"/>
          </a:ln>
        </p:spPr>
      </p:sp>
      <p:sp>
        <p:nvSpPr>
          <p:cNvPr id="5" name="矩形 4"/>
          <p:cNvSpPr>
            <a:spLocks noGrp="1"/>
          </p:cNvSpPr>
          <p:nvPr/>
        </p:nvSpPr>
        <p:spPr>
          <a:xfrm>
            <a:off x="4743450" y="3574415"/>
            <a:ext cx="1028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5B93"/>
                </a:solidFill>
                <a:latin typeface="微软雅黑"/>
                <a:ea typeface="微软雅黑"/>
                <a:cs typeface="微软雅黑"/>
              </a:defRPr>
            </a:pPr>
            <a:r>
              <a:rPr lang="zh-CN">
                <a:solidFill>
                  <a:srgbClr val="005B93"/>
                </a:solidFill>
                <a:latin typeface="微软雅黑" charset="0"/>
                <a:ea typeface="微软雅黑" charset="0"/>
                <a:cs typeface="微软雅黑"/>
              </a:rPr>
              <a:t>数据</a:t>
            </a:r>
            <a:r>
              <a:rPr lang="zh-CN">
                <a:solidFill>
                  <a:srgbClr val="005B93"/>
                </a:solidFill>
                <a:latin typeface="微软雅黑" charset="0"/>
                <a:ea typeface="微软雅黑" charset="0"/>
                <a:cs typeface="微软雅黑"/>
              </a:rPr>
              <a:t>中台</a:t>
            </a:r>
            <a:endParaRPr lang="zh-CN">
              <a:solidFill>
                <a:srgbClr val="005B93"/>
              </a:solidFill>
              <a:latin typeface="微软雅黑" charset="0"/>
              <a:ea typeface="微软雅黑" charset="0"/>
              <a:cs typeface="微软雅黑"/>
            </a:endParaRPr>
          </a:p>
        </p:txBody>
      </p:sp>
      <p:sp>
        <p:nvSpPr>
          <p:cNvPr id="6" name="矩形 5"/>
          <p:cNvSpPr>
            <a:spLocks noGrp="1"/>
          </p:cNvSpPr>
          <p:nvPr/>
        </p:nvSpPr>
        <p:spPr>
          <a:xfrm>
            <a:off x="8688705" y="3930650"/>
            <a:ext cx="2000250" cy="597535"/>
          </a:xfrm>
          <a:prstGeom prst="rect">
            <a:avLst/>
          </a:prstGeom>
          <a:solidFill>
            <a:srgbClr val="FFF3EC"/>
          </a:solidFill>
          <a:ln w="9525">
            <a:solidFill>
              <a:srgbClr val="FF8439"/>
            </a:solidFill>
            <a:prstDash val="solid"/>
          </a:ln>
        </p:spPr>
      </p:sp>
      <p:sp>
        <p:nvSpPr>
          <p:cNvPr id="7" name="矩形 6"/>
          <p:cNvSpPr>
            <a:spLocks noGrp="1"/>
          </p:cNvSpPr>
          <p:nvPr/>
        </p:nvSpPr>
        <p:spPr>
          <a:xfrm>
            <a:off x="8879205" y="4121150"/>
            <a:ext cx="209550" cy="209550"/>
          </a:xfrm>
          <a:prstGeom prst="rect">
            <a:avLst/>
          </a:prstGeom>
          <a:solidFill>
            <a:srgbClr val="FF8439"/>
          </a:solidFill>
          <a:ln w="0">
            <a:solidFill>
              <a:srgbClr val="000000">
                <a:alpha val="0"/>
              </a:srgbClr>
            </a:solidFill>
            <a:prstDash val="solid"/>
          </a:ln>
        </p:spPr>
      </p:sp>
      <p:sp>
        <p:nvSpPr>
          <p:cNvPr id="63" name="矩形 62"/>
          <p:cNvSpPr>
            <a:spLocks noGrp="1"/>
          </p:cNvSpPr>
          <p:nvPr/>
        </p:nvSpPr>
        <p:spPr>
          <a:xfrm>
            <a:off x="9279255" y="4121150"/>
            <a:ext cx="904875" cy="3575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A94A17"/>
                </a:solidFill>
                <a:latin typeface="微软雅黑"/>
                <a:ea typeface="微软雅黑"/>
                <a:cs typeface="微软雅黑"/>
              </a:defRPr>
            </a:pPr>
            <a:r>
              <a:rPr lang="zh-CN" sz="1400" b="1">
                <a:solidFill>
                  <a:srgbClr val="FF8439"/>
                </a:solidFill>
                <a:latin typeface="微软雅黑" charset="0"/>
                <a:ea typeface="微软雅黑" charset="0"/>
                <a:cs typeface="微软雅黑"/>
              </a:rPr>
              <a:t>高新花园</a:t>
            </a:r>
            <a:endParaRPr lang="zh-CN" sz="1400" b="1">
              <a:solidFill>
                <a:srgbClr val="FF8439"/>
              </a:solidFill>
              <a:latin typeface="微软雅黑" charset="0"/>
              <a:ea typeface="微软雅黑" charset="0"/>
              <a:cs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9109075" cy="953135"/>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charset="0"/>
                <a:ea typeface="微软雅黑" charset="0"/>
                <a:cs typeface="微软雅黑" charset="0"/>
              </a:rPr>
              <a:t>项目调研情况</a:t>
            </a:r>
            <a:r>
              <a:rPr lang="en-US" altLang="zh-CN" sz="2800" b="1" dirty="0">
                <a:solidFill>
                  <a:schemeClr val="tx1">
                    <a:lumMod val="75000"/>
                    <a:lumOff val="25000"/>
                  </a:schemeClr>
                </a:solidFill>
                <a:latin typeface="微软雅黑" charset="0"/>
                <a:ea typeface="微软雅黑" charset="0"/>
                <a:cs typeface="微软雅黑" charset="0"/>
              </a:rPr>
              <a:t>：</a:t>
            </a:r>
            <a:r>
              <a:rPr lang="zh-CN" altLang="en-US" sz="2800" b="1" noProof="0">
                <a:ln>
                  <a:noFill/>
                </a:ln>
                <a:solidFill>
                  <a:srgbClr val="00338D"/>
                </a:solidFill>
                <a:effectLst/>
                <a:uLnTx/>
                <a:uFillTx/>
                <a:latin typeface="微软雅黑" charset="0"/>
                <a:ea typeface="微软雅黑" charset="0"/>
                <a:cs typeface="微软雅黑" charset="0"/>
                <a:sym typeface="+mn-ea"/>
              </a:rPr>
              <a:t>已开展</a:t>
            </a:r>
            <a:r>
              <a:rPr lang="en-US" altLang="zh-CN" sz="2800" b="1" noProof="0">
                <a:ln>
                  <a:noFill/>
                </a:ln>
                <a:solidFill>
                  <a:srgbClr val="00338D"/>
                </a:solidFill>
                <a:effectLst/>
                <a:uLnTx/>
                <a:uFillTx/>
                <a:latin typeface="微软雅黑" charset="0"/>
                <a:ea typeface="微软雅黑" charset="0"/>
                <a:cs typeface="微软雅黑" charset="0"/>
                <a:sym typeface="+mn-ea"/>
              </a:rPr>
              <a:t>42</a:t>
            </a:r>
            <a:r>
              <a:rPr lang="zh-CN" altLang="en-US" sz="2800" b="1" noProof="0">
                <a:ln>
                  <a:noFill/>
                </a:ln>
                <a:solidFill>
                  <a:srgbClr val="00338D"/>
                </a:solidFill>
                <a:effectLst/>
                <a:uLnTx/>
                <a:uFillTx/>
                <a:latin typeface="微软雅黑" charset="0"/>
                <a:ea typeface="微软雅黑" charset="0"/>
                <a:cs typeface="微软雅黑" charset="0"/>
                <a:sym typeface="+mn-ea"/>
              </a:rPr>
              <a:t>场访谈（</a:t>
            </a:r>
            <a:r>
              <a:rPr lang="en-US" altLang="zh-CN" sz="2800" b="1" noProof="0">
                <a:ln>
                  <a:noFill/>
                </a:ln>
                <a:solidFill>
                  <a:srgbClr val="00338D"/>
                </a:solidFill>
                <a:effectLst/>
                <a:uLnTx/>
                <a:uFillTx/>
                <a:latin typeface="微软雅黑" charset="0"/>
                <a:ea typeface="微软雅黑" charset="0"/>
                <a:cs typeface="微软雅黑" charset="0"/>
                <a:sym typeface="+mn-ea"/>
              </a:rPr>
              <a:t>43/4</a:t>
            </a:r>
            <a:r>
              <a:rPr lang="en-US" altLang="zh-CN" sz="2800">
                <a:solidFill>
                  <a:srgbClr val="00338D"/>
                </a:solidFill>
                <a:latin typeface="微软雅黑" charset="0"/>
                <a:ea typeface="微软雅黑" charset="0"/>
                <a:cs typeface="微软雅黑" charset="0"/>
                <a:sym typeface="+mn-ea"/>
              </a:rPr>
              <a:t>9</a:t>
            </a:r>
            <a:r>
              <a:rPr lang="zh-CN" altLang="en-US" sz="2800" b="1" noProof="0">
                <a:ln>
                  <a:noFill/>
                </a:ln>
                <a:solidFill>
                  <a:srgbClr val="00338D"/>
                </a:solidFill>
                <a:effectLst/>
                <a:uLnTx/>
                <a:uFillTx/>
                <a:latin typeface="微软雅黑" charset="0"/>
                <a:ea typeface="微软雅黑" charset="0"/>
                <a:cs typeface="微软雅黑" charset="0"/>
                <a:sym typeface="+mn-ea"/>
              </a:rPr>
              <a:t>场）</a:t>
            </a:r>
            <a:endParaRPr kumimoji="0" lang="en-GB" sz="28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grpSp>
        <p:nvGrpSpPr>
          <p:cNvPr id="3" name="Group 145"/>
          <p:cNvGrpSpPr/>
          <p:nvPr/>
        </p:nvGrpSpPr>
        <p:grpSpPr>
          <a:xfrm>
            <a:off x="9883612" y="598229"/>
            <a:ext cx="821200" cy="240256"/>
            <a:chOff x="8786351" y="6406425"/>
            <a:chExt cx="821200" cy="240256"/>
          </a:xfrm>
        </p:grpSpPr>
        <p:sp>
          <p:nvSpPr>
            <p:cNvPr id="34" name="object 35"/>
            <p:cNvSpPr/>
            <p:nvPr/>
          </p:nvSpPr>
          <p:spPr>
            <a:xfrm>
              <a:off x="8858351" y="6478425"/>
              <a:ext cx="280015" cy="127008"/>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050" b="0" i="0" u="none" strike="noStrike" kern="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sp>
          <p:nvSpPr>
            <p:cNvPr id="4" name="object 35"/>
            <p:cNvSpPr/>
            <p:nvPr/>
          </p:nvSpPr>
          <p:spPr>
            <a:xfrm>
              <a:off x="9189795" y="6437178"/>
              <a:ext cx="417756" cy="209503"/>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noFill/>
            <a:ln w="12700" cap="flat" cmpd="sng" algn="ctr">
              <a:noFill/>
              <a:prstDash val="solid"/>
              <a:miter lim="800000"/>
            </a:ln>
            <a:effectLst/>
          </p:spPr>
          <p:txBody>
            <a:bodyPr lIns="0" tIns="54000" rIns="0" bIns="5400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已访谈</a:t>
              </a:r>
              <a:endParaRPr kumimoji="0" sz="900" b="0"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6" name="Oval 35"/>
            <p:cNvSpPr/>
            <p:nvPr/>
          </p:nvSpPr>
          <p:spPr>
            <a:xfrm>
              <a:off x="8786351" y="6406425"/>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6" name="Group 146"/>
          <p:cNvGrpSpPr/>
          <p:nvPr/>
        </p:nvGrpSpPr>
        <p:grpSpPr>
          <a:xfrm>
            <a:off x="10774729" y="598229"/>
            <a:ext cx="821200" cy="240256"/>
            <a:chOff x="9677468" y="6406425"/>
            <a:chExt cx="821200" cy="240256"/>
          </a:xfrm>
        </p:grpSpPr>
        <p:sp>
          <p:nvSpPr>
            <p:cNvPr id="7" name="object 35"/>
            <p:cNvSpPr/>
            <p:nvPr/>
          </p:nvSpPr>
          <p:spPr>
            <a:xfrm>
              <a:off x="9749468" y="6478425"/>
              <a:ext cx="280015" cy="127008"/>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050" b="0" i="0" u="none" strike="noStrike" kern="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sp>
          <p:nvSpPr>
            <p:cNvPr id="38" name="object 35"/>
            <p:cNvSpPr/>
            <p:nvPr/>
          </p:nvSpPr>
          <p:spPr>
            <a:xfrm>
              <a:off x="10080912" y="6437178"/>
              <a:ext cx="417756" cy="209503"/>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noFill/>
            <a:ln w="12700" cap="flat" cmpd="sng" algn="ctr">
              <a:noFill/>
              <a:prstDash val="solid"/>
              <a:miter lim="800000"/>
            </a:ln>
            <a:effectLst/>
          </p:spPr>
          <p:txBody>
            <a:bodyPr lIns="0" tIns="54000" rIns="0" bIns="5400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待访谈</a:t>
              </a:r>
              <a:endParaRPr kumimoji="0" sz="900" b="0"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Oval 38"/>
            <p:cNvSpPr/>
            <p:nvPr/>
          </p:nvSpPr>
          <p:spPr>
            <a:xfrm>
              <a:off x="9677468" y="6406425"/>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15" name="Rectangle 50"/>
          <p:cNvSpPr/>
          <p:nvPr/>
        </p:nvSpPr>
        <p:spPr>
          <a:xfrm>
            <a:off x="1361985" y="1142216"/>
            <a:ext cx="1935761" cy="274320"/>
          </a:xfrm>
          <a:prstGeom prst="rect">
            <a:avLst/>
          </a:prstGeom>
          <a:solidFill>
            <a:srgbClr val="0088D1"/>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住房服务中心</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object 35"/>
          <p:cNvSpPr/>
          <p:nvPr/>
        </p:nvSpPr>
        <p:spPr>
          <a:xfrm>
            <a:off x="1361985" y="2237414"/>
            <a:ext cx="1935761"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王福星、刘威、</a:t>
            </a: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林蓉、旷达</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0" name="Oval 39"/>
          <p:cNvSpPr/>
          <p:nvPr/>
        </p:nvSpPr>
        <p:spPr>
          <a:xfrm>
            <a:off x="1293612" y="216042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9" name="Rectangle 50"/>
          <p:cNvSpPr/>
          <p:nvPr/>
        </p:nvSpPr>
        <p:spPr>
          <a:xfrm>
            <a:off x="4230411" y="1141780"/>
            <a:ext cx="1935761"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财务部</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1" name="object 35"/>
          <p:cNvSpPr/>
          <p:nvPr/>
        </p:nvSpPr>
        <p:spPr>
          <a:xfrm>
            <a:off x="4757580" y="2237849"/>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沙里剑</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Oval 40"/>
          <p:cNvSpPr/>
          <p:nvPr/>
        </p:nvSpPr>
        <p:spPr>
          <a:xfrm>
            <a:off x="4679003" y="2179441"/>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17" name="Rectangle 50"/>
          <p:cNvSpPr/>
          <p:nvPr/>
        </p:nvSpPr>
        <p:spPr>
          <a:xfrm>
            <a:off x="7106567" y="1146538"/>
            <a:ext cx="1935761"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信息管理部</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2" name="object 35"/>
          <p:cNvSpPr/>
          <p:nvPr/>
        </p:nvSpPr>
        <p:spPr>
          <a:xfrm>
            <a:off x="7106567" y="2233092"/>
            <a:ext cx="1935761"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业务骨干</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Oval 41"/>
          <p:cNvSpPr/>
          <p:nvPr/>
        </p:nvSpPr>
        <p:spPr>
          <a:xfrm>
            <a:off x="7034567" y="2164746"/>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18" name="Rectangle 50"/>
          <p:cNvSpPr/>
          <p:nvPr/>
        </p:nvSpPr>
        <p:spPr>
          <a:xfrm>
            <a:off x="9990454" y="1142216"/>
            <a:ext cx="1935761"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数智（深圳）共享</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object 35"/>
          <p:cNvSpPr/>
          <p:nvPr/>
        </p:nvSpPr>
        <p:spPr>
          <a:xfrm>
            <a:off x="10373148" y="1742950"/>
            <a:ext cx="1170373" cy="247221"/>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营销管理中心</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cxnSp>
        <p:nvCxnSpPr>
          <p:cNvPr id="29" name="Straight Connector 28"/>
          <p:cNvCxnSpPr>
            <a:stCxn id="18" idx="2"/>
          </p:cNvCxnSpPr>
          <p:nvPr/>
        </p:nvCxnSpPr>
        <p:spPr>
          <a:xfrm flipH="1">
            <a:off x="10958334" y="1416536"/>
            <a:ext cx="1" cy="470352"/>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object 35"/>
          <p:cNvSpPr/>
          <p:nvPr/>
        </p:nvSpPr>
        <p:spPr>
          <a:xfrm>
            <a:off x="10373148" y="2237414"/>
            <a:ext cx="1170373"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罗酉艺</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3" name="Oval 42"/>
          <p:cNvSpPr/>
          <p:nvPr/>
        </p:nvSpPr>
        <p:spPr>
          <a:xfrm>
            <a:off x="10322557" y="215445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45" name="Rectangle 50"/>
          <p:cNvSpPr/>
          <p:nvPr/>
        </p:nvSpPr>
        <p:spPr>
          <a:xfrm>
            <a:off x="1366314" y="2627909"/>
            <a:ext cx="7558707"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房屋租赁公司</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7" name="Rectangle 50"/>
          <p:cNvSpPr/>
          <p:nvPr/>
        </p:nvSpPr>
        <p:spPr>
          <a:xfrm>
            <a:off x="9341346" y="2627909"/>
            <a:ext cx="2584869"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乐寓公司</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8" name="Rectangle 47"/>
          <p:cNvSpPr/>
          <p:nvPr/>
        </p:nvSpPr>
        <p:spPr>
          <a:xfrm>
            <a:off x="1281686" y="2812586"/>
            <a:ext cx="9806205" cy="1890551"/>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t" anchorCtr="0"/>
          <a:lstStyle/>
          <a:p>
            <a:pPr marL="0" marR="0" lvl="0" indent="0" algn="ctr" defTabSz="914400" rtl="0" eaLnBrk="1" fontAlgn="auto" latinLnBrk="0" hangingPunct="1">
              <a:lnSpc>
                <a:spcPts val="1400"/>
              </a:lnSpc>
              <a:spcBef>
                <a:spcPts val="0"/>
              </a:spcBef>
              <a:spcAft>
                <a:spcPts val="0"/>
              </a:spcAft>
              <a:buClrTx/>
              <a:buSzTx/>
              <a:buFontTx/>
              <a:buNone/>
              <a:defRPr/>
            </a:pPr>
            <a:endParaRPr kumimoji="0" lang="en-US" altLang="zh-CN" sz="11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grpSp>
        <p:nvGrpSpPr>
          <p:cNvPr id="13" name="Group 104"/>
          <p:cNvGrpSpPr/>
          <p:nvPr/>
        </p:nvGrpSpPr>
        <p:grpSpPr>
          <a:xfrm>
            <a:off x="9341346" y="3916935"/>
            <a:ext cx="1020288" cy="756289"/>
            <a:chOff x="9429332" y="4142340"/>
            <a:chExt cx="1020288" cy="756289"/>
          </a:xfrm>
        </p:grpSpPr>
        <p:sp>
          <p:nvSpPr>
            <p:cNvPr id="14" name="object 35"/>
            <p:cNvSpPr/>
            <p:nvPr/>
          </p:nvSpPr>
          <p:spPr>
            <a:xfrm>
              <a:off x="9501332" y="4142340"/>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市场部</a:t>
              </a:r>
              <a:endParaRPr kumimoji="0"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 name="object 35"/>
            <p:cNvSpPr/>
            <p:nvPr/>
          </p:nvSpPr>
          <p:spPr>
            <a:xfrm>
              <a:off x="9501332" y="4585325"/>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舒锐、黄聪</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Oval 71"/>
            <p:cNvSpPr/>
            <p:nvPr/>
          </p:nvSpPr>
          <p:spPr>
            <a:xfrm>
              <a:off x="9429332" y="45103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51" name="object 35"/>
          <p:cNvSpPr/>
          <p:nvPr/>
        </p:nvSpPr>
        <p:spPr>
          <a:xfrm>
            <a:off x="2510772" y="3916935"/>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综合部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8" name="object 35"/>
          <p:cNvSpPr/>
          <p:nvPr/>
        </p:nvSpPr>
        <p:spPr>
          <a:xfrm>
            <a:off x="2510772" y="4359920"/>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李振、梁柳</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9" name="Oval 58"/>
          <p:cNvSpPr/>
          <p:nvPr/>
        </p:nvSpPr>
        <p:spPr>
          <a:xfrm>
            <a:off x="2431129" y="428498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53" name="object 35"/>
          <p:cNvSpPr/>
          <p:nvPr/>
        </p:nvSpPr>
        <p:spPr>
          <a:xfrm>
            <a:off x="1361329" y="3916935"/>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住房部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6" name="object 35"/>
          <p:cNvSpPr/>
          <p:nvPr/>
        </p:nvSpPr>
        <p:spPr>
          <a:xfrm>
            <a:off x="1361329" y="4359920"/>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尹湘海、陈俊盛</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7" name="Oval 66"/>
          <p:cNvSpPr/>
          <p:nvPr/>
        </p:nvSpPr>
        <p:spPr>
          <a:xfrm>
            <a:off x="1281686" y="428498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nvGrpSpPr>
          <p:cNvPr id="115" name="Group 114"/>
          <p:cNvGrpSpPr/>
          <p:nvPr/>
        </p:nvGrpSpPr>
        <p:grpSpPr>
          <a:xfrm>
            <a:off x="1951253" y="3363085"/>
            <a:ext cx="1027931" cy="388235"/>
            <a:chOff x="1807743" y="3218090"/>
            <a:chExt cx="1027931" cy="388235"/>
          </a:xfrm>
        </p:grpSpPr>
        <p:sp>
          <p:nvSpPr>
            <p:cNvPr id="22"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庄立川</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3" name="Oval 80"/>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52" name="object 35"/>
          <p:cNvSpPr/>
          <p:nvPr/>
        </p:nvSpPr>
        <p:spPr>
          <a:xfrm>
            <a:off x="5088223" y="3916935"/>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财务部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0" name="object 35"/>
          <p:cNvSpPr/>
          <p:nvPr/>
        </p:nvSpPr>
        <p:spPr>
          <a:xfrm>
            <a:off x="5088223" y="4359920"/>
            <a:ext cx="473644"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吴伟光</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1" name="Oval 60"/>
          <p:cNvSpPr/>
          <p:nvPr/>
        </p:nvSpPr>
        <p:spPr>
          <a:xfrm>
            <a:off x="5008580" y="428498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49" name="object 35"/>
          <p:cNvSpPr/>
          <p:nvPr/>
        </p:nvSpPr>
        <p:spPr>
          <a:xfrm>
            <a:off x="3955027" y="3916935"/>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数营部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2" name="object 35"/>
          <p:cNvSpPr/>
          <p:nvPr/>
        </p:nvSpPr>
        <p:spPr>
          <a:xfrm>
            <a:off x="3955027" y="4359920"/>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郭小博、李亚彬、胡英俊、刘薇、周波</a:t>
            </a:r>
            <a:endParaRPr kumimoji="0"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3" name="Oval 62"/>
          <p:cNvSpPr/>
          <p:nvPr/>
        </p:nvSpPr>
        <p:spPr>
          <a:xfrm>
            <a:off x="3875384" y="428498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24" name="object 35"/>
          <p:cNvSpPr/>
          <p:nvPr/>
        </p:nvSpPr>
        <p:spPr>
          <a:xfrm>
            <a:off x="4613579" y="3438016"/>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孙璐</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5" name="Oval 82"/>
          <p:cNvSpPr/>
          <p:nvPr/>
        </p:nvSpPr>
        <p:spPr>
          <a:xfrm>
            <a:off x="4533936" y="3363085"/>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nvGrpSpPr>
          <p:cNvPr id="26" name="Group 94"/>
          <p:cNvGrpSpPr/>
          <p:nvPr/>
        </p:nvGrpSpPr>
        <p:grpSpPr>
          <a:xfrm>
            <a:off x="6452835" y="3363085"/>
            <a:ext cx="1027931" cy="1310139"/>
            <a:chOff x="6571884" y="3322271"/>
            <a:chExt cx="1027931" cy="1310139"/>
          </a:xfrm>
        </p:grpSpPr>
        <p:sp>
          <p:nvSpPr>
            <p:cNvPr id="54" name="object 35"/>
            <p:cNvSpPr/>
            <p:nvPr/>
          </p:nvSpPr>
          <p:spPr>
            <a:xfrm>
              <a:off x="6651527" y="3876121"/>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商业部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8" name="object 35"/>
            <p:cNvSpPr/>
            <p:nvPr/>
          </p:nvSpPr>
          <p:spPr>
            <a:xfrm>
              <a:off x="6651527" y="4319106"/>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洪晓彬、欧永超、张培连</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9" name="Oval 68"/>
            <p:cNvSpPr/>
            <p:nvPr/>
          </p:nvSpPr>
          <p:spPr>
            <a:xfrm>
              <a:off x="6571884" y="4244175"/>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27" name="object 35"/>
            <p:cNvSpPr/>
            <p:nvPr/>
          </p:nvSpPr>
          <p:spPr>
            <a:xfrm>
              <a:off x="6651527" y="3397202"/>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熊玮艺</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8" name="Oval 87"/>
            <p:cNvSpPr/>
            <p:nvPr/>
          </p:nvSpPr>
          <p:spPr>
            <a:xfrm>
              <a:off x="6571884" y="3322271"/>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50" name="object 35"/>
          <p:cNvSpPr/>
          <p:nvPr/>
        </p:nvSpPr>
        <p:spPr>
          <a:xfrm>
            <a:off x="7976733" y="3916935"/>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安技部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4" name="object 35"/>
          <p:cNvSpPr/>
          <p:nvPr/>
        </p:nvSpPr>
        <p:spPr>
          <a:xfrm>
            <a:off x="7976733" y="4359920"/>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冯萍、</a:t>
            </a:r>
            <a:r>
              <a:rPr kumimoji="0" lang="zh-CN"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陈修华、王恪然</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5" name="Oval 64"/>
          <p:cNvSpPr/>
          <p:nvPr/>
        </p:nvSpPr>
        <p:spPr>
          <a:xfrm>
            <a:off x="7897090" y="428498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nvGrpSpPr>
          <p:cNvPr id="55" name="Group 3"/>
          <p:cNvGrpSpPr/>
          <p:nvPr/>
        </p:nvGrpSpPr>
        <p:grpSpPr>
          <a:xfrm>
            <a:off x="7897090" y="3363085"/>
            <a:ext cx="1027931" cy="388235"/>
            <a:chOff x="7753580" y="3218090"/>
            <a:chExt cx="1027931" cy="388235"/>
          </a:xfrm>
        </p:grpSpPr>
        <p:sp>
          <p:nvSpPr>
            <p:cNvPr id="90" name="object 35"/>
            <p:cNvSpPr/>
            <p:nvPr/>
          </p:nvSpPr>
          <p:spPr>
            <a:xfrm>
              <a:off x="7833223"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林武胜</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6" name="Oval 90"/>
            <p:cNvSpPr/>
            <p:nvPr/>
          </p:nvSpPr>
          <p:spPr>
            <a:xfrm>
              <a:off x="7753580"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cxnSp>
        <p:nvCxnSpPr>
          <p:cNvPr id="98" name="Straight Connector 97"/>
          <p:cNvCxnSpPr/>
          <p:nvPr/>
        </p:nvCxnSpPr>
        <p:spPr>
          <a:xfrm>
            <a:off x="3667222" y="3395870"/>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object 35"/>
          <p:cNvSpPr/>
          <p:nvPr/>
        </p:nvSpPr>
        <p:spPr>
          <a:xfrm>
            <a:off x="10766553" y="4359920"/>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连正一、易飞虎</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9" name="Oval 100"/>
          <p:cNvSpPr/>
          <p:nvPr/>
        </p:nvSpPr>
        <p:spPr>
          <a:xfrm>
            <a:off x="10694553" y="428498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cxnSp>
        <p:nvCxnSpPr>
          <p:cNvPr id="92" name="Straight Connector 101"/>
          <p:cNvCxnSpPr/>
          <p:nvPr/>
        </p:nvCxnSpPr>
        <p:spPr>
          <a:xfrm>
            <a:off x="6244673" y="3395870"/>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102"/>
          <p:cNvCxnSpPr/>
          <p:nvPr/>
        </p:nvCxnSpPr>
        <p:spPr>
          <a:xfrm>
            <a:off x="7688928" y="3389543"/>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7" name="Straight Connector 103"/>
          <p:cNvCxnSpPr/>
          <p:nvPr/>
        </p:nvCxnSpPr>
        <p:spPr>
          <a:xfrm>
            <a:off x="9133183" y="3438016"/>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69" name="Group 168"/>
          <p:cNvGrpSpPr/>
          <p:nvPr/>
        </p:nvGrpSpPr>
        <p:grpSpPr>
          <a:xfrm>
            <a:off x="7805098" y="5381016"/>
            <a:ext cx="2221455" cy="1359104"/>
            <a:chOff x="2641344" y="5236021"/>
            <a:chExt cx="2221455" cy="1359104"/>
          </a:xfrm>
        </p:grpSpPr>
        <p:grpSp>
          <p:nvGrpSpPr>
            <p:cNvPr id="116" name="Group 115"/>
            <p:cNvGrpSpPr/>
            <p:nvPr/>
          </p:nvGrpSpPr>
          <p:grpSpPr>
            <a:xfrm>
              <a:off x="3238106" y="5236021"/>
              <a:ext cx="1027931" cy="388235"/>
              <a:chOff x="1807743" y="3218090"/>
              <a:chExt cx="1027931" cy="388235"/>
            </a:xfrm>
          </p:grpSpPr>
          <p:sp>
            <p:nvSpPr>
              <p:cNvPr id="117"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谢绍杨</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8" name="Oval 117"/>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99" name="Group 136"/>
            <p:cNvGrpSpPr/>
            <p:nvPr/>
          </p:nvGrpSpPr>
          <p:grpSpPr>
            <a:xfrm>
              <a:off x="3834868" y="6206890"/>
              <a:ext cx="1027931" cy="388235"/>
              <a:chOff x="1807743" y="3218090"/>
              <a:chExt cx="1027931" cy="388235"/>
            </a:xfrm>
          </p:grpSpPr>
          <p:sp>
            <p:nvSpPr>
              <p:cNvPr id="106"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彭勃、彭尘</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7" name="Oval 138"/>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08" name="Group 139"/>
            <p:cNvGrpSpPr/>
            <p:nvPr/>
          </p:nvGrpSpPr>
          <p:grpSpPr>
            <a:xfrm>
              <a:off x="2641344" y="6206890"/>
              <a:ext cx="1027931" cy="388235"/>
              <a:chOff x="1807743" y="3218090"/>
              <a:chExt cx="1027931" cy="388235"/>
            </a:xfrm>
          </p:grpSpPr>
          <p:sp>
            <p:nvSpPr>
              <p:cNvPr id="109"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韩钟锐、雷奇平</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0" name="Oval 141"/>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grpSp>
        <p:nvGrpSpPr>
          <p:cNvPr id="170" name="Group 169"/>
          <p:cNvGrpSpPr/>
          <p:nvPr/>
        </p:nvGrpSpPr>
        <p:grpSpPr>
          <a:xfrm>
            <a:off x="1717013" y="5381016"/>
            <a:ext cx="5777846" cy="1359104"/>
            <a:chOff x="5718712" y="5236021"/>
            <a:chExt cx="5777846" cy="1359104"/>
          </a:xfrm>
        </p:grpSpPr>
        <p:grpSp>
          <p:nvGrpSpPr>
            <p:cNvPr id="111" name="Group 133"/>
            <p:cNvGrpSpPr/>
            <p:nvPr/>
          </p:nvGrpSpPr>
          <p:grpSpPr>
            <a:xfrm>
              <a:off x="5718712" y="6206890"/>
              <a:ext cx="1027931" cy="388235"/>
              <a:chOff x="1807743" y="3218090"/>
              <a:chExt cx="1027931" cy="388235"/>
            </a:xfrm>
          </p:grpSpPr>
          <p:sp>
            <p:nvSpPr>
              <p:cNvPr id="112"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温雨龙</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3" name="Oval 135"/>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68" name="Group 167"/>
            <p:cNvGrpSpPr/>
            <p:nvPr/>
          </p:nvGrpSpPr>
          <p:grpSpPr>
            <a:xfrm>
              <a:off x="6906191" y="5236021"/>
              <a:ext cx="4590367" cy="1359104"/>
              <a:chOff x="6906191" y="5236021"/>
              <a:chExt cx="4590367" cy="1359104"/>
            </a:xfrm>
          </p:grpSpPr>
          <p:grpSp>
            <p:nvGrpSpPr>
              <p:cNvPr id="119" name="Group 118"/>
              <p:cNvGrpSpPr/>
              <p:nvPr/>
            </p:nvGrpSpPr>
            <p:grpSpPr>
              <a:xfrm>
                <a:off x="8205375" y="5236021"/>
                <a:ext cx="1027931" cy="388235"/>
                <a:chOff x="1807743" y="3218090"/>
                <a:chExt cx="1027931" cy="388235"/>
              </a:xfrm>
            </p:grpSpPr>
            <p:sp>
              <p:nvSpPr>
                <p:cNvPr id="120"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王影</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1" name="Oval 120"/>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22" name="Group 121"/>
              <p:cNvGrpSpPr/>
              <p:nvPr/>
            </p:nvGrpSpPr>
            <p:grpSpPr>
              <a:xfrm>
                <a:off x="8205375" y="5686434"/>
                <a:ext cx="1027931" cy="388235"/>
                <a:chOff x="1807743" y="3218090"/>
                <a:chExt cx="1027931" cy="388235"/>
              </a:xfrm>
            </p:grpSpPr>
            <p:sp>
              <p:nvSpPr>
                <p:cNvPr id="123"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翟冲飞</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4" name="Oval 123"/>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25" name="Group 124"/>
              <p:cNvGrpSpPr/>
              <p:nvPr/>
            </p:nvGrpSpPr>
            <p:grpSpPr>
              <a:xfrm>
                <a:off x="6906191" y="6206890"/>
                <a:ext cx="1027931" cy="388235"/>
                <a:chOff x="1807743" y="3218090"/>
                <a:chExt cx="1027931" cy="388235"/>
              </a:xfrm>
            </p:grpSpPr>
            <p:sp>
              <p:nvSpPr>
                <p:cNvPr id="126"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沈芾、何佳霓</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7" name="Oval 126"/>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28" name="Group 127"/>
              <p:cNvGrpSpPr/>
              <p:nvPr/>
            </p:nvGrpSpPr>
            <p:grpSpPr>
              <a:xfrm>
                <a:off x="8093670" y="6206890"/>
                <a:ext cx="1027931" cy="388235"/>
                <a:chOff x="1807743" y="3218090"/>
                <a:chExt cx="1027931" cy="388235"/>
              </a:xfrm>
            </p:grpSpPr>
            <p:sp>
              <p:nvSpPr>
                <p:cNvPr id="129"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申华伟、罗成伟</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0" name="Oval 129"/>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31" name="Group 130"/>
              <p:cNvGrpSpPr/>
              <p:nvPr/>
            </p:nvGrpSpPr>
            <p:grpSpPr>
              <a:xfrm>
                <a:off x="9281149" y="6206890"/>
                <a:ext cx="1027931" cy="388235"/>
                <a:chOff x="1807743" y="3218090"/>
                <a:chExt cx="1027931" cy="388235"/>
              </a:xfrm>
            </p:grpSpPr>
            <p:sp>
              <p:nvSpPr>
                <p:cNvPr id="132"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史文凯、梁嫚珊</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4" name="Oval 132"/>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51" name="Group 142"/>
              <p:cNvGrpSpPr/>
              <p:nvPr/>
            </p:nvGrpSpPr>
            <p:grpSpPr>
              <a:xfrm>
                <a:off x="10468627" y="6206890"/>
                <a:ext cx="1027931" cy="388235"/>
                <a:chOff x="1807743" y="3218090"/>
                <a:chExt cx="1027931" cy="388235"/>
              </a:xfrm>
            </p:grpSpPr>
            <p:sp>
              <p:nvSpPr>
                <p:cNvPr id="156"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黄礼萍</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8" name="Oval 144"/>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grpSp>
      <p:sp>
        <p:nvSpPr>
          <p:cNvPr id="159" name="Rectangle 50"/>
          <p:cNvSpPr/>
          <p:nvPr/>
        </p:nvSpPr>
        <p:spPr>
          <a:xfrm>
            <a:off x="1353686" y="4989542"/>
            <a:ext cx="8412775"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城服公司</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160" name="Group 154"/>
          <p:cNvGrpSpPr/>
          <p:nvPr/>
        </p:nvGrpSpPr>
        <p:grpSpPr>
          <a:xfrm>
            <a:off x="5211579" y="2962156"/>
            <a:ext cx="1027931" cy="388235"/>
            <a:chOff x="1807743" y="3218090"/>
            <a:chExt cx="1027931" cy="388235"/>
          </a:xfrm>
        </p:grpSpPr>
        <p:sp>
          <p:nvSpPr>
            <p:cNvPr id="161"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袁虎林</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2" name="Oval 156"/>
            <p:cNvSpPr/>
            <p:nvPr/>
          </p:nvSpPr>
          <p:spPr>
            <a:xfrm>
              <a:off x="1807743" y="3218090"/>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163" name="object 26"/>
          <p:cNvSpPr txBox="1"/>
          <p:nvPr/>
        </p:nvSpPr>
        <p:spPr>
          <a:xfrm>
            <a:off x="553840" y="1150168"/>
            <a:ext cx="604759" cy="1396228"/>
          </a:xfrm>
          <a:prstGeom prst="rect">
            <a:avLst/>
          </a:prstGeom>
          <a:solidFill>
            <a:schemeClr val="bg1">
              <a:lumMod val="85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defPPr>
              <a:defRPr lang="en-US"/>
            </a:defPPr>
            <a:lvl1pPr algn="ctr">
              <a:defRPr sz="105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集团</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64" name="object 26"/>
          <p:cNvSpPr txBox="1"/>
          <p:nvPr/>
        </p:nvSpPr>
        <p:spPr>
          <a:xfrm>
            <a:off x="553840" y="2707180"/>
            <a:ext cx="604759" cy="2059117"/>
          </a:xfrm>
          <a:prstGeom prst="rect">
            <a:avLst/>
          </a:prstGeom>
          <a:solidFill>
            <a:schemeClr val="bg1">
              <a:lumMod val="85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defPPr>
              <a:defRPr lang="en-US"/>
            </a:defPPr>
            <a:lvl1pPr algn="ctr">
              <a:defRPr sz="105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租赁公司/乐寓公司</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65" name="object 26"/>
          <p:cNvSpPr txBox="1"/>
          <p:nvPr/>
        </p:nvSpPr>
        <p:spPr>
          <a:xfrm>
            <a:off x="553840" y="4989542"/>
            <a:ext cx="604759" cy="1750577"/>
          </a:xfrm>
          <a:prstGeom prst="rect">
            <a:avLst/>
          </a:prstGeom>
          <a:solidFill>
            <a:schemeClr val="bg1">
              <a:lumMod val="85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defPPr>
              <a:defRPr lang="en-US"/>
            </a:defPPr>
            <a:lvl1pPr algn="ctr">
              <a:defRPr sz="105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城服公司</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66" name="object 35"/>
          <p:cNvSpPr/>
          <p:nvPr/>
        </p:nvSpPr>
        <p:spPr>
          <a:xfrm>
            <a:off x="5613121" y="4359920"/>
            <a:ext cx="473644"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高盼</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72" name="Connector: Elbow 171"/>
          <p:cNvCxnSpPr>
            <a:endCxn id="159" idx="0"/>
          </p:cNvCxnSpPr>
          <p:nvPr/>
        </p:nvCxnSpPr>
        <p:spPr>
          <a:xfrm rot="16200000" flipH="1">
            <a:off x="4665216" y="4094684"/>
            <a:ext cx="1238222" cy="551494"/>
          </a:xfrm>
          <a:prstGeom prst="bentConnector3">
            <a:avLst>
              <a:gd name="adj1" fmla="val 85694"/>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Straight Connector 2"/>
          <p:cNvCxnSpPr/>
          <p:nvPr/>
        </p:nvCxnSpPr>
        <p:spPr>
          <a:xfrm>
            <a:off x="7688928" y="5455947"/>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73" name="object 35"/>
          <p:cNvSpPr/>
          <p:nvPr/>
        </p:nvSpPr>
        <p:spPr>
          <a:xfrm>
            <a:off x="1875294" y="1689569"/>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周其明</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75" name="object 35"/>
          <p:cNvSpPr/>
          <p:nvPr/>
        </p:nvSpPr>
        <p:spPr>
          <a:xfrm>
            <a:off x="4757579" y="1832530"/>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杨惠岚</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76" name="object 35"/>
          <p:cNvSpPr/>
          <p:nvPr/>
        </p:nvSpPr>
        <p:spPr>
          <a:xfrm>
            <a:off x="7615744" y="1688420"/>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周星明</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77" name="Oval 11"/>
          <p:cNvSpPr/>
          <p:nvPr/>
        </p:nvSpPr>
        <p:spPr>
          <a:xfrm>
            <a:off x="7536101" y="1613489"/>
            <a:ext cx="144000" cy="144000"/>
          </a:xfrm>
          <a:prstGeom prst="ellipse">
            <a:avLst/>
          </a:prstGeom>
          <a:solidFill>
            <a:schemeClr val="bg1">
              <a:lumMod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nvGrpSpPr>
          <p:cNvPr id="178" name="Group 5"/>
          <p:cNvGrpSpPr/>
          <p:nvPr/>
        </p:nvGrpSpPr>
        <p:grpSpPr>
          <a:xfrm>
            <a:off x="10081063" y="2962156"/>
            <a:ext cx="1027931" cy="388235"/>
            <a:chOff x="1807743" y="3218090"/>
            <a:chExt cx="1027931" cy="388235"/>
          </a:xfrm>
        </p:grpSpPr>
        <p:sp>
          <p:nvSpPr>
            <p:cNvPr id="179"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于英东</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0" name="Oval 13"/>
            <p:cNvSpPr/>
            <p:nvPr/>
          </p:nvSpPr>
          <p:spPr>
            <a:xfrm>
              <a:off x="1807743" y="3218090"/>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181" name="object 35"/>
          <p:cNvSpPr/>
          <p:nvPr/>
        </p:nvSpPr>
        <p:spPr>
          <a:xfrm>
            <a:off x="4761375" y="1471143"/>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范静</a:t>
            </a:r>
            <a:endParaRPr kumimoji="0"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2" name="Oval 20"/>
          <p:cNvSpPr/>
          <p:nvPr/>
        </p:nvSpPr>
        <p:spPr>
          <a:xfrm>
            <a:off x="4679003" y="1396212"/>
            <a:ext cx="144000" cy="144000"/>
          </a:xfrm>
          <a:prstGeom prst="ellipse">
            <a:avLst/>
          </a:prstGeom>
          <a:solidFill>
            <a:schemeClr val="bg1">
              <a:lumMod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183" name="Oval 9"/>
          <p:cNvSpPr/>
          <p:nvPr/>
        </p:nvSpPr>
        <p:spPr>
          <a:xfrm>
            <a:off x="4679003" y="1757599"/>
            <a:ext cx="144000" cy="144000"/>
          </a:xfrm>
          <a:prstGeom prst="ellipse">
            <a:avLst/>
          </a:prstGeom>
          <a:solidFill>
            <a:schemeClr val="bg1">
              <a:lumMod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184" name="Oval 60"/>
          <p:cNvSpPr/>
          <p:nvPr/>
        </p:nvSpPr>
        <p:spPr>
          <a:xfrm>
            <a:off x="5566110" y="426847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2" name="Oval 39"/>
          <p:cNvSpPr/>
          <p:nvPr/>
        </p:nvSpPr>
        <p:spPr>
          <a:xfrm>
            <a:off x="1807327" y="164035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697470"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【调研</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总结】智能客服：关键发现及解决思路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eaLnBrk="0" fontAlgn="base"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4" name="Arrow: Pentagon 2"/>
          <p:cNvSpPr/>
          <p:nvPr/>
        </p:nvSpPr>
        <p:spPr>
          <a:xfrm>
            <a:off x="406718" y="1448436"/>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Arrow: Chevron 3"/>
          <p:cNvSpPr/>
          <p:nvPr/>
        </p:nvSpPr>
        <p:spPr>
          <a:xfrm>
            <a:off x="3887470" y="1448435"/>
            <a:ext cx="2715895" cy="27686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Arrow: Chevron 5"/>
          <p:cNvSpPr/>
          <p:nvPr/>
        </p:nvSpPr>
        <p:spPr>
          <a:xfrm>
            <a:off x="6770370" y="1448435"/>
            <a:ext cx="4995545" cy="27559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Rectangle 7"/>
          <p:cNvSpPr/>
          <p:nvPr/>
        </p:nvSpPr>
        <p:spPr>
          <a:xfrm>
            <a:off x="262890" y="2204085"/>
            <a:ext cx="847090" cy="137795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系统割裂</a:t>
            </a:r>
            <a:endParaRPr lang="zh-CN" altLang="en-US" sz="1100" b="1" kern="0" dirty="0">
              <a:solidFill>
                <a:prstClr val="white"/>
              </a:solidFill>
              <a:latin typeface="微软雅黑" panose="020B0503020204020204" pitchFamily="34" charset="-122"/>
              <a:ea typeface="微软雅黑" panose="020B0503020204020204" pitchFamily="34" charset="-122"/>
            </a:endParaRPr>
          </a:p>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功能不完善</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8" name="Rectangle 8"/>
          <p:cNvSpPr/>
          <p:nvPr/>
        </p:nvSpPr>
        <p:spPr>
          <a:xfrm>
            <a:off x="1223010" y="2204085"/>
            <a:ext cx="2422525" cy="137795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系统分散，客户服务需要频繁切换，效率低。</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数据不通，历史记录缺失。</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话务、工单、舆情智能化不足。</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知识库不统一，人工查询耗时。</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9" name="Rectangle 11"/>
          <p:cNvSpPr/>
          <p:nvPr/>
        </p:nvSpPr>
        <p:spPr>
          <a:xfrm>
            <a:off x="3759835" y="2204085"/>
            <a:ext cx="2767330" cy="137795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客户数据管理</a:t>
            </a:r>
            <a:r>
              <a:rPr kumimoji="0" lang="en-US" altLang="zh-CN"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整合用户数据</a:t>
            </a:r>
            <a:r>
              <a:rPr kumimoji="0" lang="en-US" altLang="zh-CN"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提供数据底座</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呼叫中心</a:t>
            </a:r>
            <a:r>
              <a:rPr kumimoji="0" lang="en-US" altLang="zh-CN"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智能知识库</a:t>
            </a:r>
            <a:r>
              <a:rPr kumimoji="0" lang="en-US" altLang="zh-CN"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完善智能客服基础功能</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建设</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 name="Rectangle 16"/>
          <p:cNvSpPr/>
          <p:nvPr/>
        </p:nvSpPr>
        <p:spPr>
          <a:xfrm>
            <a:off x="262890" y="3813175"/>
            <a:ext cx="847090" cy="120586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人工依赖高</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1" name="Rectangle 17"/>
          <p:cNvSpPr/>
          <p:nvPr/>
        </p:nvSpPr>
        <p:spPr>
          <a:xfrm>
            <a:off x="1223010" y="3813175"/>
            <a:ext cx="2422525" cy="120586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坐席分配不精准。</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人工处理多，效率低、易出错。</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标签不统一，画像不精准。</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2" name="Rectangle 18"/>
          <p:cNvSpPr/>
          <p:nvPr/>
        </p:nvSpPr>
        <p:spPr>
          <a:xfrm>
            <a:off x="3759835" y="3813175"/>
            <a:ext cx="2767965" cy="120586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智能工单管理</a:t>
            </a:r>
            <a:r>
              <a:rPr lang="en-US" altLang="zh-CN"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a:t>
            </a:r>
            <a:r>
              <a:rPr lang="zh-CN" altLang="en-US"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智能话务接待</a:t>
            </a:r>
            <a:r>
              <a:rPr lang="en-US" altLang="zh-CN"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实现服务全流程智能化，降低人工依赖</a:t>
            </a:r>
            <a:endParaRPr kumimoji="0" lang="en-US" altLang="zh-CN"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3" name="Rectangle 22"/>
          <p:cNvSpPr/>
          <p:nvPr/>
        </p:nvSpPr>
        <p:spPr>
          <a:xfrm>
            <a:off x="262573" y="5169776"/>
            <a:ext cx="846905" cy="80566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效率提升</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4" name="Rectangle 23"/>
          <p:cNvSpPr/>
          <p:nvPr/>
        </p:nvSpPr>
        <p:spPr>
          <a:xfrm>
            <a:off x="1223210" y="5169776"/>
            <a:ext cx="2422643" cy="8056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客服响应效率低</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风险管控不完善，投诉升级难预防、难处理</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5" name="Rectangle 24"/>
          <p:cNvSpPr/>
          <p:nvPr/>
        </p:nvSpPr>
        <p:spPr>
          <a:xfrm>
            <a:off x="3759835" y="5169535"/>
            <a:ext cx="2716530" cy="80581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智能质检</a:t>
            </a:r>
            <a:r>
              <a:rPr lang="en-US" altLang="zh-CN"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、AI</a:t>
            </a:r>
            <a:r>
              <a:rPr lang="zh-CN" altLang="en-US"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能力</a:t>
            </a:r>
            <a:r>
              <a:rPr lang="en-US" altLang="zh-CN"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a:t>
            </a:r>
            <a:r>
              <a:rPr lang="zh-CN" altLang="en-US"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投诉风险识别</a:t>
            </a:r>
            <a:r>
              <a:rPr lang="en-US" altLang="zh-CN"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标准化运营体系建设，提升服务质量与管理效率</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22" name="表格 21"/>
          <p:cNvGraphicFramePr/>
          <p:nvPr/>
        </p:nvGraphicFramePr>
        <p:xfrm>
          <a:off x="6691630" y="1816608"/>
          <a:ext cx="1491615" cy="4648200"/>
        </p:xfrm>
        <a:graphic>
          <a:graphicData uri="http://schemas.openxmlformats.org/drawingml/2006/table">
            <a:tbl>
              <a:tblPr/>
              <a:tblGrid>
                <a:gridCol w="179705"/>
                <a:gridCol w="851535"/>
                <a:gridCol w="460375"/>
              </a:tblGrid>
              <a:tr h="194945">
                <a:tc rowSpan="9">
                  <a:txBody>
                    <a:bodyPr/>
                    <a:lstStyle/>
                    <a:p>
                      <a:pPr indent="0" algn="ctr" fontAlgn="t">
                        <a:lnSpc>
                          <a:spcPct val="100000"/>
                        </a:lnSpc>
                      </a:pPr>
                      <a:r>
                        <a:rPr lang="zh-CN" altLang="en-US" sz="800" b="0" i="0">
                          <a:solidFill>
                            <a:schemeClr val="bg1"/>
                          </a:solidFill>
                          <a:latin typeface="微软雅黑"/>
                          <a:ea typeface="微软雅黑"/>
                        </a:rPr>
                        <a:t>呼叫中心</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运营商线路集成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c>
                  <a:txBody>
                    <a:bodyPr/>
                    <a:lstStyle/>
                    <a:p>
                      <a:pPr algn="ctr" fontAlgn="t"/>
                      <a:r>
                        <a:rPr lang="zh-CN" altLang="en-US" sz="800" b="0" i="0">
                          <a:solidFill>
                            <a:srgbClr val="000000"/>
                          </a:solidFill>
                          <a:latin typeface="微软雅黑"/>
                          <a:ea typeface="微软雅黑"/>
                        </a:rPr>
                        <a:t>线路集成二阶段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坐席队列</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6">
                  <a:txBody>
                    <a:bodyPr/>
                    <a:lstStyle/>
                    <a:p>
                      <a:pPr algn="ctr" fontAlgn="t">
                        <a:buNone/>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全渠道接入平台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en-US" altLang="zh-CN" sz="800" b="0" i="0">
                          <a:solidFill>
                            <a:srgbClr val="000000"/>
                          </a:solidFill>
                          <a:latin typeface="微软雅黑"/>
                          <a:ea typeface="微软雅黑"/>
                        </a:rPr>
                        <a:t>IVR</a:t>
                      </a:r>
                      <a:r>
                        <a:rPr lang="zh-CN" altLang="en-US" sz="800" b="0" i="0">
                          <a:solidFill>
                            <a:srgbClr val="000000"/>
                          </a:solidFill>
                          <a:latin typeface="微软雅黑"/>
                          <a:ea typeface="微软雅黑"/>
                        </a:rPr>
                        <a:t>语音导航</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在线客服</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通信管理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录音功能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5209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可视化现场监控</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2">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905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可视化统计报表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rowSpan="7">
                  <a:txBody>
                    <a:bodyPr/>
                    <a:lstStyle/>
                    <a:p>
                      <a:pPr indent="0" algn="ctr" fontAlgn="t">
                        <a:lnSpc>
                          <a:spcPct val="100000"/>
                        </a:lnSpc>
                      </a:pPr>
                      <a:r>
                        <a:rPr lang="zh-CN" altLang="en-US" sz="800" b="0" i="0">
                          <a:solidFill>
                            <a:schemeClr val="bg1"/>
                          </a:solidFill>
                          <a:latin typeface="微软雅黑"/>
                          <a:ea typeface="微软雅黑"/>
                        </a:rPr>
                        <a:t>全自动工单</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工单受理平台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基础诉求受理功能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跨渠道预受理能力</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工单管理与优化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内部运营支持</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智能辅助填单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大数据分析研判</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rowSpan="11">
                  <a:txBody>
                    <a:bodyPr/>
                    <a:lstStyle/>
                    <a:p>
                      <a:pPr indent="0" algn="ctr" fontAlgn="t">
                        <a:lnSpc>
                          <a:spcPct val="100000"/>
                        </a:lnSpc>
                      </a:pPr>
                      <a:r>
                        <a:rPr lang="zh-CN" altLang="en-US" sz="800" b="0" i="0">
                          <a:solidFill>
                            <a:schemeClr val="bg1"/>
                          </a:solidFill>
                          <a:latin typeface="微软雅黑"/>
                          <a:ea typeface="微软雅黑"/>
                        </a:rPr>
                        <a:t>智能知识库</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知识梳理服务</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6">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知识提醒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知识检索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知识审核</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系统管理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549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版本管理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知识抽取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统计分析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知识运营</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智能优化策略</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23" name="表格 22"/>
          <p:cNvGraphicFramePr/>
          <p:nvPr/>
        </p:nvGraphicFramePr>
        <p:xfrm>
          <a:off x="8256270" y="1838960"/>
          <a:ext cx="1687195" cy="4470400"/>
        </p:xfrm>
        <a:graphic>
          <a:graphicData uri="http://schemas.openxmlformats.org/drawingml/2006/table">
            <a:tbl>
              <a:tblPr/>
              <a:tblGrid>
                <a:gridCol w="182245"/>
                <a:gridCol w="1071880"/>
                <a:gridCol w="433070"/>
              </a:tblGrid>
              <a:tr h="170815">
                <a:tc rowSpan="13">
                  <a:txBody>
                    <a:bodyPr/>
                    <a:lstStyle/>
                    <a:p>
                      <a:pPr algn="ctr" fontAlgn="t">
                        <a:buClrTx/>
                        <a:buSzTx/>
                        <a:buFontTx/>
                      </a:pPr>
                      <a:r>
                        <a:rPr lang="zh-CN" altLang="en-US" sz="800" b="0" i="0">
                          <a:solidFill>
                            <a:schemeClr val="bg1"/>
                          </a:solidFill>
                          <a:latin typeface="微软雅黑"/>
                          <a:ea typeface="微软雅黑"/>
                        </a:rPr>
                        <a:t>AI智能语音交互平台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ASR/TTS引擎</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12">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AI智能语音门户</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AI智能语音识别与交互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AI智能语义理解</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AI智能打断与澄清</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AI智能识别容错处理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371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自定义AI语音交互场景</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会话记录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AI转人工设置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人机对话内容透传工单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智能呼入AI机器人</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智能呼出AI机器人</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buClrTx/>
                        <a:buSzTx/>
                        <a:buFontTx/>
                      </a:pPr>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rowSpan="11">
                  <a:txBody>
                    <a:bodyPr/>
                    <a:lstStyle/>
                    <a:p>
                      <a:pPr algn="ctr" fontAlgn="t">
                        <a:buClrTx/>
                        <a:buSzTx/>
                        <a:buFontTx/>
                      </a:pPr>
                      <a:r>
                        <a:rPr lang="zh-CN" altLang="en-US" sz="800" b="0" i="0">
                          <a:solidFill>
                            <a:schemeClr val="bg1"/>
                          </a:solidFill>
                          <a:latin typeface="微软雅黑"/>
                          <a:ea typeface="微软雅黑"/>
                        </a:rPr>
                        <a:t>AI智能对话平台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多轮会话</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7">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多渠道服务</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多租户和账号管理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会话AI机器人BOT配置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会话测试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发布管理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内部员工辅助使用功能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词库管理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buClrTx/>
                        <a:buSzTx/>
                        <a:buFontTx/>
                      </a:pPr>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语义理解分析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扩展问题推荐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业务系统数据对接问答</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rowSpan="7">
                  <a:txBody>
                    <a:bodyPr/>
                    <a:lstStyle/>
                    <a:p>
                      <a:pPr algn="ctr" fontAlgn="t">
                        <a:buClrTx/>
                        <a:buSzTx/>
                        <a:buFontTx/>
                      </a:pPr>
                      <a:r>
                        <a:rPr lang="zh-CN" altLang="en-US" sz="800" b="0" i="0">
                          <a:solidFill>
                            <a:schemeClr val="bg1"/>
                          </a:solidFill>
                          <a:latin typeface="微软雅黑"/>
                          <a:ea typeface="微软雅黑"/>
                        </a:rPr>
                        <a:t>坐席助手</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语音识别ASR</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7">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通话助理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知识助理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监控助理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实时服务质检</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扩展功能要求</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24" name="表格 23"/>
          <p:cNvGraphicFramePr/>
          <p:nvPr/>
        </p:nvGraphicFramePr>
        <p:xfrm>
          <a:off x="9984740" y="1842770"/>
          <a:ext cx="1839595" cy="4471670"/>
        </p:xfrm>
        <a:graphic>
          <a:graphicData uri="http://schemas.openxmlformats.org/drawingml/2006/table">
            <a:tbl>
              <a:tblPr/>
              <a:tblGrid>
                <a:gridCol w="311785"/>
                <a:gridCol w="1062355"/>
                <a:gridCol w="465455"/>
              </a:tblGrid>
              <a:tr h="171450">
                <a:tc rowSpan="4">
                  <a:txBody>
                    <a:bodyPr/>
                    <a:lstStyle/>
                    <a:p>
                      <a:pPr algn="ctr" fontAlgn="t"/>
                      <a:r>
                        <a:rPr lang="zh-CN" altLang="en-US" sz="800" b="0" i="0">
                          <a:solidFill>
                            <a:schemeClr val="bg1"/>
                          </a:solidFill>
                          <a:latin typeface="微软雅黑"/>
                          <a:ea typeface="微软雅黑"/>
                        </a:rPr>
                        <a:t>政策智慧问答</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问题分析与处理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模型匹配与答案生成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答案展示与交互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模型优化与更新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rowSpan="10">
                  <a:txBody>
                    <a:bodyPr/>
                    <a:lstStyle/>
                    <a:p>
                      <a:pPr algn="ctr" fontAlgn="t"/>
                      <a:r>
                        <a:rPr lang="zh-CN" altLang="en-US" sz="800" b="0" i="0">
                          <a:solidFill>
                            <a:schemeClr val="bg1"/>
                          </a:solidFill>
                          <a:latin typeface="微软雅黑"/>
                          <a:ea typeface="微软雅黑"/>
                        </a:rPr>
                        <a:t>智能质检</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检索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10">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评分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评分模板</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模型</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配置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录音获取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用户</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日志</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业务趋势</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业务探索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2560">
                <a:tc rowSpan="3">
                  <a:txBody>
                    <a:bodyPr/>
                    <a:lstStyle/>
                    <a:p>
                      <a:pPr algn="ctr" fontAlgn="t"/>
                      <a:r>
                        <a:rPr lang="zh-CN" altLang="en-US" sz="800" b="0" i="0">
                          <a:solidFill>
                            <a:schemeClr val="bg1"/>
                          </a:solidFill>
                          <a:latin typeface="微软雅黑"/>
                          <a:ea typeface="微软雅黑"/>
                        </a:rPr>
                        <a:t>投诉风险识别</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投诉风险预警与识别</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822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投诉风险跟踪与管控</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3060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投诉风险数据分析与报告</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rowSpan="3">
                  <a:txBody>
                    <a:bodyPr/>
                    <a:lstStyle/>
                    <a:p>
                      <a:pPr algn="ctr" fontAlgn="t"/>
                      <a:r>
                        <a:rPr lang="en-US" altLang="zh-CN" sz="800" b="0" i="0">
                          <a:solidFill>
                            <a:schemeClr val="bg1"/>
                          </a:solidFill>
                          <a:latin typeface="微软雅黑"/>
                          <a:ea typeface="微软雅黑"/>
                        </a:rPr>
                        <a:t>AI</a:t>
                      </a:r>
                      <a:r>
                        <a:rPr lang="zh-CN" altLang="en-US" sz="800" b="0" i="0">
                          <a:solidFill>
                            <a:schemeClr val="bg1"/>
                          </a:solidFill>
                          <a:latin typeface="微软雅黑"/>
                          <a:ea typeface="微软雅黑"/>
                        </a:rPr>
                        <a:t>核心功能</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客户咨询意图预测系统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12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客服人员智能调度系统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客户投诉风险预警系统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rowSpan="5">
                  <a:txBody>
                    <a:bodyPr/>
                    <a:lstStyle/>
                    <a:p>
                      <a:pPr algn="ctr" fontAlgn="t"/>
                      <a:r>
                        <a:rPr lang="zh-CN" altLang="en-US" sz="800" b="0" i="0">
                          <a:solidFill>
                            <a:schemeClr val="bg1"/>
                          </a:solidFill>
                          <a:latin typeface="微软雅黑"/>
                          <a:ea typeface="微软雅黑"/>
                        </a:rPr>
                        <a:t>企业微信客户运营管理平台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综合通讯与互动管理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客户与数据精细化管理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权限控制与安全防护</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18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舆情监控与危机预警</a:t>
                      </a:r>
                      <a:endParaRPr lang="en-US" altLang="zh-CN"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368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营销拓展功能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67473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【调研总结】</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会员和积分</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管理：关键发现及解决思路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eaLnBrk="0" fontAlgn="base"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2" name="Arrow: Pentagon 24"/>
          <p:cNvSpPr/>
          <p:nvPr/>
        </p:nvSpPr>
        <p:spPr>
          <a:xfrm>
            <a:off x="636588" y="1566546"/>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Arrow: Chevron 25"/>
          <p:cNvSpPr/>
          <p:nvPr/>
        </p:nvSpPr>
        <p:spPr>
          <a:xfrm>
            <a:off x="4045585" y="1569085"/>
            <a:ext cx="3136265" cy="28829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Arrow: Chevron 26"/>
          <p:cNvSpPr/>
          <p:nvPr/>
        </p:nvSpPr>
        <p:spPr>
          <a:xfrm>
            <a:off x="7362825" y="1557655"/>
            <a:ext cx="3963670" cy="29972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Rectangle 27"/>
          <p:cNvSpPr/>
          <p:nvPr/>
        </p:nvSpPr>
        <p:spPr>
          <a:xfrm>
            <a:off x="636905" y="2173605"/>
            <a:ext cx="847090" cy="92900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数据割裂</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2" name="Rectangle 28"/>
          <p:cNvSpPr/>
          <p:nvPr/>
        </p:nvSpPr>
        <p:spPr>
          <a:xfrm>
            <a:off x="1597025" y="2173605"/>
            <a:ext cx="2251075" cy="92900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会员数据分散存储，缺乏统一客户标识。</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跨板块数据难共享。</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会员等级定义不一致。</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8" name="Rectangle 29"/>
          <p:cNvSpPr/>
          <p:nvPr/>
        </p:nvSpPr>
        <p:spPr>
          <a:xfrm>
            <a:off x="4062095" y="2173605"/>
            <a:ext cx="3070860" cy="92900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0" noProof="0" dirty="0">
                <a:ln>
                  <a:noFill/>
                </a:ln>
                <a:effectLst/>
                <a:uLnTx/>
                <a:uFillTx/>
                <a:latin typeface="微软雅黑" panose="020B0503020204020204" pitchFamily="34" charset="-122"/>
                <a:ea typeface="微软雅黑" panose="020B0503020204020204" pitchFamily="34" charset="-122"/>
                <a:sym typeface="+mn-ea"/>
              </a:rPr>
              <a:t>建立统一</a:t>
            </a:r>
            <a:r>
              <a:rPr lang="zh-CN" altLang="en-US"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会员中台</a:t>
            </a:r>
            <a:endParaRPr lang="zh-CN" altLang="en-US" sz="1200" kern="0" noProof="0" dirty="0">
              <a:ln>
                <a:noFill/>
              </a:ln>
              <a:effectLst/>
              <a:uLnTx/>
              <a:uFillTx/>
              <a:latin typeface="微软雅黑" panose="020B0503020204020204" pitchFamily="34" charset="-122"/>
              <a:ea typeface="微软雅黑" panose="020B0503020204020204" pitchFamily="34" charset="-122"/>
              <a:sym typeface="+mn-ea"/>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生成唯一客户标识（</a:t>
            </a:r>
            <a:r>
              <a:rPr kumimoji="0" lang="en-US" altLang="zh-CN"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OneID）。</a:t>
            </a:r>
            <a:endParaRPr kumimoji="0" lang="en-US" altLang="zh-CN"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整合各板块会员基础信息、积分数据及历史记录。</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9" name="Rectangle 33"/>
          <p:cNvSpPr/>
          <p:nvPr/>
        </p:nvSpPr>
        <p:spPr>
          <a:xfrm>
            <a:off x="636905" y="3194050"/>
            <a:ext cx="847090" cy="120078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积分运营薄弱</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20" name="Rectangle 34"/>
          <p:cNvSpPr/>
          <p:nvPr/>
        </p:nvSpPr>
        <p:spPr>
          <a:xfrm>
            <a:off x="1597025" y="3194050"/>
            <a:ext cx="2251075" cy="120078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积分获取场景有限，消耗渠道单一。</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积分价值感不足，难以激励用户活跃。</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积分使用功能多数尚未落地。</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1" name="Rectangle 35"/>
          <p:cNvSpPr/>
          <p:nvPr/>
        </p:nvSpPr>
        <p:spPr>
          <a:xfrm>
            <a:off x="4062095" y="3194050"/>
            <a:ext cx="3056890" cy="120078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拓展积分使用场景。</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建立</a:t>
            </a: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跨业务通兑</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与统一核算。</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明确</a:t>
            </a: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清结算规则</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，管控成本。</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2" name="Rectangle 39"/>
          <p:cNvSpPr/>
          <p:nvPr/>
        </p:nvSpPr>
        <p:spPr>
          <a:xfrm>
            <a:off x="636905" y="4505960"/>
            <a:ext cx="847090" cy="95377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会员体系暂不健全</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23" name="Rectangle 40"/>
          <p:cNvSpPr/>
          <p:nvPr/>
        </p:nvSpPr>
        <p:spPr>
          <a:xfrm>
            <a:off x="1597025" y="4505960"/>
            <a:ext cx="2251075" cy="95377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会员等级与权益匹配度低。</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缺乏差异化服务。</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激励机制未有效落地。</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4" name="Rectangle 41"/>
          <p:cNvSpPr/>
          <p:nvPr/>
        </p:nvSpPr>
        <p:spPr>
          <a:xfrm>
            <a:off x="4062095" y="4505960"/>
            <a:ext cx="3056890" cy="95377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0" noProof="0" dirty="0">
                <a:ln>
                  <a:noFill/>
                </a:ln>
                <a:effectLst/>
                <a:uLnTx/>
                <a:uFillTx/>
                <a:latin typeface="微软雅黑" panose="020B0503020204020204" pitchFamily="34" charset="-122"/>
                <a:ea typeface="微软雅黑" panose="020B0503020204020204" pitchFamily="34" charset="-122"/>
                <a:sym typeface="+mn-ea"/>
              </a:rPr>
              <a:t>标准化</a:t>
            </a:r>
            <a:r>
              <a:rPr lang="zh-CN" altLang="en-US"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注册与认证</a:t>
            </a:r>
            <a:r>
              <a:rPr lang="zh-CN" altLang="en-US" sz="1200" kern="0" noProof="0" dirty="0">
                <a:ln>
                  <a:noFill/>
                </a:ln>
                <a:effectLst/>
                <a:uLnTx/>
                <a:uFillTx/>
                <a:latin typeface="微软雅黑" panose="020B0503020204020204" pitchFamily="34" charset="-122"/>
                <a:ea typeface="微软雅黑" panose="020B0503020204020204" pitchFamily="34" charset="-122"/>
                <a:sym typeface="+mn-ea"/>
              </a:rPr>
              <a:t>流程。</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分级设置</a:t>
            </a: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会员等级与权益</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新增白名单管理，适配补偿及 </a:t>
            </a:r>
            <a:r>
              <a:rPr kumimoji="0" lang="en-US" altLang="zh-CN"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VIP </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服务场景</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25" name="表格 24"/>
          <p:cNvGraphicFramePr/>
          <p:nvPr/>
        </p:nvGraphicFramePr>
        <p:xfrm>
          <a:off x="7392987" y="1988820"/>
          <a:ext cx="1985645" cy="4140200"/>
        </p:xfrm>
        <a:graphic>
          <a:graphicData uri="http://schemas.openxmlformats.org/drawingml/2006/table">
            <a:tbl>
              <a:tblPr/>
              <a:tblGrid>
                <a:gridCol w="245110"/>
                <a:gridCol w="1148080"/>
                <a:gridCol w="592455"/>
              </a:tblGrid>
              <a:tr h="228600">
                <a:tc rowSpan="6">
                  <a:txBody>
                    <a:bodyPr/>
                    <a:lstStyle/>
                    <a:p>
                      <a:pPr algn="ctr" fontAlgn="t"/>
                      <a:r>
                        <a:rPr lang="zh-CN" altLang="en-US" sz="1000" b="0" i="0">
                          <a:solidFill>
                            <a:schemeClr val="bg1"/>
                          </a:solidFill>
                          <a:latin typeface="微软雅黑"/>
                          <a:ea typeface="微软雅黑"/>
                        </a:rPr>
                        <a:t>会员中心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会员注册与登录</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5">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身份认证</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等级与成长值体系</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会员信息管理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会员注销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系统深度对接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buNone/>
                      </a:pP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28600">
                <a:tc rowSpan="6">
                  <a:txBody>
                    <a:bodyPr/>
                    <a:lstStyle/>
                    <a:p>
                      <a:pPr algn="ctr" fontAlgn="t"/>
                      <a:r>
                        <a:rPr lang="zh-CN" altLang="en-US" sz="1000" b="0" i="0">
                          <a:solidFill>
                            <a:schemeClr val="bg1"/>
                          </a:solidFill>
                          <a:latin typeface="微软雅黑"/>
                          <a:ea typeface="微软雅黑"/>
                        </a:rPr>
                        <a:t>积分中心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积分账户基础管理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4">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积分明细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积分提醒</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积分调整与冻结</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积分互换</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2">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系统深度对接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9550">
                <a:tc rowSpan="4">
                  <a:txBody>
                    <a:bodyPr/>
                    <a:lstStyle/>
                    <a:p>
                      <a:pPr algn="ctr" fontAlgn="t"/>
                      <a:r>
                        <a:rPr lang="zh-CN" altLang="en-US" sz="1000" b="0" i="0">
                          <a:solidFill>
                            <a:schemeClr val="bg1"/>
                          </a:solidFill>
                          <a:latin typeface="微软雅黑"/>
                          <a:ea typeface="微软雅黑"/>
                        </a:rPr>
                        <a:t>权益中心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权益展示与领取</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alpha val="34000"/>
                      </a:srgbClr>
                    </a:solidFill>
                  </a:tcPr>
                </a:tc>
                <a:tc rowSpan="3">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alpha val="34000"/>
                      </a:srgbClr>
                    </a:solidFill>
                  </a:tcPr>
                </a:tc>
              </a:tr>
              <a:tr h="2095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权益管理配置</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95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权益履约跟踪</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95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p>
                      <a:pPr algn="ctr" fontAlgn="t">
                        <a:buNone/>
                      </a:pPr>
                      <a:r>
                        <a:rPr lang="zh-CN" altLang="en-US" sz="1000">
                          <a:solidFill>
                            <a:srgbClr val="000000"/>
                          </a:solidFill>
                          <a:latin typeface="微软雅黑"/>
                          <a:ea typeface="微软雅黑"/>
                          <a:sym typeface="+mn-ea"/>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优惠券管理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优惠券创建配置</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优惠券发放核销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优惠券查询管理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26" name="表格 25"/>
          <p:cNvGraphicFramePr/>
          <p:nvPr/>
        </p:nvGraphicFramePr>
        <p:xfrm>
          <a:off x="9553892" y="1989455"/>
          <a:ext cx="1766570" cy="4102100"/>
        </p:xfrm>
        <a:graphic>
          <a:graphicData uri="http://schemas.openxmlformats.org/drawingml/2006/table">
            <a:tbl>
              <a:tblPr/>
              <a:tblGrid>
                <a:gridCol w="210185"/>
                <a:gridCol w="940435"/>
                <a:gridCol w="615950"/>
              </a:tblGrid>
              <a:tr h="203200">
                <a:tc rowSpan="4">
                  <a:txBody>
                    <a:bodyPr/>
                    <a:lstStyle/>
                    <a:p>
                      <a:pPr algn="ctr" fontAlgn="t"/>
                      <a:r>
                        <a:rPr lang="zh-CN" altLang="en-US" sz="1000" b="0" i="0" strike="sngStrike">
                          <a:solidFill>
                            <a:schemeClr val="bg1"/>
                          </a:solidFill>
                          <a:latin typeface="微软雅黑"/>
                          <a:ea typeface="微软雅黑"/>
                        </a:rPr>
                        <a:t>运营活动管理</a:t>
                      </a:r>
                      <a:endParaRPr lang="zh-CN" altLang="en-US" sz="1000" b="0" i="0" strike="sngStrike">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strike="sngStrike">
                          <a:solidFill>
                            <a:srgbClr val="000000"/>
                          </a:solidFill>
                          <a:latin typeface="微软雅黑"/>
                          <a:ea typeface="微软雅黑"/>
                        </a:rPr>
                        <a:t>活动创建配置</a:t>
                      </a:r>
                      <a:endParaRPr lang="zh-CN" altLang="en-US" sz="1000" b="0" i="0" strike="sngStrike">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alpha val="34000"/>
                      </a:schemeClr>
                    </a:solidFill>
                  </a:tcPr>
                </a:tc>
                <a:tc rowSpan="4">
                  <a:txBody>
                    <a:bodyPr/>
                    <a:lstStyle/>
                    <a:p>
                      <a:pPr algn="ctr" fontAlgn="t"/>
                      <a:r>
                        <a:rPr lang="zh-CN" altLang="en-US" sz="1000" b="0" i="0" strike="sngStrike">
                          <a:solidFill>
                            <a:srgbClr val="000000"/>
                          </a:solidFill>
                          <a:latin typeface="微软雅黑"/>
                          <a:ea typeface="微软雅黑"/>
                        </a:rPr>
                        <a:t>二阶段</a:t>
                      </a:r>
                      <a:endParaRPr lang="zh-CN" altLang="en-US" sz="1000" b="0" i="0" strike="sngStrike">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alpha val="34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strike="sngStrike">
                          <a:solidFill>
                            <a:srgbClr val="000000"/>
                          </a:solidFill>
                          <a:latin typeface="微软雅黑"/>
                          <a:ea typeface="微软雅黑"/>
                        </a:rPr>
                        <a:t>活动推送与参与</a:t>
                      </a:r>
                      <a:endParaRPr lang="zh-CN" altLang="en-US" sz="1000" b="0" i="0" strike="sngStrike">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alpha val="34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374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strike="sngStrike">
                          <a:solidFill>
                            <a:srgbClr val="000000"/>
                          </a:solidFill>
                          <a:latin typeface="微软雅黑"/>
                          <a:ea typeface="微软雅黑"/>
                        </a:rPr>
                        <a:t>活动数据统计</a:t>
                      </a:r>
                      <a:endParaRPr lang="zh-CN" altLang="en-US" sz="1000" b="0" i="0" strike="sngStrike">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alpha val="34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strike="sngStrike">
                          <a:solidFill>
                            <a:srgbClr val="000000"/>
                          </a:solidFill>
                          <a:latin typeface="微软雅黑"/>
                          <a:ea typeface="微软雅黑"/>
                        </a:rPr>
                        <a:t>系统对接</a:t>
                      </a:r>
                      <a:endParaRPr lang="zh-CN" altLang="en-US" sz="1000" b="0" i="0" strike="sngStrike">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清结算管理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积分清结算</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积分有效期管理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优惠券结算</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4">
                  <a:txBody>
                    <a:bodyPr/>
                    <a:lstStyle/>
                    <a:p>
                      <a:pPr algn="ctr" fontAlgn="t"/>
                      <a:r>
                        <a:rPr lang="zh-CN" altLang="en-US" sz="1000" b="0" i="0">
                          <a:solidFill>
                            <a:schemeClr val="bg1"/>
                          </a:solidFill>
                          <a:latin typeface="微软雅黑"/>
                          <a:ea typeface="微软雅黑"/>
                        </a:rPr>
                        <a:t>风控管理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会员风控</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发分主体风控</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风控规则与预警</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4">
                  <a:txBody>
                    <a:bodyPr/>
                    <a:lstStyle/>
                    <a:p>
                      <a:pPr algn="ctr" fontAlgn="t"/>
                      <a:r>
                        <a:rPr lang="zh-CN" altLang="en-US" sz="1000" b="0" i="0">
                          <a:solidFill>
                            <a:schemeClr val="bg1"/>
                          </a:solidFill>
                          <a:latin typeface="微软雅黑"/>
                          <a:ea typeface="微软雅黑"/>
                        </a:rPr>
                        <a:t>会员报表管理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营销管理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手动营销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2">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自动化营销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【调研总结】</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客户数据</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管理：关键发现及解决思路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eaLnBrk="0" fontAlgn="base"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2" name="Arrow: Pentagon 2"/>
          <p:cNvSpPr/>
          <p:nvPr/>
        </p:nvSpPr>
        <p:spPr>
          <a:xfrm>
            <a:off x="564833" y="1423036"/>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Arrow: Chevron 3"/>
          <p:cNvSpPr/>
          <p:nvPr/>
        </p:nvSpPr>
        <p:spPr>
          <a:xfrm>
            <a:off x="4045585" y="1423035"/>
            <a:ext cx="2900680" cy="29083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Arrow: Chevron 5"/>
          <p:cNvSpPr/>
          <p:nvPr/>
        </p:nvSpPr>
        <p:spPr>
          <a:xfrm>
            <a:off x="7080250" y="1423035"/>
            <a:ext cx="4366260" cy="29083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Rectangle 6"/>
          <p:cNvSpPr/>
          <p:nvPr/>
        </p:nvSpPr>
        <p:spPr>
          <a:xfrm>
            <a:off x="636905" y="2245360"/>
            <a:ext cx="847090" cy="92202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数据采集与整合</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2" name="Rectangle 7"/>
          <p:cNvSpPr/>
          <p:nvPr/>
        </p:nvSpPr>
        <p:spPr>
          <a:xfrm>
            <a:off x="1597025" y="2245360"/>
            <a:ext cx="2255520" cy="92202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客户数据采集分散，依赖人工。</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行为偏好沉淀不足。</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数据不互通，冗余多。</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6" name="Rectangle 8"/>
          <p:cNvSpPr/>
          <p:nvPr/>
        </p:nvSpPr>
        <p:spPr>
          <a:xfrm>
            <a:off x="3990340" y="2245360"/>
            <a:ext cx="2901315" cy="92202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整合</a:t>
            </a: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统一客户数据</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采集客户基础、交易、行为数据</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清洗数据，保障准确完整。</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7" name="Rectangle 12"/>
          <p:cNvSpPr/>
          <p:nvPr/>
        </p:nvSpPr>
        <p:spPr>
          <a:xfrm>
            <a:off x="636905" y="3265805"/>
            <a:ext cx="847090" cy="98806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标签与画像不统一</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8" name="Rectangle 13"/>
          <p:cNvSpPr/>
          <p:nvPr/>
        </p:nvSpPr>
        <p:spPr>
          <a:xfrm>
            <a:off x="1597025" y="3265805"/>
            <a:ext cx="2255520" cy="9880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标签不标准，客户识别不精准。</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缺乏用户画像，难支撑营销与服务优化。</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9" name="Rectangle 14"/>
          <p:cNvSpPr/>
          <p:nvPr/>
        </p:nvSpPr>
        <p:spPr>
          <a:xfrm>
            <a:off x="3990340" y="3265805"/>
            <a:ext cx="2901315" cy="9880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客户标签</a:t>
            </a:r>
            <a:r>
              <a:rPr kumimoji="0" lang="en-US" altLang="zh-CN"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支持自动与手动打标。</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客户画像</a:t>
            </a:r>
            <a:r>
              <a:rPr kumimoji="0" lang="en-US" altLang="zh-CN"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呈现消费能力与行为偏好。</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支持标签圈选与</a:t>
            </a: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自动化运营</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0" name="Rectangle 18"/>
          <p:cNvSpPr/>
          <p:nvPr/>
        </p:nvSpPr>
        <p:spPr>
          <a:xfrm>
            <a:off x="636905" y="4382770"/>
            <a:ext cx="847090" cy="105029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eaLnBrk="0" fontAlgn="base" hangingPunct="0">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数据应用能力不足</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21" name="Rectangle 19"/>
          <p:cNvSpPr/>
          <p:nvPr/>
        </p:nvSpPr>
        <p:spPr>
          <a:xfrm>
            <a:off x="1597025" y="4382770"/>
            <a:ext cx="2255520" cy="105029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统计依赖人工，报表自动化不足。</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缺少分析预测，决策支撑不足。</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2" name="Rectangle 20"/>
          <p:cNvSpPr/>
          <p:nvPr/>
        </p:nvSpPr>
        <p:spPr>
          <a:xfrm>
            <a:off x="3990340" y="4382770"/>
            <a:ext cx="2901315" cy="105029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0" noProof="0" dirty="0">
                <a:ln>
                  <a:noFill/>
                </a:ln>
                <a:effectLst/>
                <a:uLnTx/>
                <a:uFillTx/>
                <a:latin typeface="微软雅黑" panose="020B0503020204020204" pitchFamily="34" charset="-122"/>
                <a:ea typeface="微软雅黑" panose="020B0503020204020204" pitchFamily="34" charset="-122"/>
                <a:sym typeface="+mn-ea"/>
              </a:rPr>
              <a:t>多维度</a:t>
            </a:r>
            <a:r>
              <a:rPr lang="zh-CN" altLang="en-US" sz="1200" kern="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数据报表</a:t>
            </a:r>
            <a:r>
              <a:rPr lang="zh-CN" altLang="en-US" sz="1200" kern="0" noProof="0" dirty="0">
                <a:ln>
                  <a:noFill/>
                </a:ln>
                <a:effectLst/>
                <a:uLnTx/>
                <a:uFillTx/>
                <a:latin typeface="微软雅黑" panose="020B0503020204020204" pitchFamily="34" charset="-122"/>
                <a:ea typeface="微软雅黑" panose="020B0503020204020204" pitchFamily="34" charset="-122"/>
                <a:sym typeface="+mn-ea"/>
              </a:rPr>
              <a:t>。</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增强客户</a:t>
            </a: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行为分析与趋势预测</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支撑</a:t>
            </a: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精准营销</a:t>
            </a:r>
            <a:r>
              <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与运营决策。</a:t>
            </a:r>
            <a:endParaRPr kumimoji="0" lang="zh-CN" altLang="en-US" sz="12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23" name="表格 22"/>
          <p:cNvGraphicFramePr/>
          <p:nvPr/>
        </p:nvGraphicFramePr>
        <p:xfrm>
          <a:off x="7029767" y="1844675"/>
          <a:ext cx="1951990" cy="4180840"/>
        </p:xfrm>
        <a:graphic>
          <a:graphicData uri="http://schemas.openxmlformats.org/drawingml/2006/table">
            <a:tbl>
              <a:tblPr/>
              <a:tblGrid>
                <a:gridCol w="337185"/>
                <a:gridCol w="1056005"/>
                <a:gridCol w="558800"/>
              </a:tblGrid>
              <a:tr h="249555">
                <a:tc rowSpan="3">
                  <a:txBody>
                    <a:bodyPr/>
                    <a:lstStyle/>
                    <a:p>
                      <a:pPr algn="ctr" fontAlgn="t"/>
                      <a:r>
                        <a:rPr lang="zh-CN" altLang="en-US" sz="1000" b="0" i="0">
                          <a:solidFill>
                            <a:schemeClr val="bg1"/>
                          </a:solidFill>
                          <a:latin typeface="微软雅黑"/>
                          <a:ea typeface="微软雅黑"/>
                        </a:rPr>
                        <a:t>客户信息采集与整合</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数据信息采集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609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基础数据清洗</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基础信息存储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客户标签管理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标签创建与分类</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en-US" altLang="zh-CN"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cs typeface="微软雅黑" charset="0"/>
                        </a:rPr>
                        <a:t>自动 </a:t>
                      </a:r>
                      <a:r>
                        <a:rPr lang="en-US" altLang="zh-CN" sz="1000" b="0" i="0">
                          <a:solidFill>
                            <a:srgbClr val="000000"/>
                          </a:solidFill>
                          <a:latin typeface="微软雅黑" charset="0"/>
                          <a:ea typeface="微软雅黑" charset="0"/>
                          <a:cs typeface="微软雅黑" charset="0"/>
                        </a:rPr>
                        <a:t>/ </a:t>
                      </a:r>
                      <a:r>
                        <a:rPr lang="zh-CN" altLang="en-US" sz="1000" b="0" i="0">
                          <a:solidFill>
                            <a:srgbClr val="000000"/>
                          </a:solidFill>
                          <a:latin typeface="微软雅黑" charset="0"/>
                          <a:ea typeface="微软雅黑" charset="0"/>
                          <a:cs typeface="微软雅黑" charset="0"/>
                        </a:rPr>
                        <a:t>手动打标签</a:t>
                      </a:r>
                      <a:endParaRPr lang="zh-CN" altLang="en-US" sz="1000" b="0" i="0">
                        <a:solidFill>
                          <a:srgbClr val="000000"/>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标签查询与维护</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93040">
                <a:tc rowSpan="4">
                  <a:txBody>
                    <a:bodyPr/>
                    <a:lstStyle/>
                    <a:p>
                      <a:pPr algn="ctr" fontAlgn="t"/>
                      <a:r>
                        <a:rPr lang="zh-CN" altLang="en-US" sz="1000" b="0" i="0">
                          <a:solidFill>
                            <a:schemeClr val="bg1"/>
                          </a:solidFill>
                          <a:latin typeface="微软雅黑"/>
                          <a:ea typeface="微软雅黑"/>
                        </a:rPr>
                        <a:t>客户画像构建</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基础画像构建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深度画像分析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画像展示与应用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5">
                  <a:txBody>
                    <a:bodyPr/>
                    <a:lstStyle/>
                    <a:p>
                      <a:pPr algn="ctr" fontAlgn="t"/>
                      <a:r>
                        <a:rPr lang="zh-CN" altLang="en-US" sz="1000" b="0" i="0">
                          <a:solidFill>
                            <a:schemeClr val="bg1"/>
                          </a:solidFill>
                          <a:latin typeface="微软雅黑"/>
                          <a:ea typeface="微软雅黑"/>
                        </a:rPr>
                        <a:t>客户行为分析</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行为数据整合</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多维度行为分析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客户模型应用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行为趋势预测</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48920">
                <a:tc rowSpan="3">
                  <a:txBody>
                    <a:bodyPr/>
                    <a:lstStyle/>
                    <a:p>
                      <a:pPr algn="ctr" fontAlgn="t"/>
                      <a:r>
                        <a:rPr lang="zh-CN" altLang="en-US" sz="1000" b="0" i="0">
                          <a:solidFill>
                            <a:schemeClr val="bg1"/>
                          </a:solidFill>
                          <a:latin typeface="微软雅黑"/>
                          <a:ea typeface="微软雅黑"/>
                        </a:rPr>
                        <a:t>客户数据查询与导出</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多类型客户查询</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3067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数据合规导出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graphicFrame>
        <p:nvGraphicFramePr>
          <p:cNvPr id="24" name="表格 23"/>
          <p:cNvGraphicFramePr/>
          <p:nvPr/>
        </p:nvGraphicFramePr>
        <p:xfrm>
          <a:off x="9192577" y="1916430"/>
          <a:ext cx="2343785" cy="4010025"/>
        </p:xfrm>
        <a:graphic>
          <a:graphicData uri="http://schemas.openxmlformats.org/drawingml/2006/table">
            <a:tbl>
              <a:tblPr/>
              <a:tblGrid>
                <a:gridCol w="348615"/>
                <a:gridCol w="1367790"/>
                <a:gridCol w="627380"/>
              </a:tblGrid>
              <a:tr h="203200">
                <a:tc rowSpan="4">
                  <a:txBody>
                    <a:bodyPr/>
                    <a:lstStyle/>
                    <a:p>
                      <a:pPr algn="ctr" fontAlgn="t"/>
                      <a:r>
                        <a:rPr lang="zh-CN" altLang="en-US" sz="1000" b="0" i="0">
                          <a:solidFill>
                            <a:schemeClr val="bg1"/>
                          </a:solidFill>
                          <a:latin typeface="微软雅黑"/>
                          <a:ea typeface="微软雅黑"/>
                        </a:rPr>
                        <a:t>数据安全与权限管理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数据加密与合规管控</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精细化权限控制</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操作日志与数据备份</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48920">
                <a:tc rowSpan="4">
                  <a:txBody>
                    <a:bodyPr/>
                    <a:lstStyle/>
                    <a:p>
                      <a:pPr algn="ctr" fontAlgn="t"/>
                      <a:r>
                        <a:rPr lang="zh-CN" altLang="en-US" sz="1000" b="0" i="0">
                          <a:solidFill>
                            <a:schemeClr val="bg1"/>
                          </a:solidFill>
                          <a:latin typeface="微软雅黑"/>
                          <a:ea typeface="微软雅黑"/>
                        </a:rPr>
                        <a:t>客户</a:t>
                      </a:r>
                      <a:r>
                        <a:rPr lang="en-US" altLang="zh-CN" sz="1000" b="0" i="0">
                          <a:solidFill>
                            <a:schemeClr val="bg1"/>
                          </a:solidFill>
                          <a:latin typeface="微软雅黑"/>
                          <a:ea typeface="微软雅黑"/>
                        </a:rPr>
                        <a:t>OneID</a:t>
                      </a:r>
                      <a:r>
                        <a:rPr lang="zh-CN" altLang="en-US" sz="1000" b="0" i="0">
                          <a:solidFill>
                            <a:schemeClr val="bg1"/>
                          </a:solidFill>
                          <a:latin typeface="微软雅黑"/>
                          <a:ea typeface="微软雅黑"/>
                        </a:rPr>
                        <a:t>识别与数据分发</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全系统数据集成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260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cs typeface="微软雅黑" charset="0"/>
                        </a:rPr>
                        <a:t>客户 </a:t>
                      </a:r>
                      <a:r>
                        <a:rPr lang="en-US" altLang="zh-CN" sz="1000" b="0" i="0">
                          <a:solidFill>
                            <a:srgbClr val="000000"/>
                          </a:solidFill>
                          <a:latin typeface="微软雅黑" charset="0"/>
                          <a:ea typeface="微软雅黑" charset="0"/>
                          <a:cs typeface="微软雅黑" charset="0"/>
                        </a:rPr>
                        <a:t>OneID </a:t>
                      </a:r>
                      <a:r>
                        <a:rPr lang="zh-CN" altLang="en-US" sz="1000" b="0" i="0">
                          <a:solidFill>
                            <a:srgbClr val="000000"/>
                          </a:solidFill>
                          <a:latin typeface="微软雅黑" charset="0"/>
                          <a:ea typeface="微软雅黑" charset="0"/>
                          <a:cs typeface="微软雅黑" charset="0"/>
                        </a:rPr>
                        <a:t>生成</a:t>
                      </a:r>
                      <a:endParaRPr lang="zh-CN" altLang="en-US" sz="1000" b="0" i="0">
                        <a:solidFill>
                          <a:srgbClr val="000000"/>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609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数据实时同步与更新</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数据精准分发</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人群管理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多方式人群创建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2">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人群属性配置</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人群画像分析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客户满意度管理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评价与投诉数据采集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满意度分析体系</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投诉闭环管理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13360">
                <a:tc rowSpan="5">
                  <a:txBody>
                    <a:bodyPr/>
                    <a:lstStyle/>
                    <a:p>
                      <a:pPr algn="ctr" fontAlgn="t"/>
                      <a:r>
                        <a:rPr lang="zh-CN" altLang="en-US" sz="1100" b="0" i="0">
                          <a:solidFill>
                            <a:schemeClr val="bg1"/>
                          </a:solidFill>
                          <a:latin typeface="宋体"/>
                          <a:ea typeface="宋体"/>
                        </a:rPr>
                        <a:t>系统集成</a:t>
                      </a:r>
                      <a:endParaRPr lang="zh-CN" altLang="en-US" sz="1100" b="0" i="0">
                        <a:solidFill>
                          <a:schemeClr val="bg1"/>
                        </a:solidFill>
                        <a:latin typeface="宋体"/>
                        <a:ea typeface="宋体"/>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手机多端集成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运营一体化平台集成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客户数据信息同步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会员与积分信息同步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拓展板块系统集成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697470"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核心业务部门对应</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模块梳理</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eaLnBrk="0" fontAlgn="base"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8" name="module-card-1"/>
          <p:cNvSpPr>
            <a:spLocks noGrp="1"/>
          </p:cNvSpPr>
          <p:nvPr/>
        </p:nvSpPr>
        <p:spPr>
          <a:xfrm>
            <a:off x="685800" y="1336675"/>
            <a:ext cx="3276600" cy="3655060"/>
          </a:xfrm>
          <a:prstGeom prst="roundRect">
            <a:avLst>
              <a:gd name="adj" fmla="val 2326"/>
            </a:avLst>
          </a:prstGeom>
          <a:solidFill>
            <a:srgbClr val="FFFFFF"/>
          </a:solidFill>
          <a:ln w="11906">
            <a:solidFill>
              <a:srgbClr val="C9E7F6"/>
            </a:solidFill>
            <a:prstDash val="solid"/>
          </a:ln>
        </p:spPr>
      </p:sp>
      <p:sp>
        <p:nvSpPr>
          <p:cNvPr id="9" name="module-card-header-1"/>
          <p:cNvSpPr>
            <a:spLocks noGrp="1"/>
          </p:cNvSpPr>
          <p:nvPr/>
        </p:nvSpPr>
        <p:spPr>
          <a:xfrm>
            <a:off x="685800" y="1336675"/>
            <a:ext cx="3276600" cy="781050"/>
          </a:xfrm>
          <a:prstGeom prst="roundRect">
            <a:avLst>
              <a:gd name="adj" fmla="val 9756"/>
            </a:avLst>
          </a:prstGeom>
          <a:solidFill>
            <a:srgbClr val="0086D1"/>
          </a:solidFill>
          <a:ln w="0">
            <a:solidFill>
              <a:srgbClr val="0086D1"/>
            </a:solidFill>
            <a:prstDash val="solid"/>
          </a:ln>
        </p:spPr>
      </p:sp>
      <p:sp>
        <p:nvSpPr>
          <p:cNvPr id="10" name="module-card-header-square-1"/>
          <p:cNvSpPr>
            <a:spLocks noGrp="1"/>
          </p:cNvSpPr>
          <p:nvPr/>
        </p:nvSpPr>
        <p:spPr>
          <a:xfrm>
            <a:off x="685800" y="1889125"/>
            <a:ext cx="3276600" cy="266700"/>
          </a:xfrm>
          <a:prstGeom prst="rect">
            <a:avLst/>
          </a:prstGeom>
          <a:solidFill>
            <a:srgbClr val="0086D1"/>
          </a:solidFill>
          <a:ln w="0">
            <a:solidFill>
              <a:srgbClr val="0086D1"/>
            </a:solidFill>
            <a:prstDash val="solid"/>
          </a:ln>
        </p:spPr>
      </p:sp>
      <p:sp>
        <p:nvSpPr>
          <p:cNvPr id="11" name="module-title-1"/>
          <p:cNvSpPr>
            <a:spLocks noGrp="1"/>
          </p:cNvSpPr>
          <p:nvPr/>
        </p:nvSpPr>
        <p:spPr>
          <a:xfrm>
            <a:off x="914400" y="1579880"/>
            <a:ext cx="2819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FFFFF"/>
                </a:solidFill>
                <a:latin typeface="微软雅黑"/>
                <a:ea typeface="微软雅黑"/>
                <a:cs typeface="微软雅黑"/>
              </a:defRPr>
            </a:pPr>
            <a:r>
              <a:rPr sz="2400" b="1">
                <a:solidFill>
                  <a:srgbClr val="FFFFFF"/>
                </a:solidFill>
                <a:latin typeface="微软雅黑" charset="0"/>
                <a:ea typeface="微软雅黑" charset="0"/>
                <a:cs typeface="微软雅黑" charset="0"/>
              </a:rPr>
              <a:t>400模块</a:t>
            </a:r>
            <a:endParaRPr sz="2400" b="1">
              <a:solidFill>
                <a:srgbClr val="FFFFFF"/>
              </a:solidFill>
              <a:latin typeface="微软雅黑" charset="0"/>
              <a:ea typeface="微软雅黑" charset="0"/>
              <a:cs typeface="微软雅黑" charset="0"/>
            </a:endParaRPr>
          </a:p>
        </p:txBody>
      </p:sp>
      <p:sp>
        <p:nvSpPr>
          <p:cNvPr id="13" name="dept-label-1"/>
          <p:cNvSpPr>
            <a:spLocks noGrp="1"/>
          </p:cNvSpPr>
          <p:nvPr/>
        </p:nvSpPr>
        <p:spPr>
          <a:xfrm>
            <a:off x="914400" y="2403475"/>
            <a:ext cx="1252855" cy="2051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05F96"/>
                </a:solidFill>
                <a:latin typeface="微软雅黑"/>
                <a:ea typeface="微软雅黑"/>
                <a:cs typeface="微软雅黑"/>
              </a:defRPr>
            </a:pPr>
            <a:r>
              <a:rPr lang="zh-CN" sz="1400" b="1">
                <a:solidFill>
                  <a:srgbClr val="005F96"/>
                </a:solidFill>
                <a:latin typeface="微软雅黑" charset="0"/>
                <a:ea typeface="微软雅黑" charset="0"/>
                <a:cs typeface="微软雅黑"/>
              </a:rPr>
              <a:t>涉及核心</a:t>
            </a:r>
            <a:r>
              <a:rPr sz="1400" b="1">
                <a:solidFill>
                  <a:srgbClr val="005F96"/>
                </a:solidFill>
                <a:latin typeface="微软雅黑" charset="0"/>
                <a:ea typeface="微软雅黑" charset="0"/>
                <a:cs typeface="微软雅黑"/>
              </a:rPr>
              <a:t>部门</a:t>
            </a:r>
            <a:endParaRPr sz="1400" b="1">
              <a:solidFill>
                <a:srgbClr val="005F96"/>
              </a:solidFill>
              <a:latin typeface="微软雅黑" charset="0"/>
              <a:ea typeface="微软雅黑" charset="0"/>
              <a:cs typeface="微软雅黑"/>
            </a:endParaRPr>
          </a:p>
        </p:txBody>
      </p:sp>
      <p:sp>
        <p:nvSpPr>
          <p:cNvPr id="14" name="dept-dot-1-1"/>
          <p:cNvSpPr>
            <a:spLocks noGrp="1"/>
          </p:cNvSpPr>
          <p:nvPr/>
        </p:nvSpPr>
        <p:spPr>
          <a:xfrm>
            <a:off x="914400" y="2774950"/>
            <a:ext cx="247650" cy="247650"/>
          </a:xfrm>
          <a:prstGeom prst="ellipse">
            <a:avLst/>
          </a:prstGeom>
          <a:solidFill>
            <a:srgbClr val="EAF7FF"/>
          </a:solidFill>
          <a:ln w="9525">
            <a:solidFill>
              <a:srgbClr val="BFE7FB"/>
            </a:solidFill>
            <a:prstDash val="solid"/>
          </a:ln>
        </p:spPr>
      </p:sp>
      <p:sp>
        <p:nvSpPr>
          <p:cNvPr id="15" name="dept-number-1-1"/>
          <p:cNvSpPr>
            <a:spLocks noGrp="1"/>
          </p:cNvSpPr>
          <p:nvPr/>
        </p:nvSpPr>
        <p:spPr>
          <a:xfrm>
            <a:off x="914400" y="279400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1</a:t>
            </a:r>
            <a:endParaRPr sz="1200" b="1">
              <a:solidFill>
                <a:srgbClr val="005F96"/>
              </a:solidFill>
              <a:latin typeface="微软雅黑" charset="0"/>
              <a:ea typeface="微软雅黑" charset="0"/>
              <a:cs typeface="Aptos"/>
            </a:endParaRPr>
          </a:p>
        </p:txBody>
      </p:sp>
      <p:sp>
        <p:nvSpPr>
          <p:cNvPr id="2" name="dept-text-1-1"/>
          <p:cNvSpPr>
            <a:spLocks noGrp="1"/>
          </p:cNvSpPr>
          <p:nvPr/>
        </p:nvSpPr>
        <p:spPr>
          <a:xfrm>
            <a:off x="1276350" y="276542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charset="0"/>
              </a:rPr>
              <a:t>租赁公司-城服</a:t>
            </a:r>
            <a:endParaRPr sz="1600" b="1">
              <a:solidFill>
                <a:srgbClr val="1F2933"/>
              </a:solidFill>
              <a:latin typeface="微软雅黑" charset="0"/>
              <a:ea typeface="微软雅黑" charset="0"/>
              <a:cs typeface="微软雅黑" charset="0"/>
            </a:endParaRPr>
          </a:p>
        </p:txBody>
      </p:sp>
      <p:sp>
        <p:nvSpPr>
          <p:cNvPr id="17" name="dept-dot-1-2"/>
          <p:cNvSpPr>
            <a:spLocks noGrp="1"/>
          </p:cNvSpPr>
          <p:nvPr/>
        </p:nvSpPr>
        <p:spPr>
          <a:xfrm>
            <a:off x="914400" y="3327400"/>
            <a:ext cx="247650" cy="247650"/>
          </a:xfrm>
          <a:prstGeom prst="ellipse">
            <a:avLst/>
          </a:prstGeom>
          <a:solidFill>
            <a:srgbClr val="EAF7FF"/>
          </a:solidFill>
          <a:ln w="9525">
            <a:solidFill>
              <a:srgbClr val="BFE7FB"/>
            </a:solidFill>
            <a:prstDash val="solid"/>
          </a:ln>
        </p:spPr>
      </p:sp>
      <p:sp>
        <p:nvSpPr>
          <p:cNvPr id="18" name="dept-number-1-2"/>
          <p:cNvSpPr>
            <a:spLocks noGrp="1"/>
          </p:cNvSpPr>
          <p:nvPr/>
        </p:nvSpPr>
        <p:spPr>
          <a:xfrm>
            <a:off x="914400" y="334645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2</a:t>
            </a:r>
            <a:endParaRPr sz="1200" b="1">
              <a:solidFill>
                <a:srgbClr val="005F96"/>
              </a:solidFill>
              <a:latin typeface="微软雅黑" charset="0"/>
              <a:ea typeface="微软雅黑" charset="0"/>
              <a:cs typeface="Aptos"/>
            </a:endParaRPr>
          </a:p>
        </p:txBody>
      </p:sp>
      <p:sp>
        <p:nvSpPr>
          <p:cNvPr id="19" name="dept-text-1-2"/>
          <p:cNvSpPr>
            <a:spLocks noGrp="1"/>
          </p:cNvSpPr>
          <p:nvPr/>
        </p:nvSpPr>
        <p:spPr>
          <a:xfrm>
            <a:off x="1276350" y="331787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charset="0"/>
              </a:rPr>
              <a:t>租赁公司-</a:t>
            </a:r>
            <a:r>
              <a:rPr lang="zh-CN" sz="1600" b="1">
                <a:solidFill>
                  <a:srgbClr val="1F2933"/>
                </a:solidFill>
                <a:latin typeface="微软雅黑" charset="0"/>
                <a:ea typeface="微软雅黑" charset="0"/>
                <a:cs typeface="微软雅黑" charset="0"/>
              </a:rPr>
              <a:t>住房</a:t>
            </a:r>
            <a:r>
              <a:rPr sz="1600" b="1">
                <a:solidFill>
                  <a:srgbClr val="1F2933"/>
                </a:solidFill>
                <a:latin typeface="微软雅黑" charset="0"/>
                <a:ea typeface="微软雅黑" charset="0"/>
                <a:cs typeface="微软雅黑" charset="0"/>
              </a:rPr>
              <a:t>部</a:t>
            </a:r>
            <a:endParaRPr sz="1600" b="1">
              <a:solidFill>
                <a:srgbClr val="1F2933"/>
              </a:solidFill>
              <a:latin typeface="微软雅黑" charset="0"/>
              <a:ea typeface="微软雅黑" charset="0"/>
              <a:cs typeface="微软雅黑" charset="0"/>
            </a:endParaRPr>
          </a:p>
        </p:txBody>
      </p:sp>
      <p:sp>
        <p:nvSpPr>
          <p:cNvPr id="20" name="dept-dot-1-3"/>
          <p:cNvSpPr>
            <a:spLocks noGrp="1"/>
          </p:cNvSpPr>
          <p:nvPr/>
        </p:nvSpPr>
        <p:spPr>
          <a:xfrm>
            <a:off x="914400" y="3879850"/>
            <a:ext cx="247650" cy="247650"/>
          </a:xfrm>
          <a:prstGeom prst="ellipse">
            <a:avLst/>
          </a:prstGeom>
          <a:solidFill>
            <a:srgbClr val="EAF7FF"/>
          </a:solidFill>
          <a:ln w="9525">
            <a:solidFill>
              <a:srgbClr val="BFE7FB"/>
            </a:solidFill>
            <a:prstDash val="solid"/>
          </a:ln>
        </p:spPr>
      </p:sp>
      <p:sp>
        <p:nvSpPr>
          <p:cNvPr id="21" name="dept-number-1-3"/>
          <p:cNvSpPr>
            <a:spLocks noGrp="1"/>
          </p:cNvSpPr>
          <p:nvPr/>
        </p:nvSpPr>
        <p:spPr>
          <a:xfrm>
            <a:off x="914400" y="389890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3</a:t>
            </a:r>
            <a:endParaRPr sz="1200" b="1">
              <a:solidFill>
                <a:srgbClr val="005F96"/>
              </a:solidFill>
              <a:latin typeface="微软雅黑" charset="0"/>
              <a:ea typeface="微软雅黑" charset="0"/>
              <a:cs typeface="Aptos"/>
            </a:endParaRPr>
          </a:p>
        </p:txBody>
      </p:sp>
      <p:sp>
        <p:nvSpPr>
          <p:cNvPr id="22" name="dept-text-1-3"/>
          <p:cNvSpPr>
            <a:spLocks noGrp="1"/>
          </p:cNvSpPr>
          <p:nvPr/>
        </p:nvSpPr>
        <p:spPr>
          <a:xfrm>
            <a:off x="1276350" y="387032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a:rPr>
              <a:t>集团住房服务中心</a:t>
            </a:r>
            <a:endParaRPr sz="1600" b="1">
              <a:solidFill>
                <a:srgbClr val="1F2933"/>
              </a:solidFill>
              <a:latin typeface="微软雅黑" charset="0"/>
              <a:ea typeface="微软雅黑" charset="0"/>
              <a:cs typeface="微软雅黑"/>
            </a:endParaRPr>
          </a:p>
        </p:txBody>
      </p:sp>
      <p:sp>
        <p:nvSpPr>
          <p:cNvPr id="23" name="access-status-box-1"/>
          <p:cNvSpPr>
            <a:spLocks noGrp="1"/>
          </p:cNvSpPr>
          <p:nvPr/>
        </p:nvSpPr>
        <p:spPr>
          <a:xfrm>
            <a:off x="914400" y="4326255"/>
            <a:ext cx="2819400" cy="438150"/>
          </a:xfrm>
          <a:prstGeom prst="roundRect">
            <a:avLst>
              <a:gd name="adj" fmla="val 17391"/>
            </a:avLst>
          </a:prstGeom>
          <a:solidFill>
            <a:srgbClr val="EAF7FF"/>
          </a:solidFill>
          <a:ln w="9525">
            <a:solidFill>
              <a:srgbClr val="BFE7FB"/>
            </a:solidFill>
            <a:prstDash val="solid"/>
          </a:ln>
        </p:spPr>
      </p:sp>
      <p:sp>
        <p:nvSpPr>
          <p:cNvPr id="24" name="access-status-text-1"/>
          <p:cNvSpPr>
            <a:spLocks noGrp="1"/>
          </p:cNvSpPr>
          <p:nvPr/>
        </p:nvSpPr>
        <p:spPr>
          <a:xfrm>
            <a:off x="1085850" y="445008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5F96"/>
                </a:solidFill>
                <a:latin typeface="微软雅黑"/>
                <a:ea typeface="微软雅黑"/>
                <a:cs typeface="微软雅黑"/>
              </a:defRPr>
            </a:pPr>
            <a:r>
              <a:rPr sz="1400" b="0">
                <a:solidFill>
                  <a:srgbClr val="005F96"/>
                </a:solidFill>
                <a:latin typeface="微软雅黑" charset="0"/>
                <a:ea typeface="微软雅黑" charset="0"/>
                <a:cs typeface="微软雅黑"/>
              </a:rPr>
              <a:t>乐寓</a:t>
            </a:r>
            <a:r>
              <a:rPr lang="zh-CN" sz="1400" b="0">
                <a:solidFill>
                  <a:srgbClr val="005F96"/>
                </a:solidFill>
                <a:latin typeface="微软雅黑" charset="0"/>
                <a:ea typeface="微软雅黑" charset="0"/>
                <a:cs typeface="微软雅黑"/>
              </a:rPr>
              <a:t>未</a:t>
            </a:r>
            <a:r>
              <a:rPr sz="1400" b="0">
                <a:solidFill>
                  <a:srgbClr val="005F96"/>
                </a:solidFill>
                <a:latin typeface="微软雅黑" charset="0"/>
                <a:ea typeface="微软雅黑" charset="0"/>
                <a:cs typeface="微软雅黑"/>
              </a:rPr>
              <a:t>提接入要求</a:t>
            </a:r>
            <a:endParaRPr sz="1400" b="0">
              <a:solidFill>
                <a:srgbClr val="005F96"/>
              </a:solidFill>
              <a:latin typeface="微软雅黑" charset="0"/>
              <a:ea typeface="微软雅黑" charset="0"/>
              <a:cs typeface="微软雅黑"/>
            </a:endParaRPr>
          </a:p>
        </p:txBody>
      </p:sp>
      <p:sp>
        <p:nvSpPr>
          <p:cNvPr id="25" name="module-card-2"/>
          <p:cNvSpPr>
            <a:spLocks noGrp="1"/>
          </p:cNvSpPr>
          <p:nvPr/>
        </p:nvSpPr>
        <p:spPr>
          <a:xfrm>
            <a:off x="4381500" y="1336675"/>
            <a:ext cx="3276600" cy="3655060"/>
          </a:xfrm>
          <a:prstGeom prst="roundRect">
            <a:avLst>
              <a:gd name="adj" fmla="val 2326"/>
            </a:avLst>
          </a:prstGeom>
          <a:solidFill>
            <a:srgbClr val="FFFFFF"/>
          </a:solidFill>
          <a:ln w="11906">
            <a:solidFill>
              <a:srgbClr val="C9E7F6"/>
            </a:solidFill>
            <a:prstDash val="solid"/>
          </a:ln>
        </p:spPr>
      </p:sp>
      <p:sp>
        <p:nvSpPr>
          <p:cNvPr id="26" name="module-card-header-2"/>
          <p:cNvSpPr>
            <a:spLocks noGrp="1"/>
          </p:cNvSpPr>
          <p:nvPr/>
        </p:nvSpPr>
        <p:spPr>
          <a:xfrm>
            <a:off x="4381500" y="1336675"/>
            <a:ext cx="3276600" cy="781050"/>
          </a:xfrm>
          <a:prstGeom prst="roundRect">
            <a:avLst>
              <a:gd name="adj" fmla="val 9756"/>
            </a:avLst>
          </a:prstGeom>
          <a:solidFill>
            <a:srgbClr val="0086D1"/>
          </a:solidFill>
          <a:ln w="0">
            <a:solidFill>
              <a:srgbClr val="0086D1"/>
            </a:solidFill>
            <a:prstDash val="solid"/>
          </a:ln>
        </p:spPr>
      </p:sp>
      <p:sp>
        <p:nvSpPr>
          <p:cNvPr id="27" name="module-card-header-square-2"/>
          <p:cNvSpPr>
            <a:spLocks noGrp="1"/>
          </p:cNvSpPr>
          <p:nvPr/>
        </p:nvSpPr>
        <p:spPr>
          <a:xfrm>
            <a:off x="4381500" y="1889125"/>
            <a:ext cx="3276600" cy="266700"/>
          </a:xfrm>
          <a:prstGeom prst="rect">
            <a:avLst/>
          </a:prstGeom>
          <a:solidFill>
            <a:srgbClr val="0086D1"/>
          </a:solidFill>
          <a:ln w="0">
            <a:solidFill>
              <a:srgbClr val="0086D1"/>
            </a:solidFill>
            <a:prstDash val="solid"/>
          </a:ln>
        </p:spPr>
      </p:sp>
      <p:sp>
        <p:nvSpPr>
          <p:cNvPr id="28" name="module-title-2"/>
          <p:cNvSpPr>
            <a:spLocks noGrp="1"/>
          </p:cNvSpPr>
          <p:nvPr/>
        </p:nvSpPr>
        <p:spPr>
          <a:xfrm>
            <a:off x="4610100" y="1579880"/>
            <a:ext cx="2819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FFFFF"/>
                </a:solidFill>
                <a:latin typeface="微软雅黑"/>
                <a:ea typeface="微软雅黑"/>
                <a:cs typeface="微软雅黑"/>
              </a:defRPr>
            </a:pPr>
            <a:r>
              <a:rPr sz="2400" b="1">
                <a:solidFill>
                  <a:srgbClr val="FFFFFF"/>
                </a:solidFill>
                <a:latin typeface="微软雅黑" charset="0"/>
                <a:ea typeface="微软雅黑" charset="0"/>
                <a:cs typeface="微软雅黑"/>
              </a:rPr>
              <a:t>会员积分模块</a:t>
            </a:r>
            <a:endParaRPr sz="2400" b="1">
              <a:solidFill>
                <a:srgbClr val="FFFFFF"/>
              </a:solidFill>
              <a:latin typeface="微软雅黑" charset="0"/>
              <a:ea typeface="微软雅黑" charset="0"/>
              <a:cs typeface="微软雅黑"/>
            </a:endParaRPr>
          </a:p>
        </p:txBody>
      </p:sp>
      <p:sp>
        <p:nvSpPr>
          <p:cNvPr id="30" name="dept-label-2"/>
          <p:cNvSpPr>
            <a:spLocks noGrp="1"/>
          </p:cNvSpPr>
          <p:nvPr/>
        </p:nvSpPr>
        <p:spPr>
          <a:xfrm>
            <a:off x="4610100" y="2403475"/>
            <a:ext cx="1252855" cy="2051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05F96"/>
                </a:solidFill>
                <a:latin typeface="微软雅黑"/>
                <a:ea typeface="微软雅黑"/>
                <a:cs typeface="微软雅黑"/>
              </a:defRPr>
            </a:pPr>
            <a:r>
              <a:rPr lang="zh-CN" sz="1400" b="1">
                <a:solidFill>
                  <a:srgbClr val="005F96"/>
                </a:solidFill>
                <a:latin typeface="微软雅黑" charset="0"/>
                <a:ea typeface="微软雅黑" charset="0"/>
                <a:cs typeface="微软雅黑"/>
              </a:rPr>
              <a:t>涉及核心</a:t>
            </a:r>
            <a:r>
              <a:rPr sz="1400" b="1">
                <a:solidFill>
                  <a:srgbClr val="005F96"/>
                </a:solidFill>
                <a:latin typeface="微软雅黑" charset="0"/>
                <a:ea typeface="微软雅黑" charset="0"/>
                <a:cs typeface="微软雅黑"/>
              </a:rPr>
              <a:t>部门</a:t>
            </a:r>
            <a:endParaRPr sz="1400" b="1">
              <a:solidFill>
                <a:srgbClr val="005F96"/>
              </a:solidFill>
              <a:latin typeface="微软雅黑" charset="0"/>
              <a:ea typeface="微软雅黑" charset="0"/>
              <a:cs typeface="微软雅黑"/>
            </a:endParaRPr>
          </a:p>
        </p:txBody>
      </p:sp>
      <p:sp>
        <p:nvSpPr>
          <p:cNvPr id="31" name="dept-dot-2-1"/>
          <p:cNvSpPr>
            <a:spLocks noGrp="1"/>
          </p:cNvSpPr>
          <p:nvPr/>
        </p:nvSpPr>
        <p:spPr>
          <a:xfrm>
            <a:off x="4610100" y="2774950"/>
            <a:ext cx="247650" cy="247650"/>
          </a:xfrm>
          <a:prstGeom prst="ellipse">
            <a:avLst/>
          </a:prstGeom>
          <a:solidFill>
            <a:srgbClr val="EAF7FF"/>
          </a:solidFill>
          <a:ln w="9525">
            <a:solidFill>
              <a:srgbClr val="BFE7FB"/>
            </a:solidFill>
            <a:prstDash val="solid"/>
          </a:ln>
        </p:spPr>
      </p:sp>
      <p:sp>
        <p:nvSpPr>
          <p:cNvPr id="32" name="dept-number-2-1"/>
          <p:cNvSpPr>
            <a:spLocks noGrp="1"/>
          </p:cNvSpPr>
          <p:nvPr/>
        </p:nvSpPr>
        <p:spPr>
          <a:xfrm>
            <a:off x="4610100" y="279400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1</a:t>
            </a:r>
            <a:endParaRPr sz="1200" b="1">
              <a:solidFill>
                <a:srgbClr val="005F96"/>
              </a:solidFill>
              <a:latin typeface="微软雅黑" charset="0"/>
              <a:ea typeface="微软雅黑" charset="0"/>
              <a:cs typeface="Aptos"/>
            </a:endParaRPr>
          </a:p>
        </p:txBody>
      </p:sp>
      <p:sp>
        <p:nvSpPr>
          <p:cNvPr id="33" name="dept-text-2-1"/>
          <p:cNvSpPr>
            <a:spLocks noGrp="1"/>
          </p:cNvSpPr>
          <p:nvPr/>
        </p:nvSpPr>
        <p:spPr>
          <a:xfrm>
            <a:off x="4972050" y="276542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charset="0"/>
              </a:rPr>
              <a:t>租赁公司-城服</a:t>
            </a:r>
            <a:endParaRPr sz="1600" b="1">
              <a:solidFill>
                <a:srgbClr val="1F2933"/>
              </a:solidFill>
              <a:latin typeface="微软雅黑" charset="0"/>
              <a:ea typeface="微软雅黑" charset="0"/>
              <a:cs typeface="微软雅黑" charset="0"/>
            </a:endParaRPr>
          </a:p>
        </p:txBody>
      </p:sp>
      <p:sp>
        <p:nvSpPr>
          <p:cNvPr id="34" name="dept-dot-2-2"/>
          <p:cNvSpPr>
            <a:spLocks noGrp="1"/>
          </p:cNvSpPr>
          <p:nvPr/>
        </p:nvSpPr>
        <p:spPr>
          <a:xfrm>
            <a:off x="4610100" y="3327400"/>
            <a:ext cx="247650" cy="247650"/>
          </a:xfrm>
          <a:prstGeom prst="ellipse">
            <a:avLst/>
          </a:prstGeom>
          <a:solidFill>
            <a:srgbClr val="EAF7FF"/>
          </a:solidFill>
          <a:ln w="9525">
            <a:solidFill>
              <a:srgbClr val="BFE7FB"/>
            </a:solidFill>
            <a:prstDash val="solid"/>
          </a:ln>
        </p:spPr>
      </p:sp>
      <p:sp>
        <p:nvSpPr>
          <p:cNvPr id="35" name="dept-number-2-2"/>
          <p:cNvSpPr>
            <a:spLocks noGrp="1"/>
          </p:cNvSpPr>
          <p:nvPr/>
        </p:nvSpPr>
        <p:spPr>
          <a:xfrm>
            <a:off x="4610100" y="334645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2</a:t>
            </a:r>
            <a:endParaRPr sz="1200" b="1">
              <a:solidFill>
                <a:srgbClr val="005F96"/>
              </a:solidFill>
              <a:latin typeface="微软雅黑" charset="0"/>
              <a:ea typeface="微软雅黑" charset="0"/>
              <a:cs typeface="Aptos"/>
            </a:endParaRPr>
          </a:p>
        </p:txBody>
      </p:sp>
      <p:sp>
        <p:nvSpPr>
          <p:cNvPr id="36" name="dept-text-2-2"/>
          <p:cNvSpPr>
            <a:spLocks noGrp="1"/>
          </p:cNvSpPr>
          <p:nvPr/>
        </p:nvSpPr>
        <p:spPr>
          <a:xfrm>
            <a:off x="4972050" y="331787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charset="0"/>
              </a:rPr>
              <a:t>租赁公司-商业部</a:t>
            </a:r>
            <a:endParaRPr sz="1600" b="1">
              <a:solidFill>
                <a:srgbClr val="1F2933"/>
              </a:solidFill>
              <a:latin typeface="微软雅黑" charset="0"/>
              <a:ea typeface="微软雅黑" charset="0"/>
              <a:cs typeface="微软雅黑" charset="0"/>
            </a:endParaRPr>
          </a:p>
        </p:txBody>
      </p:sp>
      <p:sp>
        <p:nvSpPr>
          <p:cNvPr id="37" name="dept-dot-2-3"/>
          <p:cNvSpPr>
            <a:spLocks noGrp="1"/>
          </p:cNvSpPr>
          <p:nvPr/>
        </p:nvSpPr>
        <p:spPr>
          <a:xfrm>
            <a:off x="4610100" y="3879850"/>
            <a:ext cx="247650" cy="247650"/>
          </a:xfrm>
          <a:prstGeom prst="ellipse">
            <a:avLst/>
          </a:prstGeom>
          <a:solidFill>
            <a:srgbClr val="EAF7FF"/>
          </a:solidFill>
          <a:ln w="9525">
            <a:solidFill>
              <a:srgbClr val="BFE7FB"/>
            </a:solidFill>
            <a:prstDash val="solid"/>
          </a:ln>
        </p:spPr>
      </p:sp>
      <p:sp>
        <p:nvSpPr>
          <p:cNvPr id="38" name="dept-number-2-3"/>
          <p:cNvSpPr>
            <a:spLocks noGrp="1"/>
          </p:cNvSpPr>
          <p:nvPr/>
        </p:nvSpPr>
        <p:spPr>
          <a:xfrm>
            <a:off x="4610100" y="389890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3</a:t>
            </a:r>
            <a:endParaRPr sz="1200" b="1">
              <a:solidFill>
                <a:srgbClr val="005F96"/>
              </a:solidFill>
              <a:latin typeface="微软雅黑" charset="0"/>
              <a:ea typeface="微软雅黑" charset="0"/>
              <a:cs typeface="Aptos"/>
            </a:endParaRPr>
          </a:p>
        </p:txBody>
      </p:sp>
      <p:sp>
        <p:nvSpPr>
          <p:cNvPr id="39" name="dept-text-2-3"/>
          <p:cNvSpPr>
            <a:spLocks noGrp="1"/>
          </p:cNvSpPr>
          <p:nvPr/>
        </p:nvSpPr>
        <p:spPr>
          <a:xfrm>
            <a:off x="4972050" y="387032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a:rPr>
              <a:t>财务部</a:t>
            </a:r>
            <a:endParaRPr sz="1600" b="1">
              <a:solidFill>
                <a:srgbClr val="1F2933"/>
              </a:solidFill>
              <a:latin typeface="微软雅黑" charset="0"/>
              <a:ea typeface="微软雅黑" charset="0"/>
              <a:cs typeface="微软雅黑"/>
            </a:endParaRPr>
          </a:p>
        </p:txBody>
      </p:sp>
      <p:sp>
        <p:nvSpPr>
          <p:cNvPr id="40" name="access-status-box-2"/>
          <p:cNvSpPr>
            <a:spLocks noGrp="1"/>
          </p:cNvSpPr>
          <p:nvPr/>
        </p:nvSpPr>
        <p:spPr>
          <a:xfrm>
            <a:off x="4610100" y="4326255"/>
            <a:ext cx="2819400" cy="438150"/>
          </a:xfrm>
          <a:prstGeom prst="roundRect">
            <a:avLst>
              <a:gd name="adj" fmla="val 17391"/>
            </a:avLst>
          </a:prstGeom>
          <a:solidFill>
            <a:srgbClr val="EAF7FF"/>
          </a:solidFill>
          <a:ln w="9525">
            <a:solidFill>
              <a:srgbClr val="BFE7FB"/>
            </a:solidFill>
            <a:prstDash val="solid"/>
          </a:ln>
        </p:spPr>
      </p:sp>
      <p:sp>
        <p:nvSpPr>
          <p:cNvPr id="3" name="access-status-text-2"/>
          <p:cNvSpPr>
            <a:spLocks noGrp="1"/>
          </p:cNvSpPr>
          <p:nvPr/>
        </p:nvSpPr>
        <p:spPr>
          <a:xfrm>
            <a:off x="4781550" y="445008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05F96"/>
                </a:solidFill>
                <a:latin typeface="微软雅黑"/>
                <a:ea typeface="微软雅黑"/>
                <a:cs typeface="微软雅黑"/>
              </a:defRPr>
            </a:pPr>
            <a:r>
              <a:rPr sz="1400" b="0">
                <a:solidFill>
                  <a:srgbClr val="005F96"/>
                </a:solidFill>
                <a:latin typeface="微软雅黑" charset="0"/>
                <a:ea typeface="微软雅黑" charset="0"/>
                <a:cs typeface="微软雅黑" charset="0"/>
              </a:rPr>
              <a:t>乐寓：有标准API接口后做规划</a:t>
            </a:r>
            <a:endParaRPr sz="1400" b="0">
              <a:solidFill>
                <a:srgbClr val="005F96"/>
              </a:solidFill>
              <a:latin typeface="微软雅黑" charset="0"/>
              <a:ea typeface="微软雅黑" charset="0"/>
              <a:cs typeface="微软雅黑" charset="0"/>
            </a:endParaRPr>
          </a:p>
        </p:txBody>
      </p:sp>
      <p:sp>
        <p:nvSpPr>
          <p:cNvPr id="42" name="module-card-3"/>
          <p:cNvSpPr>
            <a:spLocks noGrp="1"/>
          </p:cNvSpPr>
          <p:nvPr/>
        </p:nvSpPr>
        <p:spPr>
          <a:xfrm>
            <a:off x="8077200" y="1336675"/>
            <a:ext cx="3276600" cy="3655060"/>
          </a:xfrm>
          <a:prstGeom prst="roundRect">
            <a:avLst>
              <a:gd name="adj" fmla="val 2326"/>
            </a:avLst>
          </a:prstGeom>
          <a:solidFill>
            <a:srgbClr val="FFFFFF"/>
          </a:solidFill>
          <a:ln w="11906">
            <a:solidFill>
              <a:srgbClr val="C9E7F6"/>
            </a:solidFill>
            <a:prstDash val="solid"/>
          </a:ln>
        </p:spPr>
      </p:sp>
      <p:sp>
        <p:nvSpPr>
          <p:cNvPr id="43" name="module-card-header-3"/>
          <p:cNvSpPr>
            <a:spLocks noGrp="1"/>
          </p:cNvSpPr>
          <p:nvPr/>
        </p:nvSpPr>
        <p:spPr>
          <a:xfrm>
            <a:off x="8077200" y="1336675"/>
            <a:ext cx="3276600" cy="781050"/>
          </a:xfrm>
          <a:prstGeom prst="roundRect">
            <a:avLst>
              <a:gd name="adj" fmla="val 9756"/>
            </a:avLst>
          </a:prstGeom>
          <a:solidFill>
            <a:srgbClr val="0086D1"/>
          </a:solidFill>
          <a:ln w="0">
            <a:solidFill>
              <a:srgbClr val="0086D1"/>
            </a:solidFill>
            <a:prstDash val="solid"/>
          </a:ln>
        </p:spPr>
      </p:sp>
      <p:sp>
        <p:nvSpPr>
          <p:cNvPr id="44" name="module-card-header-square-3"/>
          <p:cNvSpPr>
            <a:spLocks noGrp="1"/>
          </p:cNvSpPr>
          <p:nvPr/>
        </p:nvSpPr>
        <p:spPr>
          <a:xfrm>
            <a:off x="8077200" y="1889125"/>
            <a:ext cx="3276600" cy="266700"/>
          </a:xfrm>
          <a:prstGeom prst="rect">
            <a:avLst/>
          </a:prstGeom>
          <a:solidFill>
            <a:srgbClr val="0086D1"/>
          </a:solidFill>
          <a:ln w="0">
            <a:solidFill>
              <a:srgbClr val="0086D1"/>
            </a:solidFill>
            <a:prstDash val="solid"/>
          </a:ln>
        </p:spPr>
      </p:sp>
      <p:sp>
        <p:nvSpPr>
          <p:cNvPr id="45" name="module-title-3"/>
          <p:cNvSpPr>
            <a:spLocks noGrp="1"/>
          </p:cNvSpPr>
          <p:nvPr/>
        </p:nvSpPr>
        <p:spPr>
          <a:xfrm>
            <a:off x="8305800" y="1579880"/>
            <a:ext cx="2819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FFFFF"/>
                </a:solidFill>
                <a:latin typeface="微软雅黑"/>
                <a:ea typeface="微软雅黑"/>
                <a:cs typeface="微软雅黑"/>
              </a:defRPr>
            </a:pPr>
            <a:r>
              <a:rPr sz="2400" b="1">
                <a:solidFill>
                  <a:srgbClr val="FFFFFF"/>
                </a:solidFill>
                <a:latin typeface="微软雅黑" charset="0"/>
                <a:ea typeface="微软雅黑" charset="0"/>
                <a:cs typeface="微软雅黑"/>
              </a:rPr>
              <a:t>客户数据模块</a:t>
            </a:r>
            <a:endParaRPr sz="2400" b="1">
              <a:solidFill>
                <a:srgbClr val="FFFFFF"/>
              </a:solidFill>
              <a:latin typeface="微软雅黑" charset="0"/>
              <a:ea typeface="微软雅黑" charset="0"/>
              <a:cs typeface="微软雅黑"/>
            </a:endParaRPr>
          </a:p>
        </p:txBody>
      </p:sp>
      <p:sp>
        <p:nvSpPr>
          <p:cNvPr id="47" name="dept-label-3"/>
          <p:cNvSpPr>
            <a:spLocks noGrp="1"/>
          </p:cNvSpPr>
          <p:nvPr/>
        </p:nvSpPr>
        <p:spPr>
          <a:xfrm>
            <a:off x="8305800" y="2403475"/>
            <a:ext cx="1252855" cy="2051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05F96"/>
                </a:solidFill>
                <a:latin typeface="微软雅黑"/>
                <a:ea typeface="微软雅黑"/>
                <a:cs typeface="微软雅黑"/>
              </a:defRPr>
            </a:pPr>
            <a:r>
              <a:rPr lang="zh-CN" sz="1400" b="1">
                <a:solidFill>
                  <a:srgbClr val="005F96"/>
                </a:solidFill>
                <a:latin typeface="微软雅黑" charset="0"/>
                <a:ea typeface="微软雅黑" charset="0"/>
                <a:cs typeface="微软雅黑"/>
              </a:rPr>
              <a:t>涉及核心</a:t>
            </a:r>
            <a:r>
              <a:rPr sz="1400" b="1">
                <a:solidFill>
                  <a:srgbClr val="005F96"/>
                </a:solidFill>
                <a:latin typeface="微软雅黑" charset="0"/>
                <a:ea typeface="微软雅黑" charset="0"/>
                <a:cs typeface="微软雅黑"/>
              </a:rPr>
              <a:t>部门</a:t>
            </a:r>
            <a:endParaRPr sz="1400" b="1">
              <a:solidFill>
                <a:srgbClr val="005F96"/>
              </a:solidFill>
              <a:latin typeface="微软雅黑" charset="0"/>
              <a:ea typeface="微软雅黑" charset="0"/>
              <a:cs typeface="微软雅黑"/>
            </a:endParaRPr>
          </a:p>
        </p:txBody>
      </p:sp>
      <p:sp>
        <p:nvSpPr>
          <p:cNvPr id="48" name="dept-dot-3-1"/>
          <p:cNvSpPr>
            <a:spLocks noGrp="1"/>
          </p:cNvSpPr>
          <p:nvPr/>
        </p:nvSpPr>
        <p:spPr>
          <a:xfrm>
            <a:off x="8305800" y="2774950"/>
            <a:ext cx="247650" cy="247650"/>
          </a:xfrm>
          <a:prstGeom prst="ellipse">
            <a:avLst/>
          </a:prstGeom>
          <a:solidFill>
            <a:srgbClr val="EAF7FF"/>
          </a:solidFill>
          <a:ln w="9525">
            <a:solidFill>
              <a:srgbClr val="BFE7FB"/>
            </a:solidFill>
            <a:prstDash val="solid"/>
          </a:ln>
        </p:spPr>
      </p:sp>
      <p:sp>
        <p:nvSpPr>
          <p:cNvPr id="49" name="dept-number-3-1"/>
          <p:cNvSpPr>
            <a:spLocks noGrp="1"/>
          </p:cNvSpPr>
          <p:nvPr/>
        </p:nvSpPr>
        <p:spPr>
          <a:xfrm>
            <a:off x="8305800" y="279400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1</a:t>
            </a:r>
            <a:endParaRPr sz="1200" b="1">
              <a:solidFill>
                <a:srgbClr val="005F96"/>
              </a:solidFill>
              <a:latin typeface="微软雅黑" charset="0"/>
              <a:ea typeface="微软雅黑" charset="0"/>
              <a:cs typeface="Aptos"/>
            </a:endParaRPr>
          </a:p>
        </p:txBody>
      </p:sp>
      <p:sp>
        <p:nvSpPr>
          <p:cNvPr id="50" name="dept-text-3-1"/>
          <p:cNvSpPr>
            <a:spLocks noGrp="1"/>
          </p:cNvSpPr>
          <p:nvPr/>
        </p:nvSpPr>
        <p:spPr>
          <a:xfrm>
            <a:off x="8667750" y="276542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charset="0"/>
              </a:rPr>
              <a:t>租赁公司-城服</a:t>
            </a:r>
            <a:endParaRPr sz="1600" b="1">
              <a:solidFill>
                <a:srgbClr val="1F2933"/>
              </a:solidFill>
              <a:latin typeface="微软雅黑" charset="0"/>
              <a:ea typeface="微软雅黑" charset="0"/>
              <a:cs typeface="微软雅黑" charset="0"/>
            </a:endParaRPr>
          </a:p>
        </p:txBody>
      </p:sp>
      <p:sp>
        <p:nvSpPr>
          <p:cNvPr id="51" name="dept-dot-3-2"/>
          <p:cNvSpPr>
            <a:spLocks noGrp="1"/>
          </p:cNvSpPr>
          <p:nvPr/>
        </p:nvSpPr>
        <p:spPr>
          <a:xfrm>
            <a:off x="8305800" y="3327400"/>
            <a:ext cx="247650" cy="247650"/>
          </a:xfrm>
          <a:prstGeom prst="ellipse">
            <a:avLst/>
          </a:prstGeom>
          <a:solidFill>
            <a:srgbClr val="EAF7FF"/>
          </a:solidFill>
          <a:ln w="9525">
            <a:solidFill>
              <a:srgbClr val="BFE7FB"/>
            </a:solidFill>
            <a:prstDash val="solid"/>
          </a:ln>
        </p:spPr>
      </p:sp>
      <p:sp>
        <p:nvSpPr>
          <p:cNvPr id="52" name="dept-number-3-2"/>
          <p:cNvSpPr>
            <a:spLocks noGrp="1"/>
          </p:cNvSpPr>
          <p:nvPr/>
        </p:nvSpPr>
        <p:spPr>
          <a:xfrm>
            <a:off x="8305800" y="334645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2</a:t>
            </a:r>
            <a:endParaRPr sz="1200" b="1">
              <a:solidFill>
                <a:srgbClr val="005F96"/>
              </a:solidFill>
              <a:latin typeface="微软雅黑" charset="0"/>
              <a:ea typeface="微软雅黑" charset="0"/>
              <a:cs typeface="Aptos"/>
            </a:endParaRPr>
          </a:p>
        </p:txBody>
      </p:sp>
      <p:sp>
        <p:nvSpPr>
          <p:cNvPr id="53" name="dept-text-3-2"/>
          <p:cNvSpPr>
            <a:spLocks noGrp="1"/>
          </p:cNvSpPr>
          <p:nvPr/>
        </p:nvSpPr>
        <p:spPr>
          <a:xfrm>
            <a:off x="8667750" y="331787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charset="0"/>
              </a:rPr>
              <a:t>租赁公司-商业部</a:t>
            </a:r>
            <a:endParaRPr sz="1600" b="1">
              <a:solidFill>
                <a:srgbClr val="1F2933"/>
              </a:solidFill>
              <a:latin typeface="微软雅黑" charset="0"/>
              <a:ea typeface="微软雅黑" charset="0"/>
              <a:cs typeface="微软雅黑" charset="0"/>
            </a:endParaRPr>
          </a:p>
        </p:txBody>
      </p:sp>
      <p:sp>
        <p:nvSpPr>
          <p:cNvPr id="54" name="dept-dot-3-3"/>
          <p:cNvSpPr>
            <a:spLocks noGrp="1"/>
          </p:cNvSpPr>
          <p:nvPr/>
        </p:nvSpPr>
        <p:spPr>
          <a:xfrm>
            <a:off x="8305800" y="3879850"/>
            <a:ext cx="247650" cy="247650"/>
          </a:xfrm>
          <a:prstGeom prst="ellipse">
            <a:avLst/>
          </a:prstGeom>
          <a:solidFill>
            <a:srgbClr val="EAF7FF"/>
          </a:solidFill>
          <a:ln w="9525">
            <a:solidFill>
              <a:srgbClr val="BFE7FB"/>
            </a:solidFill>
            <a:prstDash val="solid"/>
          </a:ln>
        </p:spPr>
      </p:sp>
      <p:sp>
        <p:nvSpPr>
          <p:cNvPr id="55" name="dept-number-3-3"/>
          <p:cNvSpPr>
            <a:spLocks noGrp="1"/>
          </p:cNvSpPr>
          <p:nvPr/>
        </p:nvSpPr>
        <p:spPr>
          <a:xfrm>
            <a:off x="8305800" y="3898900"/>
            <a:ext cx="247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5F96"/>
                </a:solidFill>
                <a:latin typeface="Aptos"/>
                <a:ea typeface="Aptos"/>
                <a:cs typeface="Aptos"/>
              </a:defRPr>
            </a:pPr>
            <a:r>
              <a:rPr sz="1200" b="1">
                <a:solidFill>
                  <a:srgbClr val="005F96"/>
                </a:solidFill>
                <a:latin typeface="微软雅黑" charset="0"/>
                <a:ea typeface="微软雅黑" charset="0"/>
                <a:cs typeface="Aptos"/>
              </a:rPr>
              <a:t>3</a:t>
            </a:r>
            <a:endParaRPr sz="1200" b="1">
              <a:solidFill>
                <a:srgbClr val="005F96"/>
              </a:solidFill>
              <a:latin typeface="微软雅黑" charset="0"/>
              <a:ea typeface="微软雅黑" charset="0"/>
              <a:cs typeface="Aptos"/>
            </a:endParaRPr>
          </a:p>
        </p:txBody>
      </p:sp>
      <p:sp>
        <p:nvSpPr>
          <p:cNvPr id="56" name="dept-text-3-3"/>
          <p:cNvSpPr>
            <a:spLocks noGrp="1"/>
          </p:cNvSpPr>
          <p:nvPr/>
        </p:nvSpPr>
        <p:spPr>
          <a:xfrm>
            <a:off x="8667750" y="3870325"/>
            <a:ext cx="2400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F2933"/>
                </a:solidFill>
                <a:latin typeface="微软雅黑"/>
                <a:ea typeface="微软雅黑"/>
                <a:cs typeface="微软雅黑"/>
              </a:defRPr>
            </a:pPr>
            <a:r>
              <a:rPr sz="1600" b="1">
                <a:solidFill>
                  <a:srgbClr val="1F2933"/>
                </a:solidFill>
                <a:latin typeface="微软雅黑" charset="0"/>
                <a:ea typeface="微软雅黑" charset="0"/>
                <a:cs typeface="微软雅黑" charset="0"/>
              </a:rPr>
              <a:t>租赁公司-住房部</a:t>
            </a:r>
            <a:endParaRPr sz="1600" b="1">
              <a:solidFill>
                <a:srgbClr val="1F2933"/>
              </a:solidFill>
              <a:latin typeface="微软雅黑" charset="0"/>
              <a:ea typeface="微软雅黑" charset="0"/>
              <a:cs typeface="微软雅黑" charset="0"/>
            </a:endParaRPr>
          </a:p>
        </p:txBody>
      </p:sp>
      <p:sp>
        <p:nvSpPr>
          <p:cNvPr id="57" name="access-status-box-3"/>
          <p:cNvSpPr>
            <a:spLocks noGrp="1"/>
          </p:cNvSpPr>
          <p:nvPr/>
        </p:nvSpPr>
        <p:spPr>
          <a:xfrm>
            <a:off x="8305800" y="4326255"/>
            <a:ext cx="2819400" cy="438150"/>
          </a:xfrm>
          <a:prstGeom prst="roundRect">
            <a:avLst>
              <a:gd name="adj" fmla="val 17391"/>
            </a:avLst>
          </a:prstGeom>
          <a:solidFill>
            <a:srgbClr val="EAF7FF"/>
          </a:solidFill>
          <a:ln w="9525">
            <a:solidFill>
              <a:srgbClr val="BFE7FB"/>
            </a:solidFill>
            <a:prstDash val="solid"/>
          </a:ln>
        </p:spPr>
      </p:sp>
      <p:sp>
        <p:nvSpPr>
          <p:cNvPr id="58" name="access-status-text-3"/>
          <p:cNvSpPr>
            <a:spLocks noGrp="1"/>
          </p:cNvSpPr>
          <p:nvPr/>
        </p:nvSpPr>
        <p:spPr>
          <a:xfrm>
            <a:off x="8477250" y="445008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5F96"/>
                </a:solidFill>
                <a:latin typeface="微软雅黑"/>
                <a:ea typeface="微软雅黑"/>
                <a:cs typeface="微软雅黑"/>
              </a:defRPr>
            </a:pPr>
            <a:r>
              <a:rPr sz="1400" b="0">
                <a:solidFill>
                  <a:srgbClr val="005F96"/>
                </a:solidFill>
                <a:latin typeface="微软雅黑" charset="0"/>
                <a:ea typeface="微软雅黑" charset="0"/>
                <a:cs typeface="微软雅黑"/>
              </a:rPr>
              <a:t>乐寓</a:t>
            </a:r>
            <a:r>
              <a:rPr lang="zh-CN" sz="1400" b="0">
                <a:solidFill>
                  <a:srgbClr val="005F96"/>
                </a:solidFill>
                <a:latin typeface="微软雅黑" charset="0"/>
                <a:ea typeface="微软雅黑" charset="0"/>
                <a:cs typeface="微软雅黑"/>
              </a:rPr>
              <a:t>未</a:t>
            </a:r>
            <a:r>
              <a:rPr sz="1400" b="0">
                <a:solidFill>
                  <a:srgbClr val="005F96"/>
                </a:solidFill>
                <a:latin typeface="微软雅黑" charset="0"/>
                <a:ea typeface="微软雅黑" charset="0"/>
                <a:cs typeface="微软雅黑"/>
              </a:rPr>
              <a:t>提接入要求</a:t>
            </a:r>
            <a:endParaRPr sz="1400" b="0">
              <a:solidFill>
                <a:srgbClr val="005F96"/>
              </a:solidFill>
              <a:latin typeface="微软雅黑" charset="0"/>
              <a:ea typeface="微软雅黑" charset="0"/>
              <a:cs typeface="微软雅黑"/>
            </a:endParaRPr>
          </a:p>
        </p:txBody>
      </p:sp>
      <p:sp>
        <p:nvSpPr>
          <p:cNvPr id="59" name="leader-focus-1"/>
          <p:cNvSpPr txBox="1">
            <a:spLocks noGrp="1"/>
          </p:cNvSpPr>
          <p:nvPr/>
        </p:nvSpPr>
        <p:spPr>
          <a:xfrm>
            <a:off x="685800" y="5133340"/>
            <a:ext cx="3276600" cy="1403350"/>
          </a:xfrm>
          <a:prstGeom prst="roundRect">
            <a:avLst>
              <a:gd name="adj" fmla="val 12000"/>
            </a:avLst>
          </a:prstGeom>
          <a:solidFill>
            <a:srgbClr val="F4FBFF"/>
          </a:solidFill>
          <a:ln w="9525">
            <a:solidFill>
              <a:srgbClr val="BFE7FB"/>
            </a:solidFill>
            <a:prstDash val="solid"/>
          </a:ln>
        </p:spPr>
        <p:txBody>
          <a:bodyPr wrap="square" lIns="114300" tIns="57150" rIns="114300" bIns="57150" anchor="t">
            <a:noAutofit/>
          </a:bodyPr>
          <a:lstStyle/>
          <a:p>
            <a:pPr algn="l">
              <a:defRPr sz="1050" b="1">
                <a:solidFill>
                  <a:srgbClr val="005F96"/>
                </a:solidFill>
                <a:latin typeface="微软雅黑"/>
                <a:ea typeface="微软雅黑"/>
                <a:cs typeface="微软雅黑"/>
              </a:defRPr>
            </a:pPr>
            <a:r>
              <a:rPr lang="zh-CN" sz="1600" b="1">
                <a:solidFill>
                  <a:srgbClr val="005F96"/>
                </a:solidFill>
                <a:latin typeface="微软雅黑" charset="0"/>
                <a:ea typeface="微软雅黑" charset="0"/>
                <a:cs typeface="微软雅黑" charset="0"/>
              </a:rPr>
              <a:t>重点</a:t>
            </a:r>
            <a:r>
              <a:rPr sz="1600" b="1">
                <a:solidFill>
                  <a:srgbClr val="005F96"/>
                </a:solidFill>
                <a:latin typeface="微软雅黑" charset="0"/>
                <a:ea typeface="微软雅黑" charset="0"/>
                <a:cs typeface="微软雅黑" charset="0"/>
              </a:rPr>
              <a:t>关注</a:t>
            </a:r>
            <a:endParaRPr sz="1600" b="1">
              <a:solidFill>
                <a:srgbClr val="005F96"/>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sz="1600">
                <a:solidFill>
                  <a:srgbClr val="1F2933"/>
                </a:solidFill>
                <a:latin typeface="微软雅黑" charset="0"/>
                <a:ea typeface="微软雅黑" charset="0"/>
                <a:cs typeface="微软雅黑" charset="0"/>
              </a:rPr>
              <a:t>知识库准确</a:t>
            </a:r>
            <a:r>
              <a:rPr lang="zh-CN" sz="1600">
                <a:solidFill>
                  <a:srgbClr val="1F2933"/>
                </a:solidFill>
                <a:latin typeface="微软雅黑" charset="0"/>
                <a:ea typeface="微软雅黑" charset="0"/>
                <a:cs typeface="微软雅黑" charset="0"/>
              </a:rPr>
              <a:t>度</a:t>
            </a:r>
            <a:r>
              <a:rPr sz="1600">
                <a:solidFill>
                  <a:srgbClr val="1F2933"/>
                </a:solidFill>
                <a:latin typeface="微软雅黑" charset="0"/>
                <a:ea typeface="微软雅黑" charset="0"/>
                <a:cs typeface="微软雅黑" charset="0"/>
              </a:rPr>
              <a:t>/智能</a:t>
            </a:r>
            <a:r>
              <a:rPr lang="zh-CN" sz="1600">
                <a:solidFill>
                  <a:srgbClr val="1F2933"/>
                </a:solidFill>
                <a:latin typeface="微软雅黑" charset="0"/>
                <a:ea typeface="微软雅黑" charset="0"/>
                <a:cs typeface="微软雅黑" charset="0"/>
              </a:rPr>
              <a:t>化</a:t>
            </a:r>
            <a:endParaRPr sz="1600">
              <a:solidFill>
                <a:srgbClr val="1F2933"/>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sz="1600">
                <a:solidFill>
                  <a:srgbClr val="1F2933"/>
                </a:solidFill>
                <a:latin typeface="微软雅黑" charset="0"/>
                <a:ea typeface="微软雅黑" charset="0"/>
                <a:cs typeface="微软雅黑" charset="0"/>
              </a:rPr>
              <a:t>客诉识别处理</a:t>
            </a:r>
            <a:r>
              <a:rPr lang="zh-CN" sz="1600">
                <a:solidFill>
                  <a:srgbClr val="1F2933"/>
                </a:solidFill>
                <a:latin typeface="微软雅黑" charset="0"/>
                <a:ea typeface="微软雅黑" charset="0"/>
                <a:cs typeface="微软雅黑" charset="0"/>
              </a:rPr>
              <a:t>机制</a:t>
            </a:r>
            <a:endParaRPr sz="1600">
              <a:solidFill>
                <a:srgbClr val="1F2933"/>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lang="zh-CN" sz="1600">
                <a:solidFill>
                  <a:srgbClr val="1F2933"/>
                </a:solidFill>
                <a:latin typeface="微软雅黑" charset="0"/>
                <a:ea typeface="微软雅黑" charset="0"/>
                <a:cs typeface="微软雅黑" charset="0"/>
              </a:rPr>
              <a:t>提升客户</a:t>
            </a:r>
            <a:r>
              <a:rPr sz="1600">
                <a:solidFill>
                  <a:srgbClr val="1F2933"/>
                </a:solidFill>
                <a:latin typeface="微软雅黑" charset="0"/>
                <a:ea typeface="微软雅黑" charset="0"/>
                <a:cs typeface="微软雅黑" charset="0"/>
              </a:rPr>
              <a:t>满意度、归属感</a:t>
            </a:r>
            <a:endParaRPr sz="1600">
              <a:solidFill>
                <a:srgbClr val="1F2933"/>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sz="1600">
                <a:solidFill>
                  <a:srgbClr val="1F2933"/>
                </a:solidFill>
                <a:latin typeface="微软雅黑" charset="0"/>
                <a:ea typeface="微软雅黑" charset="0"/>
                <a:cs typeface="微软雅黑" charset="0"/>
              </a:rPr>
              <a:t>服务数据指标</a:t>
            </a:r>
            <a:endParaRPr sz="1600">
              <a:solidFill>
                <a:srgbClr val="1F2933"/>
              </a:solidFill>
              <a:latin typeface="微软雅黑" charset="0"/>
              <a:ea typeface="微软雅黑" charset="0"/>
              <a:cs typeface="微软雅黑" charset="0"/>
            </a:endParaRPr>
          </a:p>
        </p:txBody>
      </p:sp>
      <p:sp>
        <p:nvSpPr>
          <p:cNvPr id="60" name="leader-focus-2"/>
          <p:cNvSpPr txBox="1">
            <a:spLocks noGrp="1"/>
          </p:cNvSpPr>
          <p:nvPr/>
        </p:nvSpPr>
        <p:spPr>
          <a:xfrm>
            <a:off x="4381500" y="5133340"/>
            <a:ext cx="3276600" cy="1403350"/>
          </a:xfrm>
          <a:prstGeom prst="roundRect">
            <a:avLst>
              <a:gd name="adj" fmla="val 12000"/>
            </a:avLst>
          </a:prstGeom>
          <a:solidFill>
            <a:srgbClr val="F4FBFF"/>
          </a:solidFill>
          <a:ln w="9525">
            <a:solidFill>
              <a:srgbClr val="BFE7FB"/>
            </a:solidFill>
            <a:prstDash val="solid"/>
          </a:ln>
        </p:spPr>
        <p:txBody>
          <a:bodyPr wrap="square" lIns="114300" tIns="57150" rIns="114300" bIns="57150" anchor="t">
            <a:noAutofit/>
          </a:bodyPr>
          <a:lstStyle/>
          <a:p>
            <a:pPr algn="l">
              <a:defRPr sz="1050" b="1">
                <a:solidFill>
                  <a:srgbClr val="005F96"/>
                </a:solidFill>
                <a:latin typeface="微软雅黑"/>
                <a:ea typeface="微软雅黑"/>
                <a:cs typeface="微软雅黑"/>
              </a:defRPr>
            </a:pPr>
            <a:r>
              <a:rPr lang="zh-CN" sz="1600" b="1">
                <a:solidFill>
                  <a:srgbClr val="005F96"/>
                </a:solidFill>
                <a:latin typeface="微软雅黑" charset="0"/>
                <a:ea typeface="微软雅黑" charset="0"/>
                <a:cs typeface="微软雅黑" charset="0"/>
              </a:rPr>
              <a:t>重点</a:t>
            </a:r>
            <a:r>
              <a:rPr sz="1600" b="1">
                <a:solidFill>
                  <a:srgbClr val="005F96"/>
                </a:solidFill>
                <a:latin typeface="微软雅黑" charset="0"/>
                <a:ea typeface="微软雅黑" charset="0"/>
                <a:cs typeface="微软雅黑" charset="0"/>
              </a:rPr>
              <a:t>关注</a:t>
            </a:r>
            <a:endParaRPr sz="1600" b="1">
              <a:solidFill>
                <a:srgbClr val="005F96"/>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sz="1600">
                <a:solidFill>
                  <a:srgbClr val="1F2933"/>
                </a:solidFill>
                <a:latin typeface="微软雅黑" charset="0"/>
                <a:ea typeface="微软雅黑" charset="0"/>
                <a:cs typeface="微软雅黑" charset="0"/>
              </a:rPr>
              <a:t>业务场景适配</a:t>
            </a:r>
            <a:endParaRPr sz="1600">
              <a:solidFill>
                <a:srgbClr val="1F2933"/>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lang="zh-CN" sz="1600">
                <a:solidFill>
                  <a:srgbClr val="1F2933"/>
                </a:solidFill>
                <a:latin typeface="微软雅黑" charset="0"/>
                <a:ea typeface="微软雅黑" charset="0"/>
                <a:cs typeface="微软雅黑" charset="0"/>
              </a:rPr>
              <a:t>优惠</a:t>
            </a:r>
            <a:r>
              <a:rPr lang="en-US" altLang="zh-CN" sz="1600">
                <a:solidFill>
                  <a:srgbClr val="1F2933"/>
                </a:solidFill>
                <a:latin typeface="微软雅黑" charset="0"/>
                <a:ea typeface="微软雅黑" charset="0"/>
                <a:cs typeface="微软雅黑" charset="0"/>
              </a:rPr>
              <a:t>、</a:t>
            </a:r>
            <a:r>
              <a:rPr sz="1600">
                <a:solidFill>
                  <a:srgbClr val="1F2933"/>
                </a:solidFill>
                <a:latin typeface="微软雅黑" charset="0"/>
                <a:ea typeface="微软雅黑" charset="0"/>
                <a:cs typeface="微软雅黑" charset="0"/>
              </a:rPr>
              <a:t>权益吸引力</a:t>
            </a:r>
            <a:endParaRPr sz="1600">
              <a:solidFill>
                <a:srgbClr val="1F2933"/>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lang="zh-CN" sz="1600">
                <a:solidFill>
                  <a:srgbClr val="1F2933"/>
                </a:solidFill>
                <a:latin typeface="微软雅黑" charset="0"/>
                <a:ea typeface="微软雅黑" charset="0"/>
                <a:cs typeface="微软雅黑" charset="0"/>
              </a:rPr>
              <a:t>积分</a:t>
            </a:r>
            <a:r>
              <a:rPr sz="1600">
                <a:solidFill>
                  <a:srgbClr val="1F2933"/>
                </a:solidFill>
                <a:latin typeface="微软雅黑" charset="0"/>
                <a:ea typeface="微软雅黑" charset="0"/>
                <a:cs typeface="微软雅黑" charset="0"/>
              </a:rPr>
              <a:t>清结算</a:t>
            </a:r>
            <a:endParaRPr sz="1600">
              <a:solidFill>
                <a:srgbClr val="1F2933"/>
              </a:solidFill>
              <a:latin typeface="微软雅黑" charset="0"/>
              <a:ea typeface="微软雅黑" charset="0"/>
              <a:cs typeface="微软雅黑" charset="0"/>
            </a:endParaRPr>
          </a:p>
        </p:txBody>
      </p:sp>
      <p:sp>
        <p:nvSpPr>
          <p:cNvPr id="61" name="leader-focus-3"/>
          <p:cNvSpPr txBox="1">
            <a:spLocks noGrp="1"/>
          </p:cNvSpPr>
          <p:nvPr/>
        </p:nvSpPr>
        <p:spPr>
          <a:xfrm>
            <a:off x="8077200" y="5133340"/>
            <a:ext cx="3276600" cy="1403350"/>
          </a:xfrm>
          <a:prstGeom prst="roundRect">
            <a:avLst>
              <a:gd name="adj" fmla="val 12000"/>
            </a:avLst>
          </a:prstGeom>
          <a:solidFill>
            <a:srgbClr val="F4FBFF"/>
          </a:solidFill>
          <a:ln w="9525">
            <a:solidFill>
              <a:srgbClr val="BFE7FB"/>
            </a:solidFill>
            <a:prstDash val="solid"/>
          </a:ln>
        </p:spPr>
        <p:txBody>
          <a:bodyPr wrap="square" lIns="114300" tIns="57150" rIns="114300" bIns="57150" anchor="t">
            <a:noAutofit/>
          </a:bodyPr>
          <a:lstStyle/>
          <a:p>
            <a:pPr algn="l">
              <a:defRPr sz="1050" b="1">
                <a:solidFill>
                  <a:srgbClr val="005F96"/>
                </a:solidFill>
                <a:latin typeface="微软雅黑"/>
                <a:ea typeface="微软雅黑"/>
                <a:cs typeface="微软雅黑"/>
              </a:defRPr>
            </a:pPr>
            <a:r>
              <a:rPr lang="zh-CN" sz="1600" b="1">
                <a:solidFill>
                  <a:srgbClr val="005F96"/>
                </a:solidFill>
                <a:latin typeface="微软雅黑" charset="0"/>
                <a:ea typeface="微软雅黑" charset="0"/>
                <a:cs typeface="微软雅黑" charset="0"/>
              </a:rPr>
              <a:t>重点</a:t>
            </a:r>
            <a:r>
              <a:rPr sz="1600" b="1">
                <a:solidFill>
                  <a:srgbClr val="005F96"/>
                </a:solidFill>
                <a:latin typeface="微软雅黑" charset="0"/>
                <a:ea typeface="微软雅黑" charset="0"/>
                <a:cs typeface="微软雅黑" charset="0"/>
              </a:rPr>
              <a:t>关注</a:t>
            </a:r>
            <a:endParaRPr sz="1600" b="1">
              <a:solidFill>
                <a:srgbClr val="005F96"/>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sz="1600">
                <a:solidFill>
                  <a:srgbClr val="1F2933"/>
                </a:solidFill>
                <a:latin typeface="微软雅黑" charset="0"/>
                <a:ea typeface="微软雅黑" charset="0"/>
                <a:cs typeface="微软雅黑" charset="0"/>
              </a:rPr>
              <a:t>统一标签模板</a:t>
            </a:r>
            <a:endParaRPr sz="1600">
              <a:solidFill>
                <a:srgbClr val="1F2933"/>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sz="1600">
                <a:solidFill>
                  <a:srgbClr val="1F2933"/>
                </a:solidFill>
                <a:latin typeface="微软雅黑" charset="0"/>
                <a:ea typeface="微软雅黑" charset="0"/>
                <a:cs typeface="微软雅黑" charset="0"/>
              </a:rPr>
              <a:t>数据权限隔离</a:t>
            </a:r>
            <a:endParaRPr sz="1600">
              <a:solidFill>
                <a:srgbClr val="1F2933"/>
              </a:solidFill>
              <a:latin typeface="微软雅黑" charset="0"/>
              <a:ea typeface="微软雅黑" charset="0"/>
              <a:cs typeface="微软雅黑" charset="0"/>
            </a:endParaRPr>
          </a:p>
          <a:p>
            <a:pPr marL="285750" indent="-285750" algn="l">
              <a:buFont typeface="Arial" panose="020B0604020202090204" pitchFamily="34" charset="0"/>
              <a:buChar char="•"/>
              <a:defRPr sz="900">
                <a:solidFill>
                  <a:srgbClr val="1F2933"/>
                </a:solidFill>
                <a:latin typeface="微软雅黑"/>
                <a:ea typeface="微软雅黑"/>
                <a:cs typeface="微软雅黑"/>
              </a:defRPr>
            </a:pPr>
            <a:r>
              <a:rPr sz="1600">
                <a:solidFill>
                  <a:srgbClr val="1F2933"/>
                </a:solidFill>
                <a:latin typeface="微软雅黑" charset="0"/>
                <a:ea typeface="微软雅黑" charset="0"/>
                <a:cs typeface="微软雅黑" charset="0"/>
              </a:rPr>
              <a:t>精准营销</a:t>
            </a:r>
            <a:endParaRPr sz="1600">
              <a:solidFill>
                <a:srgbClr val="1F2933"/>
              </a:solidFill>
              <a:latin typeface="微软雅黑" charset="0"/>
              <a:ea typeface="微软雅黑" charset="0"/>
              <a:cs typeface="微软雅黑"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2413000" y="2068830"/>
            <a:ext cx="7473315" cy="4558665"/>
          </a:xfrm>
          <a:prstGeom prst="rect">
            <a:avLst/>
          </a:prstGeom>
          <a:solidFill>
            <a:srgbClr val="FF8439">
              <a:alpha val="5000"/>
            </a:srgbClr>
          </a:solidFill>
          <a:ln>
            <a:solidFill>
              <a:srgbClr val="FF0000">
                <a:alpha val="30000"/>
              </a:srgb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914400" eaLnBrk="1" fontAlgn="auto" hangingPunct="1">
              <a:spcAft>
                <a:spcPts val="600"/>
              </a:spcAft>
            </a:pP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695325" y="347980"/>
            <a:ext cx="6480810" cy="571500"/>
          </a:xfrm>
          <a:prstGeom prst="rect">
            <a:avLst/>
          </a:prstGeom>
          <a:noFill/>
        </p:spPr>
        <p:txBody>
          <a:bodyPr wrap="square" rtlCol="0">
            <a:noAutofit/>
          </a:bodyPr>
          <a:lstStyle/>
          <a:p>
            <a:pPr defTabSz="914400" eaLnBrk="1" fontAlgn="auto" hangingPunct="1"/>
            <a:r>
              <a:rPr lang="zh-CN" altLang="en-US" sz="2800" b="1" dirty="0">
                <a:solidFill>
                  <a:schemeClr val="tx1">
                    <a:lumMod val="75000"/>
                    <a:lumOff val="25000"/>
                  </a:schemeClr>
                </a:solidFill>
                <a:latin typeface="微软雅黑" charset="0"/>
                <a:ea typeface="微软雅黑" charset="0"/>
                <a:cs typeface="微软雅黑" charset="0"/>
                <a:sym typeface="+mn-ea"/>
              </a:rPr>
              <a:t>智能客服集成设计</a:t>
            </a:r>
            <a:endParaRPr kumimoji="0" lang="en-GB" sz="28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endParaRPr>
          </a:p>
          <a:p>
            <a:pPr defTabSz="914400" eaLnBrk="1" fontAlgn="auto" hangingPunct="1"/>
            <a:endParaRPr lang="zh-CN" altLang="en-US" sz="2800" b="1" dirty="0">
              <a:solidFill>
                <a:schemeClr val="tx1">
                  <a:lumMod val="75000"/>
                  <a:lumOff val="25000"/>
                </a:schemeClr>
              </a:solidFill>
              <a:latin typeface="微软雅黑" charset="0"/>
              <a:ea typeface="微软雅黑" charset="0"/>
              <a:cs typeface="微软雅黑" charset="0"/>
            </a:endParaRPr>
          </a:p>
          <a:p>
            <a:pPr defTabSz="914400" eaLnBrk="1" fontAlgn="auto" hangingPunct="1"/>
            <a:r>
              <a:rPr lang="en-US" altLang="zh-CN" sz="2800" b="1" dirty="0">
                <a:solidFill>
                  <a:schemeClr val="tx1">
                    <a:lumMod val="75000"/>
                    <a:lumOff val="25000"/>
                  </a:schemeClr>
                </a:solidFill>
                <a:latin typeface="微软雅黑" charset="0"/>
                <a:ea typeface="微软雅黑" charset="0"/>
                <a:cs typeface="微软雅黑" charset="0"/>
                <a:sym typeface="+mn-ea"/>
              </a:rPr>
              <a:t> </a:t>
            </a:r>
            <a:endParaRPr lang="zh-CN" altLang="en-US" sz="2800" b="1" dirty="0">
              <a:solidFill>
                <a:schemeClr val="tx1">
                  <a:lumMod val="75000"/>
                  <a:lumOff val="25000"/>
                </a:schemeClr>
              </a:solidFill>
              <a:latin typeface="微软雅黑" charset="0"/>
              <a:ea typeface="微软雅黑" charset="0"/>
              <a:cs typeface="微软雅黑" charset="0"/>
            </a:endParaRPr>
          </a:p>
        </p:txBody>
      </p:sp>
      <p:sp>
        <p:nvSpPr>
          <p:cNvPr id="106" name="标题 1"/>
          <p:cNvSpPr/>
          <p:nvPr>
            <p:custDataLst>
              <p:tags r:id="rId1"/>
            </p:custDataLst>
          </p:nvPr>
        </p:nvSpPr>
        <p:spPr>
          <a:xfrm>
            <a:off x="586740" y="982345"/>
            <a:ext cx="10371455" cy="4603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pPr fontAlgn="auto"/>
            <a:r>
              <a:rPr lang="zh-CN" altLang="en-US" sz="1800" dirty="0">
                <a:latin typeface="微软雅黑" charset="0"/>
                <a:ea typeface="微软雅黑" charset="0"/>
              </a:rPr>
              <a:t>集成关系总览图：智能客服平台与各内部应用集成对接，与外部三方系统集成对接</a:t>
            </a:r>
            <a:r>
              <a:rPr lang="en-US" altLang="zh-CN" sz="1800" dirty="0">
                <a:latin typeface="微软雅黑" charset="0"/>
                <a:ea typeface="微软雅黑" charset="0"/>
              </a:rPr>
              <a:t>，</a:t>
            </a:r>
            <a:r>
              <a:rPr lang="zh-CN" altLang="en-US" sz="1800" dirty="0">
                <a:latin typeface="微软雅黑" charset="0"/>
                <a:ea typeface="微软雅黑" charset="0"/>
              </a:rPr>
              <a:t>以及数据流转。</a:t>
            </a:r>
            <a:endParaRPr lang="zh-CN" altLang="en-US" sz="1800" dirty="0">
              <a:latin typeface="微软雅黑" charset="0"/>
              <a:ea typeface="微软雅黑" charset="0"/>
            </a:endParaRPr>
          </a:p>
        </p:txBody>
      </p:sp>
      <p:sp>
        <p:nvSpPr>
          <p:cNvPr id="108" name="矩形 107"/>
          <p:cNvSpPr/>
          <p:nvPr>
            <p:custDataLst>
              <p:tags r:id="rId2"/>
            </p:custDataLst>
          </p:nvPr>
        </p:nvSpPr>
        <p:spPr>
          <a:xfrm>
            <a:off x="10012680" y="2215515"/>
            <a:ext cx="1620520" cy="3548380"/>
          </a:xfrm>
          <a:prstGeom prst="rect">
            <a:avLst/>
          </a:prstGeom>
          <a:solidFill>
            <a:schemeClr val="bg1">
              <a:lumMod val="75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eaLnBrk="1" fontAlgn="auto" hangingPunct="1"/>
            <a:endParaRPr lang="zh-CN" altLang="en-US" sz="1800">
              <a:latin typeface="微软雅黑" charset="0"/>
              <a:ea typeface="微软雅黑" charset="0"/>
            </a:endParaRPr>
          </a:p>
        </p:txBody>
      </p:sp>
      <p:sp>
        <p:nvSpPr>
          <p:cNvPr id="109" name="矩形 108"/>
          <p:cNvSpPr/>
          <p:nvPr>
            <p:custDataLst>
              <p:tags r:id="rId3"/>
            </p:custDataLst>
          </p:nvPr>
        </p:nvSpPr>
        <p:spPr>
          <a:xfrm>
            <a:off x="885825" y="2216150"/>
            <a:ext cx="1412875" cy="3680460"/>
          </a:xfrm>
          <a:prstGeom prst="rect">
            <a:avLst/>
          </a:prstGeom>
          <a:solidFill>
            <a:schemeClr val="bg1">
              <a:lumMod val="75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eaLnBrk="1" fontAlgn="auto" hangingPunct="1"/>
            <a:endParaRPr lang="zh-CN" altLang="en-US" sz="1800">
              <a:latin typeface="微软雅黑" charset="0"/>
              <a:ea typeface="微软雅黑" charset="0"/>
            </a:endParaRPr>
          </a:p>
        </p:txBody>
      </p:sp>
      <p:grpSp>
        <p:nvGrpSpPr>
          <p:cNvPr id="110" name="组合 109"/>
          <p:cNvGrpSpPr/>
          <p:nvPr/>
        </p:nvGrpSpPr>
        <p:grpSpPr>
          <a:xfrm>
            <a:off x="3388995" y="1539875"/>
            <a:ext cx="5556250" cy="400050"/>
            <a:chOff x="584" y="1930"/>
            <a:chExt cx="8900" cy="680"/>
          </a:xfrm>
        </p:grpSpPr>
        <p:sp>
          <p:nvSpPr>
            <p:cNvPr id="190" name="矩形 189"/>
            <p:cNvSpPr/>
            <p:nvPr>
              <p:custDataLst>
                <p:tags r:id="rId4"/>
              </p:custDataLst>
            </p:nvPr>
          </p:nvSpPr>
          <p:spPr>
            <a:xfrm>
              <a:off x="584" y="1930"/>
              <a:ext cx="8901" cy="680"/>
            </a:xfrm>
            <a:prstGeom prst="rect">
              <a:avLst/>
            </a:prstGeom>
            <a:ln>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defTabSz="914400" eaLnBrk="1" fontAlgn="auto" hangingPunct="1"/>
              <a:endParaRPr lang="zh-CN" altLang="en-US" sz="1800">
                <a:latin typeface="微软雅黑" charset="0"/>
                <a:ea typeface="微软雅黑" charset="0"/>
              </a:endParaRPr>
            </a:p>
          </p:txBody>
        </p:sp>
        <p:sp>
          <p:nvSpPr>
            <p:cNvPr id="191" name="文本框 190"/>
            <p:cNvSpPr txBox="1"/>
            <p:nvPr>
              <p:custDataLst>
                <p:tags r:id="rId5"/>
              </p:custDataLst>
            </p:nvPr>
          </p:nvSpPr>
          <p:spPr>
            <a:xfrm>
              <a:off x="764" y="2053"/>
              <a:ext cx="1425" cy="434"/>
            </a:xfrm>
            <a:prstGeom prst="rect">
              <a:avLst/>
            </a:prstGeom>
            <a:noFill/>
            <a:ln>
              <a:solidFill>
                <a:srgbClr val="00B0F0">
                  <a:alpha val="0"/>
                </a:srgbClr>
              </a:solidFill>
            </a:ln>
          </p:spPr>
          <p:txBody>
            <a:bodyPr vert="horz" wrap="square" rtlCol="0">
              <a:spAutoFit/>
            </a:bodyPr>
            <a:lstStyle/>
            <a:p>
              <a:pPr algn="ctr" defTabSz="914400" eaLnBrk="1" fontAlgn="auto" hangingPunct="1"/>
              <a:r>
                <a:rPr lang="zh-CN" altLang="en-US" sz="1200">
                  <a:solidFill>
                    <a:srgbClr val="00449C"/>
                  </a:solidFill>
                  <a:latin typeface="微软雅黑" charset="0"/>
                  <a:ea typeface="微软雅黑" charset="0"/>
                </a:rPr>
                <a:t>面客渠道</a:t>
              </a:r>
              <a:endParaRPr lang="zh-CN" altLang="en-US" sz="1200">
                <a:solidFill>
                  <a:srgbClr val="00449C"/>
                </a:solidFill>
                <a:latin typeface="微软雅黑" charset="0"/>
                <a:ea typeface="微软雅黑" charset="0"/>
              </a:endParaRPr>
            </a:p>
          </p:txBody>
        </p:sp>
        <p:sp>
          <p:nvSpPr>
            <p:cNvPr id="192" name="圆角矩形 191"/>
            <p:cNvSpPr/>
            <p:nvPr>
              <p:custDataLst>
                <p:tags r:id="rId6"/>
              </p:custDataLst>
            </p:nvPr>
          </p:nvSpPr>
          <p:spPr>
            <a:xfrm>
              <a:off x="419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defTabSz="914400" eaLnBrk="1" fontAlgn="auto" hangingPunct="1"/>
              <a:r>
                <a:rPr lang="zh-CN" altLang="en-US" sz="900">
                  <a:solidFill>
                    <a:schemeClr val="tx1"/>
                  </a:solidFill>
                  <a:latin typeface="微软雅黑" charset="0"/>
                  <a:ea typeface="微软雅黑" charset="0"/>
                  <a:sym typeface="+mn-ea"/>
                </a:rPr>
                <a:t>微信小程序</a:t>
              </a:r>
              <a:endParaRPr lang="zh-CN" altLang="en-US" sz="900">
                <a:solidFill>
                  <a:schemeClr val="tx1"/>
                </a:solidFill>
                <a:latin typeface="微软雅黑" charset="0"/>
                <a:ea typeface="微软雅黑" charset="0"/>
                <a:sym typeface="+mn-ea"/>
              </a:endParaRPr>
            </a:p>
          </p:txBody>
        </p:sp>
        <p:sp>
          <p:nvSpPr>
            <p:cNvPr id="193" name="圆角矩形 192"/>
            <p:cNvSpPr/>
            <p:nvPr>
              <p:custDataLst>
                <p:tags r:id="rId7"/>
              </p:custDataLst>
            </p:nvPr>
          </p:nvSpPr>
          <p:spPr>
            <a:xfrm>
              <a:off x="775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defTabSz="914400" eaLnBrk="1" fontAlgn="auto" hangingPunct="1"/>
              <a:r>
                <a:rPr lang="zh-CN" altLang="en-US" sz="900">
                  <a:solidFill>
                    <a:schemeClr val="tx1"/>
                  </a:solidFill>
                  <a:latin typeface="微软雅黑" charset="0"/>
                  <a:ea typeface="微软雅黑" charset="0"/>
                </a:rPr>
                <a:t>线上商城</a:t>
              </a:r>
              <a:endParaRPr lang="zh-CN" altLang="en-US" sz="900">
                <a:solidFill>
                  <a:schemeClr val="tx1"/>
                </a:solidFill>
                <a:latin typeface="微软雅黑" charset="0"/>
                <a:ea typeface="微软雅黑" charset="0"/>
              </a:endParaRPr>
            </a:p>
          </p:txBody>
        </p:sp>
        <p:sp>
          <p:nvSpPr>
            <p:cNvPr id="194" name="圆角矩形 193"/>
            <p:cNvSpPr/>
            <p:nvPr>
              <p:custDataLst>
                <p:tags r:id="rId8"/>
              </p:custDataLst>
            </p:nvPr>
          </p:nvSpPr>
          <p:spPr>
            <a:xfrm>
              <a:off x="241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defTabSz="914400" eaLnBrk="1" fontAlgn="auto" hangingPunct="1"/>
              <a:r>
                <a:rPr lang="zh-CN" altLang="en-US" sz="900">
                  <a:solidFill>
                    <a:schemeClr val="tx1"/>
                  </a:solidFill>
                  <a:latin typeface="微软雅黑" charset="0"/>
                  <a:ea typeface="微软雅黑" charset="0"/>
                  <a:cs typeface="微软雅黑" charset="0"/>
                </a:rPr>
                <a:t>手机</a:t>
              </a:r>
              <a:r>
                <a:rPr lang="en-US" altLang="zh-CN" sz="900">
                  <a:solidFill>
                    <a:schemeClr val="tx1"/>
                  </a:solidFill>
                  <a:latin typeface="微软雅黑" charset="0"/>
                  <a:ea typeface="微软雅黑" charset="0"/>
                  <a:cs typeface="微软雅黑" charset="0"/>
                </a:rPr>
                <a:t>APP</a:t>
              </a:r>
              <a:endParaRPr lang="en-US" altLang="zh-CN" sz="900">
                <a:solidFill>
                  <a:schemeClr val="tx1"/>
                </a:solidFill>
                <a:latin typeface="微软雅黑" charset="0"/>
                <a:ea typeface="微软雅黑" charset="0"/>
                <a:cs typeface="微软雅黑" charset="0"/>
              </a:endParaRPr>
            </a:p>
          </p:txBody>
        </p:sp>
        <p:sp>
          <p:nvSpPr>
            <p:cNvPr id="195" name="圆角矩形 194"/>
            <p:cNvSpPr/>
            <p:nvPr>
              <p:custDataLst>
                <p:tags r:id="rId9"/>
              </p:custDataLst>
            </p:nvPr>
          </p:nvSpPr>
          <p:spPr>
            <a:xfrm>
              <a:off x="597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defTabSz="914400" eaLnBrk="1" fontAlgn="auto" hangingPunct="1"/>
              <a:r>
                <a:rPr lang="zh-CN" altLang="en-US" sz="900">
                  <a:solidFill>
                    <a:schemeClr val="tx1"/>
                  </a:solidFill>
                  <a:latin typeface="微软雅黑" charset="0"/>
                  <a:ea typeface="微软雅黑" charset="0"/>
                </a:rPr>
                <a:t>微信公众号</a:t>
              </a:r>
              <a:endParaRPr lang="zh-CN" altLang="en-US" sz="900">
                <a:solidFill>
                  <a:schemeClr val="tx1"/>
                </a:solidFill>
                <a:latin typeface="微软雅黑" charset="0"/>
                <a:ea typeface="微软雅黑" charset="0"/>
              </a:endParaRPr>
            </a:p>
          </p:txBody>
        </p:sp>
      </p:grpSp>
      <p:grpSp>
        <p:nvGrpSpPr>
          <p:cNvPr id="114" name="组合 113"/>
          <p:cNvGrpSpPr/>
          <p:nvPr/>
        </p:nvGrpSpPr>
        <p:grpSpPr>
          <a:xfrm>
            <a:off x="967105" y="3379477"/>
            <a:ext cx="2876550" cy="516033"/>
            <a:chOff x="1323" y="4935"/>
            <a:chExt cx="4608" cy="877"/>
          </a:xfrm>
        </p:grpSpPr>
        <p:sp>
          <p:nvSpPr>
            <p:cNvPr id="177" name="圆角矩形 176"/>
            <p:cNvSpPr/>
            <p:nvPr>
              <p:custDataLst>
                <p:tags r:id="rId10"/>
              </p:custDataLst>
            </p:nvPr>
          </p:nvSpPr>
          <p:spPr>
            <a:xfrm>
              <a:off x="1323" y="5018"/>
              <a:ext cx="2000" cy="794"/>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000" b="1" dirty="0">
                  <a:solidFill>
                    <a:schemeClr val="bg1"/>
                  </a:solidFill>
                  <a:latin typeface="微软雅黑" charset="0"/>
                  <a:ea typeface="微软雅黑" charset="0"/>
                  <a:sym typeface="+mn-ea"/>
                </a:rPr>
                <a:t>充电桩智能管理系统</a:t>
              </a:r>
              <a:endParaRPr kumimoji="1" lang="zh-CN" altLang="en-US" sz="1000" b="1" dirty="0">
                <a:solidFill>
                  <a:schemeClr val="bg1"/>
                </a:solidFill>
                <a:latin typeface="微软雅黑" charset="0"/>
                <a:ea typeface="微软雅黑" charset="0"/>
                <a:sym typeface="+mn-ea"/>
              </a:endParaRPr>
            </a:p>
          </p:txBody>
        </p:sp>
        <p:cxnSp>
          <p:nvCxnSpPr>
            <p:cNvPr id="178" name="直接箭头连接符 189"/>
            <p:cNvCxnSpPr/>
            <p:nvPr>
              <p:custDataLst>
                <p:tags r:id="rId11"/>
              </p:custDataLst>
            </p:nvPr>
          </p:nvCxnSpPr>
          <p:spPr>
            <a:xfrm flipH="1">
              <a:off x="3323" y="5609"/>
              <a:ext cx="2608"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9" name="文本框 178"/>
            <p:cNvSpPr txBox="1"/>
            <p:nvPr>
              <p:custDataLst>
                <p:tags r:id="rId12"/>
              </p:custDataLst>
            </p:nvPr>
          </p:nvSpPr>
          <p:spPr>
            <a:xfrm>
              <a:off x="3835" y="5429"/>
              <a:ext cx="1583" cy="364"/>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兑换充电优惠</a:t>
              </a:r>
              <a:endParaRPr lang="zh-CN" altLang="en-US" sz="800" dirty="0">
                <a:solidFill>
                  <a:schemeClr val="tx1"/>
                </a:solidFill>
                <a:latin typeface="微软雅黑" charset="0"/>
                <a:ea typeface="微软雅黑" charset="0"/>
                <a:sym typeface="+mn-ea"/>
              </a:endParaRPr>
            </a:p>
          </p:txBody>
        </p:sp>
        <p:cxnSp>
          <p:nvCxnSpPr>
            <p:cNvPr id="180" name="直接箭头连接符 189"/>
            <p:cNvCxnSpPr/>
            <p:nvPr>
              <p:custDataLst>
                <p:tags r:id="rId13"/>
              </p:custDataLst>
            </p:nvPr>
          </p:nvCxnSpPr>
          <p:spPr>
            <a:xfrm flipH="1">
              <a:off x="3322" y="5144"/>
              <a:ext cx="2608"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81" name="文本框 180"/>
            <p:cNvSpPr txBox="1"/>
            <p:nvPr>
              <p:custDataLst>
                <p:tags r:id="rId14"/>
              </p:custDataLst>
            </p:nvPr>
          </p:nvSpPr>
          <p:spPr>
            <a:xfrm>
              <a:off x="3833" y="4935"/>
              <a:ext cx="1583" cy="365"/>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a:solidFill>
                    <a:schemeClr val="tx1"/>
                  </a:solidFill>
                  <a:latin typeface="微软雅黑" charset="0"/>
                  <a:ea typeface="微软雅黑" charset="0"/>
                </a:rPr>
                <a:t>用户充电记录</a:t>
              </a:r>
              <a:endParaRPr lang="zh-CN" altLang="en-US" sz="800">
                <a:solidFill>
                  <a:schemeClr val="tx1"/>
                </a:solidFill>
                <a:latin typeface="微软雅黑" charset="0"/>
                <a:ea typeface="微软雅黑" charset="0"/>
              </a:endParaRPr>
            </a:p>
          </p:txBody>
        </p:sp>
      </p:grpSp>
      <p:grpSp>
        <p:nvGrpSpPr>
          <p:cNvPr id="115" name="组合 114"/>
          <p:cNvGrpSpPr/>
          <p:nvPr/>
        </p:nvGrpSpPr>
        <p:grpSpPr>
          <a:xfrm>
            <a:off x="967105" y="3994928"/>
            <a:ext cx="2876550" cy="588932"/>
            <a:chOff x="1323" y="5866"/>
            <a:chExt cx="4608" cy="1001"/>
          </a:xfrm>
        </p:grpSpPr>
        <p:sp>
          <p:nvSpPr>
            <p:cNvPr id="172" name="圆角矩形 171"/>
            <p:cNvSpPr/>
            <p:nvPr>
              <p:custDataLst>
                <p:tags r:id="rId15"/>
              </p:custDataLst>
            </p:nvPr>
          </p:nvSpPr>
          <p:spPr>
            <a:xfrm>
              <a:off x="1323" y="6055"/>
              <a:ext cx="2000" cy="794"/>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000" b="1" dirty="0">
                  <a:solidFill>
                    <a:schemeClr val="bg1"/>
                  </a:solidFill>
                  <a:latin typeface="微软雅黑" charset="0"/>
                  <a:ea typeface="微软雅黑" charset="0"/>
                  <a:sym typeface="+mn-ea"/>
                </a:rPr>
                <a:t>停车场统一管理系统</a:t>
              </a:r>
              <a:endParaRPr kumimoji="1" lang="zh-CN" altLang="en-US" sz="1000" b="1" dirty="0">
                <a:solidFill>
                  <a:schemeClr val="bg1"/>
                </a:solidFill>
                <a:latin typeface="微软雅黑" charset="0"/>
                <a:ea typeface="微软雅黑" charset="0"/>
                <a:sym typeface="+mn-ea"/>
              </a:endParaRPr>
            </a:p>
          </p:txBody>
        </p:sp>
        <p:cxnSp>
          <p:nvCxnSpPr>
            <p:cNvPr id="173" name="直接箭头连接符 189"/>
            <p:cNvCxnSpPr/>
            <p:nvPr>
              <p:custDataLst>
                <p:tags r:id="rId16"/>
              </p:custDataLst>
            </p:nvPr>
          </p:nvCxnSpPr>
          <p:spPr>
            <a:xfrm flipH="1">
              <a:off x="3322" y="6689"/>
              <a:ext cx="2608"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4" name="文本框 173"/>
            <p:cNvSpPr txBox="1"/>
            <p:nvPr>
              <p:custDataLst>
                <p:tags r:id="rId17"/>
              </p:custDataLst>
            </p:nvPr>
          </p:nvSpPr>
          <p:spPr>
            <a:xfrm>
              <a:off x="3834" y="6503"/>
              <a:ext cx="1583" cy="364"/>
            </a:xfrm>
            <a:prstGeom prst="rect">
              <a:avLst/>
            </a:prstGeom>
            <a:solidFill>
              <a:schemeClr val="bg1"/>
            </a:solidFill>
            <a:ln>
              <a:solidFill>
                <a:srgbClr val="0070C0"/>
              </a:solidFill>
              <a:prstDash val="dash"/>
            </a:ln>
          </p:spPr>
          <p:txBody>
            <a:bodyPr wrap="square" rtlCol="0">
              <a:spAutoFit/>
            </a:bodyPr>
            <a:lstStyle/>
            <a:p>
              <a:pPr algn="ctr" defTabSz="914400" eaLnBrk="1" fontAlgn="auto" hangingPunct="1"/>
              <a:r>
                <a:rPr lang="zh-CN" altLang="en-US" sz="800" dirty="0">
                  <a:latin typeface="微软雅黑" charset="0"/>
                  <a:ea typeface="微软雅黑" charset="0"/>
                  <a:sym typeface="+mn-ea"/>
                </a:rPr>
                <a:t>兑换停车优惠</a:t>
              </a:r>
              <a:endParaRPr lang="zh-CN" altLang="en-US" sz="800" dirty="0">
                <a:solidFill>
                  <a:schemeClr val="tx1"/>
                </a:solidFill>
                <a:latin typeface="微软雅黑" charset="0"/>
                <a:ea typeface="微软雅黑" charset="0"/>
                <a:sym typeface="+mn-ea"/>
              </a:endParaRPr>
            </a:p>
          </p:txBody>
        </p:sp>
        <p:cxnSp>
          <p:nvCxnSpPr>
            <p:cNvPr id="175" name="直接箭头连接符 189"/>
            <p:cNvCxnSpPr/>
            <p:nvPr>
              <p:custDataLst>
                <p:tags r:id="rId18"/>
              </p:custDataLst>
            </p:nvPr>
          </p:nvCxnSpPr>
          <p:spPr>
            <a:xfrm flipH="1">
              <a:off x="3323" y="6167"/>
              <a:ext cx="2608"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76" name="文本框 175"/>
            <p:cNvSpPr txBox="1"/>
            <p:nvPr>
              <p:custDataLst>
                <p:tags r:id="rId19"/>
              </p:custDataLst>
            </p:nvPr>
          </p:nvSpPr>
          <p:spPr>
            <a:xfrm>
              <a:off x="3835" y="5866"/>
              <a:ext cx="1583" cy="527"/>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a:solidFill>
                    <a:schemeClr val="tx1"/>
                  </a:solidFill>
                  <a:latin typeface="微软雅黑" charset="0"/>
                  <a:ea typeface="微软雅黑" charset="0"/>
                </a:rPr>
                <a:t>车辆信息、停车记录</a:t>
              </a:r>
              <a:endParaRPr lang="zh-CN" altLang="en-US" sz="800">
                <a:solidFill>
                  <a:schemeClr val="tx1"/>
                </a:solidFill>
                <a:latin typeface="微软雅黑" charset="0"/>
                <a:ea typeface="微软雅黑" charset="0"/>
              </a:endParaRPr>
            </a:p>
          </p:txBody>
        </p:sp>
      </p:grpSp>
      <p:grpSp>
        <p:nvGrpSpPr>
          <p:cNvPr id="116" name="组合 115"/>
          <p:cNvGrpSpPr/>
          <p:nvPr/>
        </p:nvGrpSpPr>
        <p:grpSpPr>
          <a:xfrm>
            <a:off x="967105" y="2643823"/>
            <a:ext cx="2876550" cy="682062"/>
            <a:chOff x="1323" y="7005"/>
            <a:chExt cx="4608" cy="1160"/>
          </a:xfrm>
        </p:grpSpPr>
        <p:sp>
          <p:nvSpPr>
            <p:cNvPr id="169" name="圆角矩形 168"/>
            <p:cNvSpPr/>
            <p:nvPr>
              <p:custDataLst>
                <p:tags r:id="rId20"/>
              </p:custDataLst>
            </p:nvPr>
          </p:nvSpPr>
          <p:spPr>
            <a:xfrm>
              <a:off x="1323" y="7005"/>
              <a:ext cx="2000" cy="1094"/>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000" b="1" dirty="0">
                  <a:solidFill>
                    <a:schemeClr val="bg1"/>
                  </a:solidFill>
                  <a:latin typeface="微软雅黑" charset="0"/>
                  <a:ea typeface="微软雅黑" charset="0"/>
                  <a:sym typeface="+mn-ea"/>
                </a:rPr>
                <a:t>运营一体化系统</a:t>
              </a:r>
              <a:endParaRPr kumimoji="1" lang="zh-CN" altLang="en-US" sz="1000" b="1" dirty="0">
                <a:solidFill>
                  <a:schemeClr val="bg1"/>
                </a:solidFill>
                <a:latin typeface="微软雅黑" charset="0"/>
                <a:ea typeface="微软雅黑" charset="0"/>
                <a:sym typeface="+mn-ea"/>
              </a:endParaRPr>
            </a:p>
          </p:txBody>
        </p:sp>
        <p:cxnSp>
          <p:nvCxnSpPr>
            <p:cNvPr id="170" name="直接箭头连接符 189"/>
            <p:cNvCxnSpPr/>
            <p:nvPr>
              <p:custDataLst>
                <p:tags r:id="rId21"/>
              </p:custDataLst>
            </p:nvPr>
          </p:nvCxnSpPr>
          <p:spPr>
            <a:xfrm flipH="1">
              <a:off x="3323" y="7893"/>
              <a:ext cx="2608"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71" name="文本框 170"/>
            <p:cNvSpPr txBox="1"/>
            <p:nvPr>
              <p:custDataLst>
                <p:tags r:id="rId22"/>
              </p:custDataLst>
            </p:nvPr>
          </p:nvSpPr>
          <p:spPr>
            <a:xfrm>
              <a:off x="3835" y="7637"/>
              <a:ext cx="1583" cy="528"/>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a:latin typeface="微软雅黑" charset="0"/>
                  <a:ea typeface="微软雅黑" charset="0"/>
                  <a:sym typeface="+mn-ea"/>
                </a:rPr>
                <a:t>用户基础数据</a:t>
              </a:r>
              <a:r>
                <a:rPr lang="en-US" altLang="zh-CN" sz="800">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endParaRPr lang="zh-CN" altLang="en-US" sz="800" dirty="0">
                <a:solidFill>
                  <a:schemeClr val="tx1"/>
                </a:solidFill>
                <a:latin typeface="微软雅黑" charset="0"/>
                <a:ea typeface="微软雅黑" charset="0"/>
                <a:sym typeface="+mn-ea"/>
              </a:endParaRPr>
            </a:p>
          </p:txBody>
        </p:sp>
      </p:grpSp>
      <p:sp>
        <p:nvSpPr>
          <p:cNvPr id="118" name="文本框 117"/>
          <p:cNvSpPr txBox="1"/>
          <p:nvPr>
            <p:custDataLst>
              <p:tags r:id="rId23"/>
            </p:custDataLst>
          </p:nvPr>
        </p:nvSpPr>
        <p:spPr>
          <a:xfrm>
            <a:off x="1149985" y="2317750"/>
            <a:ext cx="1035050" cy="259080"/>
          </a:xfrm>
          <a:prstGeom prst="rect">
            <a:avLst/>
          </a:prstGeom>
          <a:noFill/>
        </p:spPr>
        <p:txBody>
          <a:bodyPr wrap="square" rtlCol="0">
            <a:noAutofit/>
          </a:bodyPr>
          <a:lstStyle/>
          <a:p>
            <a:pPr defTabSz="914400" eaLnBrk="1" fontAlgn="auto" hangingPunct="1"/>
            <a:r>
              <a:rPr lang="zh-CN" altLang="en-US" sz="1400" dirty="0">
                <a:latin typeface="微软雅黑" charset="0"/>
                <a:ea typeface="微软雅黑" charset="0"/>
              </a:rPr>
              <a:t>内部系统</a:t>
            </a:r>
            <a:endParaRPr lang="zh-CN" altLang="en-US" sz="1400" dirty="0">
              <a:latin typeface="微软雅黑" charset="0"/>
              <a:ea typeface="微软雅黑" charset="0"/>
            </a:endParaRPr>
          </a:p>
        </p:txBody>
      </p:sp>
      <p:sp>
        <p:nvSpPr>
          <p:cNvPr id="119" name="圆角矩形 118"/>
          <p:cNvSpPr/>
          <p:nvPr>
            <p:custDataLst>
              <p:tags r:id="rId24"/>
            </p:custDataLst>
          </p:nvPr>
        </p:nvSpPr>
        <p:spPr>
          <a:xfrm>
            <a:off x="10094595" y="2703830"/>
            <a:ext cx="1458595" cy="435610"/>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000" b="1" dirty="0">
                <a:solidFill>
                  <a:schemeClr val="bg1"/>
                </a:solidFill>
                <a:latin typeface="微软雅黑" charset="0"/>
                <a:ea typeface="微软雅黑" charset="0"/>
                <a:sym typeface="+mn-ea"/>
              </a:rPr>
              <a:t>埋点系统</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友盟</a:t>
            </a:r>
            <a:r>
              <a:rPr kumimoji="1" lang="en-US" altLang="zh-CN" sz="1000" b="1" dirty="0">
                <a:solidFill>
                  <a:schemeClr val="bg1"/>
                </a:solidFill>
                <a:latin typeface="微软雅黑" charset="0"/>
                <a:ea typeface="微软雅黑" charset="0"/>
                <a:sym typeface="+mn-ea"/>
              </a:rPr>
              <a:t>）</a:t>
            </a:r>
            <a:endParaRPr kumimoji="1" lang="en-US" altLang="zh-CN" sz="1000" b="1" dirty="0">
              <a:solidFill>
                <a:schemeClr val="bg1"/>
              </a:solidFill>
              <a:latin typeface="微软雅黑" charset="0"/>
              <a:ea typeface="微软雅黑" charset="0"/>
              <a:sym typeface="+mn-ea"/>
            </a:endParaRPr>
          </a:p>
        </p:txBody>
      </p:sp>
      <p:sp>
        <p:nvSpPr>
          <p:cNvPr id="120" name="圆角矩形 119"/>
          <p:cNvSpPr/>
          <p:nvPr>
            <p:custDataLst>
              <p:tags r:id="rId25"/>
            </p:custDataLst>
          </p:nvPr>
        </p:nvSpPr>
        <p:spPr>
          <a:xfrm>
            <a:off x="10094595" y="3789045"/>
            <a:ext cx="1447165" cy="407670"/>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000" b="1" dirty="0">
                <a:solidFill>
                  <a:schemeClr val="bg1"/>
                </a:solidFill>
                <a:latin typeface="微软雅黑" charset="0"/>
                <a:ea typeface="微软雅黑" charset="0"/>
                <a:sym typeface="+mn-ea"/>
              </a:rPr>
              <a:t>短信运营服务</a:t>
            </a:r>
            <a:endParaRPr kumimoji="1" lang="zh-CN" altLang="en-US" sz="1000" b="1" dirty="0">
              <a:solidFill>
                <a:schemeClr val="bg1"/>
              </a:solidFill>
              <a:latin typeface="微软雅黑" charset="0"/>
              <a:ea typeface="微软雅黑" charset="0"/>
              <a:sym typeface="+mn-ea"/>
            </a:endParaRPr>
          </a:p>
        </p:txBody>
      </p:sp>
      <p:sp>
        <p:nvSpPr>
          <p:cNvPr id="121" name="文本框 120"/>
          <p:cNvSpPr txBox="1"/>
          <p:nvPr>
            <p:custDataLst>
              <p:tags r:id="rId26"/>
            </p:custDataLst>
          </p:nvPr>
        </p:nvSpPr>
        <p:spPr>
          <a:xfrm>
            <a:off x="10175240" y="2778125"/>
            <a:ext cx="1458595" cy="182245"/>
          </a:xfrm>
          <a:prstGeom prst="rect">
            <a:avLst/>
          </a:prstGeom>
          <a:noFill/>
        </p:spPr>
        <p:txBody>
          <a:bodyPr wrap="square" rtlCol="0">
            <a:noAutofit/>
          </a:bodyPr>
          <a:lstStyle/>
          <a:p>
            <a:pPr defTabSz="914400" eaLnBrk="1" fontAlgn="auto" hangingPunct="1"/>
            <a:endParaRPr lang="zh-CN" altLang="en-US" sz="1400" dirty="0">
              <a:latin typeface="微软雅黑" charset="0"/>
              <a:ea typeface="微软雅黑" charset="0"/>
            </a:endParaRPr>
          </a:p>
        </p:txBody>
      </p:sp>
      <p:cxnSp>
        <p:nvCxnSpPr>
          <p:cNvPr id="123" name="直接箭头连接符 189"/>
          <p:cNvCxnSpPr/>
          <p:nvPr>
            <p:custDataLst>
              <p:tags r:id="rId27"/>
            </p:custDataLst>
          </p:nvPr>
        </p:nvCxnSpPr>
        <p:spPr>
          <a:xfrm flipH="1">
            <a:off x="8945880" y="1696085"/>
            <a:ext cx="550800" cy="0"/>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cxnSp>
        <p:nvCxnSpPr>
          <p:cNvPr id="124" name="直接箭头连接符 189"/>
          <p:cNvCxnSpPr/>
          <p:nvPr>
            <p:custDataLst>
              <p:tags r:id="rId28"/>
            </p:custDataLst>
          </p:nvPr>
        </p:nvCxnSpPr>
        <p:spPr>
          <a:xfrm flipV="1">
            <a:off x="9516110" y="1718945"/>
            <a:ext cx="0" cy="1080135"/>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sp>
        <p:nvSpPr>
          <p:cNvPr id="125" name="文本框 124"/>
          <p:cNvSpPr txBox="1"/>
          <p:nvPr>
            <p:custDataLst>
              <p:tags r:id="rId29"/>
            </p:custDataLst>
          </p:nvPr>
        </p:nvSpPr>
        <p:spPr>
          <a:xfrm>
            <a:off x="9024620" y="1830070"/>
            <a:ext cx="988060" cy="198120"/>
          </a:xfrm>
          <a:prstGeom prst="rect">
            <a:avLst/>
          </a:prstGeom>
          <a:solidFill>
            <a:schemeClr val="bg1"/>
          </a:solidFill>
          <a:ln>
            <a:solidFill>
              <a:srgbClr val="0070C0"/>
            </a:solidFill>
            <a:prstDash val="dash"/>
          </a:ln>
        </p:spPr>
        <p:txBody>
          <a:bodyPr wrap="square" rtlCol="0">
            <a:spAutoFit/>
          </a:bodyPr>
          <a:lstStyle/>
          <a:p>
            <a:pPr algn="ctr" defTabSz="914400" eaLnBrk="1" fontAlgn="auto" hangingPunct="1"/>
            <a:r>
              <a:rPr lang="zh-CN" altLang="en-US" sz="800" dirty="0">
                <a:solidFill>
                  <a:schemeClr val="tx1"/>
                </a:solidFill>
                <a:latin typeface="微软雅黑" charset="0"/>
                <a:ea typeface="微软雅黑" charset="0"/>
                <a:sym typeface="+mn-ea"/>
              </a:rPr>
              <a:t>埋点行为数据</a:t>
            </a:r>
            <a:endParaRPr lang="zh-CN" altLang="en-US" sz="800" dirty="0">
              <a:solidFill>
                <a:schemeClr val="tx1"/>
              </a:solidFill>
              <a:latin typeface="微软雅黑" charset="0"/>
              <a:ea typeface="微软雅黑" charset="0"/>
              <a:sym typeface="+mn-ea"/>
            </a:endParaRPr>
          </a:p>
        </p:txBody>
      </p:sp>
      <p:cxnSp>
        <p:nvCxnSpPr>
          <p:cNvPr id="126" name="直接箭头连接符 189"/>
          <p:cNvCxnSpPr/>
          <p:nvPr>
            <p:custDataLst>
              <p:tags r:id="rId30"/>
            </p:custDataLst>
          </p:nvPr>
        </p:nvCxnSpPr>
        <p:spPr>
          <a:xfrm flipH="1" flipV="1">
            <a:off x="9516110" y="2799080"/>
            <a:ext cx="548640" cy="127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cxnSp>
        <p:nvCxnSpPr>
          <p:cNvPr id="127" name="直接箭头连接符 189"/>
          <p:cNvCxnSpPr/>
          <p:nvPr>
            <p:custDataLst>
              <p:tags r:id="rId31"/>
            </p:custDataLst>
          </p:nvPr>
        </p:nvCxnSpPr>
        <p:spPr>
          <a:xfrm flipH="1">
            <a:off x="8467725" y="3017520"/>
            <a:ext cx="1628140" cy="0"/>
          </a:xfrm>
          <a:prstGeom prst="straightConnector1">
            <a:avLst/>
          </a:prstGeom>
          <a:ln w="12700" cap="flat" cmpd="sng" algn="ctr">
            <a:solidFill>
              <a:srgbClr val="0070C0"/>
            </a:solidFill>
            <a:prstDash val="dash"/>
            <a:miter lim="800000"/>
            <a:headEnd type="none" w="med" len="med"/>
            <a:tailEnd type="triangle" w="med" len="med"/>
          </a:ln>
        </p:spPr>
        <p:style>
          <a:lnRef idx="0">
            <a:schemeClr val="accent1"/>
          </a:lnRef>
          <a:fillRef idx="0">
            <a:srgbClr val="FFFFFF"/>
          </a:fillRef>
          <a:effectRef idx="0">
            <a:srgbClr val="FFFFFF"/>
          </a:effectRef>
          <a:fontRef idx="minor">
            <a:schemeClr val="tx1"/>
          </a:fontRef>
        </p:style>
      </p:cxnSp>
      <p:sp>
        <p:nvSpPr>
          <p:cNvPr id="128" name="文本框 127"/>
          <p:cNvSpPr txBox="1"/>
          <p:nvPr>
            <p:custDataLst>
              <p:tags r:id="rId32"/>
            </p:custDataLst>
          </p:nvPr>
        </p:nvSpPr>
        <p:spPr>
          <a:xfrm>
            <a:off x="8759190" y="2933700"/>
            <a:ext cx="977900" cy="182880"/>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埋点数据</a:t>
            </a:r>
            <a:endParaRPr lang="zh-CN" altLang="en-US" sz="800" dirty="0">
              <a:solidFill>
                <a:schemeClr val="tx1"/>
              </a:solidFill>
              <a:latin typeface="微软雅黑" charset="0"/>
              <a:ea typeface="微软雅黑" charset="0"/>
              <a:sym typeface="+mn-ea"/>
            </a:endParaRPr>
          </a:p>
        </p:txBody>
      </p:sp>
      <p:cxnSp>
        <p:nvCxnSpPr>
          <p:cNvPr id="129" name="直接箭头连接符 189"/>
          <p:cNvCxnSpPr/>
          <p:nvPr>
            <p:custDataLst>
              <p:tags r:id="rId33"/>
            </p:custDataLst>
          </p:nvPr>
        </p:nvCxnSpPr>
        <p:spPr>
          <a:xfrm flipH="1">
            <a:off x="8484870" y="3979545"/>
            <a:ext cx="1628140"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30" name="文本框 129"/>
          <p:cNvSpPr txBox="1"/>
          <p:nvPr>
            <p:custDataLst>
              <p:tags r:id="rId34"/>
            </p:custDataLst>
          </p:nvPr>
        </p:nvSpPr>
        <p:spPr>
          <a:xfrm>
            <a:off x="8766175" y="3880485"/>
            <a:ext cx="988060" cy="198120"/>
          </a:xfrm>
          <a:prstGeom prst="rect">
            <a:avLst/>
          </a:prstGeom>
          <a:solidFill>
            <a:schemeClr val="bg1"/>
          </a:solidFill>
          <a:ln>
            <a:solidFill>
              <a:srgbClr val="0070C0"/>
            </a:solidFill>
            <a:prstDash val="dash"/>
          </a:ln>
        </p:spPr>
        <p:txBody>
          <a:bodyPr wrap="square" rtlCol="0">
            <a:spAutoFit/>
          </a:bodyPr>
          <a:lstStyle/>
          <a:p>
            <a:pPr algn="ctr" defTabSz="914400" eaLnBrk="1" fontAlgn="auto" hangingPunct="1"/>
            <a:r>
              <a:rPr lang="zh-CN" altLang="en-US" sz="800" dirty="0">
                <a:solidFill>
                  <a:schemeClr val="tx1"/>
                </a:solidFill>
                <a:latin typeface="微软雅黑" charset="0"/>
                <a:ea typeface="微软雅黑" charset="0"/>
                <a:sym typeface="+mn-ea"/>
              </a:rPr>
              <a:t>短信</a:t>
            </a:r>
            <a:endParaRPr lang="zh-CN" altLang="en-US" sz="800" dirty="0">
              <a:solidFill>
                <a:schemeClr val="tx1"/>
              </a:solidFill>
              <a:latin typeface="微软雅黑" charset="0"/>
              <a:ea typeface="微软雅黑" charset="0"/>
              <a:sym typeface="+mn-ea"/>
            </a:endParaRPr>
          </a:p>
        </p:txBody>
      </p:sp>
      <p:sp>
        <p:nvSpPr>
          <p:cNvPr id="7" name="矩形 6"/>
          <p:cNvSpPr/>
          <p:nvPr>
            <p:custDataLst>
              <p:tags r:id="rId35"/>
            </p:custDataLst>
          </p:nvPr>
        </p:nvSpPr>
        <p:spPr>
          <a:xfrm>
            <a:off x="4391660" y="3062605"/>
            <a:ext cx="3580765" cy="1927860"/>
          </a:xfrm>
          <a:prstGeom prst="rect">
            <a:avLst/>
          </a:prstGeom>
          <a:solidFill>
            <a:srgbClr val="F2F2F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eaLnBrk="1" fontAlgn="auto" hangingPunct="1">
              <a:buClrTx/>
              <a:buSzTx/>
              <a:buFontTx/>
            </a:pPr>
            <a:endParaRPr lang="zh-CN" altLang="en-US" sz="2000" b="1" dirty="0">
              <a:solidFill>
                <a:srgbClr val="00B0F0"/>
              </a:solidFill>
              <a:latin typeface="微软雅黑" charset="0"/>
              <a:ea typeface="微软雅黑" charset="0"/>
              <a:sym typeface="Calibri" panose="020F0502020204030204" pitchFamily="34" charset="0"/>
            </a:endParaRPr>
          </a:p>
        </p:txBody>
      </p:sp>
      <p:sp>
        <p:nvSpPr>
          <p:cNvPr id="132" name="矩形 131"/>
          <p:cNvSpPr/>
          <p:nvPr>
            <p:custDataLst>
              <p:tags r:id="rId36"/>
            </p:custDataLst>
          </p:nvPr>
        </p:nvSpPr>
        <p:spPr>
          <a:xfrm>
            <a:off x="7971790" y="2594610"/>
            <a:ext cx="495935" cy="2856865"/>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algn="ctr" defTabSz="914400" eaLnBrk="1" fontAlgn="auto" hangingPunct="1"/>
            <a:r>
              <a:rPr lang="zh-CN" sz="1400" dirty="0">
                <a:solidFill>
                  <a:schemeClr val="tx1"/>
                </a:solidFill>
                <a:latin typeface="微软雅黑" charset="0"/>
                <a:ea typeface="微软雅黑" charset="0"/>
                <a:sym typeface="Calibri" panose="020F0502020204030204" pitchFamily="34" charset="0"/>
              </a:rPr>
              <a:t>外部接口服务</a:t>
            </a:r>
            <a:endParaRPr lang="zh-CN" sz="1400" dirty="0">
              <a:solidFill>
                <a:schemeClr val="tx1"/>
              </a:solidFill>
              <a:latin typeface="微软雅黑" charset="0"/>
              <a:ea typeface="微软雅黑" charset="0"/>
              <a:sym typeface="Calibri" panose="020F0502020204030204" pitchFamily="34" charset="0"/>
            </a:endParaRPr>
          </a:p>
        </p:txBody>
      </p:sp>
      <p:sp>
        <p:nvSpPr>
          <p:cNvPr id="134" name="矩形 133"/>
          <p:cNvSpPr/>
          <p:nvPr>
            <p:custDataLst>
              <p:tags r:id="rId37"/>
            </p:custDataLst>
          </p:nvPr>
        </p:nvSpPr>
        <p:spPr>
          <a:xfrm>
            <a:off x="3870960" y="2594610"/>
            <a:ext cx="495935" cy="2856230"/>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内部接口服务</a:t>
            </a:r>
            <a:endParaRPr kumimoji="0" lang="zh-CN"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endParaRPr>
          </a:p>
        </p:txBody>
      </p:sp>
      <p:sp>
        <p:nvSpPr>
          <p:cNvPr id="135" name="矩形 134"/>
          <p:cNvSpPr/>
          <p:nvPr>
            <p:custDataLst>
              <p:tags r:id="rId38"/>
            </p:custDataLst>
          </p:nvPr>
        </p:nvSpPr>
        <p:spPr>
          <a:xfrm>
            <a:off x="3870960" y="2594610"/>
            <a:ext cx="4595495" cy="466725"/>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前端入口</a:t>
            </a:r>
            <a:endPar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endParaRPr>
          </a:p>
        </p:txBody>
      </p:sp>
      <p:sp>
        <p:nvSpPr>
          <p:cNvPr id="136" name="矩形 135"/>
          <p:cNvSpPr/>
          <p:nvPr>
            <p:custDataLst>
              <p:tags r:id="rId39"/>
            </p:custDataLst>
          </p:nvPr>
        </p:nvSpPr>
        <p:spPr>
          <a:xfrm>
            <a:off x="4264660" y="5126355"/>
            <a:ext cx="3931920" cy="466725"/>
          </a:xfrm>
          <a:prstGeom prst="rect">
            <a:avLst/>
          </a:prstGeom>
          <a:solidFill>
            <a:schemeClr val="accent1">
              <a:lumMod val="20000"/>
              <a:lumOff val="80000"/>
            </a:schemeClr>
          </a:solidFill>
        </p:spPr>
        <p:style>
          <a:lnRef idx="2">
            <a:schemeClr val="lt1"/>
          </a:lnRef>
          <a:fillRef idx="1">
            <a:schemeClr val="accent1"/>
          </a:fillRef>
          <a:effectRef idx="1">
            <a:schemeClr val="accent1"/>
          </a:effectRef>
          <a:fontRef idx="minor">
            <a:schemeClr val="lt1"/>
          </a:fontRef>
        </p:style>
        <p:txBody>
          <a:bodyPr rtlCol="0" anchor="ctr"/>
          <a:lstStyle/>
          <a:p>
            <a:pPr algn="ctr" defTabSz="914400" eaLnBrk="1" fontAlgn="auto" hangingPunct="1"/>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储存层：用户基础数据、工单</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标签</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行为</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满意度</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endParaRPr lang="en-US" altLang="zh-CN" sz="1200" b="1" dirty="0">
              <a:solidFill>
                <a:schemeClr val="tx1">
                  <a:lumMod val="95000"/>
                  <a:lumOff val="5000"/>
                </a:schemeClr>
              </a:solidFill>
              <a:latin typeface="微软雅黑" charset="0"/>
              <a:ea typeface="微软雅黑" charset="0"/>
              <a:sym typeface="Calibri" panose="020F0502020204030204" pitchFamily="34" charset="0"/>
            </a:endParaRPr>
          </a:p>
          <a:p>
            <a:pPr algn="ctr" defTabSz="914400" eaLnBrk="1" fontAlgn="auto" hangingPunct="1"/>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会员积分信息、清结算数据</a:t>
            </a:r>
            <a:endParaRPr lang="zh-CN" altLang="en-US" sz="1200" b="1" dirty="0">
              <a:solidFill>
                <a:schemeClr val="tx1">
                  <a:lumMod val="95000"/>
                  <a:lumOff val="5000"/>
                </a:schemeClr>
              </a:solidFill>
              <a:latin typeface="微软雅黑" charset="0"/>
              <a:ea typeface="微软雅黑" charset="0"/>
              <a:sym typeface="Calibri" panose="020F0502020204030204" pitchFamily="34" charset="0"/>
            </a:endParaRPr>
          </a:p>
        </p:txBody>
      </p:sp>
      <p:sp>
        <p:nvSpPr>
          <p:cNvPr id="137" name="圆角矩形 136"/>
          <p:cNvSpPr/>
          <p:nvPr>
            <p:custDataLst>
              <p:tags r:id="rId40"/>
            </p:custDataLst>
          </p:nvPr>
        </p:nvSpPr>
        <p:spPr>
          <a:xfrm>
            <a:off x="4480560" y="4364990"/>
            <a:ext cx="1577340" cy="582295"/>
          </a:xfrm>
          <a:prstGeom prst="roundRect">
            <a:avLst>
              <a:gd name="adj" fmla="val 0"/>
            </a:avLst>
          </a:prstGeom>
          <a:solidFill>
            <a:schemeClr val="bg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lang="zh-CN" altLang="en-US" sz="1200" b="1">
                <a:solidFill>
                  <a:schemeClr val="tx1"/>
                </a:solidFill>
                <a:latin typeface="微软雅黑" charset="0"/>
                <a:ea typeface="微软雅黑" charset="0"/>
              </a:rPr>
              <a:t>客户数据管理</a:t>
            </a:r>
            <a:endParaRPr lang="zh-CN" altLang="en-US" sz="1200" b="1">
              <a:solidFill>
                <a:schemeClr val="tx1"/>
              </a:solidFill>
              <a:latin typeface="微软雅黑" charset="0"/>
              <a:ea typeface="微软雅黑" charset="0"/>
            </a:endParaRPr>
          </a:p>
        </p:txBody>
      </p:sp>
      <p:sp>
        <p:nvSpPr>
          <p:cNvPr id="138" name="圆角矩形 137"/>
          <p:cNvSpPr/>
          <p:nvPr>
            <p:custDataLst>
              <p:tags r:id="rId41"/>
            </p:custDataLst>
          </p:nvPr>
        </p:nvSpPr>
        <p:spPr>
          <a:xfrm>
            <a:off x="6481445" y="3939540"/>
            <a:ext cx="1369060" cy="1008380"/>
          </a:xfrm>
          <a:prstGeom prst="roundRect">
            <a:avLst>
              <a:gd name="adj" fmla="val 0"/>
            </a:avLst>
          </a:prstGeom>
          <a:solidFill>
            <a:schemeClr val="bg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lang="zh-CN" altLang="en-US" sz="1200" b="1">
                <a:solidFill>
                  <a:schemeClr val="tx1"/>
                </a:solidFill>
                <a:latin typeface="微软雅黑" charset="0"/>
                <a:ea typeface="微软雅黑" charset="0"/>
              </a:rPr>
              <a:t>会员和积分管理</a:t>
            </a:r>
            <a:endParaRPr lang="zh-CN" altLang="en-US" sz="1200" b="1">
              <a:solidFill>
                <a:schemeClr val="tx1"/>
              </a:solidFill>
              <a:latin typeface="微软雅黑" charset="0"/>
              <a:ea typeface="微软雅黑" charset="0"/>
            </a:endParaRPr>
          </a:p>
          <a:p>
            <a:pPr algn="ctr" defTabSz="914400" eaLnBrk="1" fontAlgn="auto" hangingPunct="1"/>
            <a:endParaRPr lang="zh-CN" altLang="en-US" sz="1200" b="1">
              <a:solidFill>
                <a:schemeClr val="tx1"/>
              </a:solidFill>
              <a:latin typeface="微软雅黑" charset="0"/>
              <a:ea typeface="微软雅黑" charset="0"/>
            </a:endParaRPr>
          </a:p>
          <a:p>
            <a:pPr algn="ctr" defTabSz="914400" eaLnBrk="1" fontAlgn="auto" hangingPunct="1"/>
            <a:r>
              <a:rPr lang="en-US" altLang="zh-CN" sz="1000">
                <a:solidFill>
                  <a:srgbClr val="0086D1"/>
                </a:solidFill>
                <a:latin typeface="微软雅黑" charset="0"/>
                <a:ea typeface="微软雅黑" charset="0"/>
              </a:rPr>
              <a:t>（</a:t>
            </a:r>
            <a:r>
              <a:rPr lang="zh-CN" altLang="en-US" sz="1000">
                <a:solidFill>
                  <a:srgbClr val="0086D1"/>
                </a:solidFill>
                <a:latin typeface="微软雅黑" charset="0"/>
                <a:ea typeface="微软雅黑" charset="0"/>
              </a:rPr>
              <a:t>基于用户数据做规则配置</a:t>
            </a:r>
            <a:r>
              <a:rPr lang="en-US" altLang="zh-CN" sz="1000">
                <a:solidFill>
                  <a:srgbClr val="0086D1"/>
                </a:solidFill>
                <a:latin typeface="微软雅黑" charset="0"/>
                <a:ea typeface="微软雅黑" charset="0"/>
              </a:rPr>
              <a:t>、</a:t>
            </a:r>
            <a:r>
              <a:rPr lang="zh-CN" altLang="en-US" sz="1000">
                <a:solidFill>
                  <a:srgbClr val="0086D1"/>
                </a:solidFill>
                <a:latin typeface="微软雅黑" charset="0"/>
                <a:ea typeface="微软雅黑" charset="0"/>
              </a:rPr>
              <a:t>运营</a:t>
            </a:r>
            <a:r>
              <a:rPr lang="en-US" altLang="zh-CN" sz="1000">
                <a:solidFill>
                  <a:srgbClr val="0086D1"/>
                </a:solidFill>
                <a:latin typeface="微软雅黑" charset="0"/>
                <a:ea typeface="微软雅黑" charset="0"/>
              </a:rPr>
              <a:t>）</a:t>
            </a:r>
            <a:endParaRPr lang="en-US" altLang="zh-CN" sz="1000">
              <a:solidFill>
                <a:srgbClr val="0086D1"/>
              </a:solidFill>
              <a:latin typeface="微软雅黑" charset="0"/>
              <a:ea typeface="微软雅黑" charset="0"/>
            </a:endParaRPr>
          </a:p>
        </p:txBody>
      </p:sp>
      <p:sp>
        <p:nvSpPr>
          <p:cNvPr id="142" name="圆角矩形 141"/>
          <p:cNvSpPr/>
          <p:nvPr>
            <p:custDataLst>
              <p:tags r:id="rId42"/>
            </p:custDataLst>
          </p:nvPr>
        </p:nvSpPr>
        <p:spPr>
          <a:xfrm>
            <a:off x="4472940" y="3519805"/>
            <a:ext cx="3393440" cy="280670"/>
          </a:xfrm>
          <a:prstGeom prst="roundRect">
            <a:avLst>
              <a:gd name="adj" fmla="val 0"/>
            </a:avLst>
          </a:prstGeom>
          <a:solidFill>
            <a:srgbClr val="00B5D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lang="zh-CN" altLang="en-US" sz="1200" b="1">
                <a:solidFill>
                  <a:schemeClr val="bg1"/>
                </a:solidFill>
                <a:latin typeface="微软雅黑" charset="0"/>
                <a:ea typeface="微软雅黑" charset="0"/>
                <a:cs typeface="微软雅黑" charset="0"/>
              </a:rPr>
              <a:t>面客</a:t>
            </a:r>
            <a:r>
              <a:rPr lang="en-US" altLang="zh-CN" sz="1200" b="1">
                <a:solidFill>
                  <a:schemeClr val="bg1"/>
                </a:solidFill>
                <a:latin typeface="微软雅黑" charset="0"/>
                <a:ea typeface="微软雅黑" charset="0"/>
                <a:cs typeface="微软雅黑" charset="0"/>
              </a:rPr>
              <a:t>：</a:t>
            </a:r>
            <a:r>
              <a:rPr lang="zh-CN" altLang="en-US" sz="1200" b="1">
                <a:solidFill>
                  <a:schemeClr val="bg1"/>
                </a:solidFill>
                <a:latin typeface="微软雅黑" charset="0"/>
                <a:ea typeface="微软雅黑" charset="0"/>
                <a:cs typeface="微软雅黑" charset="0"/>
              </a:rPr>
              <a:t>智能客服服务</a:t>
            </a:r>
            <a:r>
              <a:rPr lang="en-US" altLang="zh-CN" sz="1200" b="1">
                <a:solidFill>
                  <a:schemeClr val="bg1"/>
                </a:solidFill>
                <a:latin typeface="微软雅黑" charset="0"/>
                <a:ea typeface="微软雅黑" charset="0"/>
                <a:cs typeface="微软雅黑" charset="0"/>
              </a:rPr>
              <a:t>（400、</a:t>
            </a:r>
            <a:r>
              <a:rPr lang="zh-CN" altLang="en-US" sz="1200" b="1">
                <a:solidFill>
                  <a:schemeClr val="bg1"/>
                </a:solidFill>
                <a:latin typeface="微软雅黑" charset="0"/>
                <a:ea typeface="微软雅黑" charset="0"/>
                <a:cs typeface="微软雅黑" charset="0"/>
              </a:rPr>
              <a:t>线上咨询</a:t>
            </a:r>
            <a:r>
              <a:rPr lang="en-US" altLang="zh-CN" sz="1200" b="1">
                <a:solidFill>
                  <a:schemeClr val="bg1"/>
                </a:solidFill>
                <a:latin typeface="微软雅黑" charset="0"/>
                <a:ea typeface="微软雅黑" charset="0"/>
                <a:cs typeface="微软雅黑" charset="0"/>
              </a:rPr>
              <a:t>）</a:t>
            </a:r>
            <a:endParaRPr lang="en-US" altLang="zh-CN" sz="1200" b="1">
              <a:solidFill>
                <a:schemeClr val="bg1"/>
              </a:solidFill>
              <a:latin typeface="微软雅黑" charset="0"/>
              <a:ea typeface="微软雅黑" charset="0"/>
              <a:cs typeface="微软雅黑" charset="0"/>
            </a:endParaRPr>
          </a:p>
        </p:txBody>
      </p:sp>
      <p:sp>
        <p:nvSpPr>
          <p:cNvPr id="146" name="圆角矩形 145"/>
          <p:cNvSpPr/>
          <p:nvPr>
            <p:custDataLst>
              <p:tags r:id="rId43"/>
            </p:custDataLst>
          </p:nvPr>
        </p:nvSpPr>
        <p:spPr>
          <a:xfrm>
            <a:off x="10078085" y="4976495"/>
            <a:ext cx="1474470" cy="539750"/>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lang="zh-CN" altLang="en-US" sz="1000" b="1" dirty="0">
                <a:solidFill>
                  <a:schemeClr val="bg1"/>
                </a:solidFill>
                <a:latin typeface="微软雅黑" charset="0"/>
                <a:ea typeface="微软雅黑" charset="0"/>
                <a:sym typeface="+mn-ea"/>
              </a:rPr>
              <a:t>异业合作平台</a:t>
            </a:r>
            <a:endParaRPr lang="zh-CN" altLang="en-US" sz="1000" b="1" dirty="0">
              <a:solidFill>
                <a:schemeClr val="bg1"/>
              </a:solidFill>
              <a:latin typeface="微软雅黑" charset="0"/>
              <a:ea typeface="微软雅黑" charset="0"/>
              <a:sym typeface="+mn-ea"/>
            </a:endParaRPr>
          </a:p>
        </p:txBody>
      </p:sp>
      <p:cxnSp>
        <p:nvCxnSpPr>
          <p:cNvPr id="147" name="直接箭头连接符 189"/>
          <p:cNvCxnSpPr/>
          <p:nvPr>
            <p:custDataLst>
              <p:tags r:id="rId44"/>
            </p:custDataLst>
          </p:nvPr>
        </p:nvCxnSpPr>
        <p:spPr>
          <a:xfrm flipH="1">
            <a:off x="8473440" y="5083810"/>
            <a:ext cx="1628140" cy="0"/>
          </a:xfrm>
          <a:prstGeom prst="straightConnector1">
            <a:avLst/>
          </a:prstGeom>
          <a:solidFill>
            <a:srgbClr val="D9D9D9"/>
          </a:solidFill>
          <a:ln w="12700" cap="flat" cmpd="sng" algn="ctr">
            <a:solidFill>
              <a:srgbClr val="FBCC9A"/>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48" name="文本框 147"/>
          <p:cNvSpPr txBox="1"/>
          <p:nvPr>
            <p:custDataLst>
              <p:tags r:id="rId45"/>
            </p:custDataLst>
          </p:nvPr>
        </p:nvSpPr>
        <p:spPr>
          <a:xfrm>
            <a:off x="8768080" y="4946650"/>
            <a:ext cx="988060" cy="213995"/>
          </a:xfrm>
          <a:prstGeom prst="rect">
            <a:avLst/>
          </a:prstGeom>
          <a:solidFill>
            <a:schemeClr val="bg1"/>
          </a:solidFill>
          <a:ln>
            <a:solidFill>
              <a:srgbClr val="FBCC9A"/>
            </a:solidFill>
            <a:prstDash val="dash"/>
          </a:ln>
        </p:spPr>
        <p:txBody>
          <a:bodyPr wrap="square" rtlCol="0">
            <a:spAutoFit/>
          </a:bodyPr>
          <a:lstStyle/>
          <a:p>
            <a:pPr algn="ctr" defTabSz="914400" eaLnBrk="1" fontAlgn="auto" hangingPunct="1"/>
            <a:r>
              <a:rPr lang="zh-CN" altLang="en-US" sz="800" dirty="0">
                <a:solidFill>
                  <a:schemeClr val="tx1"/>
                </a:solidFill>
                <a:latin typeface="微软雅黑" charset="0"/>
                <a:ea typeface="微软雅黑" charset="0"/>
                <a:sym typeface="+mn-ea"/>
              </a:rPr>
              <a:t>兑换权益优惠</a:t>
            </a:r>
            <a:endParaRPr lang="zh-CN" altLang="en-US" sz="800" dirty="0">
              <a:solidFill>
                <a:schemeClr val="tx1"/>
              </a:solidFill>
              <a:latin typeface="微软雅黑" charset="0"/>
              <a:ea typeface="微软雅黑" charset="0"/>
              <a:sym typeface="+mn-ea"/>
            </a:endParaRPr>
          </a:p>
        </p:txBody>
      </p:sp>
      <p:grpSp>
        <p:nvGrpSpPr>
          <p:cNvPr id="149" name="组合 148"/>
          <p:cNvGrpSpPr/>
          <p:nvPr/>
        </p:nvGrpSpPr>
        <p:grpSpPr>
          <a:xfrm>
            <a:off x="967105" y="4787805"/>
            <a:ext cx="2876550" cy="703753"/>
            <a:chOff x="1323" y="7362"/>
            <a:chExt cx="4608" cy="1197"/>
          </a:xfrm>
        </p:grpSpPr>
        <p:sp>
          <p:nvSpPr>
            <p:cNvPr id="166" name="圆角矩形 165"/>
            <p:cNvSpPr/>
            <p:nvPr>
              <p:custDataLst>
                <p:tags r:id="rId46"/>
              </p:custDataLst>
            </p:nvPr>
          </p:nvSpPr>
          <p:spPr>
            <a:xfrm>
              <a:off x="1323" y="7362"/>
              <a:ext cx="2000" cy="995"/>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000" b="1" dirty="0">
                  <a:solidFill>
                    <a:schemeClr val="bg1"/>
                  </a:solidFill>
                  <a:latin typeface="微软雅黑" charset="0"/>
                  <a:ea typeface="微软雅黑" charset="0"/>
                  <a:sym typeface="+mn-ea"/>
                </a:rPr>
                <a:t>安荟邻</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安馨汇</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乐寓</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好社区</a:t>
              </a:r>
              <a:endParaRPr kumimoji="1" lang="zh-CN" altLang="en-US" sz="1000" b="1" dirty="0">
                <a:solidFill>
                  <a:schemeClr val="bg1"/>
                </a:solidFill>
                <a:latin typeface="微软雅黑" charset="0"/>
                <a:ea typeface="微软雅黑" charset="0"/>
                <a:sym typeface="+mn-ea"/>
              </a:endParaRPr>
            </a:p>
          </p:txBody>
        </p:sp>
        <p:cxnSp>
          <p:nvCxnSpPr>
            <p:cNvPr id="167" name="直接箭头连接符 189"/>
            <p:cNvCxnSpPr/>
            <p:nvPr>
              <p:custDataLst>
                <p:tags r:id="rId47"/>
              </p:custDataLst>
            </p:nvPr>
          </p:nvCxnSpPr>
          <p:spPr>
            <a:xfrm flipH="1">
              <a:off x="3323" y="8221"/>
              <a:ext cx="2608"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68" name="文本框 167"/>
            <p:cNvSpPr txBox="1"/>
            <p:nvPr>
              <p:custDataLst>
                <p:tags r:id="rId48"/>
              </p:custDataLst>
            </p:nvPr>
          </p:nvSpPr>
          <p:spPr>
            <a:xfrm>
              <a:off x="3835" y="7865"/>
              <a:ext cx="1583" cy="694"/>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会员积分信息</a:t>
              </a:r>
              <a:endParaRPr lang="zh-CN" altLang="en-US" sz="800" dirty="0">
                <a:solidFill>
                  <a:schemeClr val="tx1"/>
                </a:solidFill>
                <a:latin typeface="微软雅黑" charset="0"/>
                <a:ea typeface="微软雅黑" charset="0"/>
                <a:sym typeface="+mn-ea"/>
              </a:endParaRPr>
            </a:p>
          </p:txBody>
        </p:sp>
      </p:grpSp>
      <p:sp>
        <p:nvSpPr>
          <p:cNvPr id="150" name="圆角矩形 149"/>
          <p:cNvSpPr/>
          <p:nvPr>
            <p:custDataLst>
              <p:tags r:id="rId49"/>
            </p:custDataLst>
          </p:nvPr>
        </p:nvSpPr>
        <p:spPr>
          <a:xfrm>
            <a:off x="3878580" y="2660015"/>
            <a:ext cx="4589145" cy="3103245"/>
          </a:xfrm>
          <a:prstGeom prst="roundRect">
            <a:avLst>
              <a:gd name="adj" fmla="val 1771"/>
            </a:avLst>
          </a:prstGeom>
          <a:noFill/>
          <a:ln w="25400">
            <a:solidFill>
              <a:srgbClr val="99B1D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fontAlgn="auto" hangingPunct="1"/>
            <a:endParaRPr lang="zh-CN" altLang="en-US" sz="1800">
              <a:latin typeface="微软雅黑" charset="0"/>
              <a:ea typeface="微软雅黑" charset="0"/>
            </a:endParaRPr>
          </a:p>
        </p:txBody>
      </p:sp>
      <p:sp>
        <p:nvSpPr>
          <p:cNvPr id="151" name="圆角矩形 150"/>
          <p:cNvSpPr/>
          <p:nvPr>
            <p:custDataLst>
              <p:tags r:id="rId50"/>
            </p:custDataLst>
          </p:nvPr>
        </p:nvSpPr>
        <p:spPr>
          <a:xfrm>
            <a:off x="4377055" y="3014345"/>
            <a:ext cx="3595370" cy="2024380"/>
          </a:xfrm>
          <a:prstGeom prst="roundRect">
            <a:avLst>
              <a:gd name="adj" fmla="val 1771"/>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fontAlgn="auto" hangingPunct="1"/>
            <a:endParaRPr lang="zh-CN" altLang="en-US" sz="1800">
              <a:latin typeface="微软雅黑" charset="0"/>
              <a:ea typeface="微软雅黑" charset="0"/>
            </a:endParaRPr>
          </a:p>
        </p:txBody>
      </p:sp>
      <p:sp>
        <p:nvSpPr>
          <p:cNvPr id="152" name="圆角矩形 151"/>
          <p:cNvSpPr/>
          <p:nvPr>
            <p:custDataLst>
              <p:tags r:id="rId51"/>
            </p:custDataLst>
          </p:nvPr>
        </p:nvSpPr>
        <p:spPr>
          <a:xfrm>
            <a:off x="4482465" y="3077845"/>
            <a:ext cx="3383915" cy="369570"/>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400" b="1" dirty="0">
                <a:solidFill>
                  <a:schemeClr val="bg1"/>
                </a:solidFill>
                <a:latin typeface="微软雅黑" charset="0"/>
                <a:ea typeface="微软雅黑" charset="0"/>
                <a:sym typeface="+mn-ea"/>
              </a:rPr>
              <a:t>智能客服平台</a:t>
            </a:r>
            <a:endParaRPr kumimoji="1" lang="zh-CN" altLang="en-US" sz="1400" b="1" dirty="0">
              <a:solidFill>
                <a:schemeClr val="bg1"/>
              </a:solidFill>
              <a:latin typeface="微软雅黑" charset="0"/>
              <a:ea typeface="微软雅黑" charset="0"/>
              <a:sym typeface="+mn-ea"/>
            </a:endParaRPr>
          </a:p>
        </p:txBody>
      </p:sp>
      <p:grpSp>
        <p:nvGrpSpPr>
          <p:cNvPr id="153" name="组合 152"/>
          <p:cNvGrpSpPr/>
          <p:nvPr/>
        </p:nvGrpSpPr>
        <p:grpSpPr>
          <a:xfrm>
            <a:off x="4326945" y="2028190"/>
            <a:ext cx="3525540" cy="582295"/>
            <a:chOff x="6704" y="2493"/>
            <a:chExt cx="5647" cy="1474"/>
          </a:xfrm>
        </p:grpSpPr>
        <p:grpSp>
          <p:nvGrpSpPr>
            <p:cNvPr id="157" name="组合 156"/>
            <p:cNvGrpSpPr/>
            <p:nvPr/>
          </p:nvGrpSpPr>
          <p:grpSpPr>
            <a:xfrm>
              <a:off x="6704" y="2493"/>
              <a:ext cx="1304" cy="1474"/>
              <a:chOff x="6424" y="1690"/>
              <a:chExt cx="1304" cy="1474"/>
            </a:xfrm>
          </p:grpSpPr>
          <p:cxnSp>
            <p:nvCxnSpPr>
              <p:cNvPr id="164" name="直接箭头连接符 189"/>
              <p:cNvCxnSpPr/>
              <p:nvPr>
                <p:custDataLst>
                  <p:tags r:id="rId52"/>
                </p:custDataLst>
              </p:nvPr>
            </p:nvCxnSpPr>
            <p:spPr>
              <a:xfrm flipV="1">
                <a:off x="7076" y="1690"/>
                <a:ext cx="0" cy="1474"/>
              </a:xfrm>
              <a:prstGeom prst="straightConnector1">
                <a:avLst/>
              </a:prstGeom>
              <a:ln w="12700" cap="flat" cmpd="sng" algn="ctr">
                <a:solidFill>
                  <a:schemeClr val="accent3">
                    <a:lumMod val="50000"/>
                  </a:schemeClr>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5" name="文本框 164"/>
              <p:cNvSpPr txBox="1"/>
              <p:nvPr>
                <p:custDataLst>
                  <p:tags r:id="rId53"/>
                </p:custDataLst>
              </p:nvPr>
            </p:nvSpPr>
            <p:spPr>
              <a:xfrm>
                <a:off x="6424" y="2179"/>
                <a:ext cx="1304" cy="854"/>
              </a:xfrm>
              <a:prstGeom prst="rect">
                <a:avLst/>
              </a:prstGeom>
              <a:solidFill>
                <a:schemeClr val="bg1"/>
              </a:solidFill>
              <a:ln>
                <a:solidFill>
                  <a:schemeClr val="accent3">
                    <a:lumMod val="50000"/>
                  </a:schemeClr>
                </a:solidFill>
                <a:prstDash val="dash"/>
              </a:ln>
            </p:spPr>
            <p:txBody>
              <a:bodyPr wrap="square" rtlCol="0">
                <a:spAutoFit/>
              </a:bodyPr>
              <a:lstStyle/>
              <a:p>
                <a:pPr algn="ctr" defTabSz="914400" eaLnBrk="1" fontAlgn="auto" hangingPunct="1"/>
                <a:r>
                  <a:rPr lang="zh-CN" altLang="en-US" sz="800">
                    <a:solidFill>
                      <a:schemeClr val="tx1"/>
                    </a:solidFill>
                    <a:latin typeface="微软雅黑" charset="0"/>
                    <a:ea typeface="微软雅黑" charset="0"/>
                  </a:rPr>
                  <a:t>嵌入智能客服前端应用</a:t>
                </a:r>
                <a:endParaRPr lang="zh-CN" altLang="en-US" sz="800">
                  <a:solidFill>
                    <a:schemeClr val="tx1"/>
                  </a:solidFill>
                  <a:latin typeface="微软雅黑" charset="0"/>
                  <a:ea typeface="微软雅黑" charset="0"/>
                </a:endParaRPr>
              </a:p>
            </p:txBody>
          </p:sp>
        </p:grpSp>
        <p:grpSp>
          <p:nvGrpSpPr>
            <p:cNvPr id="159" name="组合 158"/>
            <p:cNvGrpSpPr/>
            <p:nvPr/>
          </p:nvGrpSpPr>
          <p:grpSpPr>
            <a:xfrm>
              <a:off x="11047" y="2493"/>
              <a:ext cx="1304" cy="1474"/>
              <a:chOff x="5114" y="1690"/>
              <a:chExt cx="1304" cy="1474"/>
            </a:xfrm>
          </p:grpSpPr>
          <p:cxnSp>
            <p:nvCxnSpPr>
              <p:cNvPr id="160" name="直接箭头连接符 189"/>
              <p:cNvCxnSpPr/>
              <p:nvPr>
                <p:custDataLst>
                  <p:tags r:id="rId54"/>
                </p:custDataLst>
              </p:nvPr>
            </p:nvCxnSpPr>
            <p:spPr>
              <a:xfrm flipV="1">
                <a:off x="5766" y="1690"/>
                <a:ext cx="0" cy="1474"/>
              </a:xfrm>
              <a:prstGeom prst="straightConnector1">
                <a:avLst/>
              </a:prstGeom>
              <a:ln w="12700" cap="flat" cmpd="sng" algn="ctr">
                <a:solidFill>
                  <a:schemeClr val="accent3">
                    <a:lumMod val="50000"/>
                  </a:schemeClr>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61" name="文本框 160"/>
              <p:cNvSpPr txBox="1"/>
              <p:nvPr>
                <p:custDataLst>
                  <p:tags r:id="rId55"/>
                </p:custDataLst>
              </p:nvPr>
            </p:nvSpPr>
            <p:spPr>
              <a:xfrm>
                <a:off x="5114" y="1980"/>
                <a:ext cx="1304" cy="854"/>
              </a:xfrm>
              <a:prstGeom prst="rect">
                <a:avLst/>
              </a:prstGeom>
              <a:solidFill>
                <a:schemeClr val="bg1"/>
              </a:solidFill>
              <a:ln>
                <a:solidFill>
                  <a:schemeClr val="accent3">
                    <a:lumMod val="50000"/>
                  </a:schemeClr>
                </a:solidFill>
                <a:prstDash val="dash"/>
              </a:ln>
            </p:spPr>
            <p:txBody>
              <a:bodyPr wrap="square" rtlCol="0">
                <a:spAutoFit/>
              </a:bodyPr>
              <a:lstStyle/>
              <a:p>
                <a:pPr algn="ctr" defTabSz="914400" eaLnBrk="1" fontAlgn="auto" hangingPunct="1"/>
                <a:r>
                  <a:rPr lang="zh-CN" altLang="en-US" sz="800">
                    <a:solidFill>
                      <a:schemeClr val="tx1"/>
                    </a:solidFill>
                    <a:latin typeface="微软雅黑" charset="0"/>
                    <a:ea typeface="微软雅黑" charset="0"/>
                  </a:rPr>
                  <a:t>同步用户行为信息</a:t>
                </a:r>
                <a:endParaRPr lang="zh-CN" altLang="en-US" sz="800">
                  <a:solidFill>
                    <a:schemeClr val="tx1"/>
                  </a:solidFill>
                  <a:latin typeface="微软雅黑" charset="0"/>
                  <a:ea typeface="微软雅黑" charset="0"/>
                </a:endParaRPr>
              </a:p>
            </p:txBody>
          </p:sp>
        </p:grpSp>
      </p:grpSp>
      <p:sp>
        <p:nvSpPr>
          <p:cNvPr id="155" name="矩形 154"/>
          <p:cNvSpPr/>
          <p:nvPr/>
        </p:nvSpPr>
        <p:spPr>
          <a:xfrm>
            <a:off x="4490085" y="6263640"/>
            <a:ext cx="3458845" cy="280035"/>
          </a:xfrm>
          <a:prstGeom prst="rect">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lang="zh-CN" altLang="en-US" sz="1000" b="1" dirty="0">
                <a:solidFill>
                  <a:schemeClr val="bg1"/>
                </a:solidFill>
                <a:latin typeface="微软雅黑" charset="0"/>
                <a:ea typeface="微软雅黑" charset="0"/>
              </a:rPr>
              <a:t>企业微信客户运营管理平台</a:t>
            </a:r>
            <a:endParaRPr lang="zh-CN" altLang="en-US" sz="1000" b="1" dirty="0">
              <a:solidFill>
                <a:schemeClr val="bg1"/>
              </a:solidFill>
              <a:latin typeface="微软雅黑" charset="0"/>
              <a:ea typeface="微软雅黑" charset="0"/>
            </a:endParaRPr>
          </a:p>
        </p:txBody>
      </p:sp>
      <p:cxnSp>
        <p:nvCxnSpPr>
          <p:cNvPr id="156" name="直接箭头连接符 189"/>
          <p:cNvCxnSpPr/>
          <p:nvPr>
            <p:custDataLst>
              <p:tags r:id="rId56"/>
            </p:custDataLst>
          </p:nvPr>
        </p:nvCxnSpPr>
        <p:spPr>
          <a:xfrm>
            <a:off x="5420360" y="5807075"/>
            <a:ext cx="12065" cy="43561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cxnSp>
        <p:nvCxnSpPr>
          <p:cNvPr id="16" name="直接箭头连接符 189"/>
          <p:cNvCxnSpPr/>
          <p:nvPr>
            <p:custDataLst>
              <p:tags r:id="rId57"/>
            </p:custDataLst>
          </p:nvPr>
        </p:nvCxnSpPr>
        <p:spPr>
          <a:xfrm flipV="1">
            <a:off x="4852705" y="3818573"/>
            <a:ext cx="1905" cy="53975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 name="圆角矩形 16"/>
          <p:cNvSpPr/>
          <p:nvPr>
            <p:custDataLst>
              <p:tags r:id="rId58"/>
            </p:custDataLst>
          </p:nvPr>
        </p:nvSpPr>
        <p:spPr>
          <a:xfrm>
            <a:off x="10078085" y="4357370"/>
            <a:ext cx="1463040" cy="407670"/>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000" b="1" dirty="0">
                <a:solidFill>
                  <a:schemeClr val="bg1"/>
                </a:solidFill>
                <a:latin typeface="微软雅黑" charset="0"/>
                <a:ea typeface="微软雅黑" charset="0"/>
                <a:sym typeface="+mn-ea"/>
              </a:rPr>
              <a:t>营销</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尘锋</a:t>
            </a:r>
            <a:r>
              <a:rPr kumimoji="1" lang="en-US" altLang="zh-CN" sz="1000" b="1" dirty="0">
                <a:solidFill>
                  <a:schemeClr val="bg1"/>
                </a:solidFill>
                <a:latin typeface="微软雅黑" charset="0"/>
                <a:ea typeface="微软雅黑" charset="0"/>
                <a:sym typeface="+mn-ea"/>
              </a:rPr>
              <a:t>）</a:t>
            </a:r>
            <a:endParaRPr kumimoji="1" lang="en-US" altLang="zh-CN" sz="1000" b="1" dirty="0">
              <a:solidFill>
                <a:schemeClr val="bg1"/>
              </a:solidFill>
              <a:latin typeface="微软雅黑" charset="0"/>
              <a:ea typeface="微软雅黑" charset="0"/>
              <a:sym typeface="+mn-ea"/>
            </a:endParaRPr>
          </a:p>
        </p:txBody>
      </p:sp>
      <p:sp>
        <p:nvSpPr>
          <p:cNvPr id="8" name="文本框 7"/>
          <p:cNvSpPr txBox="1"/>
          <p:nvPr>
            <p:custDataLst>
              <p:tags r:id="rId59"/>
            </p:custDataLst>
          </p:nvPr>
        </p:nvSpPr>
        <p:spPr>
          <a:xfrm>
            <a:off x="4860925" y="5908675"/>
            <a:ext cx="1064260" cy="182880"/>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用户基础数据</a:t>
            </a:r>
            <a:endParaRPr lang="zh-CN" altLang="en-US" sz="800" dirty="0">
              <a:solidFill>
                <a:schemeClr val="tx1"/>
              </a:solidFill>
              <a:latin typeface="微软雅黑" charset="0"/>
              <a:ea typeface="微软雅黑" charset="0"/>
              <a:sym typeface="+mn-ea"/>
            </a:endParaRPr>
          </a:p>
        </p:txBody>
      </p:sp>
      <p:cxnSp>
        <p:nvCxnSpPr>
          <p:cNvPr id="9" name="直接箭头连接符 189"/>
          <p:cNvCxnSpPr/>
          <p:nvPr>
            <p:custDataLst>
              <p:tags r:id="rId60"/>
            </p:custDataLst>
          </p:nvPr>
        </p:nvCxnSpPr>
        <p:spPr>
          <a:xfrm flipV="1">
            <a:off x="6966262" y="5774055"/>
            <a:ext cx="0" cy="443865"/>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0" name="文本框 9"/>
          <p:cNvSpPr txBox="1"/>
          <p:nvPr>
            <p:custDataLst>
              <p:tags r:id="rId61"/>
            </p:custDataLst>
          </p:nvPr>
        </p:nvSpPr>
        <p:spPr>
          <a:xfrm>
            <a:off x="6348095" y="5908675"/>
            <a:ext cx="1369060" cy="198120"/>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客户数据变更</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标签信息</a:t>
            </a:r>
            <a:endParaRPr lang="zh-CN" altLang="en-US" sz="800" dirty="0">
              <a:solidFill>
                <a:schemeClr val="tx1"/>
              </a:solidFill>
              <a:latin typeface="微软雅黑" charset="0"/>
              <a:ea typeface="微软雅黑" charset="0"/>
              <a:sym typeface="+mn-ea"/>
            </a:endParaRPr>
          </a:p>
        </p:txBody>
      </p:sp>
      <p:cxnSp>
        <p:nvCxnSpPr>
          <p:cNvPr id="11" name="直接箭头连接符 189"/>
          <p:cNvCxnSpPr/>
          <p:nvPr>
            <p:custDataLst>
              <p:tags r:id="rId62"/>
            </p:custDataLst>
          </p:nvPr>
        </p:nvCxnSpPr>
        <p:spPr>
          <a:xfrm flipH="1">
            <a:off x="8478520" y="4678045"/>
            <a:ext cx="1628140"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2" name="文本框 11"/>
          <p:cNvSpPr txBox="1"/>
          <p:nvPr>
            <p:custDataLst>
              <p:tags r:id="rId63"/>
            </p:custDataLst>
          </p:nvPr>
        </p:nvSpPr>
        <p:spPr>
          <a:xfrm>
            <a:off x="8759825" y="4578985"/>
            <a:ext cx="988060" cy="213995"/>
          </a:xfrm>
          <a:prstGeom prst="rect">
            <a:avLst/>
          </a:prstGeom>
          <a:solidFill>
            <a:schemeClr val="bg1"/>
          </a:solidFill>
          <a:ln>
            <a:solidFill>
              <a:srgbClr val="0070C0"/>
            </a:solidFill>
            <a:prstDash val="dash"/>
          </a:ln>
        </p:spPr>
        <p:txBody>
          <a:bodyPr wrap="square" rtlCol="0">
            <a:spAutoFit/>
          </a:bodyPr>
          <a:lstStyle/>
          <a:p>
            <a:pPr algn="ctr" defTabSz="914400" eaLnBrk="1" fontAlgn="auto" hangingPunct="1"/>
            <a:r>
              <a:rPr lang="zh-CN" altLang="en-US" sz="800" dirty="0">
                <a:solidFill>
                  <a:schemeClr val="tx1"/>
                </a:solidFill>
                <a:latin typeface="微软雅黑" charset="0"/>
                <a:ea typeface="微软雅黑" charset="0"/>
                <a:sym typeface="+mn-ea"/>
              </a:rPr>
              <a:t>用户基础数据</a:t>
            </a:r>
            <a:endParaRPr lang="zh-CN" altLang="en-US" sz="800" dirty="0">
              <a:solidFill>
                <a:schemeClr val="tx1"/>
              </a:solidFill>
              <a:latin typeface="微软雅黑" charset="0"/>
              <a:ea typeface="微软雅黑" charset="0"/>
              <a:sym typeface="+mn-ea"/>
            </a:endParaRPr>
          </a:p>
        </p:txBody>
      </p:sp>
      <p:cxnSp>
        <p:nvCxnSpPr>
          <p:cNvPr id="13" name="直接箭头连接符 189"/>
          <p:cNvCxnSpPr/>
          <p:nvPr>
            <p:custDataLst>
              <p:tags r:id="rId64"/>
            </p:custDataLst>
          </p:nvPr>
        </p:nvCxnSpPr>
        <p:spPr>
          <a:xfrm flipH="1">
            <a:off x="8467818" y="4448938"/>
            <a:ext cx="1628047"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9" name="文本框 18"/>
          <p:cNvSpPr txBox="1"/>
          <p:nvPr>
            <p:custDataLst>
              <p:tags r:id="rId65"/>
            </p:custDataLst>
          </p:nvPr>
        </p:nvSpPr>
        <p:spPr>
          <a:xfrm>
            <a:off x="8759190" y="4332605"/>
            <a:ext cx="978535" cy="213995"/>
          </a:xfrm>
          <a:prstGeom prst="rect">
            <a:avLst/>
          </a:prstGeom>
          <a:solidFill>
            <a:schemeClr val="bg1"/>
          </a:solidFill>
          <a:ln>
            <a:solidFill>
              <a:srgbClr val="0070C0"/>
            </a:solidFill>
            <a:prstDash val="dash"/>
          </a:ln>
        </p:spPr>
        <p:txBody>
          <a:bodyPr wrap="square" rtlCol="0">
            <a:spAutoFit/>
          </a:bodyPr>
          <a:lstStyle/>
          <a:p>
            <a:pPr algn="ctr" defTabSz="914400" eaLnBrk="1" fontAlgn="auto" hangingPunct="1"/>
            <a:r>
              <a:rPr lang="zh-CN" altLang="en-US" sz="800" dirty="0">
                <a:solidFill>
                  <a:schemeClr val="tx1"/>
                </a:solidFill>
                <a:latin typeface="微软雅黑" charset="0"/>
                <a:ea typeface="微软雅黑" charset="0"/>
                <a:cs typeface="微软雅黑" charset="0"/>
                <a:sym typeface="+mn-ea"/>
              </a:rPr>
              <a:t>客户标签数据</a:t>
            </a:r>
            <a:endParaRPr lang="zh-CN" altLang="en-US" sz="800" dirty="0">
              <a:solidFill>
                <a:schemeClr val="tx1"/>
              </a:solidFill>
              <a:latin typeface="微软雅黑" charset="0"/>
              <a:ea typeface="微软雅黑" charset="0"/>
              <a:cs typeface="微软雅黑" charset="0"/>
              <a:sym typeface="+mn-ea"/>
            </a:endParaRPr>
          </a:p>
        </p:txBody>
      </p:sp>
      <p:cxnSp>
        <p:nvCxnSpPr>
          <p:cNvPr id="14" name="直接箭头连接符 189"/>
          <p:cNvCxnSpPr/>
          <p:nvPr>
            <p:custDataLst>
              <p:tags r:id="rId66"/>
            </p:custDataLst>
          </p:nvPr>
        </p:nvCxnSpPr>
        <p:spPr>
          <a:xfrm flipH="1">
            <a:off x="2215608" y="2740640"/>
            <a:ext cx="1628047"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2" name="文本框 1"/>
          <p:cNvSpPr txBox="1"/>
          <p:nvPr>
            <p:custDataLst>
              <p:tags r:id="rId67"/>
            </p:custDataLst>
          </p:nvPr>
        </p:nvSpPr>
        <p:spPr>
          <a:xfrm>
            <a:off x="2534920" y="2513330"/>
            <a:ext cx="988060" cy="435610"/>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a:solidFill>
                  <a:schemeClr val="tx1"/>
                </a:solidFill>
                <a:latin typeface="微软雅黑" charset="0"/>
                <a:ea typeface="微软雅黑" charset="0"/>
              </a:rPr>
              <a:t>资产主数据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工单数据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满意度数据</a:t>
            </a:r>
            <a:r>
              <a:rPr lang="en-US" altLang="zh-CN" sz="800">
                <a:solidFill>
                  <a:schemeClr val="tx1"/>
                </a:solidFill>
                <a:latin typeface="微软雅黑" charset="0"/>
                <a:ea typeface="微软雅黑" charset="0"/>
              </a:rPr>
              <a:t>(</a:t>
            </a:r>
            <a:r>
              <a:rPr lang="zh-CN" altLang="en-US" sz="800">
                <a:latin typeface="微软雅黑" charset="0"/>
                <a:ea typeface="微软雅黑" charset="0"/>
                <a:sym typeface="+mn-ea"/>
              </a:rPr>
              <a:t>工单</a:t>
            </a:r>
            <a:r>
              <a:rPr lang="en-US" altLang="zh-CN" sz="800">
                <a:latin typeface="微软雅黑" charset="0"/>
                <a:ea typeface="微软雅黑" charset="0"/>
                <a:sym typeface="+mn-ea"/>
              </a:rPr>
              <a:t>、</a:t>
            </a:r>
            <a:r>
              <a:rPr lang="zh-CN" altLang="en-US" sz="800">
                <a:latin typeface="微软雅黑" charset="0"/>
                <a:ea typeface="微软雅黑" charset="0"/>
                <a:sym typeface="+mn-ea"/>
              </a:rPr>
              <a:t>租赁</a:t>
            </a:r>
            <a:r>
              <a:rPr lang="en-US" altLang="zh-CN" sz="800">
                <a:solidFill>
                  <a:schemeClr val="tx1"/>
                </a:solidFill>
                <a:latin typeface="微软雅黑" charset="0"/>
                <a:ea typeface="微软雅黑" charset="0"/>
              </a:rPr>
              <a:t>)</a:t>
            </a:r>
            <a:endParaRPr lang="en-US" altLang="zh-CN" sz="800">
              <a:solidFill>
                <a:schemeClr val="tx1"/>
              </a:solidFill>
              <a:latin typeface="微软雅黑" charset="0"/>
              <a:ea typeface="微软雅黑" charset="0"/>
            </a:endParaRPr>
          </a:p>
        </p:txBody>
      </p:sp>
      <p:cxnSp>
        <p:nvCxnSpPr>
          <p:cNvPr id="3" name="直接箭头连接符 189"/>
          <p:cNvCxnSpPr/>
          <p:nvPr>
            <p:custDataLst>
              <p:tags r:id="rId68"/>
            </p:custDataLst>
          </p:nvPr>
        </p:nvCxnSpPr>
        <p:spPr>
          <a:xfrm flipH="1">
            <a:off x="2216243" y="4896465"/>
            <a:ext cx="1628047"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20" name="文本框 19"/>
          <p:cNvSpPr txBox="1"/>
          <p:nvPr>
            <p:custDataLst>
              <p:tags r:id="rId69"/>
            </p:custDataLst>
          </p:nvPr>
        </p:nvSpPr>
        <p:spPr>
          <a:xfrm>
            <a:off x="2535555" y="4705985"/>
            <a:ext cx="988060" cy="306070"/>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a:solidFill>
                  <a:schemeClr val="tx1"/>
                </a:solidFill>
                <a:latin typeface="微软雅黑" charset="0"/>
                <a:ea typeface="微软雅黑" charset="0"/>
              </a:rPr>
              <a:t>用户行为数据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满意度数据</a:t>
            </a:r>
            <a:endParaRPr lang="zh-CN" altLang="en-US" sz="800">
              <a:solidFill>
                <a:schemeClr val="tx1"/>
              </a:solidFill>
              <a:latin typeface="微软雅黑" charset="0"/>
              <a:ea typeface="微软雅黑" charset="0"/>
            </a:endParaRPr>
          </a:p>
        </p:txBody>
      </p:sp>
      <p:sp>
        <p:nvSpPr>
          <p:cNvPr id="21" name="文本框 20"/>
          <p:cNvSpPr txBox="1"/>
          <p:nvPr>
            <p:custDataLst>
              <p:tags r:id="rId70"/>
            </p:custDataLst>
          </p:nvPr>
        </p:nvSpPr>
        <p:spPr>
          <a:xfrm>
            <a:off x="10306685" y="2335530"/>
            <a:ext cx="1035050" cy="259080"/>
          </a:xfrm>
          <a:prstGeom prst="rect">
            <a:avLst/>
          </a:prstGeom>
          <a:noFill/>
        </p:spPr>
        <p:txBody>
          <a:bodyPr wrap="square" rtlCol="0">
            <a:noAutofit/>
          </a:bodyPr>
          <a:lstStyle/>
          <a:p>
            <a:pPr defTabSz="914400" eaLnBrk="1" fontAlgn="auto" hangingPunct="1"/>
            <a:r>
              <a:rPr lang="zh-CN" altLang="en-US" sz="1400" dirty="0">
                <a:latin typeface="微软雅黑" charset="0"/>
                <a:ea typeface="微软雅黑" charset="0"/>
              </a:rPr>
              <a:t>外部集成</a:t>
            </a:r>
            <a:endParaRPr lang="zh-CN" altLang="en-US" sz="1400" dirty="0">
              <a:latin typeface="微软雅黑" charset="0"/>
              <a:ea typeface="微软雅黑" charset="0"/>
            </a:endParaRPr>
          </a:p>
        </p:txBody>
      </p:sp>
      <p:cxnSp>
        <p:nvCxnSpPr>
          <p:cNvPr id="22" name="直接箭头连接符 189"/>
          <p:cNvCxnSpPr/>
          <p:nvPr>
            <p:custDataLst>
              <p:tags r:id="rId71"/>
            </p:custDataLst>
          </p:nvPr>
        </p:nvCxnSpPr>
        <p:spPr>
          <a:xfrm flipH="1">
            <a:off x="8446863" y="5425955"/>
            <a:ext cx="1628047"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23" name="文本框 22"/>
          <p:cNvSpPr txBox="1"/>
          <p:nvPr>
            <p:custDataLst>
              <p:tags r:id="rId72"/>
            </p:custDataLst>
          </p:nvPr>
        </p:nvSpPr>
        <p:spPr>
          <a:xfrm>
            <a:off x="8766175" y="5216525"/>
            <a:ext cx="988060" cy="440690"/>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会员积分信息</a:t>
            </a:r>
            <a:endParaRPr lang="zh-CN" altLang="en-US" sz="800" dirty="0">
              <a:solidFill>
                <a:schemeClr val="tx1"/>
              </a:solidFill>
              <a:latin typeface="微软雅黑" charset="0"/>
              <a:ea typeface="微软雅黑" charset="0"/>
              <a:sym typeface="+mn-ea"/>
            </a:endParaRPr>
          </a:p>
        </p:txBody>
      </p:sp>
      <p:sp>
        <p:nvSpPr>
          <p:cNvPr id="4" name="文本框 3"/>
          <p:cNvSpPr txBox="1"/>
          <p:nvPr>
            <p:custDataLst>
              <p:tags r:id="rId73"/>
            </p:custDataLst>
          </p:nvPr>
        </p:nvSpPr>
        <p:spPr>
          <a:xfrm>
            <a:off x="4483100" y="3925570"/>
            <a:ext cx="794385" cy="300355"/>
          </a:xfrm>
          <a:prstGeom prst="rect">
            <a:avLst/>
          </a:prstGeom>
          <a:solidFill>
            <a:schemeClr val="bg1"/>
          </a:solidFill>
          <a:ln>
            <a:solidFill>
              <a:srgbClr val="0070C0"/>
            </a:solidFill>
            <a:prstDash val="dash"/>
          </a:ln>
        </p:spPr>
        <p:txBody>
          <a:bodyPr wrap="square" rtlCol="0">
            <a:noAutofit/>
          </a:bodyPr>
          <a:lstStyle/>
          <a:p>
            <a:pPr algn="l" defTabSz="914400" eaLnBrk="1" fontAlgn="auto" hangingPunct="1"/>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工单</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a:t>
            </a:r>
            <a:endParaRPr lang="zh-CN" altLang="en-US" sz="800" dirty="0">
              <a:solidFill>
                <a:schemeClr val="tx1"/>
              </a:solidFill>
              <a:latin typeface="微软雅黑" charset="0"/>
              <a:ea typeface="微软雅黑" charset="0"/>
              <a:sym typeface="+mn-ea"/>
            </a:endParaRPr>
          </a:p>
        </p:txBody>
      </p:sp>
      <p:cxnSp>
        <p:nvCxnSpPr>
          <p:cNvPr id="5" name="直接箭头连接符 189"/>
          <p:cNvCxnSpPr/>
          <p:nvPr>
            <p:custDataLst>
              <p:tags r:id="rId74"/>
            </p:custDataLst>
          </p:nvPr>
        </p:nvCxnSpPr>
        <p:spPr>
          <a:xfrm>
            <a:off x="5796915" y="3818890"/>
            <a:ext cx="0" cy="53975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26" name="文本框 25"/>
          <p:cNvSpPr txBox="1"/>
          <p:nvPr>
            <p:custDataLst>
              <p:tags r:id="rId75"/>
            </p:custDataLst>
          </p:nvPr>
        </p:nvSpPr>
        <p:spPr>
          <a:xfrm>
            <a:off x="5429250" y="3908425"/>
            <a:ext cx="610235" cy="300355"/>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智能标签</a:t>
            </a:r>
            <a:endParaRPr lang="zh-CN" altLang="en-US" sz="800" dirty="0">
              <a:solidFill>
                <a:schemeClr val="tx1"/>
              </a:solidFill>
              <a:latin typeface="微软雅黑" charset="0"/>
              <a:ea typeface="微软雅黑" charset="0"/>
              <a:sym typeface="+mn-ea"/>
            </a:endParaRPr>
          </a:p>
          <a:p>
            <a:pPr algn="ctr" defTabSz="914400" eaLnBrk="1" fontAlgn="auto" hangingPunct="1"/>
            <a:r>
              <a:rPr lang="zh-CN" altLang="en-US" sz="800" dirty="0">
                <a:solidFill>
                  <a:schemeClr val="tx1"/>
                </a:solidFill>
                <a:latin typeface="微软雅黑" charset="0"/>
                <a:ea typeface="微软雅黑" charset="0"/>
                <a:sym typeface="+mn-ea"/>
              </a:rPr>
              <a:t>手动标签</a:t>
            </a:r>
            <a:endParaRPr lang="zh-CN" altLang="en-US" sz="800" dirty="0">
              <a:solidFill>
                <a:schemeClr val="tx1"/>
              </a:solidFill>
              <a:latin typeface="微软雅黑" charset="0"/>
              <a:ea typeface="微软雅黑" charset="0"/>
              <a:sym typeface="+mn-ea"/>
            </a:endParaRPr>
          </a:p>
        </p:txBody>
      </p:sp>
      <p:sp>
        <p:nvSpPr>
          <p:cNvPr id="6" name="右箭头 5"/>
          <p:cNvSpPr/>
          <p:nvPr/>
        </p:nvSpPr>
        <p:spPr>
          <a:xfrm>
            <a:off x="6113145" y="4583430"/>
            <a:ext cx="314960" cy="225425"/>
          </a:xfrm>
          <a:prstGeom prst="rightArrow">
            <a:avLst/>
          </a:prstGeom>
          <a:solidFill>
            <a:srgbClr val="0086D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914400" eaLnBrk="1" fontAlgn="auto" hangingPunct="1">
              <a:spcAft>
                <a:spcPts val="600"/>
              </a:spcAft>
            </a:pP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145" name="文本框 144"/>
          <p:cNvSpPr txBox="1"/>
          <p:nvPr>
            <p:custDataLst>
              <p:tags r:id="rId76"/>
            </p:custDataLst>
          </p:nvPr>
        </p:nvSpPr>
        <p:spPr>
          <a:xfrm>
            <a:off x="479425" y="5896610"/>
            <a:ext cx="5210810" cy="783590"/>
          </a:xfrm>
          <a:prstGeom prst="rect">
            <a:avLst/>
          </a:prstGeom>
          <a:noFill/>
        </p:spPr>
        <p:txBody>
          <a:bodyPr wrap="square" rtlCol="0">
            <a:spAutoFit/>
          </a:bodyPr>
          <a:lstStyle/>
          <a:p>
            <a:pPr marL="228600" indent="-228600" defTabSz="914400" eaLnBrk="1" fontAlgn="auto" hangingPunct="1">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资产主数据</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组织数据</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大区</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项目等</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人员数据</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defTabSz="914400" eaLnBrk="1" fontAlgn="auto" hangingPunct="1">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sym typeface="+mn-ea"/>
              </a:rPr>
              <a:t>用户基础数据：用户</a:t>
            </a:r>
            <a:r>
              <a:rPr lang="en-US" altLang="zh-CN" sz="900" dirty="0">
                <a:solidFill>
                  <a:schemeClr val="tx1">
                    <a:lumMod val="95000"/>
                    <a:lumOff val="5000"/>
                  </a:schemeClr>
                </a:solidFill>
                <a:latin typeface="微软雅黑" charset="0"/>
                <a:ea typeface="微软雅黑" charset="0"/>
                <a:cs typeface="微软雅黑" charset="0"/>
                <a:sym typeface="+mn-ea"/>
              </a:rPr>
              <a:t>ID</a:t>
            </a:r>
            <a:r>
              <a:rPr lang="zh-CN" altLang="en-US" sz="900" dirty="0">
                <a:solidFill>
                  <a:schemeClr val="tx1">
                    <a:lumMod val="95000"/>
                    <a:lumOff val="5000"/>
                  </a:schemeClr>
                </a:solidFill>
                <a:latin typeface="微软雅黑" charset="0"/>
                <a:ea typeface="微软雅黑" charset="0"/>
                <a:cs typeface="微软雅黑" charset="0"/>
                <a:sym typeface="+mn-ea"/>
              </a:rPr>
              <a:t>、姓名、手机号、租赁</a:t>
            </a:r>
            <a:r>
              <a:rPr lang="en-US" altLang="zh-CN" sz="900" dirty="0">
                <a:solidFill>
                  <a:schemeClr val="tx1">
                    <a:lumMod val="95000"/>
                    <a:lumOff val="5000"/>
                  </a:schemeClr>
                </a:solidFill>
                <a:latin typeface="微软雅黑" charset="0"/>
                <a:ea typeface="微软雅黑" charset="0"/>
                <a:cs typeface="微软雅黑" charset="0"/>
                <a:sym typeface="+mn-ea"/>
              </a:rPr>
              <a:t>、</a:t>
            </a:r>
            <a:r>
              <a:rPr lang="zh-CN" altLang="en-US" sz="900" dirty="0">
                <a:solidFill>
                  <a:schemeClr val="tx1">
                    <a:lumMod val="95000"/>
                    <a:lumOff val="5000"/>
                  </a:schemeClr>
                </a:solidFill>
                <a:latin typeface="微软雅黑" charset="0"/>
                <a:ea typeface="微软雅黑" charset="0"/>
                <a:cs typeface="微软雅黑" charset="0"/>
                <a:sym typeface="+mn-ea"/>
              </a:rPr>
              <a:t>同住人信息等</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defTabSz="914400" eaLnBrk="1" fontAlgn="auto" hangingPunct="1">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用户工单数据</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维修</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品质</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客诉工单</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defTabSz="914400" eaLnBrk="1" fontAlgn="auto" hangingPunct="1">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会员积分信息：会员</a:t>
            </a:r>
            <a:r>
              <a:rPr lang="en-US" altLang="zh-CN" sz="900" dirty="0">
                <a:solidFill>
                  <a:schemeClr val="tx1">
                    <a:lumMod val="95000"/>
                    <a:lumOff val="5000"/>
                  </a:schemeClr>
                </a:solidFill>
                <a:latin typeface="微软雅黑" charset="0"/>
                <a:ea typeface="微软雅黑" charset="0"/>
                <a:cs typeface="微软雅黑" charset="0"/>
              </a:rPr>
              <a:t>ID</a:t>
            </a:r>
            <a:r>
              <a:rPr lang="zh-CN" altLang="en-US" sz="900" dirty="0">
                <a:solidFill>
                  <a:schemeClr val="tx1">
                    <a:lumMod val="95000"/>
                    <a:lumOff val="5000"/>
                  </a:schemeClr>
                </a:solidFill>
                <a:latin typeface="微软雅黑" charset="0"/>
                <a:ea typeface="微软雅黑" charset="0"/>
                <a:cs typeface="微软雅黑" charset="0"/>
              </a:rPr>
              <a:t>、等级、成长值、权益</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积分数据及其他基础信息</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defTabSz="914400" eaLnBrk="1" fontAlgn="auto" hangingPunct="1">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用户行为包含：前端业务行为、积分兑换、参与活动等</a:t>
            </a:r>
            <a:endParaRPr lang="zh-CN" altLang="en-US" sz="900" dirty="0">
              <a:solidFill>
                <a:schemeClr val="tx1">
                  <a:lumMod val="95000"/>
                  <a:lumOff val="5000"/>
                </a:schemeClr>
              </a:solidFill>
              <a:latin typeface="微软雅黑" charset="0"/>
              <a:ea typeface="微软雅黑" charset="0"/>
              <a:cs typeface="微软雅黑" charset="0"/>
            </a:endParaRPr>
          </a:p>
        </p:txBody>
      </p:sp>
      <p:sp>
        <p:nvSpPr>
          <p:cNvPr id="141" name="圆角矩形 140"/>
          <p:cNvSpPr/>
          <p:nvPr>
            <p:custDataLst>
              <p:tags r:id="rId77"/>
            </p:custDataLst>
          </p:nvPr>
        </p:nvSpPr>
        <p:spPr>
          <a:xfrm>
            <a:off x="10094595" y="3268345"/>
            <a:ext cx="1447165" cy="407670"/>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en-US" altLang="zh-CN" sz="1000" b="1" dirty="0">
                <a:solidFill>
                  <a:schemeClr val="bg1"/>
                </a:solidFill>
                <a:latin typeface="微软雅黑" charset="0"/>
                <a:ea typeface="微软雅黑" charset="0"/>
                <a:sym typeface="+mn-ea"/>
              </a:rPr>
              <a:t>12345</a:t>
            </a:r>
            <a:r>
              <a:rPr kumimoji="1" lang="zh-CN" altLang="en-US" sz="1000" b="1" dirty="0">
                <a:solidFill>
                  <a:schemeClr val="bg1"/>
                </a:solidFill>
                <a:latin typeface="微软雅黑" charset="0"/>
                <a:ea typeface="微软雅黑" charset="0"/>
                <a:sym typeface="+mn-ea"/>
              </a:rPr>
              <a:t>政务</a:t>
            </a:r>
            <a:endParaRPr kumimoji="1" lang="zh-CN" altLang="en-US" sz="1000" b="1" dirty="0">
              <a:solidFill>
                <a:schemeClr val="bg1"/>
              </a:solidFill>
              <a:latin typeface="微软雅黑" charset="0"/>
              <a:ea typeface="微软雅黑" charset="0"/>
              <a:sym typeface="+mn-ea"/>
            </a:endParaRPr>
          </a:p>
        </p:txBody>
      </p:sp>
      <p:cxnSp>
        <p:nvCxnSpPr>
          <p:cNvPr id="143" name="直接箭头连接符 189"/>
          <p:cNvCxnSpPr/>
          <p:nvPr>
            <p:custDataLst>
              <p:tags r:id="rId78"/>
            </p:custDataLst>
          </p:nvPr>
        </p:nvCxnSpPr>
        <p:spPr>
          <a:xfrm flipH="1">
            <a:off x="8455025" y="3474720"/>
            <a:ext cx="1628140" cy="0"/>
          </a:xfrm>
          <a:prstGeom prst="straightConnector1">
            <a:avLst/>
          </a:prstGeom>
          <a:ln w="12700" cap="flat" cmpd="sng" algn="ctr">
            <a:solidFill>
              <a:srgbClr val="0070C0"/>
            </a:solidFill>
            <a:prstDash val="dash"/>
            <a:miter lim="800000"/>
            <a:headEnd type="none" w="med" len="med"/>
            <a:tailEnd type="triangle" w="med" len="med"/>
          </a:ln>
        </p:spPr>
        <p:style>
          <a:lnRef idx="0">
            <a:schemeClr val="accent1"/>
          </a:lnRef>
          <a:fillRef idx="0">
            <a:srgbClr val="FFFFFF"/>
          </a:fillRef>
          <a:effectRef idx="0">
            <a:srgbClr val="FFFFFF"/>
          </a:effectRef>
          <a:fontRef idx="minor">
            <a:schemeClr val="tx1"/>
          </a:fontRef>
        </p:style>
      </p:cxnSp>
      <p:sp>
        <p:nvSpPr>
          <p:cNvPr id="144" name="文本框 143"/>
          <p:cNvSpPr txBox="1"/>
          <p:nvPr>
            <p:custDataLst>
              <p:tags r:id="rId79"/>
            </p:custDataLst>
          </p:nvPr>
        </p:nvSpPr>
        <p:spPr>
          <a:xfrm>
            <a:off x="8768080" y="3364230"/>
            <a:ext cx="956310" cy="225425"/>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客户投诉数据</a:t>
            </a:r>
            <a:endParaRPr lang="zh-CN" altLang="en-US" sz="800" dirty="0">
              <a:solidFill>
                <a:schemeClr val="tx1"/>
              </a:solidFill>
              <a:latin typeface="微软雅黑" charset="0"/>
              <a:ea typeface="微软雅黑" charset="0"/>
              <a:sym typeface="+mn-ea"/>
            </a:endParaRPr>
          </a:p>
        </p:txBody>
      </p:sp>
      <p:sp>
        <p:nvSpPr>
          <p:cNvPr id="154" name="圆角矩形 153"/>
          <p:cNvSpPr/>
          <p:nvPr>
            <p:custDataLst>
              <p:tags r:id="rId80"/>
            </p:custDataLst>
          </p:nvPr>
        </p:nvSpPr>
        <p:spPr>
          <a:xfrm>
            <a:off x="974725" y="5532755"/>
            <a:ext cx="1248410" cy="291465"/>
          </a:xfrm>
          <a:prstGeom prst="roundRect">
            <a:avLst>
              <a:gd name="adj" fmla="val 0"/>
            </a:avLst>
          </a:prstGeom>
          <a:solidFill>
            <a:srgbClr val="0086D1"/>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kumimoji="1" lang="zh-CN" altLang="en-US" sz="1000" b="1" dirty="0">
                <a:solidFill>
                  <a:schemeClr val="bg1"/>
                </a:solidFill>
                <a:latin typeface="微软雅黑" charset="0"/>
                <a:ea typeface="微软雅黑" charset="0"/>
                <a:sym typeface="+mn-ea"/>
              </a:rPr>
              <a:t>财务系统</a:t>
            </a:r>
            <a:endParaRPr kumimoji="1" lang="zh-CN" altLang="en-US" sz="1000" b="1" dirty="0">
              <a:solidFill>
                <a:schemeClr val="bg1"/>
              </a:solidFill>
              <a:latin typeface="微软雅黑" charset="0"/>
              <a:ea typeface="微软雅黑" charset="0"/>
              <a:sym typeface="+mn-ea"/>
            </a:endParaRPr>
          </a:p>
        </p:txBody>
      </p:sp>
      <p:cxnSp>
        <p:nvCxnSpPr>
          <p:cNvPr id="158" name="直接箭头连接符 189"/>
          <p:cNvCxnSpPr/>
          <p:nvPr>
            <p:custDataLst>
              <p:tags r:id="rId81"/>
            </p:custDataLst>
          </p:nvPr>
        </p:nvCxnSpPr>
        <p:spPr>
          <a:xfrm flipH="1">
            <a:off x="2231493" y="5691985"/>
            <a:ext cx="1628047"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2" name="文本框 161"/>
          <p:cNvSpPr txBox="1"/>
          <p:nvPr>
            <p:custDataLst>
              <p:tags r:id="rId82"/>
            </p:custDataLst>
          </p:nvPr>
        </p:nvSpPr>
        <p:spPr>
          <a:xfrm>
            <a:off x="2551110" y="5582553"/>
            <a:ext cx="988190" cy="213995"/>
          </a:xfrm>
          <a:prstGeom prst="rect">
            <a:avLst/>
          </a:prstGeom>
          <a:solidFill>
            <a:schemeClr val="bg1"/>
          </a:solidFill>
          <a:ln>
            <a:solidFill>
              <a:srgbClr val="0070C0"/>
            </a:solidFill>
            <a:prstDash val="dash"/>
          </a:ln>
        </p:spPr>
        <p:txBody>
          <a:bodyPr wrap="square" rtlCol="0">
            <a:spAutoFit/>
          </a:bodyPr>
          <a:lstStyle/>
          <a:p>
            <a:pPr algn="ctr" defTabSz="914400" eaLnBrk="1" fontAlgn="auto" hangingPunct="1"/>
            <a:r>
              <a:rPr lang="zh-CN" altLang="en-US" sz="800" dirty="0">
                <a:solidFill>
                  <a:schemeClr val="tx1"/>
                </a:solidFill>
                <a:latin typeface="微软雅黑" charset="0"/>
                <a:ea typeface="微软雅黑" charset="0"/>
                <a:sym typeface="+mn-ea"/>
              </a:rPr>
              <a:t>积分清结算数据</a:t>
            </a:r>
            <a:endParaRPr lang="zh-CN" altLang="en-US" sz="800" dirty="0">
              <a:solidFill>
                <a:schemeClr val="tx1"/>
              </a:solidFill>
              <a:latin typeface="微软雅黑" charset="0"/>
              <a:ea typeface="微软雅黑" charset="0"/>
              <a:sym typeface="+mn-ea"/>
            </a:endParaRPr>
          </a:p>
        </p:txBody>
      </p:sp>
      <p:sp>
        <p:nvSpPr>
          <p:cNvPr id="29" name="圆角矩形 28"/>
          <p:cNvSpPr/>
          <p:nvPr>
            <p:custDataLst>
              <p:tags r:id="rId83"/>
            </p:custDataLst>
          </p:nvPr>
        </p:nvSpPr>
        <p:spPr>
          <a:xfrm>
            <a:off x="10071735" y="5992495"/>
            <a:ext cx="1474470" cy="539750"/>
          </a:xfrm>
          <a:prstGeom prst="roundRect">
            <a:avLst>
              <a:gd name="adj" fmla="val 0"/>
            </a:avLst>
          </a:prstGeom>
          <a:solidFill>
            <a:srgbClr val="FF8439"/>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eaLnBrk="1" fontAlgn="auto" hangingPunct="1"/>
            <a:r>
              <a:rPr lang="zh-CN" altLang="en-US" sz="1000" b="1" dirty="0">
                <a:solidFill>
                  <a:schemeClr val="bg1"/>
                </a:solidFill>
                <a:latin typeface="微软雅黑" charset="0"/>
                <a:ea typeface="微软雅黑" charset="0"/>
                <a:sym typeface="+mn-ea"/>
              </a:rPr>
              <a:t>外部营销系统</a:t>
            </a:r>
            <a:endParaRPr lang="zh-CN" altLang="en-US" sz="1000" b="1" dirty="0">
              <a:solidFill>
                <a:schemeClr val="bg1"/>
              </a:solidFill>
              <a:latin typeface="微软雅黑" charset="0"/>
              <a:ea typeface="微软雅黑" charset="0"/>
              <a:sym typeface="+mn-ea"/>
            </a:endParaRPr>
          </a:p>
        </p:txBody>
      </p:sp>
      <p:cxnSp>
        <p:nvCxnSpPr>
          <p:cNvPr id="31" name="直接箭头连接符 189"/>
          <p:cNvCxnSpPr/>
          <p:nvPr>
            <p:custDataLst>
              <p:tags r:id="rId84"/>
            </p:custDataLst>
          </p:nvPr>
        </p:nvCxnSpPr>
        <p:spPr>
          <a:xfrm flipV="1">
            <a:off x="8300720" y="5763260"/>
            <a:ext cx="0" cy="501015"/>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cxnSp>
        <p:nvCxnSpPr>
          <p:cNvPr id="32" name="直接箭头连接符 189"/>
          <p:cNvCxnSpPr/>
          <p:nvPr>
            <p:custDataLst>
              <p:tags r:id="rId85"/>
            </p:custDataLst>
          </p:nvPr>
        </p:nvCxnSpPr>
        <p:spPr>
          <a:xfrm flipH="1">
            <a:off x="8300720" y="6264275"/>
            <a:ext cx="1710055"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30" name="文本框 29"/>
          <p:cNvSpPr txBox="1"/>
          <p:nvPr>
            <p:custDataLst>
              <p:tags r:id="rId86"/>
            </p:custDataLst>
          </p:nvPr>
        </p:nvSpPr>
        <p:spPr>
          <a:xfrm>
            <a:off x="8804275" y="6010275"/>
            <a:ext cx="988060" cy="440690"/>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判断用户满足特定状态</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画像</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a:t>
            </a:r>
            <a:endParaRPr lang="zh-CN" altLang="en-US" sz="800" dirty="0">
              <a:solidFill>
                <a:schemeClr val="tx1"/>
              </a:solidFill>
              <a:latin typeface="微软雅黑" charset="0"/>
              <a:ea typeface="微软雅黑" charset="0"/>
              <a:sym typeface="+mn-ea"/>
            </a:endParaRPr>
          </a:p>
        </p:txBody>
      </p:sp>
      <p:cxnSp>
        <p:nvCxnSpPr>
          <p:cNvPr id="34" name="直接箭头连接符 189"/>
          <p:cNvCxnSpPr/>
          <p:nvPr>
            <p:custDataLst>
              <p:tags r:id="rId87"/>
            </p:custDataLst>
          </p:nvPr>
        </p:nvCxnSpPr>
        <p:spPr>
          <a:xfrm flipH="1">
            <a:off x="2091945" y="2348865"/>
            <a:ext cx="1844040" cy="0"/>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sp>
        <p:nvSpPr>
          <p:cNvPr id="33" name="文本框 32"/>
          <p:cNvSpPr txBox="1"/>
          <p:nvPr>
            <p:custDataLst>
              <p:tags r:id="rId88"/>
            </p:custDataLst>
          </p:nvPr>
        </p:nvSpPr>
        <p:spPr>
          <a:xfrm>
            <a:off x="2528570" y="2253615"/>
            <a:ext cx="988060" cy="213995"/>
          </a:xfrm>
          <a:prstGeom prst="rect">
            <a:avLst/>
          </a:prstGeom>
          <a:solidFill>
            <a:schemeClr val="bg1"/>
          </a:solidFill>
          <a:ln>
            <a:solidFill>
              <a:srgbClr val="0070C0"/>
            </a:solidFill>
            <a:prstDash val="dash"/>
          </a:ln>
        </p:spPr>
        <p:txBody>
          <a:bodyPr wrap="square" rtlCol="0">
            <a:noAutofit/>
          </a:bodyPr>
          <a:lstStyle/>
          <a:p>
            <a:pPr algn="ctr" defTabSz="914400" eaLnBrk="1" fontAlgn="auto" hangingPunct="1"/>
            <a:r>
              <a:rPr lang="zh-CN" altLang="en-US" sz="800" dirty="0">
                <a:solidFill>
                  <a:schemeClr val="tx1"/>
                </a:solidFill>
                <a:latin typeface="微软雅黑" charset="0"/>
                <a:ea typeface="微软雅黑" charset="0"/>
                <a:sym typeface="+mn-ea"/>
              </a:rPr>
              <a:t>创建工单</a:t>
            </a:r>
            <a:endParaRPr lang="zh-CN" altLang="en-US" sz="800" dirty="0">
              <a:solidFill>
                <a:schemeClr val="tx1"/>
              </a:solidFill>
              <a:latin typeface="微软雅黑" charset="0"/>
              <a:ea typeface="微软雅黑" charset="0"/>
              <a:sym typeface="+mn-ea"/>
            </a:endParaRPr>
          </a:p>
        </p:txBody>
      </p:sp>
      <p:cxnSp>
        <p:nvCxnSpPr>
          <p:cNvPr id="35" name="直接箭头连接符 189"/>
          <p:cNvCxnSpPr/>
          <p:nvPr>
            <p:custDataLst>
              <p:tags r:id="rId89"/>
            </p:custDataLst>
          </p:nvPr>
        </p:nvCxnSpPr>
        <p:spPr>
          <a:xfrm>
            <a:off x="2091055" y="2349500"/>
            <a:ext cx="0" cy="28829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cxnSp>
        <p:nvCxnSpPr>
          <p:cNvPr id="36" name="直接箭头连接符 189"/>
          <p:cNvCxnSpPr/>
          <p:nvPr>
            <p:custDataLst>
              <p:tags r:id="rId90"/>
            </p:custDataLst>
          </p:nvPr>
        </p:nvCxnSpPr>
        <p:spPr>
          <a:xfrm flipV="1">
            <a:off x="3980815" y="2348230"/>
            <a:ext cx="0" cy="225425"/>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sp>
        <p:nvSpPr>
          <p:cNvPr id="27" name="矩形 26"/>
          <p:cNvSpPr/>
          <p:nvPr/>
        </p:nvSpPr>
        <p:spPr>
          <a:xfrm>
            <a:off x="10146030" y="459105"/>
            <a:ext cx="1463040" cy="399415"/>
          </a:xfrm>
          <a:prstGeom prst="rect">
            <a:avLst/>
          </a:prstGeom>
          <a:solidFill>
            <a:srgbClr val="FF8439">
              <a:alpha val="5000"/>
            </a:srgbClr>
          </a:solidFill>
          <a:ln>
            <a:solidFill>
              <a:srgbClr val="FF0000">
                <a:alpha val="30000"/>
              </a:srgb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914400" eaLnBrk="1" fontAlgn="auto" hangingPunct="1">
              <a:spcAft>
                <a:spcPts val="600"/>
              </a:spcAft>
            </a:pPr>
            <a:r>
              <a:rPr lang="zh-CN" altLang="en-US" sz="1100" b="1" dirty="0">
                <a:solidFill>
                  <a:srgbClr val="FF8439"/>
                </a:solidFill>
                <a:latin typeface="微软雅黑" panose="020B0503020204020204" pitchFamily="34" charset="-122"/>
                <a:ea typeface="微软雅黑" panose="020B0503020204020204" pitchFamily="34" charset="-122"/>
              </a:rPr>
              <a:t>本项目范围</a:t>
            </a:r>
            <a:endParaRPr lang="zh-CN" altLang="en-US" sz="1100" b="1" dirty="0">
              <a:solidFill>
                <a:srgbClr val="FF843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400</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模块业务架构图</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3" name="图片 2" descr="1"/>
          <p:cNvPicPr>
            <a:picLocks noChangeAspect="1"/>
          </p:cNvPicPr>
          <p:nvPr/>
        </p:nvPicPr>
        <p:blipFill>
          <a:blip r:embed="rId1"/>
          <a:stretch>
            <a:fillRect/>
          </a:stretch>
        </p:blipFill>
        <p:spPr>
          <a:xfrm>
            <a:off x="525145" y="1042670"/>
            <a:ext cx="11528425" cy="56940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12345</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调研以及结果共识</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eaLnBrk="0" fontAlgn="base"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4" name="图片 3" descr="8a7ef264-b09c-4a9d-88d1-f0eb871d3373"/>
          <p:cNvPicPr>
            <a:picLocks noChangeAspect="1"/>
          </p:cNvPicPr>
          <p:nvPr/>
        </p:nvPicPr>
        <p:blipFill>
          <a:blip r:embed="rId1"/>
          <a:srcRect t="13241"/>
          <a:stretch>
            <a:fillRect/>
          </a:stretch>
        </p:blipFill>
        <p:spPr>
          <a:xfrm>
            <a:off x="3889375" y="1049655"/>
            <a:ext cx="8027670" cy="5574030"/>
          </a:xfrm>
          <a:prstGeom prst="rect">
            <a:avLst/>
          </a:prstGeom>
        </p:spPr>
      </p:pic>
      <p:pic>
        <p:nvPicPr>
          <p:cNvPr id="6" name="图片 5" descr="wecom-temp-2065995-f22b09241b88a30e388f3b2b12b2e10e"/>
          <p:cNvPicPr>
            <a:picLocks noChangeAspect="1"/>
          </p:cNvPicPr>
          <p:nvPr/>
        </p:nvPicPr>
        <p:blipFill>
          <a:blip r:embed="rId2"/>
          <a:stretch>
            <a:fillRect/>
          </a:stretch>
        </p:blipFill>
        <p:spPr>
          <a:xfrm>
            <a:off x="369570" y="1311275"/>
            <a:ext cx="3335020" cy="2501900"/>
          </a:xfrm>
          <a:prstGeom prst="rect">
            <a:avLst/>
          </a:prstGeom>
        </p:spPr>
      </p:pic>
      <p:pic>
        <p:nvPicPr>
          <p:cNvPr id="7" name="图片 6" descr="wecom-temp-272850-88a9560d2c89ede19b330fc9bf837c9c"/>
          <p:cNvPicPr>
            <a:picLocks noChangeAspect="1"/>
          </p:cNvPicPr>
          <p:nvPr/>
        </p:nvPicPr>
        <p:blipFill>
          <a:blip r:embed="rId3"/>
          <a:stretch>
            <a:fillRect/>
          </a:stretch>
        </p:blipFill>
        <p:spPr>
          <a:xfrm>
            <a:off x="369570" y="3996690"/>
            <a:ext cx="3335655" cy="25019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智能知识库创建</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2" name="图片 1" descr="已生成图像 1 (8)"/>
          <p:cNvPicPr>
            <a:picLocks noChangeAspect="1"/>
          </p:cNvPicPr>
          <p:nvPr/>
        </p:nvPicPr>
        <p:blipFill>
          <a:blip r:embed="rId1"/>
          <a:srcRect t="15750" b="2352"/>
          <a:stretch>
            <a:fillRect/>
          </a:stretch>
        </p:blipFill>
        <p:spPr>
          <a:xfrm>
            <a:off x="0" y="1197610"/>
            <a:ext cx="12185015" cy="56165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投诉预警与处置闭环机制</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5" name="图片 4" descr="已生成图像 1 (1)"/>
          <p:cNvPicPr>
            <a:picLocks noChangeAspect="1"/>
          </p:cNvPicPr>
          <p:nvPr/>
        </p:nvPicPr>
        <p:blipFill>
          <a:blip r:embed="rId1"/>
          <a:srcRect t="10332"/>
          <a:stretch>
            <a:fillRect/>
          </a:stretch>
        </p:blipFill>
        <p:spPr>
          <a:xfrm>
            <a:off x="626110" y="1053465"/>
            <a:ext cx="11203940" cy="56540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noProof="0" dirty="0">
                <a:ln>
                  <a:noFill/>
                </a:ln>
                <a:solidFill>
                  <a:schemeClr val="tx1"/>
                </a:solidFill>
                <a:effectLst/>
                <a:uLnTx/>
                <a:uFillTx/>
                <a:latin typeface="微软雅黑" charset="0"/>
                <a:ea typeface="微软雅黑" charset="0"/>
                <a:cs typeface="微软雅黑" charset="0"/>
                <a:sym typeface="+mn-ea"/>
              </a:rPr>
              <a:t>会员积分模块业务架构图</a:t>
            </a:r>
            <a:endParaRPr lang="zh-CN" altLang="en-US" sz="2800" b="1" dirty="0">
              <a:solidFill>
                <a:schemeClr val="tx1"/>
              </a:solidFill>
              <a:latin typeface="微软雅黑" charset="0"/>
              <a:ea typeface="微软雅黑" charset="0"/>
              <a:cs typeface="微软雅黑" charset="0"/>
            </a:endParaRPr>
          </a:p>
          <a:p>
            <a:r>
              <a:rPr lang="en-US" altLang="zh-CN" sz="2800" b="1" dirty="0">
                <a:solidFill>
                  <a:schemeClr val="tx1"/>
                </a:solidFill>
                <a:latin typeface="微软雅黑" charset="0"/>
                <a:ea typeface="微软雅黑" charset="0"/>
                <a:cs typeface="微软雅黑" charset="0"/>
                <a:sym typeface="+mn-ea"/>
              </a:rPr>
              <a:t> </a:t>
            </a:r>
            <a:endParaRPr lang="en-US" altLang="zh-CN" sz="2800" b="1" dirty="0">
              <a:solidFill>
                <a:schemeClr val="tx1"/>
              </a:solidFill>
              <a:latin typeface="微软雅黑" charset="0"/>
              <a:ea typeface="微软雅黑" charset="0"/>
              <a:cs typeface="微软雅黑" charset="0"/>
              <a:sym typeface="+mn-ea"/>
            </a:endParaRPr>
          </a:p>
        </p:txBody>
      </p:sp>
      <p:sp>
        <p:nvSpPr>
          <p:cNvPr id="2" name="矩形 1"/>
          <p:cNvSpPr>
            <a:spLocks noGrp="1"/>
          </p:cNvSpPr>
          <p:nvPr/>
        </p:nvSpPr>
        <p:spPr>
          <a:xfrm>
            <a:off x="679450" y="908050"/>
            <a:ext cx="8096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647181"/>
                </a:solidFill>
                <a:latin typeface="PingFang SC" panose="020B0400000000000000" charset="-122"/>
                <a:ea typeface="PingFang SC" panose="020B0400000000000000" charset="-122"/>
                <a:cs typeface="PingFang SC" panose="020B0400000000000000" charset="-122"/>
              </a:defRPr>
            </a:pPr>
            <a:r>
              <a:rPr sz="1065" b="0">
                <a:solidFill>
                  <a:srgbClr val="647181"/>
                </a:solidFill>
                <a:latin typeface="PingFang SC" panose="020B0400000000000000" charset="-122"/>
                <a:ea typeface="PingFang SC" panose="020B0400000000000000" charset="-122"/>
                <a:cs typeface="PingFang SC" panose="020B0400000000000000" charset="-122"/>
              </a:rPr>
              <a:t>以会员积分管理为统一中心，承担类似“中央银行”的顶层管控职能；各业务系统按本地规则发放、核销并回传闭环数据。</a:t>
            </a:r>
            <a:endParaRPr sz="106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9" name="圆角矩形 8"/>
          <p:cNvSpPr>
            <a:spLocks noGrp="1"/>
          </p:cNvSpPr>
          <p:nvPr/>
        </p:nvSpPr>
        <p:spPr>
          <a:xfrm>
            <a:off x="457200" y="1384300"/>
            <a:ext cx="11277600" cy="3695700"/>
          </a:xfrm>
          <a:prstGeom prst="roundRect">
            <a:avLst>
              <a:gd name="adj" fmla="val 2062"/>
            </a:avLst>
          </a:prstGeom>
          <a:solidFill>
            <a:srgbClr val="FFFFFF"/>
          </a:solidFill>
          <a:ln w="10478">
            <a:solidFill>
              <a:srgbClr val="D7DEE8"/>
            </a:solidFill>
          </a:ln>
        </p:spPr>
      </p:sp>
      <p:sp>
        <p:nvSpPr>
          <p:cNvPr id="10" name="圆角矩形 9"/>
          <p:cNvSpPr>
            <a:spLocks noGrp="1"/>
          </p:cNvSpPr>
          <p:nvPr/>
        </p:nvSpPr>
        <p:spPr>
          <a:xfrm>
            <a:off x="3314700" y="1593850"/>
            <a:ext cx="5562600" cy="2018030"/>
          </a:xfrm>
          <a:prstGeom prst="roundRect">
            <a:avLst>
              <a:gd name="adj" fmla="val 4040"/>
            </a:avLst>
          </a:prstGeom>
          <a:solidFill>
            <a:srgbClr val="EAF1FF"/>
          </a:solidFill>
          <a:ln w="14288">
            <a:solidFill>
              <a:srgbClr val="0088D1"/>
            </a:solidFill>
          </a:ln>
        </p:spPr>
      </p:sp>
      <p:sp>
        <p:nvSpPr>
          <p:cNvPr id="11" name="矩形 10"/>
          <p:cNvSpPr>
            <a:spLocks noGrp="1"/>
          </p:cNvSpPr>
          <p:nvPr/>
        </p:nvSpPr>
        <p:spPr>
          <a:xfrm>
            <a:off x="3619500" y="1803400"/>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0086D1"/>
                </a:solidFill>
                <a:latin typeface="PingFang SC" panose="020B0400000000000000" charset="-122"/>
                <a:ea typeface="PingFang SC" panose="020B0400000000000000" charset="-122"/>
                <a:cs typeface="PingFang SC" panose="020B0400000000000000" charset="-122"/>
              </a:rPr>
              <a:t>会员积分管理中心（中央银行式统一管控）</a:t>
            </a:r>
            <a:endParaRPr sz="1650" b="1">
              <a:solidFill>
                <a:srgbClr val="0086D1"/>
              </a:solidFill>
              <a:latin typeface="PingFang SC" panose="020B0400000000000000" charset="-122"/>
              <a:ea typeface="PingFang SC" panose="020B0400000000000000" charset="-122"/>
              <a:cs typeface="PingFang SC" panose="020B0400000000000000" charset="-122"/>
            </a:endParaRPr>
          </a:p>
        </p:txBody>
      </p:sp>
      <p:sp>
        <p:nvSpPr>
          <p:cNvPr id="12" name="矩形 11"/>
          <p:cNvSpPr>
            <a:spLocks noGrp="1"/>
          </p:cNvSpPr>
          <p:nvPr/>
        </p:nvSpPr>
        <p:spPr>
          <a:xfrm>
            <a:off x="3810000" y="2098675"/>
            <a:ext cx="4572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65" b="0">
                <a:solidFill>
                  <a:srgbClr val="647181"/>
                </a:solidFill>
                <a:latin typeface="PingFang SC" panose="020B0400000000000000" charset="-122"/>
                <a:ea typeface="PingFang SC" panose="020B0400000000000000" charset="-122"/>
                <a:cs typeface="PingFang SC" panose="020B0400000000000000" charset="-122"/>
              </a:defRPr>
            </a:pPr>
            <a:r>
              <a:rPr sz="865" b="0">
                <a:solidFill>
                  <a:srgbClr val="647181"/>
                </a:solidFill>
                <a:latin typeface="PingFang SC" panose="020B0400000000000000" charset="-122"/>
                <a:ea typeface="PingFang SC" panose="020B0400000000000000" charset="-122"/>
                <a:cs typeface="PingFang SC" panose="020B0400000000000000" charset="-122"/>
              </a:rPr>
              <a:t>统一积分总额、账户、权益、券、清结算与风控监控</a:t>
            </a:r>
            <a:endParaRPr sz="86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3" name="圆角矩形 12"/>
          <p:cNvSpPr>
            <a:spLocks noGrp="1"/>
          </p:cNvSpPr>
          <p:nvPr/>
        </p:nvSpPr>
        <p:spPr>
          <a:xfrm>
            <a:off x="3600450" y="2413000"/>
            <a:ext cx="1504950" cy="533400"/>
          </a:xfrm>
          <a:prstGeom prst="roundRect">
            <a:avLst>
              <a:gd name="adj" fmla="val 14286"/>
            </a:avLst>
          </a:prstGeom>
          <a:solidFill>
            <a:srgbClr val="FFFFFF"/>
          </a:solidFill>
          <a:ln w="9525">
            <a:solidFill>
              <a:srgbClr val="0086D1"/>
            </a:solidFill>
          </a:ln>
        </p:spPr>
      </p:sp>
      <p:sp>
        <p:nvSpPr>
          <p:cNvPr id="14" name="矩形 13"/>
          <p:cNvSpPr>
            <a:spLocks noGrp="1"/>
          </p:cNvSpPr>
          <p:nvPr/>
        </p:nvSpPr>
        <p:spPr>
          <a:xfrm>
            <a:off x="3695700" y="24987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246BFE"/>
                </a:solidFill>
                <a:latin typeface="PingFang SC" panose="020B0400000000000000" charset="-122"/>
                <a:ea typeface="PingFang SC" panose="020B0400000000000000" charset="-122"/>
                <a:cs typeface="PingFang SC" panose="020B0400000000000000" charset="-122"/>
              </a:defRPr>
            </a:pPr>
            <a:r>
              <a:rPr sz="990" b="1">
                <a:solidFill>
                  <a:srgbClr val="0086D1"/>
                </a:solidFill>
                <a:latin typeface="PingFang SC" panose="020B0400000000000000" charset="-122"/>
                <a:ea typeface="PingFang SC" panose="020B0400000000000000" charset="-122"/>
                <a:cs typeface="PingFang SC" panose="020B0400000000000000" charset="-122"/>
              </a:rPr>
              <a:t>会员管理</a:t>
            </a:r>
            <a:endParaRPr sz="990" b="1">
              <a:solidFill>
                <a:srgbClr val="0086D1"/>
              </a:solidFill>
              <a:latin typeface="PingFang SC" panose="020B0400000000000000" charset="-122"/>
              <a:ea typeface="PingFang SC" panose="020B0400000000000000" charset="-122"/>
              <a:cs typeface="PingFang SC" panose="020B0400000000000000" charset="-122"/>
            </a:endParaRPr>
          </a:p>
        </p:txBody>
      </p:sp>
      <p:sp>
        <p:nvSpPr>
          <p:cNvPr id="15" name="矩形 14"/>
          <p:cNvSpPr>
            <a:spLocks noGrp="1"/>
          </p:cNvSpPr>
          <p:nvPr/>
        </p:nvSpPr>
        <p:spPr>
          <a:xfrm>
            <a:off x="3695700" y="26987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会员档案 / 等级</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6" name="圆角矩形 15"/>
          <p:cNvSpPr>
            <a:spLocks noGrp="1"/>
          </p:cNvSpPr>
          <p:nvPr/>
        </p:nvSpPr>
        <p:spPr>
          <a:xfrm>
            <a:off x="5219700" y="2413000"/>
            <a:ext cx="1504950" cy="533400"/>
          </a:xfrm>
          <a:prstGeom prst="roundRect">
            <a:avLst>
              <a:gd name="adj" fmla="val 14286"/>
            </a:avLst>
          </a:prstGeom>
          <a:solidFill>
            <a:srgbClr val="FFFFFF"/>
          </a:solidFill>
          <a:ln w="9525">
            <a:solidFill>
              <a:srgbClr val="0086D1"/>
            </a:solidFill>
          </a:ln>
        </p:spPr>
      </p:sp>
      <p:sp>
        <p:nvSpPr>
          <p:cNvPr id="17" name="矩形 16"/>
          <p:cNvSpPr>
            <a:spLocks noGrp="1"/>
          </p:cNvSpPr>
          <p:nvPr/>
        </p:nvSpPr>
        <p:spPr>
          <a:xfrm>
            <a:off x="5314950" y="24987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246BFE"/>
                </a:solidFill>
                <a:latin typeface="PingFang SC" panose="020B0400000000000000" charset="-122"/>
                <a:ea typeface="PingFang SC" panose="020B0400000000000000" charset="-122"/>
                <a:cs typeface="PingFang SC" panose="020B0400000000000000" charset="-122"/>
              </a:defRPr>
            </a:pPr>
            <a:r>
              <a:rPr sz="990" b="1">
                <a:solidFill>
                  <a:srgbClr val="0086D1"/>
                </a:solidFill>
                <a:latin typeface="PingFang SC" panose="020B0400000000000000" charset="-122"/>
                <a:ea typeface="PingFang SC" panose="020B0400000000000000" charset="-122"/>
                <a:cs typeface="PingFang SC" panose="020B0400000000000000" charset="-122"/>
              </a:rPr>
              <a:t>积分中心</a:t>
            </a:r>
            <a:endParaRPr sz="990" b="1">
              <a:solidFill>
                <a:srgbClr val="0086D1"/>
              </a:solidFill>
              <a:latin typeface="PingFang SC" panose="020B0400000000000000" charset="-122"/>
              <a:ea typeface="PingFang SC" panose="020B0400000000000000" charset="-122"/>
              <a:cs typeface="PingFang SC" panose="020B0400000000000000" charset="-122"/>
            </a:endParaRPr>
          </a:p>
        </p:txBody>
      </p:sp>
      <p:sp>
        <p:nvSpPr>
          <p:cNvPr id="18" name="矩形 17"/>
          <p:cNvSpPr>
            <a:spLocks noGrp="1"/>
          </p:cNvSpPr>
          <p:nvPr/>
        </p:nvSpPr>
        <p:spPr>
          <a:xfrm>
            <a:off x="5314950" y="26987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总额发放 / 核销</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9" name="圆角矩形 18"/>
          <p:cNvSpPr>
            <a:spLocks noGrp="1"/>
          </p:cNvSpPr>
          <p:nvPr/>
        </p:nvSpPr>
        <p:spPr>
          <a:xfrm>
            <a:off x="6838950" y="2413000"/>
            <a:ext cx="1504950" cy="533400"/>
          </a:xfrm>
          <a:prstGeom prst="roundRect">
            <a:avLst>
              <a:gd name="adj" fmla="val 14286"/>
            </a:avLst>
          </a:prstGeom>
          <a:solidFill>
            <a:srgbClr val="FFFFFF"/>
          </a:solidFill>
          <a:ln w="9525">
            <a:solidFill>
              <a:srgbClr val="0086D1"/>
            </a:solidFill>
          </a:ln>
        </p:spPr>
      </p:sp>
      <p:sp>
        <p:nvSpPr>
          <p:cNvPr id="20" name="矩形 19"/>
          <p:cNvSpPr>
            <a:spLocks noGrp="1"/>
          </p:cNvSpPr>
          <p:nvPr/>
        </p:nvSpPr>
        <p:spPr>
          <a:xfrm>
            <a:off x="6934200" y="24987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246BFE"/>
                </a:solidFill>
                <a:latin typeface="PingFang SC" panose="020B0400000000000000" charset="-122"/>
                <a:ea typeface="PingFang SC" panose="020B0400000000000000" charset="-122"/>
                <a:cs typeface="PingFang SC" panose="020B0400000000000000" charset="-122"/>
              </a:defRPr>
            </a:pPr>
            <a:r>
              <a:rPr sz="990" b="1">
                <a:solidFill>
                  <a:srgbClr val="0086D1"/>
                </a:solidFill>
                <a:latin typeface="PingFang SC" panose="020B0400000000000000" charset="-122"/>
                <a:ea typeface="PingFang SC" panose="020B0400000000000000" charset="-122"/>
                <a:cs typeface="PingFang SC" panose="020B0400000000000000" charset="-122"/>
              </a:rPr>
              <a:t>权益/优惠券</a:t>
            </a:r>
            <a:endParaRPr sz="990" b="1">
              <a:solidFill>
                <a:srgbClr val="0086D1"/>
              </a:solidFill>
              <a:latin typeface="PingFang SC" panose="020B0400000000000000" charset="-122"/>
              <a:ea typeface="PingFang SC" panose="020B0400000000000000" charset="-122"/>
              <a:cs typeface="PingFang SC" panose="020B0400000000000000" charset="-122"/>
            </a:endParaRPr>
          </a:p>
        </p:txBody>
      </p:sp>
      <p:sp>
        <p:nvSpPr>
          <p:cNvPr id="21" name="矩形 20"/>
          <p:cNvSpPr>
            <a:spLocks noGrp="1"/>
          </p:cNvSpPr>
          <p:nvPr/>
        </p:nvSpPr>
        <p:spPr>
          <a:xfrm>
            <a:off x="6934200" y="26987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权益包 / 券管理</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22" name="圆角矩形 21"/>
          <p:cNvSpPr>
            <a:spLocks noGrp="1"/>
          </p:cNvSpPr>
          <p:nvPr/>
        </p:nvSpPr>
        <p:spPr>
          <a:xfrm>
            <a:off x="4400550" y="2984500"/>
            <a:ext cx="1504950" cy="533400"/>
          </a:xfrm>
          <a:prstGeom prst="roundRect">
            <a:avLst>
              <a:gd name="adj" fmla="val 14286"/>
            </a:avLst>
          </a:prstGeom>
          <a:solidFill>
            <a:srgbClr val="FFFFFF"/>
          </a:solidFill>
          <a:ln w="9525">
            <a:solidFill>
              <a:srgbClr val="0086D1"/>
            </a:solidFill>
          </a:ln>
        </p:spPr>
      </p:sp>
      <p:sp>
        <p:nvSpPr>
          <p:cNvPr id="23" name="矩形 22"/>
          <p:cNvSpPr>
            <a:spLocks noGrp="1"/>
          </p:cNvSpPr>
          <p:nvPr/>
        </p:nvSpPr>
        <p:spPr>
          <a:xfrm>
            <a:off x="4495800" y="30702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246BFE"/>
                </a:solidFill>
                <a:latin typeface="PingFang SC" panose="020B0400000000000000" charset="-122"/>
                <a:ea typeface="PingFang SC" panose="020B0400000000000000" charset="-122"/>
                <a:cs typeface="PingFang SC" panose="020B0400000000000000" charset="-122"/>
              </a:defRPr>
            </a:pPr>
            <a:r>
              <a:rPr sz="990" b="1">
                <a:solidFill>
                  <a:srgbClr val="0086D1"/>
                </a:solidFill>
                <a:latin typeface="PingFang SC" panose="020B0400000000000000" charset="-122"/>
                <a:ea typeface="PingFang SC" panose="020B0400000000000000" charset="-122"/>
                <a:cs typeface="PingFang SC" panose="020B0400000000000000" charset="-122"/>
              </a:rPr>
              <a:t>清结算管理</a:t>
            </a:r>
            <a:endParaRPr sz="990" b="1">
              <a:solidFill>
                <a:srgbClr val="0086D1"/>
              </a:solidFill>
              <a:latin typeface="PingFang SC" panose="020B0400000000000000" charset="-122"/>
              <a:ea typeface="PingFang SC" panose="020B0400000000000000" charset="-122"/>
              <a:cs typeface="PingFang SC" panose="020B0400000000000000" charset="-122"/>
            </a:endParaRPr>
          </a:p>
        </p:txBody>
      </p:sp>
      <p:sp>
        <p:nvSpPr>
          <p:cNvPr id="24" name="矩形 23"/>
          <p:cNvSpPr>
            <a:spLocks noGrp="1"/>
          </p:cNvSpPr>
          <p:nvPr/>
        </p:nvSpPr>
        <p:spPr>
          <a:xfrm>
            <a:off x="4495800" y="32702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部门成本 / 对账</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25" name="圆角矩形 24"/>
          <p:cNvSpPr>
            <a:spLocks noGrp="1"/>
          </p:cNvSpPr>
          <p:nvPr/>
        </p:nvSpPr>
        <p:spPr>
          <a:xfrm>
            <a:off x="6096000" y="2984500"/>
            <a:ext cx="1504950" cy="533400"/>
          </a:xfrm>
          <a:prstGeom prst="roundRect">
            <a:avLst>
              <a:gd name="adj" fmla="val 14286"/>
            </a:avLst>
          </a:prstGeom>
          <a:solidFill>
            <a:srgbClr val="FFFFFF"/>
          </a:solidFill>
          <a:ln w="9525">
            <a:solidFill>
              <a:srgbClr val="C94848"/>
            </a:solidFill>
          </a:ln>
        </p:spPr>
      </p:sp>
      <p:sp>
        <p:nvSpPr>
          <p:cNvPr id="26" name="矩形 25"/>
          <p:cNvSpPr>
            <a:spLocks noGrp="1"/>
          </p:cNvSpPr>
          <p:nvPr/>
        </p:nvSpPr>
        <p:spPr>
          <a:xfrm>
            <a:off x="6191250" y="30702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C94848"/>
                </a:solidFill>
                <a:latin typeface="PingFang SC" panose="020B0400000000000000" charset="-122"/>
                <a:ea typeface="PingFang SC" panose="020B0400000000000000" charset="-122"/>
                <a:cs typeface="PingFang SC" panose="020B0400000000000000" charset="-122"/>
              </a:defRPr>
            </a:pPr>
            <a:r>
              <a:rPr sz="990" b="1">
                <a:solidFill>
                  <a:srgbClr val="C94848"/>
                </a:solidFill>
                <a:latin typeface="PingFang SC" panose="020B0400000000000000" charset="-122"/>
                <a:ea typeface="PingFang SC" panose="020B0400000000000000" charset="-122"/>
                <a:cs typeface="PingFang SC" panose="020B0400000000000000" charset="-122"/>
              </a:rPr>
              <a:t>风控管理</a:t>
            </a:r>
            <a:endParaRPr sz="990" b="1">
              <a:solidFill>
                <a:srgbClr val="C94848"/>
              </a:solidFill>
              <a:latin typeface="PingFang SC" panose="020B0400000000000000" charset="-122"/>
              <a:ea typeface="PingFang SC" panose="020B0400000000000000" charset="-122"/>
              <a:cs typeface="PingFang SC" panose="020B0400000000000000" charset="-122"/>
            </a:endParaRPr>
          </a:p>
        </p:txBody>
      </p:sp>
      <p:sp>
        <p:nvSpPr>
          <p:cNvPr id="27" name="矩形 26"/>
          <p:cNvSpPr>
            <a:spLocks noGrp="1"/>
          </p:cNvSpPr>
          <p:nvPr/>
        </p:nvSpPr>
        <p:spPr>
          <a:xfrm>
            <a:off x="6191250" y="32702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监控 / 预警</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28" name="圆角矩形 27"/>
          <p:cNvSpPr>
            <a:spLocks noGrp="1"/>
          </p:cNvSpPr>
          <p:nvPr/>
        </p:nvSpPr>
        <p:spPr>
          <a:xfrm>
            <a:off x="936625" y="1917700"/>
            <a:ext cx="1599565" cy="1143000"/>
          </a:xfrm>
          <a:prstGeom prst="roundRect">
            <a:avLst>
              <a:gd name="adj" fmla="val 6667"/>
            </a:avLst>
          </a:prstGeom>
          <a:solidFill>
            <a:srgbClr val="C00000">
              <a:alpha val="10000"/>
            </a:srgbClr>
          </a:solidFill>
          <a:ln w="10954">
            <a:solidFill>
              <a:srgbClr val="C00000"/>
            </a:solidFill>
          </a:ln>
        </p:spPr>
      </p:sp>
      <p:sp>
        <p:nvSpPr>
          <p:cNvPr id="29" name="矩形 28"/>
          <p:cNvSpPr>
            <a:spLocks noGrp="1"/>
          </p:cNvSpPr>
          <p:nvPr/>
        </p:nvSpPr>
        <p:spPr>
          <a:xfrm>
            <a:off x="990600" y="2108200"/>
            <a:ext cx="15621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C67A10"/>
                </a:solidFill>
                <a:latin typeface="PingFang SC" panose="020B0400000000000000" charset="-122"/>
                <a:ea typeface="PingFang SC" panose="020B0400000000000000" charset="-122"/>
                <a:cs typeface="PingFang SC" panose="020B0400000000000000" charset="-122"/>
              </a:defRPr>
            </a:pPr>
            <a:r>
              <a:rPr sz="1200" b="1">
                <a:solidFill>
                  <a:srgbClr val="C00000"/>
                </a:solidFill>
                <a:latin typeface="PingFang SC" panose="020B0400000000000000" charset="-122"/>
                <a:ea typeface="PingFang SC" panose="020B0400000000000000" charset="-122"/>
                <a:cs typeface="PingFang SC" panose="020B0400000000000000" charset="-122"/>
              </a:rPr>
              <a:t>业务执行边界</a:t>
            </a:r>
            <a:endParaRPr sz="1200" b="1">
              <a:solidFill>
                <a:srgbClr val="C00000"/>
              </a:solidFill>
              <a:latin typeface="PingFang SC" panose="020B0400000000000000" charset="-122"/>
              <a:ea typeface="PingFang SC" panose="020B0400000000000000" charset="-122"/>
              <a:cs typeface="PingFang SC" panose="020B0400000000000000" charset="-122"/>
            </a:endParaRPr>
          </a:p>
        </p:txBody>
      </p:sp>
      <p:sp>
        <p:nvSpPr>
          <p:cNvPr id="30" name="矩形 29"/>
          <p:cNvSpPr>
            <a:spLocks noGrp="1"/>
          </p:cNvSpPr>
          <p:nvPr/>
        </p:nvSpPr>
        <p:spPr>
          <a:xfrm>
            <a:off x="928370" y="2413000"/>
            <a:ext cx="15240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0">
                <a:solidFill>
                  <a:srgbClr val="17202A"/>
                </a:solidFill>
                <a:latin typeface="PingFang SC" panose="020B0400000000000000" charset="-122"/>
                <a:ea typeface="PingFang SC" panose="020B0400000000000000" charset="-122"/>
                <a:cs typeface="PingFang SC" panose="020B0400000000000000" charset="-122"/>
              </a:defRPr>
            </a:pPr>
            <a:r>
              <a:rPr sz="915" b="0">
                <a:solidFill>
                  <a:srgbClr val="17202A"/>
                </a:solidFill>
                <a:latin typeface="PingFang SC" panose="020B0400000000000000" charset="-122"/>
                <a:ea typeface="PingFang SC" panose="020B0400000000000000" charset="-122"/>
                <a:cs typeface="PingFang SC" panose="020B0400000000000000" charset="-122"/>
              </a:rPr>
              <a:t>中心管总额</a:t>
            </a:r>
            <a:endParaRPr sz="915" b="0">
              <a:solidFill>
                <a:srgbClr val="17202A"/>
              </a:solidFill>
              <a:latin typeface="PingFang SC" panose="020B0400000000000000" charset="-122"/>
              <a:ea typeface="PingFang SC" panose="020B0400000000000000" charset="-122"/>
              <a:cs typeface="PingFang SC" panose="020B0400000000000000" charset="-122"/>
            </a:endParaRPr>
          </a:p>
          <a:p>
            <a:pPr algn="ctr">
              <a:defRPr sz="915" b="0">
                <a:solidFill>
                  <a:srgbClr val="17202A"/>
                </a:solidFill>
                <a:latin typeface="PingFang SC" panose="020B0400000000000000" charset="-122"/>
                <a:ea typeface="PingFang SC" panose="020B0400000000000000" charset="-122"/>
                <a:cs typeface="PingFang SC" panose="020B0400000000000000" charset="-122"/>
              </a:defRPr>
            </a:pPr>
            <a:r>
              <a:rPr>
                <a:sym typeface="+mn-ea"/>
              </a:rPr>
              <a:t>中心做监控</a:t>
            </a:r>
            <a:endParaRPr sz="915" b="0">
              <a:solidFill>
                <a:srgbClr val="17202A"/>
              </a:solidFill>
              <a:latin typeface="PingFang SC" panose="020B0400000000000000" charset="-122"/>
              <a:ea typeface="PingFang SC" panose="020B0400000000000000" charset="-122"/>
              <a:cs typeface="PingFang SC" panose="020B0400000000000000" charset="-122"/>
            </a:endParaRPr>
          </a:p>
          <a:p>
            <a:pPr algn="ctr">
              <a:defRPr sz="915" b="0">
                <a:solidFill>
                  <a:srgbClr val="17202A"/>
                </a:solidFill>
                <a:latin typeface="PingFang SC" panose="020B0400000000000000" charset="-122"/>
                <a:ea typeface="PingFang SC" panose="020B0400000000000000" charset="-122"/>
                <a:cs typeface="PingFang SC" panose="020B0400000000000000" charset="-122"/>
              </a:defRPr>
            </a:pPr>
            <a:r>
              <a:rPr sz="915" b="0">
                <a:solidFill>
                  <a:srgbClr val="17202A"/>
                </a:solidFill>
                <a:latin typeface="PingFang SC" panose="020B0400000000000000" charset="-122"/>
                <a:ea typeface="PingFang SC" panose="020B0400000000000000" charset="-122"/>
                <a:cs typeface="PingFang SC" panose="020B0400000000000000" charset="-122"/>
              </a:rPr>
              <a:t>业务自发分</a:t>
            </a:r>
            <a:endParaRPr sz="915" b="0">
              <a:solidFill>
                <a:srgbClr val="17202A"/>
              </a:solidFill>
              <a:latin typeface="PingFang SC" panose="020B0400000000000000" charset="-122"/>
              <a:ea typeface="PingFang SC" panose="020B0400000000000000" charset="-122"/>
              <a:cs typeface="PingFang SC" panose="020B0400000000000000" charset="-122"/>
            </a:endParaRPr>
          </a:p>
          <a:p>
            <a:pPr algn="ctr">
              <a:defRPr sz="915" b="0">
                <a:solidFill>
                  <a:srgbClr val="17202A"/>
                </a:solidFill>
                <a:latin typeface="PingFang SC" panose="020B0400000000000000" charset="-122"/>
                <a:ea typeface="PingFang SC" panose="020B0400000000000000" charset="-122"/>
                <a:cs typeface="PingFang SC" panose="020B0400000000000000" charset="-122"/>
              </a:defRPr>
            </a:pPr>
            <a:r>
              <a:rPr sz="915" b="0">
                <a:solidFill>
                  <a:srgbClr val="17202A"/>
                </a:solidFill>
                <a:latin typeface="PingFang SC" panose="020B0400000000000000" charset="-122"/>
                <a:ea typeface="PingFang SC" panose="020B0400000000000000" charset="-122"/>
                <a:cs typeface="PingFang SC" panose="020B0400000000000000" charset="-122"/>
              </a:rPr>
              <a:t>业务自核销</a:t>
            </a:r>
            <a:endParaRPr sz="915" b="0">
              <a:solidFill>
                <a:srgbClr val="17202A"/>
              </a:solidFill>
              <a:latin typeface="PingFang SC" panose="020B0400000000000000" charset="-122"/>
              <a:ea typeface="PingFang SC" panose="020B0400000000000000" charset="-122"/>
              <a:cs typeface="PingFang SC" panose="020B0400000000000000" charset="-122"/>
            </a:endParaRPr>
          </a:p>
          <a:p>
            <a:pPr algn="ctr">
              <a:defRPr sz="915" b="0">
                <a:solidFill>
                  <a:srgbClr val="17202A"/>
                </a:solidFill>
                <a:latin typeface="PingFang SC" panose="020B0400000000000000" charset="-122"/>
                <a:ea typeface="PingFang SC" panose="020B0400000000000000" charset="-122"/>
                <a:cs typeface="PingFang SC" panose="020B0400000000000000" charset="-122"/>
              </a:defRPr>
            </a:pPr>
            <a:endParaRPr sz="91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31" name="矩形 30"/>
          <p:cNvSpPr>
            <a:spLocks noGrp="1"/>
          </p:cNvSpPr>
          <p:nvPr/>
        </p:nvSpPr>
        <p:spPr>
          <a:xfrm>
            <a:off x="2724150" y="23749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C67A10"/>
                </a:solidFill>
                <a:latin typeface="PingFang SC" panose="020B0400000000000000" charset="-122"/>
                <a:ea typeface="PingFang SC" panose="020B0400000000000000" charset="-122"/>
                <a:cs typeface="PingFang SC" panose="020B0400000000000000" charset="-122"/>
              </a:defRPr>
            </a:pPr>
            <a:r>
              <a:rPr sz="1950" b="1">
                <a:solidFill>
                  <a:srgbClr val="C67A10"/>
                </a:solidFill>
                <a:latin typeface="PingFang SC" panose="020B0400000000000000" charset="-122"/>
                <a:ea typeface="PingFang SC" panose="020B0400000000000000" charset="-122"/>
                <a:cs typeface="PingFang SC" panose="020B0400000000000000" charset="-122"/>
              </a:rPr>
              <a:t>→</a:t>
            </a:r>
            <a:endParaRPr sz="19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32" name="圆角矩形 31"/>
          <p:cNvSpPr>
            <a:spLocks noGrp="1"/>
          </p:cNvSpPr>
          <p:nvPr/>
        </p:nvSpPr>
        <p:spPr>
          <a:xfrm>
            <a:off x="9448800" y="1917700"/>
            <a:ext cx="1599565" cy="1143000"/>
          </a:xfrm>
          <a:prstGeom prst="roundRect">
            <a:avLst>
              <a:gd name="adj" fmla="val 6667"/>
            </a:avLst>
          </a:prstGeom>
          <a:solidFill>
            <a:srgbClr val="FFEAEA"/>
          </a:solidFill>
          <a:ln w="10954">
            <a:solidFill>
              <a:srgbClr val="C94848"/>
            </a:solidFill>
          </a:ln>
        </p:spPr>
      </p:sp>
      <p:sp>
        <p:nvSpPr>
          <p:cNvPr id="33" name="矩形 32"/>
          <p:cNvSpPr>
            <a:spLocks noGrp="1"/>
          </p:cNvSpPr>
          <p:nvPr/>
        </p:nvSpPr>
        <p:spPr>
          <a:xfrm>
            <a:off x="9527540" y="2108200"/>
            <a:ext cx="1409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C94848"/>
                </a:solidFill>
                <a:latin typeface="PingFang SC" panose="020B0400000000000000" charset="-122"/>
                <a:ea typeface="PingFang SC" panose="020B0400000000000000" charset="-122"/>
                <a:cs typeface="PingFang SC" panose="020B0400000000000000" charset="-122"/>
              </a:defRPr>
            </a:pPr>
            <a:r>
              <a:rPr sz="1200" b="1">
                <a:solidFill>
                  <a:srgbClr val="C94848"/>
                </a:solidFill>
                <a:latin typeface="PingFang SC" panose="020B0400000000000000" charset="-122"/>
                <a:ea typeface="PingFang SC" panose="020B0400000000000000" charset="-122"/>
                <a:cs typeface="PingFang SC" panose="020B0400000000000000" charset="-122"/>
              </a:rPr>
              <a:t>风控监控闭环</a:t>
            </a:r>
            <a:endParaRPr sz="1200" b="1">
              <a:solidFill>
                <a:srgbClr val="C94848"/>
              </a:solidFill>
              <a:latin typeface="PingFang SC" panose="020B0400000000000000" charset="-122"/>
              <a:ea typeface="PingFang SC" panose="020B0400000000000000" charset="-122"/>
              <a:cs typeface="PingFang SC" panose="020B0400000000000000" charset="-122"/>
            </a:endParaRPr>
          </a:p>
        </p:txBody>
      </p:sp>
      <p:sp>
        <p:nvSpPr>
          <p:cNvPr id="34" name="矩形 33"/>
          <p:cNvSpPr>
            <a:spLocks noGrp="1"/>
          </p:cNvSpPr>
          <p:nvPr/>
        </p:nvSpPr>
        <p:spPr>
          <a:xfrm>
            <a:off x="9508490" y="2393950"/>
            <a:ext cx="14478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17202A"/>
                </a:solidFill>
                <a:latin typeface="PingFang SC" panose="020B0400000000000000" charset="-122"/>
                <a:ea typeface="PingFang SC" panose="020B0400000000000000" charset="-122"/>
                <a:cs typeface="PingFang SC" panose="020B0400000000000000" charset="-122"/>
              </a:defRPr>
            </a:pPr>
            <a:r>
              <a:rPr sz="900" b="0">
                <a:solidFill>
                  <a:srgbClr val="17202A"/>
                </a:solidFill>
                <a:latin typeface="PingFang SC" panose="020B0400000000000000" charset="-122"/>
                <a:ea typeface="PingFang SC" panose="020B0400000000000000" charset="-122"/>
                <a:cs typeface="PingFang SC" panose="020B0400000000000000" charset="-122"/>
              </a:rPr>
              <a:t>额度占用监控</a:t>
            </a:r>
            <a:endParaRPr sz="900" b="0">
              <a:solidFill>
                <a:srgbClr val="17202A"/>
              </a:solidFill>
              <a:latin typeface="PingFang SC" panose="020B0400000000000000" charset="-122"/>
              <a:ea typeface="PingFang SC" panose="020B0400000000000000" charset="-122"/>
              <a:cs typeface="PingFang SC" panose="020B0400000000000000" charset="-122"/>
            </a:endParaRPr>
          </a:p>
          <a:p>
            <a:pPr algn="ctr">
              <a:defRPr sz="900" b="0">
                <a:solidFill>
                  <a:srgbClr val="17202A"/>
                </a:solidFill>
                <a:latin typeface="PingFang SC" panose="020B0400000000000000" charset="-122"/>
                <a:ea typeface="PingFang SC" panose="020B0400000000000000" charset="-122"/>
                <a:cs typeface="PingFang SC" panose="020B0400000000000000" charset="-122"/>
              </a:defRPr>
            </a:pPr>
            <a:r>
              <a:rPr sz="900" b="0">
                <a:solidFill>
                  <a:srgbClr val="17202A"/>
                </a:solidFill>
                <a:latin typeface="PingFang SC" panose="020B0400000000000000" charset="-122"/>
                <a:ea typeface="PingFang SC" panose="020B0400000000000000" charset="-122"/>
                <a:cs typeface="PingFang SC" panose="020B0400000000000000" charset="-122"/>
              </a:rPr>
              <a:t>异常发放预警</a:t>
            </a:r>
            <a:endParaRPr sz="900" b="0">
              <a:solidFill>
                <a:srgbClr val="17202A"/>
              </a:solidFill>
              <a:latin typeface="PingFang SC" panose="020B0400000000000000" charset="-122"/>
              <a:ea typeface="PingFang SC" panose="020B0400000000000000" charset="-122"/>
              <a:cs typeface="PingFang SC" panose="020B0400000000000000" charset="-122"/>
            </a:endParaRPr>
          </a:p>
          <a:p>
            <a:pPr algn="ctr">
              <a:defRPr sz="900" b="0">
                <a:solidFill>
                  <a:srgbClr val="17202A"/>
                </a:solidFill>
                <a:latin typeface="PingFang SC" panose="020B0400000000000000" charset="-122"/>
                <a:ea typeface="PingFang SC" panose="020B0400000000000000" charset="-122"/>
                <a:cs typeface="PingFang SC" panose="020B0400000000000000" charset="-122"/>
              </a:defRPr>
            </a:pPr>
            <a:r>
              <a:rPr sz="900" b="0">
                <a:solidFill>
                  <a:srgbClr val="17202A"/>
                </a:solidFill>
                <a:latin typeface="PingFang SC" panose="020B0400000000000000" charset="-122"/>
                <a:ea typeface="PingFang SC" panose="020B0400000000000000" charset="-122"/>
                <a:cs typeface="PingFang SC" panose="020B0400000000000000" charset="-122"/>
              </a:rPr>
              <a:t>核销异常识别</a:t>
            </a:r>
            <a:endParaRPr sz="900" b="0">
              <a:solidFill>
                <a:srgbClr val="17202A"/>
              </a:solidFill>
              <a:latin typeface="PingFang SC" panose="020B0400000000000000" charset="-122"/>
              <a:ea typeface="PingFang SC" panose="020B0400000000000000" charset="-122"/>
              <a:cs typeface="PingFang SC" panose="020B0400000000000000" charset="-122"/>
            </a:endParaRPr>
          </a:p>
          <a:p>
            <a:pPr algn="ctr">
              <a:defRPr sz="900" b="0">
                <a:solidFill>
                  <a:srgbClr val="17202A"/>
                </a:solidFill>
                <a:latin typeface="PingFang SC" panose="020B0400000000000000" charset="-122"/>
                <a:ea typeface="PingFang SC" panose="020B0400000000000000" charset="-122"/>
                <a:cs typeface="PingFang SC" panose="020B0400000000000000" charset="-122"/>
              </a:defRPr>
            </a:pPr>
            <a:r>
              <a:rPr sz="900" b="0">
                <a:solidFill>
                  <a:srgbClr val="17202A"/>
                </a:solidFill>
                <a:latin typeface="PingFang SC" panose="020B0400000000000000" charset="-122"/>
                <a:ea typeface="PingFang SC" panose="020B0400000000000000" charset="-122"/>
                <a:cs typeface="PingFang SC" panose="020B0400000000000000" charset="-122"/>
              </a:rPr>
              <a:t>跨系统对账</a:t>
            </a:r>
            <a:endParaRPr sz="900"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35" name="矩形 34"/>
          <p:cNvSpPr>
            <a:spLocks noGrp="1"/>
          </p:cNvSpPr>
          <p:nvPr/>
        </p:nvSpPr>
        <p:spPr>
          <a:xfrm>
            <a:off x="8839200" y="23749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C94848"/>
                </a:solidFill>
                <a:latin typeface="PingFang SC" panose="020B0400000000000000" charset="-122"/>
                <a:ea typeface="PingFang SC" panose="020B0400000000000000" charset="-122"/>
                <a:cs typeface="PingFang SC" panose="020B0400000000000000" charset="-122"/>
              </a:defRPr>
            </a:pPr>
            <a:r>
              <a:rPr sz="1950" b="1">
                <a:solidFill>
                  <a:srgbClr val="C94848"/>
                </a:solidFill>
                <a:latin typeface="PingFang SC" panose="020B0400000000000000" charset="-122"/>
                <a:ea typeface="PingFang SC" panose="020B0400000000000000" charset="-122"/>
                <a:cs typeface="PingFang SC" panose="020B0400000000000000" charset="-122"/>
              </a:rPr>
              <a:t>→</a:t>
            </a:r>
            <a:endParaRPr sz="1950" b="1">
              <a:solidFill>
                <a:srgbClr val="C94848"/>
              </a:solidFill>
              <a:latin typeface="PingFang SC" panose="020B0400000000000000" charset="-122"/>
              <a:ea typeface="PingFang SC" panose="020B0400000000000000" charset="-122"/>
              <a:cs typeface="PingFang SC" panose="020B0400000000000000" charset="-122"/>
            </a:endParaRPr>
          </a:p>
        </p:txBody>
      </p:sp>
      <p:sp>
        <p:nvSpPr>
          <p:cNvPr id="38" name="圆角矩形 37"/>
          <p:cNvSpPr>
            <a:spLocks noGrp="1"/>
          </p:cNvSpPr>
          <p:nvPr/>
        </p:nvSpPr>
        <p:spPr>
          <a:xfrm>
            <a:off x="949960" y="4108450"/>
            <a:ext cx="2343150" cy="800100"/>
          </a:xfrm>
          <a:prstGeom prst="roundRect">
            <a:avLst>
              <a:gd name="adj" fmla="val 9524"/>
            </a:avLst>
          </a:prstGeom>
          <a:solidFill>
            <a:srgbClr val="48C0A9">
              <a:alpha val="11000"/>
            </a:srgbClr>
          </a:solidFill>
          <a:ln w="10954">
            <a:solidFill>
              <a:srgbClr val="48C0A9"/>
            </a:solidFill>
          </a:ln>
        </p:spPr>
      </p:sp>
      <p:sp>
        <p:nvSpPr>
          <p:cNvPr id="39" name="矩形 38"/>
          <p:cNvSpPr>
            <a:spLocks noGrp="1"/>
          </p:cNvSpPr>
          <p:nvPr/>
        </p:nvSpPr>
        <p:spPr>
          <a:xfrm>
            <a:off x="1083310" y="4203700"/>
            <a:ext cx="20764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16A06A"/>
                </a:solidFill>
                <a:latin typeface="PingFang SC" panose="020B0400000000000000" charset="-122"/>
                <a:ea typeface="PingFang SC" panose="020B0400000000000000" charset="-122"/>
                <a:cs typeface="PingFang SC" panose="020B0400000000000000" charset="-122"/>
              </a:defRPr>
            </a:pPr>
            <a:r>
              <a:rPr sz="990" b="1">
                <a:solidFill>
                  <a:srgbClr val="48C0A9"/>
                </a:solidFill>
                <a:latin typeface="PingFang SC" panose="020B0400000000000000" charset="-122"/>
                <a:ea typeface="PingFang SC" panose="020B0400000000000000" charset="-122"/>
                <a:cs typeface="PingFang SC" panose="020B0400000000000000" charset="-122"/>
              </a:rPr>
              <a:t>租赁公司 - 城服 - 好社区</a:t>
            </a:r>
            <a:endParaRPr sz="990" b="1">
              <a:solidFill>
                <a:srgbClr val="48C0A9"/>
              </a:solidFill>
              <a:latin typeface="PingFang SC" panose="020B0400000000000000" charset="-122"/>
              <a:ea typeface="PingFang SC" panose="020B0400000000000000" charset="-122"/>
              <a:cs typeface="PingFang SC" panose="020B0400000000000000" charset="-122"/>
            </a:endParaRPr>
          </a:p>
        </p:txBody>
      </p:sp>
      <p:sp>
        <p:nvSpPr>
          <p:cNvPr id="3" name="矩形 2"/>
          <p:cNvSpPr>
            <a:spLocks noGrp="1"/>
          </p:cNvSpPr>
          <p:nvPr/>
        </p:nvSpPr>
        <p:spPr>
          <a:xfrm>
            <a:off x="1121410" y="45847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接收积分额度后，可自行发放、核销并回传明细。</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42" name="圆角矩形 41"/>
          <p:cNvSpPr>
            <a:spLocks noGrp="1"/>
          </p:cNvSpPr>
          <p:nvPr/>
        </p:nvSpPr>
        <p:spPr>
          <a:xfrm>
            <a:off x="3540760" y="4108450"/>
            <a:ext cx="2343150" cy="800100"/>
          </a:xfrm>
          <a:prstGeom prst="roundRect">
            <a:avLst>
              <a:gd name="adj" fmla="val 9524"/>
            </a:avLst>
          </a:prstGeom>
          <a:solidFill>
            <a:srgbClr val="FF8439">
              <a:alpha val="10000"/>
            </a:srgbClr>
          </a:solidFill>
          <a:ln w="10954">
            <a:solidFill>
              <a:srgbClr val="FF8439"/>
            </a:solidFill>
          </a:ln>
        </p:spPr>
      </p:sp>
      <p:sp>
        <p:nvSpPr>
          <p:cNvPr id="43" name="矩形 42"/>
          <p:cNvSpPr>
            <a:spLocks noGrp="1"/>
          </p:cNvSpPr>
          <p:nvPr/>
        </p:nvSpPr>
        <p:spPr>
          <a:xfrm>
            <a:off x="3674110" y="4203700"/>
            <a:ext cx="20764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16A06A"/>
                </a:solidFill>
                <a:latin typeface="PingFang SC" panose="020B0400000000000000" charset="-122"/>
                <a:ea typeface="PingFang SC" panose="020B0400000000000000" charset="-122"/>
                <a:cs typeface="PingFang SC" panose="020B0400000000000000" charset="-122"/>
              </a:defRPr>
            </a:pPr>
            <a:r>
              <a:rPr sz="990" b="1">
                <a:solidFill>
                  <a:srgbClr val="FF8439"/>
                </a:solidFill>
                <a:latin typeface="PingFang SC" panose="020B0400000000000000" charset="-122"/>
                <a:ea typeface="PingFang SC" panose="020B0400000000000000" charset="-122"/>
                <a:cs typeface="PingFang SC" panose="020B0400000000000000" charset="-122"/>
              </a:rPr>
              <a:t>租赁公司 - 商业部 - 商业小程序</a:t>
            </a:r>
            <a:endParaRPr sz="990" b="1">
              <a:solidFill>
                <a:srgbClr val="FF8439"/>
              </a:solidFill>
              <a:latin typeface="PingFang SC" panose="020B0400000000000000" charset="-122"/>
              <a:ea typeface="PingFang SC" panose="020B0400000000000000" charset="-122"/>
              <a:cs typeface="PingFang SC" panose="020B0400000000000000" charset="-122"/>
            </a:endParaRPr>
          </a:p>
        </p:txBody>
      </p:sp>
      <p:sp>
        <p:nvSpPr>
          <p:cNvPr id="44" name="矩形 43"/>
          <p:cNvSpPr>
            <a:spLocks noGrp="1"/>
          </p:cNvSpPr>
          <p:nvPr/>
        </p:nvSpPr>
        <p:spPr>
          <a:xfrm>
            <a:off x="3674110" y="4394200"/>
            <a:ext cx="20764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0">
                <a:solidFill>
                  <a:srgbClr val="647181"/>
                </a:solidFill>
                <a:latin typeface="PingFang SC" panose="020B0400000000000000" charset="-122"/>
                <a:ea typeface="PingFang SC" panose="020B0400000000000000" charset="-122"/>
                <a:cs typeface="PingFang SC" panose="020B0400000000000000" charset="-122"/>
              </a:defRPr>
            </a:pPr>
            <a:r>
              <a:rPr sz="715" b="0">
                <a:solidFill>
                  <a:srgbClr val="647181"/>
                </a:solidFill>
                <a:latin typeface="PingFang SC" panose="020B0400000000000000" charset="-122"/>
                <a:ea typeface="PingFang SC" panose="020B0400000000000000" charset="-122"/>
                <a:cs typeface="PingFang SC" panose="020B0400000000000000" charset="-122"/>
              </a:rPr>
              <a:t>业务部门/终端</a:t>
            </a:r>
            <a:endParaRPr sz="71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45" name="矩形 44"/>
          <p:cNvSpPr>
            <a:spLocks noGrp="1"/>
          </p:cNvSpPr>
          <p:nvPr/>
        </p:nvSpPr>
        <p:spPr>
          <a:xfrm>
            <a:off x="3712210" y="45847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可按活动、会员、商户场景自行发放、核销。</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46" name="圆角矩形 45"/>
          <p:cNvSpPr>
            <a:spLocks noGrp="1"/>
          </p:cNvSpPr>
          <p:nvPr/>
        </p:nvSpPr>
        <p:spPr>
          <a:xfrm>
            <a:off x="6131560" y="4108450"/>
            <a:ext cx="2343150" cy="800100"/>
          </a:xfrm>
          <a:prstGeom prst="roundRect">
            <a:avLst>
              <a:gd name="adj" fmla="val 9524"/>
            </a:avLst>
          </a:prstGeom>
          <a:solidFill>
            <a:srgbClr val="00B5D1">
              <a:alpha val="10000"/>
            </a:srgbClr>
          </a:solidFill>
          <a:ln w="10954">
            <a:solidFill>
              <a:srgbClr val="00B5D1"/>
            </a:solidFill>
          </a:ln>
        </p:spPr>
      </p:sp>
      <p:sp>
        <p:nvSpPr>
          <p:cNvPr id="47" name="矩形 46"/>
          <p:cNvSpPr>
            <a:spLocks noGrp="1"/>
          </p:cNvSpPr>
          <p:nvPr/>
        </p:nvSpPr>
        <p:spPr>
          <a:xfrm>
            <a:off x="6264910" y="4203700"/>
            <a:ext cx="20764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16A06A"/>
                </a:solidFill>
                <a:latin typeface="PingFang SC" panose="020B0400000000000000" charset="-122"/>
                <a:ea typeface="PingFang SC" panose="020B0400000000000000" charset="-122"/>
                <a:cs typeface="PingFang SC" panose="020B0400000000000000" charset="-122"/>
              </a:defRPr>
            </a:pPr>
            <a:r>
              <a:rPr sz="990" b="1">
                <a:solidFill>
                  <a:srgbClr val="00B5D1"/>
                </a:solidFill>
                <a:latin typeface="PingFang SC" panose="020B0400000000000000" charset="-122"/>
                <a:ea typeface="PingFang SC" panose="020B0400000000000000" charset="-122"/>
                <a:cs typeface="PingFang SC" panose="020B0400000000000000" charset="-122"/>
              </a:rPr>
              <a:t>安居乐寓</a:t>
            </a:r>
            <a:endParaRPr sz="990" b="1">
              <a:solidFill>
                <a:srgbClr val="00B5D1"/>
              </a:solidFill>
              <a:latin typeface="PingFang SC" panose="020B0400000000000000" charset="-122"/>
              <a:ea typeface="PingFang SC" panose="020B0400000000000000" charset="-122"/>
              <a:cs typeface="PingFang SC" panose="020B0400000000000000" charset="-122"/>
            </a:endParaRPr>
          </a:p>
        </p:txBody>
      </p:sp>
      <p:sp>
        <p:nvSpPr>
          <p:cNvPr id="48" name="矩形 47"/>
          <p:cNvSpPr>
            <a:spLocks noGrp="1"/>
          </p:cNvSpPr>
          <p:nvPr/>
        </p:nvSpPr>
        <p:spPr>
          <a:xfrm>
            <a:off x="6264910" y="4394200"/>
            <a:ext cx="20764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0">
                <a:solidFill>
                  <a:srgbClr val="647181"/>
                </a:solidFill>
                <a:latin typeface="PingFang SC" panose="020B0400000000000000" charset="-122"/>
                <a:ea typeface="PingFang SC" panose="020B0400000000000000" charset="-122"/>
                <a:cs typeface="PingFang SC" panose="020B0400000000000000" charset="-122"/>
              </a:defRPr>
            </a:pPr>
            <a:r>
              <a:rPr sz="715" b="0">
                <a:solidFill>
                  <a:srgbClr val="647181"/>
                </a:solidFill>
                <a:latin typeface="PingFang SC" panose="020B0400000000000000" charset="-122"/>
                <a:ea typeface="PingFang SC" panose="020B0400000000000000" charset="-122"/>
                <a:cs typeface="PingFang SC" panose="020B0400000000000000" charset="-122"/>
              </a:rPr>
              <a:t>业务部门/终端</a:t>
            </a:r>
            <a:endParaRPr sz="71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49" name="矩形 48"/>
          <p:cNvSpPr>
            <a:spLocks noGrp="1"/>
          </p:cNvSpPr>
          <p:nvPr/>
        </p:nvSpPr>
        <p:spPr>
          <a:xfrm>
            <a:off x="6303010" y="45847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面向租住用户自行发放、核销后同步积分明细。</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50" name="圆角矩形 49"/>
          <p:cNvSpPr>
            <a:spLocks noGrp="1"/>
          </p:cNvSpPr>
          <p:nvPr/>
        </p:nvSpPr>
        <p:spPr>
          <a:xfrm>
            <a:off x="8722360" y="4108450"/>
            <a:ext cx="2343150" cy="800100"/>
          </a:xfrm>
          <a:prstGeom prst="roundRect">
            <a:avLst>
              <a:gd name="adj" fmla="val 9524"/>
            </a:avLst>
          </a:prstGeom>
          <a:solidFill>
            <a:srgbClr val="00B5D1">
              <a:alpha val="10000"/>
            </a:srgbClr>
          </a:solidFill>
          <a:ln w="10954">
            <a:solidFill>
              <a:srgbClr val="00B5D1"/>
            </a:solidFill>
          </a:ln>
        </p:spPr>
      </p:sp>
      <p:sp>
        <p:nvSpPr>
          <p:cNvPr id="51" name="矩形 50"/>
          <p:cNvSpPr>
            <a:spLocks noGrp="1"/>
          </p:cNvSpPr>
          <p:nvPr/>
        </p:nvSpPr>
        <p:spPr>
          <a:xfrm>
            <a:off x="8855710" y="4203700"/>
            <a:ext cx="20764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16A06A"/>
                </a:solidFill>
                <a:latin typeface="PingFang SC" panose="020B0400000000000000" charset="-122"/>
                <a:ea typeface="PingFang SC" panose="020B0400000000000000" charset="-122"/>
                <a:cs typeface="PingFang SC" panose="020B0400000000000000" charset="-122"/>
              </a:defRPr>
            </a:pPr>
            <a:r>
              <a:rPr sz="990" b="1">
                <a:solidFill>
                  <a:srgbClr val="00B5D1"/>
                </a:solidFill>
                <a:latin typeface="PingFang SC" panose="020B0400000000000000" charset="-122"/>
                <a:ea typeface="PingFang SC" panose="020B0400000000000000" charset="-122"/>
                <a:cs typeface="PingFang SC" panose="020B0400000000000000" charset="-122"/>
              </a:rPr>
              <a:t>其他业务系统</a:t>
            </a:r>
            <a:endParaRPr sz="990" b="1">
              <a:solidFill>
                <a:srgbClr val="00B5D1"/>
              </a:solidFill>
              <a:latin typeface="PingFang SC" panose="020B0400000000000000" charset="-122"/>
              <a:ea typeface="PingFang SC" panose="020B0400000000000000" charset="-122"/>
              <a:cs typeface="PingFang SC" panose="020B0400000000000000" charset="-122"/>
            </a:endParaRPr>
          </a:p>
        </p:txBody>
      </p:sp>
      <p:sp>
        <p:nvSpPr>
          <p:cNvPr id="52" name="矩形 51"/>
          <p:cNvSpPr>
            <a:spLocks noGrp="1"/>
          </p:cNvSpPr>
          <p:nvPr/>
        </p:nvSpPr>
        <p:spPr>
          <a:xfrm>
            <a:off x="8855710" y="4394200"/>
            <a:ext cx="20764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0">
                <a:solidFill>
                  <a:srgbClr val="647181"/>
                </a:solidFill>
                <a:latin typeface="PingFang SC" panose="020B0400000000000000" charset="-122"/>
                <a:ea typeface="PingFang SC" panose="020B0400000000000000" charset="-122"/>
                <a:cs typeface="PingFang SC" panose="020B0400000000000000" charset="-122"/>
              </a:defRPr>
            </a:pPr>
            <a:r>
              <a:rPr sz="715" b="0">
                <a:solidFill>
                  <a:srgbClr val="647181"/>
                </a:solidFill>
                <a:latin typeface="PingFang SC" panose="020B0400000000000000" charset="-122"/>
                <a:ea typeface="PingFang SC" panose="020B0400000000000000" charset="-122"/>
                <a:cs typeface="PingFang SC" panose="020B0400000000000000" charset="-122"/>
              </a:rPr>
              <a:t>后续扩展</a:t>
            </a:r>
            <a:endParaRPr sz="71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53" name="矩形 52"/>
          <p:cNvSpPr>
            <a:spLocks noGrp="1"/>
          </p:cNvSpPr>
          <p:nvPr/>
        </p:nvSpPr>
        <p:spPr>
          <a:xfrm>
            <a:off x="8893810" y="45847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在中心额度和风控范围内，自行发放、核销。</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54" name="矩形 53"/>
          <p:cNvSpPr>
            <a:spLocks noGrp="1"/>
          </p:cNvSpPr>
          <p:nvPr/>
        </p:nvSpPr>
        <p:spPr>
          <a:xfrm>
            <a:off x="1313180" y="3498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46BFE"/>
                </a:solidFill>
                <a:latin typeface="PingFang SC" panose="020B0400000000000000" charset="-122"/>
                <a:ea typeface="PingFang SC" panose="020B0400000000000000" charset="-122"/>
                <a:cs typeface="PingFang SC" panose="020B0400000000000000" charset="-122"/>
              </a:defRPr>
            </a:pPr>
            <a:r>
              <a:rPr sz="1800" b="1">
                <a:solidFill>
                  <a:srgbClr val="246BFE"/>
                </a:solidFill>
                <a:latin typeface="PingFang SC" panose="020B0400000000000000" charset="-122"/>
                <a:ea typeface="PingFang SC" panose="020B0400000000000000" charset="-122"/>
                <a:cs typeface="PingFang SC" panose="020B0400000000000000" charset="-122"/>
              </a:rPr>
              <a:t>↓</a:t>
            </a:r>
            <a:endParaRPr sz="180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55" name="矩形 54"/>
          <p:cNvSpPr>
            <a:spLocks noGrp="1"/>
          </p:cNvSpPr>
          <p:nvPr/>
        </p:nvSpPr>
        <p:spPr>
          <a:xfrm>
            <a:off x="4381500" y="3498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46BFE"/>
                </a:solidFill>
                <a:latin typeface="PingFang SC" panose="020B0400000000000000" charset="-122"/>
                <a:ea typeface="PingFang SC" panose="020B0400000000000000" charset="-122"/>
                <a:cs typeface="PingFang SC" panose="020B0400000000000000" charset="-122"/>
              </a:defRPr>
            </a:pPr>
            <a:r>
              <a:rPr sz="1800" b="1">
                <a:solidFill>
                  <a:srgbClr val="246BFE"/>
                </a:solidFill>
                <a:latin typeface="PingFang SC" panose="020B0400000000000000" charset="-122"/>
                <a:ea typeface="PingFang SC" panose="020B0400000000000000" charset="-122"/>
                <a:cs typeface="PingFang SC" panose="020B0400000000000000" charset="-122"/>
              </a:rPr>
              <a:t>↓</a:t>
            </a:r>
            <a:endParaRPr sz="180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56" name="矩形 55"/>
          <p:cNvSpPr>
            <a:spLocks noGrp="1"/>
          </p:cNvSpPr>
          <p:nvPr/>
        </p:nvSpPr>
        <p:spPr>
          <a:xfrm>
            <a:off x="6972300" y="3498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46BFE"/>
                </a:solidFill>
                <a:latin typeface="PingFang SC" panose="020B0400000000000000" charset="-122"/>
                <a:ea typeface="PingFang SC" panose="020B0400000000000000" charset="-122"/>
                <a:cs typeface="PingFang SC" panose="020B0400000000000000" charset="-122"/>
              </a:defRPr>
            </a:pPr>
            <a:r>
              <a:rPr sz="1800" b="1">
                <a:solidFill>
                  <a:srgbClr val="246BFE"/>
                </a:solidFill>
                <a:latin typeface="PingFang SC" panose="020B0400000000000000" charset="-122"/>
                <a:ea typeface="PingFang SC" panose="020B0400000000000000" charset="-122"/>
                <a:cs typeface="PingFang SC" panose="020B0400000000000000" charset="-122"/>
              </a:rPr>
              <a:t>↓</a:t>
            </a:r>
            <a:endParaRPr sz="180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57" name="矩形 56"/>
          <p:cNvSpPr>
            <a:spLocks noGrp="1"/>
          </p:cNvSpPr>
          <p:nvPr/>
        </p:nvSpPr>
        <p:spPr>
          <a:xfrm>
            <a:off x="9563100" y="3498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46BFE"/>
                </a:solidFill>
                <a:latin typeface="PingFang SC" panose="020B0400000000000000" charset="-122"/>
                <a:ea typeface="PingFang SC" panose="020B0400000000000000" charset="-122"/>
                <a:cs typeface="PingFang SC" panose="020B0400000000000000" charset="-122"/>
              </a:defRPr>
            </a:pPr>
            <a:r>
              <a:rPr sz="1800" b="1">
                <a:solidFill>
                  <a:srgbClr val="246BFE"/>
                </a:solidFill>
                <a:latin typeface="PingFang SC" panose="020B0400000000000000" charset="-122"/>
                <a:ea typeface="PingFang SC" panose="020B0400000000000000" charset="-122"/>
                <a:cs typeface="PingFang SC" panose="020B0400000000000000" charset="-122"/>
              </a:rPr>
              <a:t>↓</a:t>
            </a:r>
            <a:endParaRPr sz="180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58" name="矩形 57"/>
          <p:cNvSpPr>
            <a:spLocks noGrp="1"/>
          </p:cNvSpPr>
          <p:nvPr/>
        </p:nvSpPr>
        <p:spPr>
          <a:xfrm>
            <a:off x="1047750" y="3860800"/>
            <a:ext cx="9429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55" b="0">
                <a:solidFill>
                  <a:srgbClr val="647181"/>
                </a:solidFill>
                <a:latin typeface="PingFang SC" panose="020B0400000000000000" charset="-122"/>
                <a:ea typeface="PingFang SC" panose="020B0400000000000000" charset="-122"/>
                <a:cs typeface="PingFang SC" panose="020B0400000000000000" charset="-122"/>
              </a:defRPr>
            </a:pPr>
            <a:r>
              <a:rPr sz="855" b="0">
                <a:solidFill>
                  <a:srgbClr val="647181"/>
                </a:solidFill>
                <a:latin typeface="PingFang SC" panose="020B0400000000000000" charset="-122"/>
                <a:ea typeface="PingFang SC" panose="020B0400000000000000" charset="-122"/>
                <a:cs typeface="PingFang SC" panose="020B0400000000000000" charset="-122"/>
              </a:rPr>
              <a:t>中央下发：积分总额、业务额度、风控阈值；</a:t>
            </a:r>
            <a:r>
              <a:rPr lang="zh-CN" sz="855" b="0">
                <a:solidFill>
                  <a:srgbClr val="647181"/>
                </a:solidFill>
                <a:latin typeface="PingFang SC" panose="020B0400000000000000" charset="-122"/>
                <a:ea typeface="PingFang SC" panose="020B0400000000000000" charset="-122"/>
                <a:cs typeface="PingFang SC" panose="020B0400000000000000" charset="-122"/>
              </a:rPr>
              <a:t>终端</a:t>
            </a:r>
            <a:r>
              <a:rPr sz="855" b="0">
                <a:solidFill>
                  <a:srgbClr val="647181"/>
                </a:solidFill>
                <a:latin typeface="PingFang SC" panose="020B0400000000000000" charset="-122"/>
                <a:ea typeface="PingFang SC" panose="020B0400000000000000" charset="-122"/>
                <a:cs typeface="PingFang SC" panose="020B0400000000000000" charset="-122"/>
              </a:rPr>
              <a:t>执行：自行发放、核销积分；闭环回传：发放/核销/余额/异常数据。</a:t>
            </a:r>
            <a:endParaRPr sz="85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59" name="圆角矩形 58"/>
          <p:cNvSpPr>
            <a:spLocks noGrp="1"/>
          </p:cNvSpPr>
          <p:nvPr/>
        </p:nvSpPr>
        <p:spPr>
          <a:xfrm>
            <a:off x="457200" y="5289550"/>
            <a:ext cx="11277600" cy="1352550"/>
          </a:xfrm>
          <a:prstGeom prst="roundRect">
            <a:avLst>
              <a:gd name="adj" fmla="val 5634"/>
            </a:avLst>
          </a:prstGeom>
          <a:solidFill>
            <a:srgbClr val="111827"/>
          </a:solidFill>
          <a:ln w="0" cap="flat" cmpd="sng">
            <a:solidFill>
              <a:schemeClr val="accent1">
                <a:alpha val="0"/>
              </a:schemeClr>
            </a:solidFill>
            <a:prstDash val="solid"/>
          </a:ln>
        </p:spPr>
      </p:sp>
      <p:sp>
        <p:nvSpPr>
          <p:cNvPr id="60" name="矩形 59"/>
          <p:cNvSpPr>
            <a:spLocks noGrp="1"/>
          </p:cNvSpPr>
          <p:nvPr/>
        </p:nvSpPr>
        <p:spPr>
          <a:xfrm>
            <a:off x="742950" y="54991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FFFFFF"/>
                </a:solidFill>
                <a:latin typeface="PingFang SC" panose="020B0400000000000000" charset="-122"/>
                <a:ea typeface="PingFang SC" panose="020B0400000000000000" charset="-122"/>
                <a:cs typeface="PingFang SC" panose="020B0400000000000000" charset="-122"/>
              </a:defRPr>
            </a:pPr>
            <a:r>
              <a:rPr sz="1575" b="1">
                <a:solidFill>
                  <a:srgbClr val="FFFFFF"/>
                </a:solidFill>
                <a:latin typeface="PingFang SC" panose="020B0400000000000000" charset="-122"/>
                <a:ea typeface="PingFang SC" panose="020B0400000000000000" charset="-122"/>
                <a:cs typeface="PingFang SC" panose="020B0400000000000000" charset="-122"/>
              </a:rPr>
              <a:t>中央和地方关系</a:t>
            </a:r>
            <a:endParaRPr sz="15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1" name="矩形 60"/>
          <p:cNvSpPr>
            <a:spLocks noGrp="1"/>
          </p:cNvSpPr>
          <p:nvPr/>
        </p:nvSpPr>
        <p:spPr>
          <a:xfrm>
            <a:off x="742950" y="5803900"/>
            <a:ext cx="20002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9C3D0"/>
                </a:solidFill>
                <a:latin typeface="PingFang SC" panose="020B0400000000000000" charset="-122"/>
                <a:ea typeface="PingFang SC" panose="020B0400000000000000" charset="-122"/>
                <a:cs typeface="PingFang SC" panose="020B0400000000000000" charset="-122"/>
              </a:defRPr>
            </a:pPr>
            <a:r>
              <a:rPr sz="975" b="0">
                <a:solidFill>
                  <a:srgbClr val="B9C3D0"/>
                </a:solidFill>
                <a:latin typeface="PingFang SC" panose="020B0400000000000000" charset="-122"/>
                <a:ea typeface="PingFang SC" panose="020B0400000000000000" charset="-122"/>
                <a:cs typeface="PingFang SC" panose="020B0400000000000000" charset="-122"/>
              </a:rPr>
              <a:t>中央管总额、账户和风险</a:t>
            </a:r>
            <a:endParaRPr sz="975" b="0">
              <a:solidFill>
                <a:srgbClr val="B9C3D0"/>
              </a:solidFill>
              <a:latin typeface="PingFang SC" panose="020B0400000000000000" charset="-122"/>
              <a:ea typeface="PingFang SC" panose="020B0400000000000000" charset="-122"/>
              <a:cs typeface="PingFang SC" panose="020B0400000000000000" charset="-122"/>
            </a:endParaRPr>
          </a:p>
          <a:p>
            <a:pPr algn="l">
              <a:defRPr sz="975" b="0">
                <a:solidFill>
                  <a:srgbClr val="B9C3D0"/>
                </a:solidFill>
                <a:latin typeface="PingFang SC" panose="020B0400000000000000" charset="-122"/>
                <a:ea typeface="PingFang SC" panose="020B0400000000000000" charset="-122"/>
                <a:cs typeface="PingFang SC" panose="020B0400000000000000" charset="-122"/>
              </a:defRPr>
            </a:pPr>
            <a:r>
              <a:rPr sz="975" b="0">
                <a:solidFill>
                  <a:srgbClr val="B9C3D0"/>
                </a:solidFill>
                <a:latin typeface="PingFang SC" panose="020B0400000000000000" charset="-122"/>
                <a:ea typeface="PingFang SC" panose="020B0400000000000000" charset="-122"/>
                <a:cs typeface="PingFang SC" panose="020B0400000000000000" charset="-122"/>
              </a:rPr>
              <a:t>地方管场景、发放和核销</a:t>
            </a:r>
            <a:endParaRPr sz="975"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62" name="椭圆 61"/>
          <p:cNvSpPr>
            <a:spLocks noGrp="1"/>
          </p:cNvSpPr>
          <p:nvPr/>
        </p:nvSpPr>
        <p:spPr>
          <a:xfrm>
            <a:off x="2926715" y="5613400"/>
            <a:ext cx="285750" cy="285750"/>
          </a:xfrm>
          <a:prstGeom prst="ellipse">
            <a:avLst/>
          </a:prstGeom>
          <a:solidFill>
            <a:srgbClr val="48C0A9"/>
          </a:solidFill>
          <a:ln w="0">
            <a:solidFill>
              <a:srgbClr val="000000">
                <a:alpha val="0"/>
              </a:srgbClr>
            </a:solidFill>
          </a:ln>
        </p:spPr>
      </p:sp>
      <p:sp>
        <p:nvSpPr>
          <p:cNvPr id="63" name="矩形 62"/>
          <p:cNvSpPr>
            <a:spLocks noGrp="1"/>
          </p:cNvSpPr>
          <p:nvPr/>
        </p:nvSpPr>
        <p:spPr>
          <a:xfrm>
            <a:off x="2926715"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1</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4" name="矩形 63"/>
          <p:cNvSpPr>
            <a:spLocks noGrp="1"/>
          </p:cNvSpPr>
          <p:nvPr/>
        </p:nvSpPr>
        <p:spPr>
          <a:xfrm>
            <a:off x="3307715"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积分总额管理</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5" name="矩形 64"/>
          <p:cNvSpPr>
            <a:spLocks noGrp="1"/>
          </p:cNvSpPr>
          <p:nvPr/>
        </p:nvSpPr>
        <p:spPr>
          <a:xfrm>
            <a:off x="3307715"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中心分配额度到业务部门</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66" name="矩形 65"/>
          <p:cNvSpPr>
            <a:spLocks noGrp="1"/>
          </p:cNvSpPr>
          <p:nvPr/>
        </p:nvSpPr>
        <p:spPr>
          <a:xfrm>
            <a:off x="4396740" y="5670550"/>
            <a:ext cx="323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E6B7A"/>
                </a:solidFill>
                <a:latin typeface="PingFang SC" panose="020B0400000000000000" charset="-122"/>
                <a:ea typeface="PingFang SC" panose="020B0400000000000000" charset="-122"/>
                <a:cs typeface="PingFang SC" panose="020B0400000000000000" charset="-122"/>
              </a:defRPr>
            </a:pPr>
            <a:r>
              <a:rPr sz="1350" b="1">
                <a:solidFill>
                  <a:srgbClr val="5E6B7A"/>
                </a:solidFill>
                <a:latin typeface="PingFang SC" panose="020B0400000000000000" charset="-122"/>
                <a:ea typeface="PingFang SC" panose="020B0400000000000000" charset="-122"/>
                <a:cs typeface="PingFang SC" panose="020B0400000000000000" charset="-122"/>
              </a:rPr>
              <a:t>→</a:t>
            </a:r>
            <a:endParaRPr sz="1350" b="1">
              <a:solidFill>
                <a:srgbClr val="5E6B7A"/>
              </a:solidFill>
              <a:latin typeface="PingFang SC" panose="020B0400000000000000" charset="-122"/>
              <a:ea typeface="PingFang SC" panose="020B0400000000000000" charset="-122"/>
              <a:cs typeface="PingFang SC" panose="020B0400000000000000" charset="-122"/>
            </a:endParaRPr>
          </a:p>
        </p:txBody>
      </p:sp>
      <p:sp>
        <p:nvSpPr>
          <p:cNvPr id="67" name="椭圆 66"/>
          <p:cNvSpPr>
            <a:spLocks noGrp="1"/>
          </p:cNvSpPr>
          <p:nvPr/>
        </p:nvSpPr>
        <p:spPr>
          <a:xfrm>
            <a:off x="4701540" y="5613400"/>
            <a:ext cx="285750" cy="285750"/>
          </a:xfrm>
          <a:prstGeom prst="ellipse">
            <a:avLst/>
          </a:prstGeom>
          <a:solidFill>
            <a:srgbClr val="48C0A9"/>
          </a:solidFill>
          <a:ln w="0">
            <a:solidFill>
              <a:srgbClr val="000000">
                <a:alpha val="0"/>
              </a:srgbClr>
            </a:solidFill>
          </a:ln>
        </p:spPr>
      </p:sp>
      <p:sp>
        <p:nvSpPr>
          <p:cNvPr id="68" name="矩形 67"/>
          <p:cNvSpPr>
            <a:spLocks noGrp="1"/>
          </p:cNvSpPr>
          <p:nvPr/>
        </p:nvSpPr>
        <p:spPr>
          <a:xfrm>
            <a:off x="4701540"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2</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9" name="矩形 68"/>
          <p:cNvSpPr>
            <a:spLocks noGrp="1"/>
          </p:cNvSpPr>
          <p:nvPr/>
        </p:nvSpPr>
        <p:spPr>
          <a:xfrm>
            <a:off x="5082540"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业务自行发放</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0" name="矩形 69"/>
          <p:cNvSpPr>
            <a:spLocks noGrp="1"/>
          </p:cNvSpPr>
          <p:nvPr/>
        </p:nvSpPr>
        <p:spPr>
          <a:xfrm>
            <a:off x="5082540"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各系统按业务场景发放</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71" name="矩形 70"/>
          <p:cNvSpPr>
            <a:spLocks noGrp="1"/>
          </p:cNvSpPr>
          <p:nvPr/>
        </p:nvSpPr>
        <p:spPr>
          <a:xfrm>
            <a:off x="6038850" y="5670550"/>
            <a:ext cx="323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E6B7A"/>
                </a:solidFill>
                <a:latin typeface="PingFang SC" panose="020B0400000000000000" charset="-122"/>
                <a:ea typeface="PingFang SC" panose="020B0400000000000000" charset="-122"/>
                <a:cs typeface="PingFang SC" panose="020B0400000000000000" charset="-122"/>
              </a:defRPr>
            </a:pPr>
            <a:r>
              <a:rPr sz="1350" b="1">
                <a:solidFill>
                  <a:srgbClr val="5E6B7A"/>
                </a:solidFill>
                <a:latin typeface="PingFang SC" panose="020B0400000000000000" charset="-122"/>
                <a:ea typeface="PingFang SC" panose="020B0400000000000000" charset="-122"/>
                <a:cs typeface="PingFang SC" panose="020B0400000000000000" charset="-122"/>
              </a:rPr>
              <a:t>→</a:t>
            </a:r>
            <a:endParaRPr sz="1350" b="1">
              <a:solidFill>
                <a:srgbClr val="5E6B7A"/>
              </a:solidFill>
              <a:latin typeface="PingFang SC" panose="020B0400000000000000" charset="-122"/>
              <a:ea typeface="PingFang SC" panose="020B0400000000000000" charset="-122"/>
              <a:cs typeface="PingFang SC" panose="020B0400000000000000" charset="-122"/>
            </a:endParaRPr>
          </a:p>
        </p:txBody>
      </p:sp>
      <p:sp>
        <p:nvSpPr>
          <p:cNvPr id="72" name="椭圆 71"/>
          <p:cNvSpPr>
            <a:spLocks noGrp="1"/>
          </p:cNvSpPr>
          <p:nvPr/>
        </p:nvSpPr>
        <p:spPr>
          <a:xfrm>
            <a:off x="6343650" y="5613400"/>
            <a:ext cx="285750" cy="285750"/>
          </a:xfrm>
          <a:prstGeom prst="ellipse">
            <a:avLst/>
          </a:prstGeom>
          <a:solidFill>
            <a:srgbClr val="48C0A9"/>
          </a:solidFill>
          <a:ln w="0">
            <a:solidFill>
              <a:srgbClr val="000000">
                <a:alpha val="0"/>
              </a:srgbClr>
            </a:solidFill>
          </a:ln>
        </p:spPr>
      </p:sp>
      <p:sp>
        <p:nvSpPr>
          <p:cNvPr id="73" name="矩形 72"/>
          <p:cNvSpPr>
            <a:spLocks noGrp="1"/>
          </p:cNvSpPr>
          <p:nvPr/>
        </p:nvSpPr>
        <p:spPr>
          <a:xfrm>
            <a:off x="6343650" y="5670550"/>
            <a:ext cx="285750" cy="133350"/>
          </a:xfrm>
          <a:prstGeom prst="rect">
            <a:avLst/>
          </a:prstGeom>
          <a:solidFill>
            <a:srgbClr val="48C0A9">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3</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4" name="矩形 73"/>
          <p:cNvSpPr>
            <a:spLocks noGrp="1"/>
          </p:cNvSpPr>
          <p:nvPr/>
        </p:nvSpPr>
        <p:spPr>
          <a:xfrm>
            <a:off x="6724650"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业务自行核销</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5" name="矩形 74"/>
          <p:cNvSpPr>
            <a:spLocks noGrp="1"/>
          </p:cNvSpPr>
          <p:nvPr/>
        </p:nvSpPr>
        <p:spPr>
          <a:xfrm>
            <a:off x="6724650"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业务侧核销并回传明细</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76" name="矩形 75"/>
          <p:cNvSpPr>
            <a:spLocks noGrp="1"/>
          </p:cNvSpPr>
          <p:nvPr/>
        </p:nvSpPr>
        <p:spPr>
          <a:xfrm>
            <a:off x="7687945" y="5670550"/>
            <a:ext cx="323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E6B7A"/>
                </a:solidFill>
                <a:latin typeface="PingFang SC" panose="020B0400000000000000" charset="-122"/>
                <a:ea typeface="PingFang SC" panose="020B0400000000000000" charset="-122"/>
                <a:cs typeface="PingFang SC" panose="020B0400000000000000" charset="-122"/>
              </a:defRPr>
            </a:pPr>
            <a:r>
              <a:rPr sz="1350" b="1">
                <a:solidFill>
                  <a:srgbClr val="5E6B7A"/>
                </a:solidFill>
                <a:latin typeface="PingFang SC" panose="020B0400000000000000" charset="-122"/>
                <a:ea typeface="PingFang SC" panose="020B0400000000000000" charset="-122"/>
                <a:cs typeface="PingFang SC" panose="020B0400000000000000" charset="-122"/>
              </a:rPr>
              <a:t>→</a:t>
            </a:r>
            <a:endParaRPr sz="1350" b="1">
              <a:solidFill>
                <a:srgbClr val="5E6B7A"/>
              </a:solidFill>
              <a:latin typeface="PingFang SC" panose="020B0400000000000000" charset="-122"/>
              <a:ea typeface="PingFang SC" panose="020B0400000000000000" charset="-122"/>
              <a:cs typeface="PingFang SC" panose="020B0400000000000000" charset="-122"/>
            </a:endParaRPr>
          </a:p>
        </p:txBody>
      </p:sp>
      <p:sp>
        <p:nvSpPr>
          <p:cNvPr id="77" name="椭圆 76"/>
          <p:cNvSpPr>
            <a:spLocks noGrp="1"/>
          </p:cNvSpPr>
          <p:nvPr/>
        </p:nvSpPr>
        <p:spPr>
          <a:xfrm>
            <a:off x="7992745" y="5613400"/>
            <a:ext cx="285750" cy="285750"/>
          </a:xfrm>
          <a:prstGeom prst="ellipse">
            <a:avLst/>
          </a:prstGeom>
          <a:solidFill>
            <a:srgbClr val="48C0A9"/>
          </a:solidFill>
          <a:ln w="0">
            <a:solidFill>
              <a:srgbClr val="000000">
                <a:alpha val="0"/>
              </a:srgbClr>
            </a:solidFill>
          </a:ln>
        </p:spPr>
      </p:sp>
      <p:sp>
        <p:nvSpPr>
          <p:cNvPr id="78" name="矩形 77"/>
          <p:cNvSpPr>
            <a:spLocks noGrp="1"/>
          </p:cNvSpPr>
          <p:nvPr/>
        </p:nvSpPr>
        <p:spPr>
          <a:xfrm>
            <a:off x="7992745"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4</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9" name="矩形 78"/>
          <p:cNvSpPr>
            <a:spLocks noGrp="1"/>
          </p:cNvSpPr>
          <p:nvPr/>
        </p:nvSpPr>
        <p:spPr>
          <a:xfrm>
            <a:off x="8373745"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风控预警</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0" name="矩形 79"/>
          <p:cNvSpPr>
            <a:spLocks noGrp="1"/>
          </p:cNvSpPr>
          <p:nvPr/>
        </p:nvSpPr>
        <p:spPr>
          <a:xfrm>
            <a:off x="8373745"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中心监控额度和异常</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81" name="矩形 80"/>
          <p:cNvSpPr>
            <a:spLocks noGrp="1"/>
          </p:cNvSpPr>
          <p:nvPr/>
        </p:nvSpPr>
        <p:spPr>
          <a:xfrm>
            <a:off x="9288145" y="5670550"/>
            <a:ext cx="323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E6B7A"/>
                </a:solidFill>
                <a:latin typeface="PingFang SC" panose="020B0400000000000000" charset="-122"/>
                <a:ea typeface="PingFang SC" panose="020B0400000000000000" charset="-122"/>
                <a:cs typeface="PingFang SC" panose="020B0400000000000000" charset="-122"/>
              </a:defRPr>
            </a:pPr>
            <a:r>
              <a:rPr sz="1350" b="1">
                <a:solidFill>
                  <a:srgbClr val="5E6B7A"/>
                </a:solidFill>
                <a:latin typeface="PingFang SC" panose="020B0400000000000000" charset="-122"/>
                <a:ea typeface="PingFang SC" panose="020B0400000000000000" charset="-122"/>
                <a:cs typeface="PingFang SC" panose="020B0400000000000000" charset="-122"/>
              </a:rPr>
              <a:t>→</a:t>
            </a:r>
            <a:endParaRPr sz="1350" b="1">
              <a:solidFill>
                <a:srgbClr val="5E6B7A"/>
              </a:solidFill>
              <a:latin typeface="PingFang SC" panose="020B0400000000000000" charset="-122"/>
              <a:ea typeface="PingFang SC" panose="020B0400000000000000" charset="-122"/>
              <a:cs typeface="PingFang SC" panose="020B0400000000000000" charset="-122"/>
            </a:endParaRPr>
          </a:p>
        </p:txBody>
      </p:sp>
      <p:sp>
        <p:nvSpPr>
          <p:cNvPr id="82" name="椭圆 81"/>
          <p:cNvSpPr>
            <a:spLocks noGrp="1"/>
          </p:cNvSpPr>
          <p:nvPr/>
        </p:nvSpPr>
        <p:spPr>
          <a:xfrm>
            <a:off x="9592945" y="5613400"/>
            <a:ext cx="285750" cy="285750"/>
          </a:xfrm>
          <a:prstGeom prst="ellipse">
            <a:avLst/>
          </a:prstGeom>
          <a:solidFill>
            <a:srgbClr val="48C0A9"/>
          </a:solidFill>
          <a:ln w="0">
            <a:solidFill>
              <a:srgbClr val="000000">
                <a:alpha val="0"/>
              </a:srgbClr>
            </a:solidFill>
          </a:ln>
        </p:spPr>
      </p:sp>
      <p:sp>
        <p:nvSpPr>
          <p:cNvPr id="83" name="矩形 82"/>
          <p:cNvSpPr>
            <a:spLocks noGrp="1"/>
          </p:cNvSpPr>
          <p:nvPr/>
        </p:nvSpPr>
        <p:spPr>
          <a:xfrm>
            <a:off x="9592945"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5</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4" name="矩形 83"/>
          <p:cNvSpPr>
            <a:spLocks noGrp="1"/>
          </p:cNvSpPr>
          <p:nvPr/>
        </p:nvSpPr>
        <p:spPr>
          <a:xfrm>
            <a:off x="9973945"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清结算</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5" name="矩形 84"/>
          <p:cNvSpPr>
            <a:spLocks noGrp="1"/>
          </p:cNvSpPr>
          <p:nvPr/>
        </p:nvSpPr>
        <p:spPr>
          <a:xfrm>
            <a:off x="9973945"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形成部门成本和对账结果</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86" name="矩形 85"/>
          <p:cNvSpPr>
            <a:spLocks noGrp="1"/>
          </p:cNvSpPr>
          <p:nvPr/>
        </p:nvSpPr>
        <p:spPr>
          <a:xfrm>
            <a:off x="3143250" y="6203950"/>
            <a:ext cx="7810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5" b="0">
                <a:solidFill>
                  <a:srgbClr val="D6DEE8"/>
                </a:solidFill>
                <a:latin typeface="PingFang SC" panose="020B0400000000000000" charset="-122"/>
                <a:ea typeface="PingFang SC" panose="020B0400000000000000" charset="-122"/>
                <a:cs typeface="PingFang SC" panose="020B0400000000000000" charset="-122"/>
              </a:defRPr>
            </a:pPr>
            <a:r>
              <a:rPr sz="945" b="0">
                <a:solidFill>
                  <a:srgbClr val="D6DEE8"/>
                </a:solidFill>
                <a:latin typeface="PingFang SC" panose="020B0400000000000000" charset="-122"/>
                <a:ea typeface="PingFang SC" panose="020B0400000000000000" charset="-122"/>
                <a:cs typeface="PingFang SC" panose="020B0400000000000000" charset="-122"/>
              </a:rPr>
              <a:t>建议：会员积分管理中心作为统一中台，业务系统在授权额度内自行发放、核销，中心负责总额、风控和清结算。</a:t>
            </a:r>
            <a:endParaRPr sz="945" b="0">
              <a:solidFill>
                <a:srgbClr val="D6DEE8"/>
              </a:solidFill>
              <a:latin typeface="PingFang SC" panose="020B0400000000000000" charset="-122"/>
              <a:ea typeface="PingFang SC" panose="020B0400000000000000" charset="-122"/>
              <a:cs typeface="PingFang SC" panose="020B0400000000000000" charset="-122"/>
            </a:endParaRPr>
          </a:p>
        </p:txBody>
      </p:sp>
      <p:sp>
        <p:nvSpPr>
          <p:cNvPr id="4" name="文本框 3"/>
          <p:cNvSpPr txBox="1"/>
          <p:nvPr/>
        </p:nvSpPr>
        <p:spPr>
          <a:xfrm>
            <a:off x="230505" y="862965"/>
            <a:ext cx="4064000" cy="914400"/>
          </a:xfrm>
          <a:prstGeom prst="rect">
            <a:avLst/>
          </a:prstGeom>
          <a:noFill/>
        </p:spPr>
        <p:txBody>
          <a:bodyPr wrap="square" lIns="54610" tIns="54610" rIns="54610" bIns="54610" rtlCol="0">
            <a:noAutofit/>
          </a:bodyPr>
          <a:p>
            <a:pPr>
              <a:spcAft>
                <a:spcPts val="600"/>
              </a:spcAft>
            </a:pPr>
            <a:endParaRPr lang="zh-CN" altLang="en-US" sz="1000" dirty="0" err="1" smtClean="0">
              <a:solidFill>
                <a:schemeClr val="tx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rPr>
              <a:t>会员积分清结算方式对比分析</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2" name="Rectangle 43"/>
          <p:cNvSpPr/>
          <p:nvPr/>
        </p:nvSpPr>
        <p:spPr>
          <a:xfrm>
            <a:off x="553334" y="1242060"/>
            <a:ext cx="513080" cy="2618105"/>
          </a:xfrm>
          <a:prstGeom prst="rect">
            <a:avLst/>
          </a:prstGeom>
          <a:solidFill>
            <a:srgbClr val="0070C6"/>
          </a:solidFill>
          <a:ln w="12700" cap="flat" cmpd="sng" algn="ctr">
            <a:noFill/>
            <a:prstDash val="solid"/>
            <a:miter lim="800000"/>
          </a:ln>
          <a:effectLst/>
        </p:spPr>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FFFFFF"/>
                </a:solidFill>
                <a:effectLst/>
                <a:uLnTx/>
                <a:uFillTx/>
                <a:latin typeface="微软雅黑" charset="0"/>
                <a:ea typeface="微软雅黑" charset="0"/>
                <a:cs typeface="+mn-cs"/>
                <a:sym typeface="+mn-lt"/>
              </a:rPr>
              <a:t>发分结算</a:t>
            </a:r>
            <a:endParaRPr kumimoji="0" lang="zh-CN" altLang="en-US" sz="1400" b="1" i="0" u="none" strike="noStrike" kern="0" cap="none" spc="0" normalizeH="0" baseline="0" noProof="0" dirty="0">
              <a:ln>
                <a:noFill/>
              </a:ln>
              <a:solidFill>
                <a:srgbClr val="FFFFFF"/>
              </a:solidFill>
              <a:effectLst/>
              <a:uLnTx/>
              <a:uFillTx/>
              <a:latin typeface="微软雅黑" charset="0"/>
              <a:ea typeface="微软雅黑" charset="0"/>
              <a:cs typeface="+mn-cs"/>
              <a:sym typeface="+mn-lt"/>
            </a:endParaRPr>
          </a:p>
        </p:txBody>
      </p:sp>
      <p:sp>
        <p:nvSpPr>
          <p:cNvPr id="20" name="Rectangle 43"/>
          <p:cNvSpPr/>
          <p:nvPr/>
        </p:nvSpPr>
        <p:spPr>
          <a:xfrm>
            <a:off x="553334" y="4156710"/>
            <a:ext cx="513080" cy="2618105"/>
          </a:xfrm>
          <a:prstGeom prst="rect">
            <a:avLst/>
          </a:prstGeom>
          <a:solidFill>
            <a:srgbClr val="0070C6"/>
          </a:solidFill>
          <a:ln w="12700" cap="flat" cmpd="sng" algn="ctr">
            <a:noFill/>
            <a:prstDash val="solid"/>
            <a:miter lim="800000"/>
          </a:ln>
          <a:effectLst/>
        </p:spPr>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FFFFFF"/>
                </a:solidFill>
                <a:effectLst/>
                <a:uLnTx/>
                <a:uFillTx/>
                <a:latin typeface="微软雅黑" charset="0"/>
                <a:ea typeface="微软雅黑" charset="0"/>
                <a:cs typeface="+mn-cs"/>
                <a:sym typeface="+mn-lt"/>
              </a:rPr>
              <a:t>兑分结算</a:t>
            </a:r>
            <a:endParaRPr kumimoji="0" lang="zh-CN" altLang="en-US" sz="1400" b="1" i="0" u="none" strike="noStrike" kern="0" cap="none" spc="0" normalizeH="0" baseline="0" noProof="0" dirty="0">
              <a:ln>
                <a:noFill/>
              </a:ln>
              <a:solidFill>
                <a:srgbClr val="FFFFFF"/>
              </a:solidFill>
              <a:effectLst/>
              <a:uLnTx/>
              <a:uFillTx/>
              <a:latin typeface="微软雅黑" charset="0"/>
              <a:ea typeface="微软雅黑" charset="0"/>
              <a:cs typeface="+mn-cs"/>
              <a:sym typeface="+mn-lt"/>
            </a:endParaRPr>
          </a:p>
        </p:txBody>
      </p:sp>
      <p:sp>
        <p:nvSpPr>
          <p:cNvPr id="24" name="圆角矩形 23"/>
          <p:cNvSpPr/>
          <p:nvPr/>
        </p:nvSpPr>
        <p:spPr>
          <a:xfrm rot="20460000">
            <a:off x="185739" y="1372418"/>
            <a:ext cx="838278" cy="400726"/>
          </a:xfrm>
          <a:prstGeom prst="roundRect">
            <a:avLst/>
          </a:prstGeom>
          <a:solidFill>
            <a:srgbClr val="00B050"/>
          </a:soli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zh-CN" altLang="en-US" sz="1400" b="1">
                <a:solidFill>
                  <a:schemeClr val="bg1"/>
                </a:solidFill>
                <a:latin typeface="微软雅黑" charset="0"/>
                <a:ea typeface="微软雅黑" charset="0"/>
              </a:rPr>
              <a:t>推荐</a:t>
            </a:r>
            <a:endParaRPr lang="zh-CN" altLang="en-US" sz="1400" b="1" dirty="0" err="1">
              <a:solidFill>
                <a:schemeClr val="bg1"/>
              </a:solidFill>
              <a:latin typeface="微软雅黑" charset="0"/>
              <a:ea typeface="微软雅黑" charset="0"/>
            </a:endParaRPr>
          </a:p>
        </p:txBody>
      </p:sp>
      <p:sp>
        <p:nvSpPr>
          <p:cNvPr id="102" name="文本框 22"/>
          <p:cNvSpPr txBox="1"/>
          <p:nvPr>
            <p:custDataLst>
              <p:tags r:id="rId1"/>
            </p:custDataLst>
          </p:nvPr>
        </p:nvSpPr>
        <p:spPr>
          <a:xfrm>
            <a:off x="1288911" y="1644307"/>
            <a:ext cx="4183380" cy="521179"/>
          </a:xfrm>
          <a:prstGeom prst="rect">
            <a:avLst/>
          </a:prstGeom>
          <a:solidFill>
            <a:srgbClr val="0070C6"/>
          </a:solidFill>
          <a:ln>
            <a:noFill/>
            <a:prstDash val="solid"/>
          </a:ln>
        </p:spPr>
        <p:txBody>
          <a:bodyPr wrap="square" rtlCol="0" anchor="ctr" anchorCtr="0">
            <a:noAutofit/>
          </a:bodyPr>
          <a:lstStyle/>
          <a:p>
            <a:pPr algn="ctr"/>
            <a:r>
              <a:rPr lang="zh-CN" altLang="en-US" sz="1600" b="1">
                <a:solidFill>
                  <a:schemeClr val="bg1"/>
                </a:solidFill>
                <a:latin typeface="微软雅黑" charset="0"/>
                <a:ea typeface="微软雅黑" charset="0"/>
              </a:rPr>
              <a:t>会员积分中台</a:t>
            </a:r>
            <a:endParaRPr lang="zh-CN" altLang="en-US" sz="1600" b="1">
              <a:solidFill>
                <a:schemeClr val="bg1"/>
              </a:solidFill>
              <a:latin typeface="微软雅黑" charset="0"/>
              <a:ea typeface="微软雅黑" charset="0"/>
            </a:endParaRPr>
          </a:p>
        </p:txBody>
      </p:sp>
      <p:cxnSp>
        <p:nvCxnSpPr>
          <p:cNvPr id="104" name="Connector: Elbow 103"/>
          <p:cNvCxnSpPr>
            <a:stCxn id="102" idx="2"/>
            <a:endCxn id="91" idx="0"/>
          </p:cNvCxnSpPr>
          <p:nvPr/>
        </p:nvCxnSpPr>
        <p:spPr>
          <a:xfrm rot="5400000">
            <a:off x="2322165" y="1907512"/>
            <a:ext cx="800463" cy="1316411"/>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Connector: Elbow 106"/>
          <p:cNvCxnSpPr/>
          <p:nvPr/>
        </p:nvCxnSpPr>
        <p:spPr>
          <a:xfrm rot="5400000" flipV="1">
            <a:off x="3167977" y="2744085"/>
            <a:ext cx="430032" cy="2699"/>
          </a:xfrm>
          <a:prstGeom prst="bentConnector3">
            <a:avLst>
              <a:gd name="adj1" fmla="val 50179"/>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Connector: Elbow 110"/>
          <p:cNvCxnSpPr>
            <a:stCxn id="102" idx="2"/>
          </p:cNvCxnSpPr>
          <p:nvPr/>
        </p:nvCxnSpPr>
        <p:spPr>
          <a:xfrm rot="5400000" flipV="1">
            <a:off x="3645271" y="1901326"/>
            <a:ext cx="793815" cy="1322691"/>
          </a:xfrm>
          <a:prstGeom prst="bentConnector3">
            <a:avLst>
              <a:gd name="adj1" fmla="val 50024"/>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文本框 112"/>
          <p:cNvSpPr txBox="1"/>
          <p:nvPr>
            <p:custDataLst>
              <p:tags r:id="rId2"/>
            </p:custDataLst>
          </p:nvPr>
        </p:nvSpPr>
        <p:spPr>
          <a:xfrm>
            <a:off x="1502292" y="1427155"/>
            <a:ext cx="1081909" cy="366736"/>
          </a:xfrm>
          <a:prstGeom prst="roundRect">
            <a:avLst/>
          </a:prstGeom>
          <a:solidFill>
            <a:srgbClr val="FF8439"/>
          </a:solidFill>
          <a:ln>
            <a:noFill/>
            <a:prstDash val="dash"/>
          </a:ln>
        </p:spPr>
        <p:txBody>
          <a:bodyPr wrap="square" rtlCol="0" anchor="ctr" anchorCtr="0">
            <a:noAutofit/>
          </a:bodyPr>
          <a:lstStyle/>
          <a:p>
            <a:pPr algn="ctr"/>
            <a:r>
              <a:rPr lang="zh-CN" altLang="en-US" sz="1400" b="1">
                <a:solidFill>
                  <a:schemeClr val="bg1"/>
                </a:solidFill>
                <a:latin typeface="微软雅黑" charset="0"/>
                <a:ea typeface="微软雅黑" charset="0"/>
                <a:sym typeface="+mn-ea"/>
              </a:rPr>
              <a:t>统一</a:t>
            </a:r>
            <a:r>
              <a:rPr lang="zh-CN" altLang="en-US" sz="1400" b="1" dirty="0">
                <a:solidFill>
                  <a:schemeClr val="bg1"/>
                </a:solidFill>
                <a:latin typeface="微软雅黑" charset="0"/>
                <a:ea typeface="微软雅黑" charset="0"/>
                <a:sym typeface="+mn-ea"/>
              </a:rPr>
              <a:t>规则</a:t>
            </a:r>
            <a:endParaRPr lang="zh-CN" altLang="en-US" sz="1400" b="1" dirty="0">
              <a:solidFill>
                <a:schemeClr val="bg1"/>
              </a:solidFill>
              <a:latin typeface="微软雅黑" charset="0"/>
              <a:ea typeface="微软雅黑" charset="0"/>
              <a:sym typeface="+mn-ea"/>
            </a:endParaRPr>
          </a:p>
        </p:txBody>
      </p:sp>
      <p:sp>
        <p:nvSpPr>
          <p:cNvPr id="10" name="Rectangle 90"/>
          <p:cNvSpPr/>
          <p:nvPr/>
        </p:nvSpPr>
        <p:spPr>
          <a:xfrm>
            <a:off x="1482472" y="5924341"/>
            <a:ext cx="1163375" cy="477300"/>
          </a:xfrm>
          <a:prstGeom prst="rect">
            <a:avLst/>
          </a:prstGeom>
          <a:solidFill>
            <a:srgbClr val="0070C6"/>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r>
              <a:rPr lang="zh-CN" altLang="en-US" sz="1400">
                <a:solidFill>
                  <a:schemeClr val="bg1"/>
                </a:solidFill>
                <a:latin typeface="微软雅黑" charset="0"/>
                <a:ea typeface="微软雅黑" charset="0"/>
                <a:cs typeface="微软雅黑" charset="0"/>
              </a:rPr>
              <a:t>业务系统</a:t>
            </a:r>
            <a:endParaRPr lang="zh-CN" altLang="en-US" sz="1400">
              <a:solidFill>
                <a:schemeClr val="bg1"/>
              </a:solidFill>
              <a:latin typeface="微软雅黑" charset="0"/>
              <a:ea typeface="微软雅黑" charset="0"/>
              <a:cs typeface="微软雅黑" charset="0"/>
            </a:endParaRPr>
          </a:p>
        </p:txBody>
      </p:sp>
      <p:sp>
        <p:nvSpPr>
          <p:cNvPr id="11" name="Rectangle 91"/>
          <p:cNvSpPr/>
          <p:nvPr/>
        </p:nvSpPr>
        <p:spPr>
          <a:xfrm>
            <a:off x="2801722" y="5924341"/>
            <a:ext cx="1163375" cy="477300"/>
          </a:xfrm>
          <a:prstGeom prst="rect">
            <a:avLst/>
          </a:prstGeom>
          <a:solidFill>
            <a:srgbClr val="0070C6"/>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r>
              <a:rPr lang="zh-CN" altLang="en-US" sz="1400">
                <a:solidFill>
                  <a:schemeClr val="bg1"/>
                </a:solidFill>
                <a:latin typeface="微软雅黑" charset="0"/>
                <a:ea typeface="微软雅黑" charset="0"/>
                <a:cs typeface="微软雅黑" charset="0"/>
                <a:sym typeface="+mn-ea"/>
              </a:rPr>
              <a:t>业务系统</a:t>
            </a:r>
            <a:endParaRPr lang="zh-CN" altLang="en-US" sz="1400">
              <a:solidFill>
                <a:schemeClr val="bg1"/>
              </a:solidFill>
              <a:latin typeface="微软雅黑" charset="0"/>
              <a:ea typeface="微软雅黑" charset="0"/>
              <a:cs typeface="微软雅黑" charset="0"/>
              <a:sym typeface="+mn-ea"/>
            </a:endParaRPr>
          </a:p>
        </p:txBody>
      </p:sp>
      <p:sp>
        <p:nvSpPr>
          <p:cNvPr id="12" name="Rectangle 92"/>
          <p:cNvSpPr/>
          <p:nvPr/>
        </p:nvSpPr>
        <p:spPr>
          <a:xfrm>
            <a:off x="4120971" y="5924341"/>
            <a:ext cx="1163375" cy="477300"/>
          </a:xfrm>
          <a:prstGeom prst="rect">
            <a:avLst/>
          </a:prstGeom>
          <a:solidFill>
            <a:srgbClr val="0070C6"/>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r>
              <a:rPr lang="zh-CN" altLang="en-US" sz="1400">
                <a:solidFill>
                  <a:schemeClr val="bg1"/>
                </a:solidFill>
                <a:latin typeface="微软雅黑" charset="0"/>
                <a:ea typeface="微软雅黑" charset="0"/>
                <a:cs typeface="微软雅黑" charset="0"/>
                <a:sym typeface="+mn-ea"/>
              </a:rPr>
              <a:t>业务系统</a:t>
            </a:r>
            <a:endParaRPr lang="zh-CN" altLang="en-US" sz="1400">
              <a:solidFill>
                <a:schemeClr val="bg1"/>
              </a:solidFill>
              <a:latin typeface="微软雅黑" charset="0"/>
              <a:ea typeface="微软雅黑" charset="0"/>
              <a:cs typeface="微软雅黑" charset="0"/>
              <a:sym typeface="+mn-ea"/>
            </a:endParaRPr>
          </a:p>
        </p:txBody>
      </p:sp>
      <p:cxnSp>
        <p:nvCxnSpPr>
          <p:cNvPr id="14" name="Connector: Elbow 103"/>
          <p:cNvCxnSpPr>
            <a:endCxn id="10" idx="0"/>
          </p:cNvCxnSpPr>
          <p:nvPr/>
        </p:nvCxnSpPr>
        <p:spPr>
          <a:xfrm rot="5400000">
            <a:off x="2359105" y="4902641"/>
            <a:ext cx="726982" cy="1316010"/>
          </a:xfrm>
          <a:prstGeom prst="bentConnector3">
            <a:avLst>
              <a:gd name="adj1" fmla="val 50024"/>
            </a:avLst>
          </a:prstGeom>
          <a:ln w="3175">
            <a:solidFill>
              <a:schemeClr val="accent3"/>
            </a:solidFill>
            <a:tailEnd type="none"/>
          </a:ln>
        </p:spPr>
        <p:style>
          <a:lnRef idx="1">
            <a:schemeClr val="accent1"/>
          </a:lnRef>
          <a:fillRef idx="0">
            <a:schemeClr val="accent1"/>
          </a:fillRef>
          <a:effectRef idx="0">
            <a:schemeClr val="accent1"/>
          </a:effectRef>
          <a:fontRef idx="minor">
            <a:schemeClr val="tx1"/>
          </a:fontRef>
        </p:style>
      </p:cxnSp>
      <p:cxnSp>
        <p:nvCxnSpPr>
          <p:cNvPr id="15" name="Connector: Elbow 106"/>
          <p:cNvCxnSpPr>
            <a:endCxn id="11" idx="0"/>
          </p:cNvCxnSpPr>
          <p:nvPr/>
        </p:nvCxnSpPr>
        <p:spPr>
          <a:xfrm rot="5400000" flipV="1">
            <a:off x="3201809" y="5742107"/>
            <a:ext cx="361362" cy="2699"/>
          </a:xfrm>
          <a:prstGeom prst="bentConnector3">
            <a:avLst>
              <a:gd name="adj1" fmla="val 50074"/>
            </a:avLst>
          </a:prstGeom>
          <a:ln w="63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6" name="Connector: Elbow 110"/>
          <p:cNvCxnSpPr>
            <a:endCxn id="12" idx="0"/>
          </p:cNvCxnSpPr>
          <p:nvPr/>
        </p:nvCxnSpPr>
        <p:spPr>
          <a:xfrm rot="5400000" flipV="1">
            <a:off x="3678354" y="4899403"/>
            <a:ext cx="726982" cy="1322488"/>
          </a:xfrm>
          <a:prstGeom prst="bentConnector3">
            <a:avLst>
              <a:gd name="adj1" fmla="val 50024"/>
            </a:avLst>
          </a:prstGeom>
          <a:ln w="3175">
            <a:solidFill>
              <a:schemeClr val="accent3"/>
            </a:solidFill>
            <a:tailEnd type="none"/>
          </a:ln>
        </p:spPr>
        <p:style>
          <a:lnRef idx="1">
            <a:schemeClr val="accent1"/>
          </a:lnRef>
          <a:fillRef idx="0">
            <a:schemeClr val="accent1"/>
          </a:fillRef>
          <a:effectRef idx="0">
            <a:schemeClr val="accent1"/>
          </a:effectRef>
          <a:fontRef idx="minor">
            <a:schemeClr val="tx1"/>
          </a:fontRef>
        </p:style>
      </p:cxnSp>
      <p:sp>
        <p:nvSpPr>
          <p:cNvPr id="21" name="Rectangle 92"/>
          <p:cNvSpPr/>
          <p:nvPr/>
        </p:nvSpPr>
        <p:spPr>
          <a:xfrm>
            <a:off x="1288911" y="4700616"/>
            <a:ext cx="4183380" cy="477381"/>
          </a:xfrm>
          <a:prstGeom prst="rect">
            <a:avLst/>
          </a:prstGeom>
          <a:solidFill>
            <a:schemeClr val="bg1">
              <a:lumMod val="95000"/>
            </a:schemeClr>
          </a:solidFill>
          <a:ln w="9525">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endParaRPr lang="zh-CN" altLang="en-US" sz="1400">
              <a:solidFill>
                <a:schemeClr val="bg1">
                  <a:lumMod val="50000"/>
                </a:schemeClr>
              </a:solidFill>
              <a:latin typeface="微软雅黑" charset="0"/>
              <a:ea typeface="微软雅黑" charset="0"/>
              <a:cs typeface="微软雅黑" charset="0"/>
            </a:endParaRPr>
          </a:p>
        </p:txBody>
      </p:sp>
      <p:cxnSp>
        <p:nvCxnSpPr>
          <p:cNvPr id="22" name="Connector: Elbow 106"/>
          <p:cNvCxnSpPr/>
          <p:nvPr/>
        </p:nvCxnSpPr>
        <p:spPr>
          <a:xfrm rot="5400000" flipV="1">
            <a:off x="4527536" y="5739446"/>
            <a:ext cx="361362" cy="2699"/>
          </a:xfrm>
          <a:prstGeom prst="bentConnector3">
            <a:avLst>
              <a:gd name="adj1" fmla="val 50074"/>
            </a:avLst>
          </a:prstGeom>
          <a:ln w="63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23" name="Connector: Elbow 106"/>
          <p:cNvCxnSpPr/>
          <p:nvPr/>
        </p:nvCxnSpPr>
        <p:spPr>
          <a:xfrm rot="5400000" flipV="1">
            <a:off x="1889038" y="5736785"/>
            <a:ext cx="361362" cy="2699"/>
          </a:xfrm>
          <a:prstGeom prst="bentConnector3">
            <a:avLst>
              <a:gd name="adj1" fmla="val 50074"/>
            </a:avLst>
          </a:prstGeom>
          <a:ln w="63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2" name="Rectangle 137"/>
          <p:cNvSpPr/>
          <p:nvPr/>
        </p:nvSpPr>
        <p:spPr>
          <a:xfrm>
            <a:off x="5853224" y="1389553"/>
            <a:ext cx="65970" cy="1005840"/>
          </a:xfrm>
          <a:prstGeom prst="rect">
            <a:avLst/>
          </a:prstGeom>
          <a:solidFill>
            <a:srgbClr val="0070C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Arial" panose="020B0604020202090204"/>
              <a:ea typeface="微软雅黑"/>
              <a:cs typeface="+mn-cs"/>
            </a:endParaRPr>
          </a:p>
        </p:txBody>
      </p:sp>
      <p:cxnSp>
        <p:nvCxnSpPr>
          <p:cNvPr id="33" name="Straight Connector 32"/>
          <p:cNvCxnSpPr>
            <a:stCxn id="102" idx="3"/>
            <a:endCxn id="32" idx="1"/>
          </p:cNvCxnSpPr>
          <p:nvPr/>
        </p:nvCxnSpPr>
        <p:spPr>
          <a:xfrm flipV="1">
            <a:off x="5472291" y="1892473"/>
            <a:ext cx="380933" cy="12424"/>
          </a:xfrm>
          <a:prstGeom prst="line">
            <a:avLst/>
          </a:prstGeom>
          <a:ln>
            <a:solidFill>
              <a:schemeClr val="tx1">
                <a:lumMod val="75000"/>
                <a:lumOff val="2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Rectangle 137"/>
          <p:cNvSpPr/>
          <p:nvPr/>
        </p:nvSpPr>
        <p:spPr>
          <a:xfrm>
            <a:off x="6141471" y="1389553"/>
            <a:ext cx="3383280" cy="1005840"/>
          </a:xfrm>
          <a:prstGeom prst="rect">
            <a:avLst/>
          </a:prstGeom>
          <a:solidFill>
            <a:srgbClr val="EAF1FA"/>
          </a:solidFill>
          <a:ln w="12700" cap="flat" cmpd="sng" algn="ctr">
            <a:noFill/>
            <a:prstDash val="solid"/>
            <a:miter lim="800000"/>
          </a:ln>
          <a:effectLst/>
        </p:spPr>
        <p:txBody>
          <a:bodyPr lIns="72000" tIns="108000" rIns="72000" bIns="108000" rtlCol="0" anchor="ctr" anchorCtr="0"/>
          <a:lstStyle/>
          <a:p>
            <a:pPr>
              <a:spcAft>
                <a:spcPts val="300"/>
              </a:spcAft>
            </a:pPr>
            <a:r>
              <a:rPr lang="zh-CN" altLang="en-US" sz="1400" b="1" kern="0">
                <a:solidFill>
                  <a:schemeClr val="tx2"/>
                </a:solidFill>
                <a:latin typeface="Arial" panose="020B0604020202090204"/>
                <a:ea typeface="微软雅黑"/>
              </a:rPr>
              <a:t>由统筹部门</a:t>
            </a:r>
            <a:r>
              <a:rPr lang="zh-CN" altLang="en-US" sz="1400" kern="0">
                <a:latin typeface="Arial" panose="020B0604020202090204"/>
                <a:ea typeface="微软雅黑"/>
              </a:rPr>
              <a:t>：统筹分配分值</a:t>
            </a:r>
            <a:endParaRPr lang="en-US" altLang="zh-CN" sz="1400" kern="0">
              <a:latin typeface="Arial" panose="020B0604020202090204"/>
              <a:ea typeface="微软雅黑"/>
            </a:endParaRPr>
          </a:p>
          <a:p>
            <a:pPr marL="171450" indent="-17145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统筹下发各业务配额</a:t>
            </a:r>
            <a:endParaRPr lang="zh-CN" altLang="en-US" sz="1400" kern="0">
              <a:solidFill>
                <a:srgbClr val="000000">
                  <a:lumMod val="75000"/>
                  <a:lumOff val="25000"/>
                </a:srgbClr>
              </a:solidFill>
              <a:latin typeface="Arial" panose="020B0604020202090204"/>
              <a:ea typeface="微软雅黑"/>
            </a:endParaRPr>
          </a:p>
          <a:p>
            <a:pPr marL="171450" indent="-17145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统一规则和权益</a:t>
            </a:r>
            <a:endParaRPr lang="zh-CN" altLang="en-US" sz="1400" kern="0">
              <a:solidFill>
                <a:srgbClr val="000000">
                  <a:lumMod val="75000"/>
                  <a:lumOff val="25000"/>
                </a:srgbClr>
              </a:solidFill>
              <a:latin typeface="Arial" panose="020B0604020202090204"/>
              <a:ea typeface="微软雅黑"/>
            </a:endParaRPr>
          </a:p>
        </p:txBody>
      </p:sp>
      <p:sp>
        <p:nvSpPr>
          <p:cNvPr id="42" name="Rectangle 137"/>
          <p:cNvSpPr/>
          <p:nvPr/>
        </p:nvSpPr>
        <p:spPr>
          <a:xfrm>
            <a:off x="5844883" y="2710180"/>
            <a:ext cx="65970" cy="1005840"/>
          </a:xfrm>
          <a:prstGeom prst="rect">
            <a:avLst/>
          </a:prstGeom>
          <a:solidFill>
            <a:srgbClr val="0070C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Arial" panose="020B0604020202090204"/>
              <a:ea typeface="微软雅黑"/>
              <a:cs typeface="+mn-cs"/>
            </a:endParaRPr>
          </a:p>
        </p:txBody>
      </p:sp>
      <p:cxnSp>
        <p:nvCxnSpPr>
          <p:cNvPr id="43" name="Straight Connector 42"/>
          <p:cNvCxnSpPr>
            <a:endCxn id="42" idx="1"/>
          </p:cNvCxnSpPr>
          <p:nvPr/>
        </p:nvCxnSpPr>
        <p:spPr>
          <a:xfrm flipV="1">
            <a:off x="5284871" y="3213100"/>
            <a:ext cx="560012" cy="7291"/>
          </a:xfrm>
          <a:prstGeom prst="line">
            <a:avLst/>
          </a:prstGeom>
          <a:ln>
            <a:solidFill>
              <a:schemeClr val="tx1">
                <a:lumMod val="75000"/>
                <a:lumOff val="2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Rectangle 137"/>
          <p:cNvSpPr/>
          <p:nvPr/>
        </p:nvSpPr>
        <p:spPr>
          <a:xfrm>
            <a:off x="6133130" y="2688936"/>
            <a:ext cx="3383280" cy="1005840"/>
          </a:xfrm>
          <a:prstGeom prst="rect">
            <a:avLst/>
          </a:prstGeom>
          <a:solidFill>
            <a:srgbClr val="EAF1FA"/>
          </a:solidFill>
          <a:ln w="12700" cap="flat" cmpd="sng" algn="ctr">
            <a:noFill/>
            <a:prstDash val="solid"/>
            <a:miter lim="800000"/>
          </a:ln>
          <a:effectLst/>
        </p:spPr>
        <p:txBody>
          <a:bodyPr lIns="72000" tIns="108000" rIns="72000" bIns="108000" rtlCol="0" anchor="ctr" anchorCtr="0"/>
          <a:lstStyle/>
          <a:p>
            <a:pPr>
              <a:spcAft>
                <a:spcPts val="300"/>
              </a:spcAft>
            </a:pPr>
            <a:r>
              <a:rPr lang="zh-CN" altLang="en-US" sz="1400" b="1" kern="0">
                <a:solidFill>
                  <a:schemeClr val="tx2"/>
                </a:solidFill>
                <a:latin typeface="Arial" panose="020B0604020202090204"/>
                <a:ea typeface="微软雅黑"/>
              </a:rPr>
              <a:t>各业务部门：</a:t>
            </a:r>
            <a:r>
              <a:rPr lang="zh-CN" altLang="en-US" sz="1400" kern="0">
                <a:latin typeface="Arial" panose="020B0604020202090204"/>
                <a:ea typeface="微软雅黑"/>
              </a:rPr>
              <a:t>根据业务配额开展积分活动</a:t>
            </a:r>
            <a:endParaRPr lang="en-US" altLang="zh-CN" sz="1400" kern="0">
              <a:latin typeface="Arial" panose="020B0604020202090204"/>
              <a:ea typeface="微软雅黑"/>
            </a:endParaRPr>
          </a:p>
          <a:p>
            <a:pPr marL="171450" indent="-17145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配额额度内保留自有的规则和活动</a:t>
            </a:r>
            <a:endParaRPr lang="zh-CN" altLang="en-US" sz="1400" kern="0">
              <a:solidFill>
                <a:srgbClr val="000000">
                  <a:lumMod val="75000"/>
                  <a:lumOff val="25000"/>
                </a:srgbClr>
              </a:solidFill>
              <a:latin typeface="Arial" panose="020B0604020202090204"/>
              <a:ea typeface="微软雅黑"/>
            </a:endParaRPr>
          </a:p>
        </p:txBody>
      </p:sp>
      <p:grpSp>
        <p:nvGrpSpPr>
          <p:cNvPr id="51" name="Group 50"/>
          <p:cNvGrpSpPr/>
          <p:nvPr/>
        </p:nvGrpSpPr>
        <p:grpSpPr>
          <a:xfrm>
            <a:off x="1953804" y="5532841"/>
            <a:ext cx="2887659" cy="402592"/>
            <a:chOff x="2617823" y="5275754"/>
            <a:chExt cx="2887659" cy="358703"/>
          </a:xfrm>
        </p:grpSpPr>
        <p:sp>
          <p:nvSpPr>
            <p:cNvPr id="47" name="箭头: 右 140"/>
            <p:cNvSpPr/>
            <p:nvPr/>
          </p:nvSpPr>
          <p:spPr>
            <a:xfrm rot="16200000">
              <a:off x="2563053" y="5330524"/>
              <a:ext cx="358702" cy="249162"/>
            </a:xfrm>
            <a:prstGeom prst="rightArrow">
              <a:avLst/>
            </a:prstGeom>
            <a:solidFill>
              <a:srgbClr val="00B5D1"/>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sp>
          <p:nvSpPr>
            <p:cNvPr id="48" name="箭头: 右 140"/>
            <p:cNvSpPr/>
            <p:nvPr/>
          </p:nvSpPr>
          <p:spPr>
            <a:xfrm rot="16200000">
              <a:off x="3882302" y="5330525"/>
              <a:ext cx="358702" cy="249162"/>
            </a:xfrm>
            <a:prstGeom prst="rightArrow">
              <a:avLst/>
            </a:prstGeom>
            <a:solidFill>
              <a:srgbClr val="00B5D1"/>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sp>
          <p:nvSpPr>
            <p:cNvPr id="49" name="箭头: 右 140"/>
            <p:cNvSpPr/>
            <p:nvPr/>
          </p:nvSpPr>
          <p:spPr>
            <a:xfrm rot="16200000">
              <a:off x="5201550" y="5330525"/>
              <a:ext cx="358702" cy="249162"/>
            </a:xfrm>
            <a:prstGeom prst="rightArrow">
              <a:avLst/>
            </a:prstGeom>
            <a:solidFill>
              <a:srgbClr val="00B5D1"/>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grpSp>
      <p:sp>
        <p:nvSpPr>
          <p:cNvPr id="26" name="文本框 112"/>
          <p:cNvSpPr txBox="1"/>
          <p:nvPr>
            <p:custDataLst>
              <p:tags r:id="rId3"/>
            </p:custDataLst>
          </p:nvPr>
        </p:nvSpPr>
        <p:spPr>
          <a:xfrm>
            <a:off x="2624157" y="5274239"/>
            <a:ext cx="1482965" cy="181519"/>
          </a:xfrm>
          <a:prstGeom prst="rect">
            <a:avLst/>
          </a:prstGeom>
          <a:solidFill>
            <a:schemeClr val="bg1"/>
          </a:solidFill>
          <a:ln>
            <a:solidFill>
              <a:schemeClr val="bg1">
                <a:lumMod val="65000"/>
              </a:schemeClr>
            </a:solidFill>
            <a:prstDash val="dash"/>
          </a:ln>
        </p:spPr>
        <p:txBody>
          <a:bodyPr wrap="square" rtlCol="0" anchor="ctr" anchorCtr="0">
            <a:noAutofit/>
          </a:bodyPr>
          <a:lstStyle/>
          <a:p>
            <a:pPr algn="ctr"/>
            <a:r>
              <a:rPr lang="zh-CN" altLang="en-US" sz="1200" dirty="0">
                <a:latin typeface="微软雅黑" charset="0"/>
                <a:ea typeface="微软雅黑" charset="0"/>
                <a:sym typeface="+mn-ea"/>
              </a:rPr>
              <a:t>积分变动回传</a:t>
            </a:r>
            <a:endParaRPr lang="zh-CN" altLang="en-US" sz="1200" dirty="0">
              <a:latin typeface="微软雅黑" charset="0"/>
              <a:ea typeface="微软雅黑" charset="0"/>
              <a:sym typeface="+mn-ea"/>
            </a:endParaRPr>
          </a:p>
        </p:txBody>
      </p:sp>
      <p:sp>
        <p:nvSpPr>
          <p:cNvPr id="50" name="文本框 112"/>
          <p:cNvSpPr txBox="1"/>
          <p:nvPr>
            <p:custDataLst>
              <p:tags r:id="rId4"/>
            </p:custDataLst>
          </p:nvPr>
        </p:nvSpPr>
        <p:spPr>
          <a:xfrm>
            <a:off x="2624157" y="2241883"/>
            <a:ext cx="1482965" cy="181519"/>
          </a:xfrm>
          <a:prstGeom prst="rect">
            <a:avLst/>
          </a:prstGeom>
          <a:solidFill>
            <a:schemeClr val="bg1"/>
          </a:solidFill>
          <a:ln>
            <a:solidFill>
              <a:schemeClr val="bg1">
                <a:lumMod val="65000"/>
              </a:schemeClr>
            </a:solidFill>
            <a:prstDash val="dash"/>
          </a:ln>
        </p:spPr>
        <p:txBody>
          <a:bodyPr wrap="square" rtlCol="0" anchor="ctr" anchorCtr="0">
            <a:noAutofit/>
          </a:bodyPr>
          <a:lstStyle/>
          <a:p>
            <a:pPr algn="ctr"/>
            <a:r>
              <a:rPr lang="zh-CN" altLang="en-US" sz="1200">
                <a:latin typeface="微软雅黑" charset="0"/>
                <a:ea typeface="微软雅黑" charset="0"/>
                <a:sym typeface="+mn-ea"/>
              </a:rPr>
              <a:t>下发积分配额</a:t>
            </a:r>
            <a:endParaRPr lang="zh-CN" altLang="en-US" sz="1200" dirty="0">
              <a:latin typeface="微软雅黑" charset="0"/>
              <a:ea typeface="微软雅黑" charset="0"/>
              <a:sym typeface="+mn-ea"/>
            </a:endParaRPr>
          </a:p>
        </p:txBody>
      </p:sp>
      <p:grpSp>
        <p:nvGrpSpPr>
          <p:cNvPr id="52" name="Group 51"/>
          <p:cNvGrpSpPr/>
          <p:nvPr/>
        </p:nvGrpSpPr>
        <p:grpSpPr>
          <a:xfrm rot="10800000">
            <a:off x="1953804" y="2625053"/>
            <a:ext cx="2887659" cy="358703"/>
            <a:chOff x="2617823" y="5275754"/>
            <a:chExt cx="2887659" cy="358703"/>
          </a:xfrm>
        </p:grpSpPr>
        <p:sp>
          <p:nvSpPr>
            <p:cNvPr id="53" name="箭头: 右 140"/>
            <p:cNvSpPr/>
            <p:nvPr/>
          </p:nvSpPr>
          <p:spPr>
            <a:xfrm rot="16200000">
              <a:off x="2563053" y="5330524"/>
              <a:ext cx="358702" cy="249162"/>
            </a:xfrm>
            <a:prstGeom prst="rightArrow">
              <a:avLst/>
            </a:prstGeom>
            <a:solidFill>
              <a:srgbClr val="00B5D1"/>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sp>
          <p:nvSpPr>
            <p:cNvPr id="54" name="箭头: 右 140"/>
            <p:cNvSpPr/>
            <p:nvPr/>
          </p:nvSpPr>
          <p:spPr>
            <a:xfrm rot="16200000">
              <a:off x="3882302" y="5330525"/>
              <a:ext cx="358702" cy="249162"/>
            </a:xfrm>
            <a:prstGeom prst="rightArrow">
              <a:avLst/>
            </a:prstGeom>
            <a:solidFill>
              <a:srgbClr val="00B5D1"/>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sp>
          <p:nvSpPr>
            <p:cNvPr id="55" name="箭头: 右 140"/>
            <p:cNvSpPr/>
            <p:nvPr/>
          </p:nvSpPr>
          <p:spPr>
            <a:xfrm rot="16200000">
              <a:off x="5201550" y="5330525"/>
              <a:ext cx="358702" cy="249162"/>
            </a:xfrm>
            <a:prstGeom prst="rightArrow">
              <a:avLst/>
            </a:prstGeom>
            <a:solidFill>
              <a:srgbClr val="00B5D1"/>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grpSp>
      <p:sp>
        <p:nvSpPr>
          <p:cNvPr id="56" name="Rectangle 137"/>
          <p:cNvSpPr/>
          <p:nvPr/>
        </p:nvSpPr>
        <p:spPr>
          <a:xfrm>
            <a:off x="5853224" y="4405134"/>
            <a:ext cx="65970" cy="1005840"/>
          </a:xfrm>
          <a:prstGeom prst="rect">
            <a:avLst/>
          </a:prstGeom>
          <a:solidFill>
            <a:srgbClr val="0070C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Arial" panose="020B0604020202090204"/>
              <a:ea typeface="微软雅黑"/>
              <a:cs typeface="+mn-cs"/>
            </a:endParaRPr>
          </a:p>
        </p:txBody>
      </p:sp>
      <p:cxnSp>
        <p:nvCxnSpPr>
          <p:cNvPr id="57" name="Straight Connector 56"/>
          <p:cNvCxnSpPr>
            <a:endCxn id="56" idx="1"/>
          </p:cNvCxnSpPr>
          <p:nvPr/>
        </p:nvCxnSpPr>
        <p:spPr>
          <a:xfrm flipV="1">
            <a:off x="5472291" y="4908054"/>
            <a:ext cx="380933" cy="12424"/>
          </a:xfrm>
          <a:prstGeom prst="line">
            <a:avLst/>
          </a:prstGeom>
          <a:ln>
            <a:solidFill>
              <a:schemeClr val="tx1">
                <a:lumMod val="75000"/>
                <a:lumOff val="2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Rectangle 137"/>
          <p:cNvSpPr/>
          <p:nvPr/>
        </p:nvSpPr>
        <p:spPr>
          <a:xfrm>
            <a:off x="6141471" y="4405134"/>
            <a:ext cx="3383280" cy="1005840"/>
          </a:xfrm>
          <a:prstGeom prst="rect">
            <a:avLst/>
          </a:prstGeom>
          <a:solidFill>
            <a:srgbClr val="EAF1FA"/>
          </a:solidFill>
          <a:ln w="12700" cap="flat" cmpd="sng" algn="ctr">
            <a:noFill/>
            <a:prstDash val="solid"/>
            <a:miter lim="800000"/>
          </a:ln>
          <a:effectLst/>
        </p:spPr>
        <p:txBody>
          <a:bodyPr lIns="72000" tIns="108000" rIns="72000" bIns="108000" rtlCol="0" anchor="ctr" anchorCtr="0"/>
          <a:lstStyle/>
          <a:p>
            <a:pPr>
              <a:spcAft>
                <a:spcPts val="300"/>
              </a:spcAft>
            </a:pPr>
            <a:r>
              <a:rPr lang="zh-CN" altLang="en-US" sz="1400" b="1" kern="0">
                <a:solidFill>
                  <a:srgbClr val="00338D"/>
                </a:solidFill>
                <a:latin typeface="Arial" panose="020B0604020202090204"/>
                <a:ea typeface="微软雅黑"/>
              </a:rPr>
              <a:t>定位：数据管理</a:t>
            </a:r>
            <a:endParaRPr lang="en-US" altLang="zh-CN" sz="1400" b="1" kern="0">
              <a:solidFill>
                <a:srgbClr val="00338D"/>
              </a:solidFill>
              <a:latin typeface="Arial" panose="020B0604020202090204"/>
              <a:ea typeface="微软雅黑"/>
            </a:endParaRPr>
          </a:p>
          <a:p>
            <a:pPr marL="182880" indent="-18288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仅做积分数据汇总</a:t>
            </a:r>
            <a:r>
              <a:rPr lang="en-US" altLang="zh-CN" sz="1400" kern="0">
                <a:solidFill>
                  <a:srgbClr val="000000">
                    <a:lumMod val="75000"/>
                    <a:lumOff val="25000"/>
                  </a:srgbClr>
                </a:solidFill>
                <a:latin typeface="Arial" panose="020B0604020202090204"/>
                <a:ea typeface="微软雅黑"/>
              </a:rPr>
              <a:t>/</a:t>
            </a:r>
            <a:r>
              <a:rPr lang="zh-CN" altLang="en-US" sz="1400" kern="0">
                <a:solidFill>
                  <a:srgbClr val="000000">
                    <a:lumMod val="75000"/>
                    <a:lumOff val="25000"/>
                  </a:srgbClr>
                </a:solidFill>
                <a:latin typeface="Arial" panose="020B0604020202090204"/>
                <a:ea typeface="微软雅黑"/>
              </a:rPr>
              <a:t>对账</a:t>
            </a:r>
            <a:endParaRPr lang="zh-CN" altLang="en-US" sz="1400" kern="0">
              <a:solidFill>
                <a:srgbClr val="000000">
                  <a:lumMod val="75000"/>
                  <a:lumOff val="25000"/>
                </a:srgbClr>
              </a:solidFill>
              <a:latin typeface="Arial" panose="020B0604020202090204"/>
              <a:ea typeface="微软雅黑"/>
            </a:endParaRPr>
          </a:p>
          <a:p>
            <a:pPr marL="182880" indent="-18288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不管控发分成本</a:t>
            </a:r>
            <a:r>
              <a:rPr lang="en-US" altLang="zh-CN" sz="1400" kern="0">
                <a:solidFill>
                  <a:srgbClr val="000000">
                    <a:lumMod val="75000"/>
                    <a:lumOff val="25000"/>
                  </a:srgbClr>
                </a:solidFill>
                <a:latin typeface="Arial" panose="020B0604020202090204"/>
                <a:ea typeface="微软雅黑"/>
              </a:rPr>
              <a:t>、</a:t>
            </a:r>
            <a:r>
              <a:rPr lang="zh-CN" altLang="en-US" sz="1400" kern="0">
                <a:solidFill>
                  <a:srgbClr val="000000">
                    <a:lumMod val="75000"/>
                    <a:lumOff val="25000"/>
                  </a:srgbClr>
                </a:solidFill>
                <a:latin typeface="Arial" panose="020B0604020202090204"/>
                <a:ea typeface="微软雅黑"/>
              </a:rPr>
              <a:t>配额</a:t>
            </a:r>
            <a:endParaRPr lang="zh-CN" altLang="en-US" sz="1400" kern="0" dirty="0">
              <a:solidFill>
                <a:srgbClr val="000000">
                  <a:lumMod val="75000"/>
                  <a:lumOff val="25000"/>
                </a:srgbClr>
              </a:solidFill>
              <a:latin typeface="Arial" panose="020B0604020202090204"/>
              <a:ea typeface="微软雅黑"/>
            </a:endParaRPr>
          </a:p>
        </p:txBody>
      </p:sp>
      <p:sp>
        <p:nvSpPr>
          <p:cNvPr id="59" name="Rectangle 137"/>
          <p:cNvSpPr/>
          <p:nvPr/>
        </p:nvSpPr>
        <p:spPr>
          <a:xfrm>
            <a:off x="5853015" y="5660071"/>
            <a:ext cx="65970" cy="1005840"/>
          </a:xfrm>
          <a:prstGeom prst="rect">
            <a:avLst/>
          </a:prstGeom>
          <a:solidFill>
            <a:srgbClr val="0070C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Arial" panose="020B0604020202090204"/>
              <a:ea typeface="微软雅黑"/>
              <a:cs typeface="+mn-cs"/>
            </a:endParaRPr>
          </a:p>
        </p:txBody>
      </p:sp>
      <p:cxnSp>
        <p:nvCxnSpPr>
          <p:cNvPr id="60" name="Straight Connector 59"/>
          <p:cNvCxnSpPr>
            <a:stCxn id="12" idx="3"/>
            <a:endCxn id="59" idx="1"/>
          </p:cNvCxnSpPr>
          <p:nvPr/>
        </p:nvCxnSpPr>
        <p:spPr>
          <a:xfrm>
            <a:off x="5284346" y="6162991"/>
            <a:ext cx="568669" cy="0"/>
          </a:xfrm>
          <a:prstGeom prst="line">
            <a:avLst/>
          </a:prstGeom>
          <a:ln>
            <a:solidFill>
              <a:schemeClr val="tx1">
                <a:lumMod val="75000"/>
                <a:lumOff val="2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Rectangle 137"/>
          <p:cNvSpPr/>
          <p:nvPr/>
        </p:nvSpPr>
        <p:spPr>
          <a:xfrm>
            <a:off x="6150733" y="5618412"/>
            <a:ext cx="3383280" cy="1005840"/>
          </a:xfrm>
          <a:prstGeom prst="rect">
            <a:avLst/>
          </a:prstGeom>
          <a:solidFill>
            <a:srgbClr val="EAF1FA"/>
          </a:solidFill>
          <a:ln w="12700" cap="flat" cmpd="sng" algn="ctr">
            <a:noFill/>
            <a:prstDash val="solid"/>
            <a:miter lim="800000"/>
          </a:ln>
          <a:effectLst/>
        </p:spPr>
        <p:txBody>
          <a:bodyPr lIns="72000" tIns="108000" rIns="72000" bIns="108000" rtlCol="0" anchor="ctr" anchorCtr="0"/>
          <a:lstStyle/>
          <a:p>
            <a:pPr>
              <a:spcAft>
                <a:spcPts val="300"/>
              </a:spcAft>
            </a:pPr>
            <a:r>
              <a:rPr lang="zh-CN" altLang="en-US" sz="1400" b="1" kern="0">
                <a:solidFill>
                  <a:schemeClr val="tx2"/>
                </a:solidFill>
                <a:ea typeface="微软雅黑"/>
              </a:rPr>
              <a:t>各业务部门：</a:t>
            </a:r>
            <a:r>
              <a:rPr lang="zh-CN" altLang="en-US" sz="1400" kern="0">
                <a:solidFill>
                  <a:srgbClr val="000000">
                    <a:lumMod val="75000"/>
                    <a:lumOff val="25000"/>
                  </a:srgbClr>
                </a:solidFill>
                <a:ea typeface="微软雅黑"/>
              </a:rPr>
              <a:t>自主操作、事后核算</a:t>
            </a:r>
            <a:endParaRPr lang="en-US" altLang="zh-CN" sz="1400" kern="0">
              <a:solidFill>
                <a:srgbClr val="000000">
                  <a:lumMod val="75000"/>
                  <a:lumOff val="25000"/>
                </a:srgbClr>
              </a:solidFill>
              <a:ea typeface="微软雅黑"/>
            </a:endParaRPr>
          </a:p>
          <a:p>
            <a:pPr marL="173990" indent="-173990">
              <a:spcAft>
                <a:spcPts val="300"/>
              </a:spcAft>
              <a:buFont typeface="Arial" panose="020B0604020202090204" pitchFamily="34" charset="0"/>
              <a:buChar char="•"/>
            </a:pPr>
            <a:r>
              <a:rPr lang="zh-CN" altLang="en-US" sz="1400" kern="0">
                <a:solidFill>
                  <a:srgbClr val="000000">
                    <a:lumMod val="75000"/>
                    <a:lumOff val="25000"/>
                  </a:srgbClr>
                </a:solidFill>
                <a:ea typeface="微软雅黑"/>
              </a:rPr>
              <a:t>自行定义积分规则和权益</a:t>
            </a:r>
            <a:endParaRPr lang="en-US" altLang="zh-CN" sz="1400" kern="0">
              <a:solidFill>
                <a:srgbClr val="000000">
                  <a:lumMod val="75000"/>
                  <a:lumOff val="25000"/>
                </a:srgbClr>
              </a:solidFill>
              <a:ea typeface="微软雅黑"/>
            </a:endParaRPr>
          </a:p>
          <a:p>
            <a:pPr marL="173990" indent="-173990">
              <a:spcAft>
                <a:spcPts val="300"/>
              </a:spcAft>
              <a:buFont typeface="Arial" panose="020B0604020202090204" pitchFamily="34" charset="0"/>
              <a:buChar char="•"/>
            </a:pPr>
            <a:r>
              <a:rPr lang="zh-CN" altLang="en-US" sz="1400" kern="0">
                <a:solidFill>
                  <a:srgbClr val="000000">
                    <a:lumMod val="75000"/>
                    <a:lumOff val="25000"/>
                  </a:srgbClr>
                </a:solidFill>
                <a:ea typeface="微软雅黑"/>
              </a:rPr>
              <a:t>操作灵活，管控约束力较弱</a:t>
            </a:r>
            <a:endParaRPr lang="en-US" altLang="zh-CN" sz="1400" kern="0">
              <a:solidFill>
                <a:srgbClr val="000000">
                  <a:lumMod val="75000"/>
                  <a:lumOff val="25000"/>
                </a:srgbClr>
              </a:solidFill>
              <a:ea typeface="微软雅黑"/>
            </a:endParaRPr>
          </a:p>
        </p:txBody>
      </p:sp>
      <p:sp>
        <p:nvSpPr>
          <p:cNvPr id="66" name="Trapezoid 95"/>
          <p:cNvSpPr/>
          <p:nvPr/>
        </p:nvSpPr>
        <p:spPr>
          <a:xfrm rot="5400000">
            <a:off x="8607141" y="2448057"/>
            <a:ext cx="2308945" cy="191938"/>
          </a:xfrm>
          <a:prstGeom prst="trapezoid">
            <a:avLst>
              <a:gd name="adj" fmla="val 13978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7" name="Trapezoid 95"/>
          <p:cNvSpPr/>
          <p:nvPr/>
        </p:nvSpPr>
        <p:spPr>
          <a:xfrm rot="5400000">
            <a:off x="8607141" y="5490155"/>
            <a:ext cx="2308945" cy="191938"/>
          </a:xfrm>
          <a:prstGeom prst="trapezoid">
            <a:avLst>
              <a:gd name="adj" fmla="val 13978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TextBox 100"/>
          <p:cNvSpPr txBox="1"/>
          <p:nvPr/>
        </p:nvSpPr>
        <p:spPr>
          <a:xfrm>
            <a:off x="10057765" y="1934544"/>
            <a:ext cx="1638066" cy="818173"/>
          </a:xfrm>
          <a:prstGeom prst="rect">
            <a:avLst/>
          </a:prstGeom>
          <a:noFill/>
        </p:spPr>
        <p:txBody>
          <a:bodyPr wrap="square" lIns="54610" tIns="54610" rIns="54610" bIns="54610" rtlCol="0">
            <a:spAutoFit/>
          </a:bodyPr>
          <a:lstStyle>
            <a:defPPr>
              <a:defRPr lang="en-US"/>
            </a:defPPr>
            <a:lvl1pPr marL="171450" indent="-171450">
              <a:lnSpc>
                <a:spcPct val="50000"/>
              </a:lnSpc>
              <a:spcAft>
                <a:spcPts val="600"/>
              </a:spcAft>
              <a:buFont typeface="Arial" panose="020B0604020202090204" pitchFamily="34" charset="0"/>
              <a:buChar char="•"/>
              <a:defRPr sz="1100">
                <a:latin typeface="+mn-ea"/>
              </a:defRPr>
            </a:lvl1pPr>
          </a:lstStyle>
          <a:p>
            <a:pPr lvl="0">
              <a:lnSpc>
                <a:spcPct val="100000"/>
              </a:lnSpc>
              <a:buFont typeface="Wingdings" panose="05000000000000000000" pitchFamily="2" charset="2"/>
              <a:buChar char="ü"/>
              <a:defRPr/>
            </a:pPr>
            <a:r>
              <a:rPr lang="zh-CN" altLang="en-US" sz="1200" b="1">
                <a:solidFill>
                  <a:srgbClr val="00338D"/>
                </a:solidFill>
                <a:latin typeface="微软雅黑" panose="020B0503020204020204" pitchFamily="34" charset="-122"/>
                <a:ea typeface="微软雅黑" panose="020B0503020204020204" pitchFamily="34" charset="-122"/>
              </a:rPr>
              <a:t>整体流程规范</a:t>
            </a:r>
            <a:endParaRPr lang="en-US" altLang="zh-CN" sz="1200" b="1">
              <a:solidFill>
                <a:srgbClr val="00338D"/>
              </a:solidFill>
              <a:latin typeface="微软雅黑" panose="020B0503020204020204" pitchFamily="34" charset="-122"/>
              <a:ea typeface="微软雅黑" panose="020B0503020204020204" pitchFamily="34" charset="-122"/>
            </a:endParaRPr>
          </a:p>
          <a:p>
            <a:pPr lvl="0">
              <a:lnSpc>
                <a:spcPct val="100000"/>
              </a:lnSpc>
              <a:buFont typeface="Wingdings" panose="05000000000000000000" pitchFamily="2" charset="2"/>
              <a:buChar char="ü"/>
              <a:defRPr/>
            </a:pPr>
            <a:r>
              <a:rPr lang="zh-CN" altLang="en-US" sz="1200" b="1">
                <a:solidFill>
                  <a:srgbClr val="00338D"/>
                </a:solidFill>
                <a:latin typeface="微软雅黑" panose="020B0503020204020204" pitchFamily="34" charset="-122"/>
                <a:ea typeface="微软雅黑" panose="020B0503020204020204" pitchFamily="34" charset="-122"/>
              </a:rPr>
              <a:t>管控约束性强</a:t>
            </a:r>
            <a:endParaRPr lang="en-US" altLang="zh-CN" sz="1200" b="1">
              <a:solidFill>
                <a:srgbClr val="00338D"/>
              </a:solidFill>
              <a:latin typeface="微软雅黑" panose="020B0503020204020204" pitchFamily="34" charset="-122"/>
              <a:ea typeface="微软雅黑" panose="020B0503020204020204" pitchFamily="34" charset="-122"/>
            </a:endParaRPr>
          </a:p>
          <a:p>
            <a:pPr lvl="0">
              <a:lnSpc>
                <a:spcPct val="100000"/>
              </a:lnSpc>
              <a:buFont typeface="Wingdings" panose="05000000000000000000" pitchFamily="2" charset="2"/>
              <a:buChar char="ü"/>
              <a:defRPr/>
            </a:pPr>
            <a:r>
              <a:rPr lang="zh-CN" altLang="en-US" sz="1200" b="1">
                <a:solidFill>
                  <a:srgbClr val="00338D"/>
                </a:solidFill>
                <a:latin typeface="微软雅黑" panose="020B0503020204020204" pitchFamily="34" charset="-122"/>
                <a:ea typeface="微软雅黑" panose="020B0503020204020204" pitchFamily="34" charset="-122"/>
              </a:rPr>
              <a:t>业务运转秩序稳定</a:t>
            </a:r>
            <a:endParaRPr kumimoji="0" lang="en-US" altLang="zh-CN"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sp>
        <p:nvSpPr>
          <p:cNvPr id="69" name="文本框 27"/>
          <p:cNvSpPr txBox="1"/>
          <p:nvPr/>
        </p:nvSpPr>
        <p:spPr>
          <a:xfrm>
            <a:off x="10057765" y="1553517"/>
            <a:ext cx="936976" cy="294953"/>
          </a:xfrm>
          <a:prstGeom prst="rect">
            <a:avLst/>
          </a:prstGeom>
          <a:solidFill>
            <a:schemeClr val="tx2"/>
          </a:solidFill>
        </p:spPr>
        <p:txBody>
          <a:bodyPr wrap="square" lIns="54610" tIns="54610" rIns="54610" bIns="5461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v"/>
              <a:defRPr/>
            </a:pPr>
            <a:r>
              <a:rPr kumimoji="0"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优</a:t>
            </a:r>
            <a:endParaRPr kumimoji="0" 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0" name="文本框 27"/>
          <p:cNvSpPr txBox="1"/>
          <p:nvPr/>
        </p:nvSpPr>
        <p:spPr>
          <a:xfrm>
            <a:off x="10057765" y="2819198"/>
            <a:ext cx="936976" cy="294953"/>
          </a:xfrm>
          <a:prstGeom prst="rect">
            <a:avLst/>
          </a:prstGeom>
          <a:solidFill>
            <a:schemeClr val="bg1">
              <a:lumMod val="50000"/>
            </a:schemeClr>
          </a:solidFill>
        </p:spPr>
        <p:txBody>
          <a:bodyPr wrap="square" lIns="54610" tIns="54610" rIns="54610" bIns="5461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v"/>
              <a:defRPr/>
            </a:pPr>
            <a:r>
              <a:rPr lang="zh-CN" altLang="en-US" sz="1200" b="1">
                <a:solidFill>
                  <a:prstClr val="white"/>
                </a:solidFill>
                <a:latin typeface="微软雅黑" panose="020B0503020204020204" pitchFamily="34" charset="-122"/>
                <a:ea typeface="微软雅黑" panose="020B0503020204020204" pitchFamily="34" charset="-122"/>
              </a:rPr>
              <a:t>缺</a:t>
            </a:r>
            <a:endParaRPr kumimoji="0" 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TextBox 100"/>
          <p:cNvSpPr txBox="1"/>
          <p:nvPr/>
        </p:nvSpPr>
        <p:spPr>
          <a:xfrm>
            <a:off x="10057765" y="3197989"/>
            <a:ext cx="1638066" cy="479618"/>
          </a:xfrm>
          <a:prstGeom prst="rect">
            <a:avLst/>
          </a:prstGeom>
          <a:noFill/>
        </p:spPr>
        <p:txBody>
          <a:bodyPr wrap="square" lIns="54610" tIns="54610" rIns="54610" bIns="54610" rtlCol="0">
            <a:spAutoFit/>
          </a:bodyPr>
          <a:lstStyle>
            <a:defPPr>
              <a:defRPr lang="en-US"/>
            </a:defPPr>
            <a:lvl1pPr marL="171450" indent="-171450">
              <a:lnSpc>
                <a:spcPct val="50000"/>
              </a:lnSpc>
              <a:spcAft>
                <a:spcPts val="600"/>
              </a:spcAft>
              <a:buFont typeface="Arial" panose="020B0604020202090204" pitchFamily="34" charset="0"/>
              <a:buChar char="•"/>
              <a:defRPr sz="1100">
                <a:latin typeface="+mn-ea"/>
              </a:defRPr>
            </a:lvl1pPr>
          </a:lstStyle>
          <a:p>
            <a:pPr lvl="0">
              <a:lnSpc>
                <a:spcPct val="100000"/>
              </a:lnSpc>
              <a:buFont typeface="Wingdings" panose="05000000000000000000" pitchFamily="2" charset="2"/>
              <a:buChar char="ü"/>
              <a:defRPr/>
            </a:pPr>
            <a:r>
              <a:rPr lang="zh-CN" altLang="en-US" sz="1200" b="1">
                <a:latin typeface="微软雅黑" panose="020B0503020204020204" pitchFamily="34" charset="-122"/>
                <a:ea typeface="微软雅黑" panose="020B0503020204020204" pitchFamily="34" charset="-122"/>
              </a:rPr>
              <a:t>自主操作灵活性相对有限</a:t>
            </a:r>
            <a:endPar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72" name="TextBox 100"/>
          <p:cNvSpPr txBox="1"/>
          <p:nvPr/>
        </p:nvSpPr>
        <p:spPr>
          <a:xfrm>
            <a:off x="10057765" y="4812678"/>
            <a:ext cx="1638066" cy="294953"/>
          </a:xfrm>
          <a:prstGeom prst="rect">
            <a:avLst/>
          </a:prstGeom>
          <a:noFill/>
        </p:spPr>
        <p:txBody>
          <a:bodyPr wrap="square" lIns="54610" tIns="54610" rIns="54610" bIns="54610" rtlCol="0">
            <a:spAutoFit/>
          </a:bodyPr>
          <a:lstStyle>
            <a:defPPr>
              <a:defRPr lang="en-US"/>
            </a:defPPr>
            <a:lvl1pPr marL="171450" indent="-171450">
              <a:lnSpc>
                <a:spcPct val="50000"/>
              </a:lnSpc>
              <a:spcAft>
                <a:spcPts val="600"/>
              </a:spcAft>
              <a:buFont typeface="Arial" panose="020B0604020202090204" pitchFamily="34" charset="0"/>
              <a:buChar char="•"/>
              <a:defRPr sz="1100">
                <a:latin typeface="+mn-ea"/>
              </a:defRPr>
            </a:lvl1pPr>
          </a:lstStyle>
          <a:p>
            <a:pPr lvl="0">
              <a:lnSpc>
                <a:spcPct val="100000"/>
              </a:lnSpc>
              <a:buFont typeface="Wingdings" panose="05000000000000000000" pitchFamily="2" charset="2"/>
              <a:buChar char="ü"/>
              <a:defRPr/>
            </a:pPr>
            <a:r>
              <a:rPr lang="zh-CN" altLang="en-US" sz="1200" b="1">
                <a:solidFill>
                  <a:srgbClr val="00338D"/>
                </a:solidFill>
                <a:latin typeface="微软雅黑" panose="020B0503020204020204" pitchFamily="34" charset="-122"/>
                <a:ea typeface="微软雅黑" panose="020B0503020204020204" pitchFamily="34" charset="-122"/>
              </a:rPr>
              <a:t>操作灵活便捷</a:t>
            </a:r>
            <a:endParaRPr kumimoji="0" lang="en-US" altLang="zh-CN"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sp>
        <p:nvSpPr>
          <p:cNvPr id="73" name="文本框 27"/>
          <p:cNvSpPr txBox="1"/>
          <p:nvPr/>
        </p:nvSpPr>
        <p:spPr>
          <a:xfrm>
            <a:off x="10057765" y="4431651"/>
            <a:ext cx="936976" cy="294953"/>
          </a:xfrm>
          <a:prstGeom prst="rect">
            <a:avLst/>
          </a:prstGeom>
          <a:solidFill>
            <a:schemeClr val="tx2"/>
          </a:solidFill>
        </p:spPr>
        <p:txBody>
          <a:bodyPr wrap="square" lIns="54610" tIns="54610" rIns="54610" bIns="5461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v"/>
              <a:defRPr/>
            </a:pPr>
            <a:r>
              <a:rPr kumimoji="0"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优</a:t>
            </a:r>
            <a:endParaRPr kumimoji="0" 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4" name="文本框 27"/>
          <p:cNvSpPr txBox="1"/>
          <p:nvPr/>
        </p:nvSpPr>
        <p:spPr>
          <a:xfrm>
            <a:off x="10057765" y="5239621"/>
            <a:ext cx="936976" cy="294953"/>
          </a:xfrm>
          <a:prstGeom prst="rect">
            <a:avLst/>
          </a:prstGeom>
          <a:solidFill>
            <a:schemeClr val="bg1">
              <a:lumMod val="50000"/>
            </a:schemeClr>
          </a:solidFill>
        </p:spPr>
        <p:txBody>
          <a:bodyPr wrap="square" lIns="54610" tIns="54610" rIns="54610" bIns="5461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v"/>
              <a:defRPr/>
            </a:pPr>
            <a:r>
              <a:rPr lang="zh-CN" altLang="en-US" sz="1200" b="1">
                <a:solidFill>
                  <a:prstClr val="white"/>
                </a:solidFill>
                <a:latin typeface="微软雅黑" panose="020B0503020204020204" pitchFamily="34" charset="-122"/>
                <a:ea typeface="微软雅黑" panose="020B0503020204020204" pitchFamily="34" charset="-122"/>
              </a:rPr>
              <a:t>缺</a:t>
            </a:r>
            <a:endParaRPr kumimoji="0" 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5" name="TextBox 100"/>
          <p:cNvSpPr txBox="1"/>
          <p:nvPr/>
        </p:nvSpPr>
        <p:spPr>
          <a:xfrm>
            <a:off x="10057765" y="5618412"/>
            <a:ext cx="1922066" cy="818173"/>
          </a:xfrm>
          <a:prstGeom prst="rect">
            <a:avLst/>
          </a:prstGeom>
          <a:noFill/>
        </p:spPr>
        <p:txBody>
          <a:bodyPr wrap="square" lIns="54610" tIns="54610" rIns="54610" bIns="54610" rtlCol="0">
            <a:spAutoFit/>
          </a:bodyPr>
          <a:lstStyle>
            <a:defPPr>
              <a:defRPr lang="en-US"/>
            </a:defPPr>
            <a:lvl1pPr marL="171450" indent="-171450">
              <a:lnSpc>
                <a:spcPct val="50000"/>
              </a:lnSpc>
              <a:spcAft>
                <a:spcPts val="600"/>
              </a:spcAft>
              <a:buFont typeface="Arial" panose="020B0604020202090204" pitchFamily="34" charset="0"/>
              <a:buChar char="•"/>
              <a:defRPr sz="1100">
                <a:latin typeface="+mn-ea"/>
              </a:defRPr>
            </a:lvl1pPr>
          </a:lstStyle>
          <a:p>
            <a:pPr lvl="0">
              <a:lnSpc>
                <a:spcPct val="100000"/>
              </a:lnSpc>
              <a:buFont typeface="Wingdings" panose="05000000000000000000" pitchFamily="2" charset="2"/>
              <a:buChar char="ü"/>
              <a:defRPr/>
            </a:pPr>
            <a:r>
              <a:rPr lang="zh-CN" altLang="en-US" sz="1200" b="1">
                <a:latin typeface="微软雅黑" panose="020B0503020204020204" pitchFamily="34" charset="-122"/>
                <a:ea typeface="微软雅黑" panose="020B0503020204020204" pitchFamily="34" charset="-122"/>
              </a:rPr>
              <a:t>缺少事前统筹管控</a:t>
            </a:r>
            <a:endParaRPr lang="en-US" altLang="zh-CN" sz="1200" b="1">
              <a:latin typeface="微软雅黑" panose="020B0503020204020204" pitchFamily="34" charset="-122"/>
              <a:ea typeface="微软雅黑" panose="020B0503020204020204" pitchFamily="34" charset="-122"/>
            </a:endParaRPr>
          </a:p>
          <a:p>
            <a:pPr lvl="0">
              <a:lnSpc>
                <a:spcPct val="100000"/>
              </a:lnSpc>
              <a:buFont typeface="Wingdings" panose="05000000000000000000" pitchFamily="2" charset="2"/>
              <a:buChar char="ü"/>
              <a:defRPr/>
            </a:pPr>
            <a:r>
              <a:rPr lang="zh-CN" altLang="en-US" sz="1200" b="1">
                <a:latin typeface="微软雅黑" panose="020B0503020204020204" pitchFamily="34" charset="-122"/>
                <a:ea typeface="微软雅黑" panose="020B0503020204020204" pitchFamily="34" charset="-122"/>
              </a:rPr>
              <a:t>发放行为规范性较差</a:t>
            </a:r>
            <a:endParaRPr lang="en-US" altLang="zh-CN" sz="1200" b="1">
              <a:latin typeface="微软雅黑" panose="020B0503020204020204" pitchFamily="34" charset="-122"/>
              <a:ea typeface="微软雅黑" panose="020B0503020204020204" pitchFamily="34" charset="-122"/>
            </a:endParaRPr>
          </a:p>
          <a:p>
            <a:pPr lvl="0">
              <a:lnSpc>
                <a:spcPct val="100000"/>
              </a:lnSpc>
              <a:buFont typeface="Wingdings" panose="05000000000000000000" pitchFamily="2" charset="2"/>
              <a:buChar char="ü"/>
              <a:defRPr/>
            </a:pPr>
            <a:r>
              <a:rPr kumimoji="0" lang="zh-CN" altLang="en-US" sz="12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事后存在对账争议风险</a:t>
            </a:r>
            <a:endPar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pSp>
        <p:nvGrpSpPr>
          <p:cNvPr id="86" name="Group 85"/>
          <p:cNvGrpSpPr/>
          <p:nvPr/>
        </p:nvGrpSpPr>
        <p:grpSpPr>
          <a:xfrm>
            <a:off x="1482413" y="2961507"/>
            <a:ext cx="1163554" cy="529082"/>
            <a:chOff x="1482413" y="2668339"/>
            <a:chExt cx="1163554" cy="529082"/>
          </a:xfrm>
        </p:grpSpPr>
        <p:sp>
          <p:nvSpPr>
            <p:cNvPr id="91" name="Rectangle 90"/>
            <p:cNvSpPr/>
            <p:nvPr/>
          </p:nvSpPr>
          <p:spPr>
            <a:xfrm>
              <a:off x="1482413" y="2672781"/>
              <a:ext cx="1163554" cy="521180"/>
            </a:xfrm>
            <a:prstGeom prst="rect">
              <a:avLst/>
            </a:prstGeom>
            <a:solidFill>
              <a:schemeClr val="bg1">
                <a:lumMod val="95000"/>
              </a:schemeClr>
            </a:solidFill>
            <a:ln w="9525">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endParaRPr lang="zh-CN" altLang="en-US" sz="1400" b="0">
                <a:solidFill>
                  <a:schemeClr val="bg2">
                    <a:lumMod val="50000"/>
                  </a:schemeClr>
                </a:solidFill>
                <a:latin typeface="微软雅黑" charset="0"/>
                <a:ea typeface="微软雅黑" charset="0"/>
                <a:cs typeface="微软雅黑" charset="0"/>
              </a:endParaRPr>
            </a:p>
          </p:txBody>
        </p:sp>
        <p:cxnSp>
          <p:nvCxnSpPr>
            <p:cNvPr id="5" name="Straight Connector 3"/>
            <p:cNvCxnSpPr/>
            <p:nvPr/>
          </p:nvCxnSpPr>
          <p:spPr>
            <a:xfrm flipH="1">
              <a:off x="1489405" y="2683889"/>
              <a:ext cx="416237" cy="26081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1" idx="0"/>
            </p:cNvCxnSpPr>
            <p:nvPr/>
          </p:nvCxnSpPr>
          <p:spPr>
            <a:xfrm flipH="1">
              <a:off x="1491425" y="2672781"/>
              <a:ext cx="572765" cy="38395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1490814" y="267389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1737339" y="269076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615422" y="2684866"/>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1892577" y="2680635"/>
              <a:ext cx="670570" cy="51038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2024304" y="2706867"/>
              <a:ext cx="615835" cy="47816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1483673" y="2668339"/>
              <a:ext cx="261455" cy="16492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2135975" y="2802965"/>
              <a:ext cx="504164" cy="39445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2283293" y="2931096"/>
              <a:ext cx="340864" cy="25127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H="1">
              <a:off x="2455794" y="3051946"/>
              <a:ext cx="168363" cy="12631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87" name="Group 86"/>
          <p:cNvGrpSpPr/>
          <p:nvPr/>
        </p:nvGrpSpPr>
        <p:grpSpPr>
          <a:xfrm>
            <a:off x="2801215" y="2961507"/>
            <a:ext cx="1163554" cy="529082"/>
            <a:chOff x="1482413" y="2668339"/>
            <a:chExt cx="1163554" cy="529082"/>
          </a:xfrm>
        </p:grpSpPr>
        <p:sp>
          <p:nvSpPr>
            <p:cNvPr id="88" name="Rectangle 87"/>
            <p:cNvSpPr/>
            <p:nvPr/>
          </p:nvSpPr>
          <p:spPr>
            <a:xfrm>
              <a:off x="1482413" y="2672781"/>
              <a:ext cx="1163554" cy="521180"/>
            </a:xfrm>
            <a:prstGeom prst="rect">
              <a:avLst/>
            </a:prstGeom>
            <a:solidFill>
              <a:schemeClr val="bg1">
                <a:lumMod val="95000"/>
              </a:schemeClr>
            </a:solidFill>
            <a:ln w="9525">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endParaRPr lang="zh-CN" altLang="en-US" sz="1400" b="0">
                <a:solidFill>
                  <a:schemeClr val="bg2">
                    <a:lumMod val="50000"/>
                  </a:schemeClr>
                </a:solidFill>
                <a:latin typeface="微软雅黑" charset="0"/>
                <a:ea typeface="微软雅黑" charset="0"/>
                <a:cs typeface="微软雅黑" charset="0"/>
              </a:endParaRPr>
            </a:p>
          </p:txBody>
        </p:sp>
        <p:cxnSp>
          <p:nvCxnSpPr>
            <p:cNvPr id="89" name="Straight Connector 88"/>
            <p:cNvCxnSpPr/>
            <p:nvPr/>
          </p:nvCxnSpPr>
          <p:spPr>
            <a:xfrm flipH="1">
              <a:off x="1489405" y="2683889"/>
              <a:ext cx="416237" cy="26081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88" idx="0"/>
            </p:cNvCxnSpPr>
            <p:nvPr/>
          </p:nvCxnSpPr>
          <p:spPr>
            <a:xfrm flipH="1">
              <a:off x="1491425" y="2672781"/>
              <a:ext cx="572765" cy="38395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H="1">
              <a:off x="1490814" y="267389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1737339" y="269076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1615422" y="2684866"/>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flipH="1">
              <a:off x="1892577" y="2680635"/>
              <a:ext cx="670570" cy="51038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2024304" y="2706867"/>
              <a:ext cx="615835" cy="47816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1483673" y="2668339"/>
              <a:ext cx="261455" cy="16492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2135975" y="2802965"/>
              <a:ext cx="504164" cy="39445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2283293" y="2931096"/>
              <a:ext cx="340864" cy="25127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2455794" y="3051946"/>
              <a:ext cx="168363" cy="12631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05" name="Group 104"/>
          <p:cNvGrpSpPr/>
          <p:nvPr/>
        </p:nvGrpSpPr>
        <p:grpSpPr>
          <a:xfrm>
            <a:off x="4120016" y="2961507"/>
            <a:ext cx="1163554" cy="529082"/>
            <a:chOff x="1482413" y="2668339"/>
            <a:chExt cx="1163554" cy="529082"/>
          </a:xfrm>
        </p:grpSpPr>
        <p:sp>
          <p:nvSpPr>
            <p:cNvPr id="106" name="Rectangle 105"/>
            <p:cNvSpPr/>
            <p:nvPr/>
          </p:nvSpPr>
          <p:spPr>
            <a:xfrm>
              <a:off x="1482413" y="2672781"/>
              <a:ext cx="1163554" cy="521180"/>
            </a:xfrm>
            <a:prstGeom prst="rect">
              <a:avLst/>
            </a:prstGeom>
            <a:solidFill>
              <a:schemeClr val="bg1">
                <a:lumMod val="95000"/>
              </a:schemeClr>
            </a:solidFill>
            <a:ln w="9525">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endParaRPr lang="zh-CN" altLang="en-US" sz="1400" b="0">
                <a:solidFill>
                  <a:schemeClr val="bg2">
                    <a:lumMod val="50000"/>
                  </a:schemeClr>
                </a:solidFill>
                <a:latin typeface="微软雅黑" charset="0"/>
                <a:ea typeface="微软雅黑" charset="0"/>
                <a:cs typeface="微软雅黑" charset="0"/>
              </a:endParaRPr>
            </a:p>
          </p:txBody>
        </p:sp>
        <p:cxnSp>
          <p:nvCxnSpPr>
            <p:cNvPr id="108" name="Straight Connector 107"/>
            <p:cNvCxnSpPr/>
            <p:nvPr/>
          </p:nvCxnSpPr>
          <p:spPr>
            <a:xfrm flipH="1">
              <a:off x="1489405" y="2683889"/>
              <a:ext cx="416237" cy="26081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6" idx="0"/>
            </p:cNvCxnSpPr>
            <p:nvPr/>
          </p:nvCxnSpPr>
          <p:spPr>
            <a:xfrm flipH="1">
              <a:off x="1491425" y="2672781"/>
              <a:ext cx="572765" cy="38395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1490814" y="267389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1737339" y="269076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1615422" y="2684866"/>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1892577" y="2680635"/>
              <a:ext cx="670570" cy="51038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2024304" y="2706867"/>
              <a:ext cx="615835" cy="47816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flipH="1">
              <a:off x="1483673" y="2668339"/>
              <a:ext cx="261455" cy="16492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H="1">
              <a:off x="2135975" y="2802965"/>
              <a:ext cx="504164" cy="39445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H="1">
              <a:off x="2283293" y="2931096"/>
              <a:ext cx="340864" cy="25127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flipH="1">
              <a:off x="2455794" y="3051946"/>
              <a:ext cx="168363" cy="12631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20" name="Straight Connector 119"/>
          <p:cNvCxnSpPr/>
          <p:nvPr/>
        </p:nvCxnSpPr>
        <p:spPr>
          <a:xfrm flipH="1">
            <a:off x="1297434" y="4705244"/>
            <a:ext cx="283044" cy="19720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92154" y="4698455"/>
            <a:ext cx="401687" cy="27687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1288691" y="4718362"/>
            <a:ext cx="482959" cy="33942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1288691" y="4699203"/>
            <a:ext cx="603609" cy="43066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1297434" y="4710831"/>
            <a:ext cx="155193" cy="10652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330458" y="4710831"/>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1420926" y="4705244"/>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H="1">
            <a:off x="1492139" y="471628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flipH="1">
            <a:off x="1582607" y="471069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H="1">
            <a:off x="1660613" y="471355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flipH="1">
            <a:off x="1751081" y="4707971"/>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flipH="1">
            <a:off x="1822294" y="471901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flipH="1">
            <a:off x="1912762" y="471342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flipH="1">
            <a:off x="1990768" y="471914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flipH="1">
            <a:off x="2081236" y="471355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H="1">
            <a:off x="2152449" y="472459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flipH="1">
            <a:off x="2242917" y="471901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flipH="1">
            <a:off x="2339317" y="470747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flipH="1">
            <a:off x="2417323" y="471033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2507791" y="470474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H="1">
            <a:off x="2579004" y="4715790"/>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2669472" y="4710203"/>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2747478" y="4715923"/>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2837946" y="471033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2909159" y="4721377"/>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2999627" y="4715790"/>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flipH="1">
            <a:off x="3086753" y="471487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flipH="1">
            <a:off x="3177221" y="4709291"/>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flipH="1">
            <a:off x="3255227" y="4715011"/>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3345695" y="4709424"/>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3416908" y="472046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3507376" y="471487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3603776" y="470334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3681782" y="470620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3772250" y="470061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3843463" y="471165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3933931" y="470606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flipH="1">
            <a:off x="4011937" y="471178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flipH="1">
            <a:off x="4102405" y="470620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flipH="1">
            <a:off x="4173618" y="4717243"/>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flipH="1">
            <a:off x="4264086" y="471165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flipH="1">
            <a:off x="4347264" y="471193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flipH="1">
            <a:off x="4425270" y="471765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flipH="1">
            <a:off x="4515738" y="471206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flipH="1">
            <a:off x="4586951" y="472310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flipH="1">
            <a:off x="4677419" y="471752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flipH="1">
            <a:off x="4762618" y="471355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flipH="1">
            <a:off x="4833831" y="472459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4921200" y="4776470"/>
            <a:ext cx="550359" cy="40682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5032196" y="4837749"/>
            <a:ext cx="435582" cy="32717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5118268" y="4887405"/>
            <a:ext cx="362071" cy="27751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flipH="1">
            <a:off x="5198390" y="4960154"/>
            <a:ext cx="280384" cy="20758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296859" y="5031790"/>
            <a:ext cx="173113" cy="13453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9" name="文本框 112"/>
          <p:cNvSpPr txBox="1"/>
          <p:nvPr>
            <p:custDataLst>
              <p:tags r:id="rId5"/>
            </p:custDataLst>
          </p:nvPr>
        </p:nvSpPr>
        <p:spPr>
          <a:xfrm>
            <a:off x="1502375" y="4474513"/>
            <a:ext cx="1081743" cy="335859"/>
          </a:xfrm>
          <a:prstGeom prst="roundRect">
            <a:avLst/>
          </a:prstGeom>
          <a:solidFill>
            <a:srgbClr val="FF8439"/>
          </a:solidFill>
          <a:ln>
            <a:noFill/>
            <a:prstDash val="dash"/>
          </a:ln>
        </p:spPr>
        <p:txBody>
          <a:bodyPr wrap="square" rtlCol="0" anchor="ctr" anchorCtr="0">
            <a:noAutofit/>
          </a:bodyPr>
          <a:lstStyle/>
          <a:p>
            <a:pPr algn="ctr"/>
            <a:r>
              <a:rPr lang="zh-CN" altLang="en-US" sz="1400" b="1">
                <a:solidFill>
                  <a:schemeClr val="bg1"/>
                </a:solidFill>
                <a:latin typeface="微软雅黑" charset="0"/>
                <a:ea typeface="微软雅黑" charset="0"/>
                <a:sym typeface="+mn-ea"/>
              </a:rPr>
              <a:t>只监不控</a:t>
            </a:r>
            <a:endParaRPr lang="zh-CN" altLang="en-US" sz="1400" b="1" dirty="0">
              <a:solidFill>
                <a:schemeClr val="bg1"/>
              </a:solidFill>
              <a:latin typeface="微软雅黑" charset="0"/>
              <a:ea typeface="微软雅黑"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276225"/>
            <a:ext cx="894778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客户数据流转图</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387" name="圆角矩形 386"/>
          <p:cNvSpPr>
            <a:spLocks noGrp="1"/>
          </p:cNvSpPr>
          <p:nvPr/>
        </p:nvSpPr>
        <p:spPr>
          <a:xfrm>
            <a:off x="9898380" y="281305"/>
            <a:ext cx="1066800" cy="285750"/>
          </a:xfrm>
          <a:prstGeom prst="roundRect">
            <a:avLst>
              <a:gd name="adj" fmla="val 26667"/>
            </a:avLst>
          </a:prstGeom>
          <a:solidFill>
            <a:srgbClr val="E8F7F0"/>
          </a:solidFill>
          <a:ln w="10478">
            <a:solidFill>
              <a:srgbClr val="16A06A"/>
            </a:solidFill>
          </a:ln>
        </p:spPr>
      </p:sp>
      <p:sp>
        <p:nvSpPr>
          <p:cNvPr id="388" name="矩形 387"/>
          <p:cNvSpPr>
            <a:spLocks noGrp="1"/>
          </p:cNvSpPr>
          <p:nvPr/>
        </p:nvSpPr>
        <p:spPr>
          <a:xfrm>
            <a:off x="9974580" y="338455"/>
            <a:ext cx="914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1">
                <a:solidFill>
                  <a:srgbClr val="16A06A"/>
                </a:solidFill>
                <a:latin typeface="PingFang SC" panose="020B0400000000000000" charset="-122"/>
                <a:ea typeface="PingFang SC" panose="020B0400000000000000" charset="-122"/>
                <a:cs typeface="PingFang SC" panose="020B0400000000000000" charset="-122"/>
              </a:defRPr>
            </a:pPr>
            <a:r>
              <a:rPr sz="915" b="1">
                <a:solidFill>
                  <a:srgbClr val="16A06A"/>
                </a:solidFill>
                <a:latin typeface="PingFang SC" panose="020B0400000000000000" charset="-122"/>
                <a:ea typeface="PingFang SC" panose="020B0400000000000000" charset="-122"/>
                <a:cs typeface="PingFang SC" panose="020B0400000000000000" charset="-122"/>
              </a:rPr>
              <a:t>绿色：</a:t>
            </a:r>
            <a:r>
              <a:rPr lang="zh-CN" sz="915" b="1">
                <a:solidFill>
                  <a:srgbClr val="16A06A"/>
                </a:solidFill>
                <a:latin typeface="PingFang SC" panose="020B0400000000000000" charset="-122"/>
                <a:ea typeface="PingFang SC" panose="020B0400000000000000" charset="-122"/>
                <a:cs typeface="PingFang SC" panose="020B0400000000000000" charset="-122"/>
              </a:rPr>
              <a:t>本</a:t>
            </a:r>
            <a:r>
              <a:rPr lang="zh-CN" sz="915" b="1">
                <a:solidFill>
                  <a:srgbClr val="16A06A"/>
                </a:solidFill>
                <a:latin typeface="PingFang SC" panose="020B0400000000000000" charset="-122"/>
                <a:ea typeface="PingFang SC" panose="020B0400000000000000" charset="-122"/>
                <a:cs typeface="PingFang SC" panose="020B0400000000000000" charset="-122"/>
              </a:rPr>
              <a:t>项目</a:t>
            </a:r>
            <a:endParaRPr lang="zh-CN" sz="915" b="1">
              <a:solidFill>
                <a:srgbClr val="16A06A"/>
              </a:solidFill>
              <a:latin typeface="PingFang SC" panose="020B0400000000000000" charset="-122"/>
              <a:ea typeface="PingFang SC" panose="020B0400000000000000" charset="-122"/>
              <a:cs typeface="PingFang SC" panose="020B0400000000000000" charset="-122"/>
            </a:endParaRPr>
          </a:p>
        </p:txBody>
      </p:sp>
      <p:pic>
        <p:nvPicPr>
          <p:cNvPr id="3" name="图片 2"/>
          <p:cNvPicPr>
            <a:picLocks noChangeAspect="1"/>
          </p:cNvPicPr>
          <p:nvPr/>
        </p:nvPicPr>
        <p:blipFill>
          <a:blip r:embed="rId1"/>
          <a:stretch>
            <a:fillRect/>
          </a:stretch>
        </p:blipFill>
        <p:spPr>
          <a:xfrm>
            <a:off x="563880" y="737235"/>
            <a:ext cx="11484610" cy="60426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7327"/>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5674348"/>
            <a:ext cx="12192001" cy="1247153"/>
          </a:xfrm>
          <a:prstGeom prst="rect">
            <a:avLst/>
          </a:prstGeom>
        </p:spPr>
      </p:pic>
      <p:pic>
        <p:nvPicPr>
          <p:cNvPr id="10" name="图片 9"/>
          <p:cNvPicPr>
            <a:picLocks noChangeAspect="1"/>
          </p:cNvPicPr>
          <p:nvPr/>
        </p:nvPicPr>
        <p:blipFill>
          <a:blip r:embed="rId3" cstate="print">
            <a:alphaModFix amt="37000"/>
            <a:extLst>
              <a:ext uri="{28A0092B-C50C-407E-A947-70E740481C1C}">
                <a14:useLocalDpi xmlns:a14="http://schemas.microsoft.com/office/drawing/2010/main" val="0"/>
              </a:ext>
            </a:extLst>
          </a:blip>
          <a:stretch>
            <a:fillRect/>
          </a:stretch>
        </p:blipFill>
        <p:spPr>
          <a:xfrm>
            <a:off x="768225" y="2411307"/>
            <a:ext cx="2132418" cy="2232000"/>
          </a:xfrm>
          <a:prstGeom prst="rect">
            <a:avLst/>
          </a:prstGeom>
        </p:spPr>
      </p:pic>
      <p:grpSp>
        <p:nvGrpSpPr>
          <p:cNvPr id="2" name="组合 1"/>
          <p:cNvGrpSpPr/>
          <p:nvPr/>
        </p:nvGrpSpPr>
        <p:grpSpPr>
          <a:xfrm>
            <a:off x="4892013" y="2492896"/>
            <a:ext cx="5740491" cy="2743559"/>
            <a:chOff x="7988357" y="2889355"/>
            <a:chExt cx="5740491" cy="2743559"/>
          </a:xfrm>
        </p:grpSpPr>
        <p:sp>
          <p:nvSpPr>
            <p:cNvPr id="3" name="文本框 2"/>
            <p:cNvSpPr txBox="1"/>
            <p:nvPr/>
          </p:nvSpPr>
          <p:spPr>
            <a:xfrm>
              <a:off x="8709690" y="4349384"/>
              <a:ext cx="5019158" cy="645160"/>
            </a:xfrm>
            <a:prstGeom prst="rect">
              <a:avLst/>
            </a:prstGeom>
            <a:noFill/>
          </p:spPr>
          <p:txBody>
            <a:bodyPr wrap="square" rtlCol="0">
              <a:spAutoFit/>
            </a:bodyPr>
            <a:lstStyle/>
            <a:p>
              <a:r>
                <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rPr>
                <a:t>项目实施</a:t>
              </a:r>
              <a:r>
                <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rPr>
                <a:t>规划</a:t>
              </a:r>
              <a:endParaRPr lang="zh-CN" altLang="en-US" sz="3600" b="1" dirty="0">
                <a:solidFill>
                  <a:srgbClr val="00659B"/>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grpSp>
          <p:nvGrpSpPr>
            <p:cNvPr id="4" name="组合 3"/>
            <p:cNvGrpSpPr/>
            <p:nvPr/>
          </p:nvGrpSpPr>
          <p:grpSpPr>
            <a:xfrm>
              <a:off x="7988357" y="2889355"/>
              <a:ext cx="3688760" cy="2743559"/>
              <a:chOff x="7988357" y="2892799"/>
              <a:chExt cx="3688760" cy="2743559"/>
            </a:xfrm>
          </p:grpSpPr>
          <p:grpSp>
            <p:nvGrpSpPr>
              <p:cNvPr id="6" name="组合 5"/>
              <p:cNvGrpSpPr/>
              <p:nvPr/>
            </p:nvGrpSpPr>
            <p:grpSpPr>
              <a:xfrm>
                <a:off x="8709688" y="2920959"/>
                <a:ext cx="2967429" cy="645160"/>
                <a:chOff x="5933455" y="4527488"/>
                <a:chExt cx="3995505" cy="645160"/>
              </a:xfrm>
            </p:grpSpPr>
            <p:sp>
              <p:nvSpPr>
                <p:cNvPr id="20" name="文本框 19"/>
                <p:cNvSpPr txBox="1"/>
                <p:nvPr/>
              </p:nvSpPr>
              <p:spPr>
                <a:xfrm>
                  <a:off x="5933455" y="4527488"/>
                  <a:ext cx="3995505" cy="645160"/>
                </a:xfrm>
                <a:prstGeom prst="rect">
                  <a:avLst/>
                </a:prstGeom>
                <a:noFill/>
              </p:spPr>
              <p:txBody>
                <a:bodyPr wrap="none" rtlCol="0">
                  <a:spAutoFit/>
                </a:bodyPr>
                <a:lstStyle/>
                <a:p>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项目关键</a:t>
                  </a:r>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节点</a:t>
                  </a:r>
                  <a:endPar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cxnSp>
              <p:nvCxnSpPr>
                <p:cNvPr id="21" name="直接连接符 20"/>
                <p:cNvCxnSpPr/>
                <p:nvPr/>
              </p:nvCxnSpPr>
              <p:spPr>
                <a:xfrm>
                  <a:off x="6077472" y="5145659"/>
                  <a:ext cx="3672409" cy="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8709689" y="3642996"/>
                <a:ext cx="2929890" cy="645160"/>
                <a:chOff x="5933455" y="4663464"/>
                <a:chExt cx="3944957" cy="645160"/>
              </a:xfrm>
            </p:grpSpPr>
            <p:sp>
              <p:nvSpPr>
                <p:cNvPr id="18" name="文本框 17"/>
                <p:cNvSpPr txBox="1"/>
                <p:nvPr/>
              </p:nvSpPr>
              <p:spPr>
                <a:xfrm>
                  <a:off x="5933455" y="4663464"/>
                  <a:ext cx="3944957" cy="645160"/>
                </a:xfrm>
                <a:prstGeom prst="rect">
                  <a:avLst/>
                </a:prstGeom>
                <a:noFill/>
              </p:spPr>
              <p:txBody>
                <a:bodyPr wrap="none" rtlCol="0">
                  <a:spAutoFit/>
                </a:bodyPr>
                <a:lstStyle/>
                <a:p>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项目调研</a:t>
                  </a:r>
                  <a:r>
                    <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情况</a:t>
                  </a:r>
                  <a:endParaRPr lang="zh-CN" altLang="en-US" sz="3600" b="1" dirty="0">
                    <a:solidFill>
                      <a:schemeClr val="bg1">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cxnSp>
              <p:nvCxnSpPr>
                <p:cNvPr id="19" name="直接连接符 18"/>
                <p:cNvCxnSpPr/>
                <p:nvPr/>
              </p:nvCxnSpPr>
              <p:spPr>
                <a:xfrm flipV="1">
                  <a:off x="6077470" y="5281137"/>
                  <a:ext cx="3608943" cy="508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cxnSp>
            <p:nvCxnSpPr>
              <p:cNvPr id="8" name="直接连接符 7"/>
              <p:cNvCxnSpPr/>
              <p:nvPr/>
            </p:nvCxnSpPr>
            <p:spPr>
              <a:xfrm>
                <a:off x="8816648" y="4964041"/>
                <a:ext cx="2608580" cy="1651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7988357" y="2923518"/>
                <a:ext cx="596059" cy="59605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mn-lt"/>
                  <a:ea typeface="+mn-ea"/>
                </a:endParaRPr>
              </a:p>
            </p:txBody>
          </p:sp>
          <p:sp>
            <p:nvSpPr>
              <p:cNvPr id="12" name="文本框 11"/>
              <p:cNvSpPr txBox="1"/>
              <p:nvPr/>
            </p:nvSpPr>
            <p:spPr>
              <a:xfrm>
                <a:off x="8075671" y="2892799"/>
                <a:ext cx="242465" cy="646331"/>
              </a:xfrm>
              <a:prstGeom prst="rect">
                <a:avLst/>
              </a:prstGeom>
              <a:noFill/>
            </p:spPr>
            <p:txBody>
              <a:bodyPr wrap="square" rtlCol="0">
                <a:spAutoFit/>
              </a:bodyPr>
              <a:lstStyle/>
              <a:p>
                <a:r>
                  <a:rPr lang="en-US" altLang="zh-CN" sz="360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1</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13" name="椭圆 12"/>
              <p:cNvSpPr/>
              <p:nvPr/>
            </p:nvSpPr>
            <p:spPr>
              <a:xfrm>
                <a:off x="7988357" y="3641039"/>
                <a:ext cx="596059" cy="59605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8070368" y="3610772"/>
                <a:ext cx="242465" cy="646331"/>
              </a:xfrm>
              <a:prstGeom prst="rect">
                <a:avLst/>
              </a:prstGeom>
              <a:noFill/>
            </p:spPr>
            <p:txBody>
              <a:bodyPr wrap="square" rtlCol="0">
                <a:spAutoFit/>
              </a:bodyPr>
              <a:lstStyle/>
              <a:p>
                <a:r>
                  <a:rPr lang="en-US" altLang="zh-CN" sz="360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2</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15" name="椭圆 14"/>
              <p:cNvSpPr/>
              <p:nvPr/>
            </p:nvSpPr>
            <p:spPr>
              <a:xfrm>
                <a:off x="8020221" y="4361119"/>
                <a:ext cx="596059" cy="596059"/>
              </a:xfrm>
              <a:prstGeom prst="ellipse">
                <a:avLst/>
              </a:prstGeom>
              <a:solidFill>
                <a:srgbClr val="00659B"/>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eaLnBrk="1" fontAlgn="auto" hangingPunct="1">
                  <a:spcBef>
                    <a:spcPts val="0"/>
                  </a:spcBef>
                  <a:spcAft>
                    <a:spcPts val="0"/>
                  </a:spcAft>
                </a:pPr>
                <a:endParaRPr lang="zh-CN" altLang="en-US" sz="2400" kern="0">
                  <a:solidFill>
                    <a:prstClr val="white"/>
                  </a:solidFill>
                  <a:latin typeface="Arial" panose="020B0604020202090204" pitchFamily="34" charset="0"/>
                </a:endParaRPr>
              </a:p>
            </p:txBody>
          </p:sp>
          <p:sp>
            <p:nvSpPr>
              <p:cNvPr id="16" name="文本框 15"/>
              <p:cNvSpPr txBox="1"/>
              <p:nvPr/>
            </p:nvSpPr>
            <p:spPr>
              <a:xfrm>
                <a:off x="8105594" y="4339007"/>
                <a:ext cx="242465" cy="646331"/>
              </a:xfrm>
              <a:prstGeom prst="rect">
                <a:avLst/>
              </a:prstGeom>
              <a:noFill/>
            </p:spPr>
            <p:txBody>
              <a:bodyPr wrap="square" rtlCol="0">
                <a:spAutoFit/>
              </a:bodyPr>
              <a:lstStyle/>
              <a:p>
                <a:r>
                  <a:rPr lang="en-US" altLang="zh-CN" sz="360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3</a:t>
                </a:r>
                <a:endParaRPr lang="zh-CN" altLang="en-US" sz="3600" dirty="0">
                  <a:solidFill>
                    <a:schemeClr val="bg1"/>
                  </a:solidFill>
                  <a:latin typeface="Segoe UI Black" panose="020B0A02040204020203" pitchFamily="34" charset="0"/>
                  <a:cs typeface="Segoe UI Black" panose="020B0A02040204020203" pitchFamily="34" charset="0"/>
                </a:endParaRPr>
              </a:p>
            </p:txBody>
          </p:sp>
          <p:sp>
            <p:nvSpPr>
              <p:cNvPr id="17" name="文本框 16"/>
              <p:cNvSpPr txBox="1"/>
              <p:nvPr/>
            </p:nvSpPr>
            <p:spPr>
              <a:xfrm>
                <a:off x="8075671" y="4990027"/>
                <a:ext cx="242465" cy="646331"/>
              </a:xfrm>
              <a:prstGeom prst="rect">
                <a:avLst/>
              </a:prstGeom>
              <a:noFill/>
            </p:spPr>
            <p:txBody>
              <a:bodyPr wrap="square" rtlCol="0">
                <a:spAutoFit/>
              </a:bodyPr>
              <a:lstStyle/>
              <a:p>
                <a:r>
                  <a:rPr lang="en-US" altLang="zh-CN" sz="360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4</a:t>
                </a:r>
                <a:endParaRPr lang="zh-CN" altLang="en-US" sz="3600" dirty="0">
                  <a:solidFill>
                    <a:schemeClr val="bg1"/>
                  </a:solidFill>
                  <a:latin typeface="Segoe UI Black" panose="020B0A02040204020203" pitchFamily="34" charset="0"/>
                  <a:cs typeface="Segoe UI Black" panose="020B0A02040204020203" pitchFamily="34" charset="0"/>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400</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模块实施</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规划</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eaLnBrk="0" fontAlgn="base"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4" name="矩形 3"/>
          <p:cNvSpPr>
            <a:spLocks noGrp="1"/>
          </p:cNvSpPr>
          <p:nvPr/>
        </p:nvSpPr>
        <p:spPr>
          <a:xfrm>
            <a:off x="609600" y="1331595"/>
            <a:ext cx="8572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7212B"/>
                </a:solidFill>
                <a:latin typeface="Aptos Display"/>
                <a:ea typeface="Aptos Display"/>
                <a:cs typeface="Aptos Display"/>
              </a:defRPr>
            </a:pPr>
            <a:r>
              <a:rPr sz="2400" b="1">
                <a:solidFill>
                  <a:srgbClr val="17212B"/>
                </a:solidFill>
                <a:latin typeface="微软雅黑" charset="0"/>
                <a:ea typeface="微软雅黑" charset="0"/>
                <a:cs typeface="Aptos Display"/>
              </a:rPr>
              <a:t>第一阶段支撑基础客服交互，第二阶段强化协同运营</a:t>
            </a:r>
            <a:endParaRPr sz="2400" b="1">
              <a:solidFill>
                <a:srgbClr val="17212B"/>
              </a:solidFill>
              <a:latin typeface="微软雅黑" charset="0"/>
              <a:ea typeface="微软雅黑" charset="0"/>
              <a:cs typeface="Aptos Display"/>
            </a:endParaRPr>
          </a:p>
        </p:txBody>
      </p:sp>
      <p:sp>
        <p:nvSpPr>
          <p:cNvPr id="5" name="矩形 4"/>
          <p:cNvSpPr>
            <a:spLocks noGrp="1"/>
          </p:cNvSpPr>
          <p:nvPr/>
        </p:nvSpPr>
        <p:spPr>
          <a:xfrm>
            <a:off x="609600" y="1979295"/>
            <a:ext cx="781050" cy="38100"/>
          </a:xfrm>
          <a:prstGeom prst="rect">
            <a:avLst/>
          </a:prstGeom>
          <a:solidFill>
            <a:srgbClr val="F59E0B"/>
          </a:solidFill>
          <a:ln w="0">
            <a:solidFill>
              <a:srgbClr val="000000">
                <a:alpha val="0"/>
              </a:srgbClr>
            </a:solidFill>
            <a:prstDash val="solid"/>
          </a:ln>
        </p:spPr>
      </p:sp>
      <p:sp>
        <p:nvSpPr>
          <p:cNvPr id="9" name="矩形 8"/>
          <p:cNvSpPr>
            <a:spLocks noGrp="1"/>
          </p:cNvSpPr>
          <p:nvPr/>
        </p:nvSpPr>
        <p:spPr>
          <a:xfrm>
            <a:off x="423545" y="2341245"/>
            <a:ext cx="5365750" cy="3714750"/>
          </a:xfrm>
          <a:prstGeom prst="rect">
            <a:avLst/>
          </a:prstGeom>
          <a:solidFill>
            <a:srgbClr val="FFFFFF"/>
          </a:solidFill>
          <a:ln w="9525">
            <a:solidFill>
              <a:srgbClr val="DDE6EF"/>
            </a:solidFill>
            <a:prstDash val="solid"/>
          </a:ln>
        </p:spPr>
      </p:sp>
      <p:sp>
        <p:nvSpPr>
          <p:cNvPr id="6" name="矩形 5"/>
          <p:cNvSpPr>
            <a:spLocks noGrp="1"/>
          </p:cNvSpPr>
          <p:nvPr/>
        </p:nvSpPr>
        <p:spPr>
          <a:xfrm>
            <a:off x="6534150" y="2341245"/>
            <a:ext cx="5048250" cy="3714750"/>
          </a:xfrm>
          <a:prstGeom prst="rect">
            <a:avLst/>
          </a:prstGeom>
          <a:solidFill>
            <a:srgbClr val="0086D1"/>
          </a:solidFill>
          <a:ln w="0">
            <a:solidFill>
              <a:srgbClr val="0074B8">
                <a:alpha val="0"/>
              </a:srgbClr>
            </a:solidFill>
            <a:prstDash val="solid"/>
          </a:ln>
        </p:spPr>
      </p:sp>
      <p:sp>
        <p:nvSpPr>
          <p:cNvPr id="8" name="矩形 7"/>
          <p:cNvSpPr>
            <a:spLocks noGrp="1"/>
          </p:cNvSpPr>
          <p:nvPr/>
        </p:nvSpPr>
        <p:spPr>
          <a:xfrm>
            <a:off x="695960" y="2561590"/>
            <a:ext cx="4971415" cy="3524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2000" b="1">
                <a:solidFill>
                  <a:srgbClr val="17212B"/>
                </a:solidFill>
                <a:latin typeface="微软雅黑" charset="0"/>
                <a:ea typeface="微软雅黑" charset="0"/>
                <a:cs typeface="微软雅黑" charset="0"/>
              </a:rPr>
              <a:t>第一阶段上线 70% 功能</a:t>
            </a:r>
            <a:r>
              <a:rPr lang="en-US" sz="2000" b="1">
                <a:solidFill>
                  <a:srgbClr val="17212B"/>
                </a:solidFill>
                <a:latin typeface="微软雅黑" charset="0"/>
                <a:ea typeface="微软雅黑" charset="0"/>
                <a:cs typeface="微软雅黑" charset="0"/>
              </a:rPr>
              <a:t>【2026.10】</a:t>
            </a:r>
            <a:endParaRPr lang="en-US" sz="2000" b="1">
              <a:solidFill>
                <a:srgbClr val="17212B"/>
              </a:solidFill>
              <a:latin typeface="微软雅黑" charset="0"/>
              <a:ea typeface="微软雅黑" charset="0"/>
              <a:cs typeface="微软雅黑" charset="0"/>
            </a:endParaRPr>
          </a:p>
        </p:txBody>
      </p:sp>
      <p:sp>
        <p:nvSpPr>
          <p:cNvPr id="13" name="矩形 12"/>
          <p:cNvSpPr>
            <a:spLocks noGrp="1"/>
          </p:cNvSpPr>
          <p:nvPr/>
        </p:nvSpPr>
        <p:spPr>
          <a:xfrm>
            <a:off x="895350" y="3217545"/>
            <a:ext cx="66675" cy="66675"/>
          </a:xfrm>
          <a:prstGeom prst="rect">
            <a:avLst/>
          </a:prstGeom>
          <a:solidFill>
            <a:srgbClr val="00B5D1"/>
          </a:solidFill>
          <a:ln w="0">
            <a:solidFill>
              <a:srgbClr val="000000">
                <a:alpha val="0"/>
              </a:srgbClr>
            </a:solidFill>
            <a:prstDash val="solid"/>
          </a:ln>
        </p:spPr>
      </p:sp>
      <p:sp>
        <p:nvSpPr>
          <p:cNvPr id="14" name="矩形 13"/>
          <p:cNvSpPr>
            <a:spLocks noGrp="1"/>
          </p:cNvSpPr>
          <p:nvPr/>
        </p:nvSpPr>
        <p:spPr>
          <a:xfrm>
            <a:off x="1066800" y="3141345"/>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800" b="0">
                <a:solidFill>
                  <a:srgbClr val="17212B"/>
                </a:solidFill>
                <a:latin typeface="微软雅黑" charset="0"/>
                <a:ea typeface="微软雅黑" charset="0"/>
                <a:cs typeface="Aptos"/>
              </a:rPr>
              <a:t>呼叫中心：承接一线客户呼入</a:t>
            </a:r>
            <a:endParaRPr sz="1800" b="0">
              <a:solidFill>
                <a:srgbClr val="17212B"/>
              </a:solidFill>
              <a:latin typeface="微软雅黑" charset="0"/>
              <a:ea typeface="微软雅黑" charset="0"/>
              <a:cs typeface="Aptos"/>
            </a:endParaRPr>
          </a:p>
        </p:txBody>
      </p:sp>
      <p:sp>
        <p:nvSpPr>
          <p:cNvPr id="15" name="矩形 14"/>
          <p:cNvSpPr>
            <a:spLocks noGrp="1"/>
          </p:cNvSpPr>
          <p:nvPr/>
        </p:nvSpPr>
        <p:spPr>
          <a:xfrm>
            <a:off x="895350" y="3589020"/>
            <a:ext cx="66675" cy="66675"/>
          </a:xfrm>
          <a:prstGeom prst="rect">
            <a:avLst/>
          </a:prstGeom>
          <a:solidFill>
            <a:srgbClr val="00B5D1"/>
          </a:solidFill>
          <a:ln w="0">
            <a:solidFill>
              <a:srgbClr val="000000">
                <a:alpha val="0"/>
              </a:srgbClr>
            </a:solidFill>
            <a:prstDash val="solid"/>
          </a:ln>
        </p:spPr>
      </p:sp>
      <p:sp>
        <p:nvSpPr>
          <p:cNvPr id="25" name="矩形 24"/>
          <p:cNvSpPr>
            <a:spLocks noGrp="1"/>
          </p:cNvSpPr>
          <p:nvPr/>
        </p:nvSpPr>
        <p:spPr>
          <a:xfrm>
            <a:off x="1066800" y="3512820"/>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800" b="0">
                <a:solidFill>
                  <a:srgbClr val="17212B"/>
                </a:solidFill>
                <a:latin typeface="微软雅黑" charset="0"/>
                <a:ea typeface="微软雅黑" charset="0"/>
                <a:cs typeface="Aptos"/>
              </a:rPr>
              <a:t>智能知识库：支持咨询应答基础内容</a:t>
            </a:r>
            <a:endParaRPr sz="1800" b="0">
              <a:solidFill>
                <a:srgbClr val="17212B"/>
              </a:solidFill>
              <a:latin typeface="微软雅黑" charset="0"/>
              <a:ea typeface="微软雅黑" charset="0"/>
              <a:cs typeface="Aptos"/>
            </a:endParaRPr>
          </a:p>
        </p:txBody>
      </p:sp>
      <p:sp>
        <p:nvSpPr>
          <p:cNvPr id="26" name="矩形 25"/>
          <p:cNvSpPr>
            <a:spLocks noGrp="1"/>
          </p:cNvSpPr>
          <p:nvPr/>
        </p:nvSpPr>
        <p:spPr>
          <a:xfrm>
            <a:off x="895350" y="3960495"/>
            <a:ext cx="66675" cy="66675"/>
          </a:xfrm>
          <a:prstGeom prst="rect">
            <a:avLst/>
          </a:prstGeom>
          <a:solidFill>
            <a:srgbClr val="00B5D1"/>
          </a:solidFill>
          <a:ln w="0">
            <a:solidFill>
              <a:srgbClr val="000000">
                <a:alpha val="0"/>
              </a:srgbClr>
            </a:solidFill>
            <a:prstDash val="solid"/>
          </a:ln>
        </p:spPr>
      </p:sp>
      <p:sp>
        <p:nvSpPr>
          <p:cNvPr id="27" name="矩形 26"/>
          <p:cNvSpPr>
            <a:spLocks noGrp="1"/>
          </p:cNvSpPr>
          <p:nvPr/>
        </p:nvSpPr>
        <p:spPr>
          <a:xfrm>
            <a:off x="1066800" y="3884295"/>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800" b="0">
                <a:solidFill>
                  <a:srgbClr val="17212B"/>
                </a:solidFill>
                <a:latin typeface="微软雅黑" charset="0"/>
                <a:ea typeface="微软雅黑" charset="0"/>
                <a:cs typeface="微软雅黑" charset="0"/>
              </a:rPr>
              <a:t>AI智能语音交互平台</a:t>
            </a:r>
            <a:endParaRPr sz="1800" b="0">
              <a:solidFill>
                <a:srgbClr val="17212B"/>
              </a:solidFill>
              <a:latin typeface="微软雅黑" charset="0"/>
              <a:ea typeface="微软雅黑" charset="0"/>
              <a:cs typeface="微软雅黑" charset="0"/>
            </a:endParaRPr>
          </a:p>
        </p:txBody>
      </p:sp>
      <p:sp>
        <p:nvSpPr>
          <p:cNvPr id="28" name="矩形 27"/>
          <p:cNvSpPr>
            <a:spLocks noGrp="1"/>
          </p:cNvSpPr>
          <p:nvPr/>
        </p:nvSpPr>
        <p:spPr>
          <a:xfrm>
            <a:off x="895350" y="4331970"/>
            <a:ext cx="66675" cy="66675"/>
          </a:xfrm>
          <a:prstGeom prst="rect">
            <a:avLst/>
          </a:prstGeom>
          <a:solidFill>
            <a:srgbClr val="00B5D1"/>
          </a:solidFill>
          <a:ln w="0">
            <a:solidFill>
              <a:srgbClr val="000000">
                <a:alpha val="0"/>
              </a:srgbClr>
            </a:solidFill>
            <a:prstDash val="solid"/>
          </a:ln>
        </p:spPr>
      </p:sp>
      <p:sp>
        <p:nvSpPr>
          <p:cNvPr id="29" name="矩形 28"/>
          <p:cNvSpPr>
            <a:spLocks noGrp="1"/>
          </p:cNvSpPr>
          <p:nvPr/>
        </p:nvSpPr>
        <p:spPr>
          <a:xfrm>
            <a:off x="1066800" y="4255770"/>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800" b="0">
                <a:solidFill>
                  <a:srgbClr val="17212B"/>
                </a:solidFill>
                <a:latin typeface="微软雅黑" charset="0"/>
                <a:ea typeface="微软雅黑" charset="0"/>
                <a:cs typeface="微软雅黑" charset="0"/>
              </a:rPr>
              <a:t>AI智能对话平台</a:t>
            </a:r>
            <a:endParaRPr sz="1800" b="0">
              <a:solidFill>
                <a:srgbClr val="17212B"/>
              </a:solidFill>
              <a:latin typeface="微软雅黑" charset="0"/>
              <a:ea typeface="微软雅黑" charset="0"/>
              <a:cs typeface="微软雅黑" charset="0"/>
            </a:endParaRPr>
          </a:p>
        </p:txBody>
      </p:sp>
      <p:sp>
        <p:nvSpPr>
          <p:cNvPr id="30" name="矩形 29"/>
          <p:cNvSpPr>
            <a:spLocks noGrp="1"/>
          </p:cNvSpPr>
          <p:nvPr/>
        </p:nvSpPr>
        <p:spPr>
          <a:xfrm>
            <a:off x="895350" y="4703445"/>
            <a:ext cx="66675" cy="66675"/>
          </a:xfrm>
          <a:prstGeom prst="rect">
            <a:avLst/>
          </a:prstGeom>
          <a:solidFill>
            <a:srgbClr val="00B5D1"/>
          </a:solidFill>
          <a:ln w="0">
            <a:solidFill>
              <a:srgbClr val="000000">
                <a:alpha val="0"/>
              </a:srgbClr>
            </a:solidFill>
            <a:prstDash val="solid"/>
          </a:ln>
        </p:spPr>
      </p:sp>
      <p:sp>
        <p:nvSpPr>
          <p:cNvPr id="31" name="矩形 30"/>
          <p:cNvSpPr>
            <a:spLocks noGrp="1"/>
          </p:cNvSpPr>
          <p:nvPr/>
        </p:nvSpPr>
        <p:spPr>
          <a:xfrm>
            <a:off x="1066800" y="4627245"/>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800" b="0">
                <a:solidFill>
                  <a:srgbClr val="17212B"/>
                </a:solidFill>
                <a:latin typeface="微软雅黑" charset="0"/>
                <a:ea typeface="微软雅黑" charset="0"/>
                <a:cs typeface="Aptos"/>
              </a:rPr>
              <a:t>坐席助手：辅助坐席接待与查询</a:t>
            </a:r>
            <a:endParaRPr sz="1800" b="0">
              <a:solidFill>
                <a:srgbClr val="17212B"/>
              </a:solidFill>
              <a:latin typeface="微软雅黑" charset="0"/>
              <a:ea typeface="微软雅黑" charset="0"/>
              <a:cs typeface="Aptos"/>
            </a:endParaRPr>
          </a:p>
        </p:txBody>
      </p:sp>
      <p:sp>
        <p:nvSpPr>
          <p:cNvPr id="32" name="矩形 31"/>
          <p:cNvSpPr>
            <a:spLocks noGrp="1"/>
          </p:cNvSpPr>
          <p:nvPr/>
        </p:nvSpPr>
        <p:spPr>
          <a:xfrm>
            <a:off x="895350" y="5074920"/>
            <a:ext cx="66675" cy="66675"/>
          </a:xfrm>
          <a:prstGeom prst="rect">
            <a:avLst/>
          </a:prstGeom>
          <a:solidFill>
            <a:srgbClr val="00B5D1"/>
          </a:solidFill>
          <a:ln w="0">
            <a:solidFill>
              <a:srgbClr val="000000">
                <a:alpha val="0"/>
              </a:srgbClr>
            </a:solidFill>
            <a:prstDash val="solid"/>
          </a:ln>
        </p:spPr>
      </p:sp>
      <p:sp>
        <p:nvSpPr>
          <p:cNvPr id="33" name="矩形 32"/>
          <p:cNvSpPr>
            <a:spLocks noGrp="1"/>
          </p:cNvSpPr>
          <p:nvPr/>
        </p:nvSpPr>
        <p:spPr>
          <a:xfrm>
            <a:off x="1066800" y="4998720"/>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800" b="0">
                <a:solidFill>
                  <a:srgbClr val="17212B"/>
                </a:solidFill>
                <a:latin typeface="微软雅黑" charset="0"/>
                <a:ea typeface="微软雅黑" charset="0"/>
                <a:cs typeface="Aptos"/>
              </a:rPr>
              <a:t>智能质检：覆盖基础质检能力</a:t>
            </a:r>
            <a:endParaRPr sz="1800" b="0">
              <a:solidFill>
                <a:srgbClr val="17212B"/>
              </a:solidFill>
              <a:latin typeface="微软雅黑" charset="0"/>
              <a:ea typeface="微软雅黑" charset="0"/>
              <a:cs typeface="Aptos"/>
            </a:endParaRPr>
          </a:p>
        </p:txBody>
      </p:sp>
      <p:sp>
        <p:nvSpPr>
          <p:cNvPr id="34" name="矩形 33"/>
          <p:cNvSpPr>
            <a:spLocks noGrp="1"/>
          </p:cNvSpPr>
          <p:nvPr/>
        </p:nvSpPr>
        <p:spPr>
          <a:xfrm>
            <a:off x="694690" y="5518150"/>
            <a:ext cx="4875530" cy="438150"/>
          </a:xfrm>
          <a:prstGeom prst="rect">
            <a:avLst/>
          </a:prstGeom>
          <a:solidFill>
            <a:srgbClr val="0074B8">
              <a:alpha val="0"/>
            </a:srgbClr>
          </a:solidFill>
          <a:ln w="0">
            <a:solidFill>
              <a:srgbClr val="000000">
                <a:alpha val="0"/>
              </a:srgbClr>
            </a:solidFill>
            <a:prstDash val="solid"/>
          </a:ln>
        </p:spPr>
        <p:txBody>
          <a:bodyPr lIns="0" tIns="0" rIns="0" bIns="0" anchor="t"/>
          <a:lstStyle/>
          <a:p>
            <a:pPr algn="l">
              <a:defRPr sz="1350" b="1">
                <a:solidFill>
                  <a:srgbClr val="17212B"/>
                </a:solidFill>
                <a:latin typeface="Aptos"/>
                <a:ea typeface="Aptos"/>
                <a:cs typeface="Aptos"/>
              </a:defRPr>
            </a:pPr>
            <a:r>
              <a:rPr sz="2000" b="1">
                <a:solidFill>
                  <a:srgbClr val="0086D1"/>
                </a:solidFill>
                <a:latin typeface="微软雅黑" charset="0"/>
                <a:ea typeface="微软雅黑" charset="0"/>
                <a:cs typeface="微软雅黑" charset="0"/>
              </a:rPr>
              <a:t>阶段价值：满足呼入、咨询及基础 AI 能力</a:t>
            </a:r>
            <a:endParaRPr sz="2000" b="1">
              <a:solidFill>
                <a:srgbClr val="0086D1"/>
              </a:solidFill>
              <a:latin typeface="微软雅黑" charset="0"/>
              <a:ea typeface="微软雅黑" charset="0"/>
              <a:cs typeface="微软雅黑" charset="0"/>
            </a:endParaRPr>
          </a:p>
        </p:txBody>
      </p:sp>
      <p:sp>
        <p:nvSpPr>
          <p:cNvPr id="35" name="矩形 34"/>
          <p:cNvSpPr>
            <a:spLocks noGrp="1"/>
          </p:cNvSpPr>
          <p:nvPr/>
        </p:nvSpPr>
        <p:spPr>
          <a:xfrm>
            <a:off x="6896100" y="2559685"/>
            <a:ext cx="4173855" cy="33782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Aptos"/>
                <a:ea typeface="Aptos"/>
                <a:cs typeface="Aptos"/>
              </a:defRPr>
            </a:pPr>
            <a:r>
              <a:rPr sz="2000" b="1">
                <a:solidFill>
                  <a:srgbClr val="FFFFFF"/>
                </a:solidFill>
                <a:latin typeface="微软雅黑" charset="0"/>
                <a:ea typeface="微软雅黑" charset="0"/>
                <a:cs typeface="Aptos"/>
              </a:rPr>
              <a:t>第二阶段全面上线</a:t>
            </a:r>
            <a:r>
              <a:rPr lang="en-US" altLang="zh-CN" sz="2000" b="1">
                <a:solidFill>
                  <a:srgbClr val="FFFFFF"/>
                </a:solidFill>
                <a:latin typeface="微软雅黑" charset="0"/>
                <a:ea typeface="微软雅黑" charset="0"/>
                <a:cs typeface="Aptos"/>
              </a:rPr>
              <a:t>【2027.2】</a:t>
            </a:r>
            <a:endParaRPr lang="en-US" altLang="zh-CN" sz="2000" b="1">
              <a:solidFill>
                <a:srgbClr val="FFFFFF"/>
              </a:solidFill>
              <a:latin typeface="微软雅黑" charset="0"/>
              <a:ea typeface="微软雅黑" charset="0"/>
              <a:cs typeface="Aptos"/>
            </a:endParaRPr>
          </a:p>
          <a:p>
            <a:pPr algn="l">
              <a:defRPr sz="1650" b="1">
                <a:solidFill>
                  <a:srgbClr val="FFFFFF"/>
                </a:solidFill>
                <a:latin typeface="Aptos"/>
                <a:ea typeface="Aptos"/>
                <a:cs typeface="Aptos"/>
              </a:defRPr>
            </a:pPr>
            <a:endParaRPr lang="en-US" altLang="zh-CN" sz="2000" b="1">
              <a:solidFill>
                <a:srgbClr val="FFFFFF"/>
              </a:solidFill>
              <a:latin typeface="微软雅黑" charset="0"/>
              <a:ea typeface="微软雅黑" charset="0"/>
              <a:cs typeface="Aptos"/>
            </a:endParaRPr>
          </a:p>
        </p:txBody>
      </p:sp>
      <p:sp>
        <p:nvSpPr>
          <p:cNvPr id="36" name="椭圆 35"/>
          <p:cNvSpPr>
            <a:spLocks noGrp="1"/>
          </p:cNvSpPr>
          <p:nvPr/>
        </p:nvSpPr>
        <p:spPr>
          <a:xfrm>
            <a:off x="6896100" y="3236595"/>
            <a:ext cx="342900" cy="342900"/>
          </a:xfrm>
          <a:prstGeom prst="ellipse">
            <a:avLst/>
          </a:prstGeom>
          <a:solidFill>
            <a:srgbClr val="00B5D1"/>
          </a:solidFill>
          <a:ln w="0">
            <a:solidFill>
              <a:srgbClr val="000000">
                <a:alpha val="0"/>
              </a:srgbClr>
            </a:solidFill>
            <a:prstDash val="solid"/>
          </a:ln>
        </p:spPr>
      </p:sp>
      <p:sp>
        <p:nvSpPr>
          <p:cNvPr id="37" name="矩形 36"/>
          <p:cNvSpPr>
            <a:spLocks noGrp="1"/>
          </p:cNvSpPr>
          <p:nvPr/>
        </p:nvSpPr>
        <p:spPr>
          <a:xfrm>
            <a:off x="7381875" y="3274695"/>
            <a:ext cx="3333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Aptos"/>
                <a:ea typeface="Aptos"/>
                <a:cs typeface="Aptos"/>
              </a:defRPr>
            </a:pPr>
            <a:r>
              <a:rPr sz="1500" b="1">
                <a:solidFill>
                  <a:srgbClr val="FFFFFF"/>
                </a:solidFill>
                <a:latin typeface="微软雅黑" charset="0"/>
                <a:ea typeface="微软雅黑" charset="0"/>
                <a:cs typeface="Aptos"/>
              </a:rPr>
              <a:t>系统集成打通</a:t>
            </a:r>
            <a:endParaRPr sz="1500" b="1">
              <a:solidFill>
                <a:srgbClr val="FFFFFF"/>
              </a:solidFill>
              <a:latin typeface="微软雅黑" charset="0"/>
              <a:ea typeface="微软雅黑" charset="0"/>
              <a:cs typeface="Aptos"/>
            </a:endParaRPr>
          </a:p>
        </p:txBody>
      </p:sp>
      <p:sp>
        <p:nvSpPr>
          <p:cNvPr id="38" name="椭圆 37"/>
          <p:cNvSpPr>
            <a:spLocks noGrp="1"/>
          </p:cNvSpPr>
          <p:nvPr/>
        </p:nvSpPr>
        <p:spPr>
          <a:xfrm>
            <a:off x="6896100" y="3789045"/>
            <a:ext cx="342900" cy="342900"/>
          </a:xfrm>
          <a:prstGeom prst="ellipse">
            <a:avLst/>
          </a:prstGeom>
          <a:solidFill>
            <a:srgbClr val="00B5D1"/>
          </a:solidFill>
          <a:ln w="0">
            <a:solidFill>
              <a:srgbClr val="000000">
                <a:alpha val="0"/>
              </a:srgbClr>
            </a:solidFill>
            <a:prstDash val="solid"/>
          </a:ln>
        </p:spPr>
      </p:sp>
      <p:sp>
        <p:nvSpPr>
          <p:cNvPr id="39" name="矩形 38"/>
          <p:cNvSpPr>
            <a:spLocks noGrp="1"/>
          </p:cNvSpPr>
          <p:nvPr/>
        </p:nvSpPr>
        <p:spPr>
          <a:xfrm>
            <a:off x="7381875" y="3827145"/>
            <a:ext cx="3333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Aptos"/>
                <a:ea typeface="Aptos"/>
                <a:cs typeface="Aptos"/>
              </a:defRPr>
            </a:pPr>
            <a:r>
              <a:rPr sz="1500" b="1">
                <a:solidFill>
                  <a:srgbClr val="FFFFFF"/>
                </a:solidFill>
                <a:latin typeface="微软雅黑" charset="0"/>
                <a:ea typeface="微软雅黑" charset="0"/>
                <a:cs typeface="Aptos"/>
              </a:rPr>
              <a:t>工单流转</a:t>
            </a:r>
            <a:endParaRPr sz="1500" b="1">
              <a:solidFill>
                <a:srgbClr val="FFFFFF"/>
              </a:solidFill>
              <a:latin typeface="微软雅黑" charset="0"/>
              <a:ea typeface="微软雅黑" charset="0"/>
              <a:cs typeface="Aptos"/>
            </a:endParaRPr>
          </a:p>
        </p:txBody>
      </p:sp>
      <p:sp>
        <p:nvSpPr>
          <p:cNvPr id="40" name="椭圆 39"/>
          <p:cNvSpPr>
            <a:spLocks noGrp="1"/>
          </p:cNvSpPr>
          <p:nvPr/>
        </p:nvSpPr>
        <p:spPr>
          <a:xfrm>
            <a:off x="6896100" y="4341495"/>
            <a:ext cx="342900" cy="342900"/>
          </a:xfrm>
          <a:prstGeom prst="ellipse">
            <a:avLst/>
          </a:prstGeom>
          <a:solidFill>
            <a:srgbClr val="00B5D1"/>
          </a:solidFill>
          <a:ln w="0">
            <a:solidFill>
              <a:srgbClr val="000000">
                <a:alpha val="0"/>
              </a:srgbClr>
            </a:solidFill>
            <a:prstDash val="solid"/>
          </a:ln>
        </p:spPr>
      </p:sp>
      <p:sp>
        <p:nvSpPr>
          <p:cNvPr id="42" name="矩形 41"/>
          <p:cNvSpPr>
            <a:spLocks noGrp="1"/>
          </p:cNvSpPr>
          <p:nvPr/>
        </p:nvSpPr>
        <p:spPr>
          <a:xfrm>
            <a:off x="7381875" y="4379595"/>
            <a:ext cx="3333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Aptos"/>
                <a:ea typeface="Aptos"/>
                <a:cs typeface="Aptos"/>
              </a:defRPr>
            </a:pPr>
            <a:r>
              <a:rPr sz="1500" b="1">
                <a:solidFill>
                  <a:srgbClr val="FFFFFF"/>
                </a:solidFill>
                <a:latin typeface="微软雅黑" charset="0"/>
                <a:ea typeface="微软雅黑" charset="0"/>
                <a:cs typeface="Aptos"/>
              </a:rPr>
              <a:t>投诉风险识别</a:t>
            </a:r>
            <a:endParaRPr sz="1500" b="1">
              <a:solidFill>
                <a:srgbClr val="FFFFFF"/>
              </a:solidFill>
              <a:latin typeface="微软雅黑" charset="0"/>
              <a:ea typeface="微软雅黑" charset="0"/>
              <a:cs typeface="Aptos"/>
            </a:endParaRPr>
          </a:p>
        </p:txBody>
      </p:sp>
      <p:sp>
        <p:nvSpPr>
          <p:cNvPr id="43" name="椭圆 42"/>
          <p:cNvSpPr>
            <a:spLocks noGrp="1"/>
          </p:cNvSpPr>
          <p:nvPr/>
        </p:nvSpPr>
        <p:spPr>
          <a:xfrm>
            <a:off x="6896100" y="4893945"/>
            <a:ext cx="342900" cy="342900"/>
          </a:xfrm>
          <a:prstGeom prst="ellipse">
            <a:avLst/>
          </a:prstGeom>
          <a:solidFill>
            <a:srgbClr val="00B5D1"/>
          </a:solidFill>
          <a:ln w="0">
            <a:solidFill>
              <a:srgbClr val="000000">
                <a:alpha val="0"/>
              </a:srgbClr>
            </a:solidFill>
            <a:prstDash val="solid"/>
          </a:ln>
        </p:spPr>
      </p:sp>
      <p:sp>
        <p:nvSpPr>
          <p:cNvPr id="44" name="矩形 43"/>
          <p:cNvSpPr>
            <a:spLocks noGrp="1"/>
          </p:cNvSpPr>
          <p:nvPr/>
        </p:nvSpPr>
        <p:spPr>
          <a:xfrm>
            <a:off x="7381875" y="4932045"/>
            <a:ext cx="3333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Aptos"/>
                <a:ea typeface="Aptos"/>
                <a:cs typeface="Aptos"/>
              </a:defRPr>
            </a:pPr>
            <a:r>
              <a:rPr sz="1500" b="1">
                <a:solidFill>
                  <a:srgbClr val="FFFFFF"/>
                </a:solidFill>
                <a:latin typeface="微软雅黑" charset="0"/>
                <a:ea typeface="微软雅黑" charset="0"/>
                <a:cs typeface="Aptos"/>
              </a:rPr>
              <a:t>企业微信客户运营</a:t>
            </a:r>
            <a:endParaRPr sz="1500" b="1">
              <a:solidFill>
                <a:srgbClr val="FFFFFF"/>
              </a:solidFill>
              <a:latin typeface="微软雅黑" charset="0"/>
              <a:ea typeface="微软雅黑" charset="0"/>
              <a:cs typeface="Apto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a:spLocks noGrp="1"/>
          </p:cNvSpPr>
          <p:nvPr/>
        </p:nvSpPr>
        <p:spPr>
          <a:xfrm>
            <a:off x="7608570" y="4549775"/>
            <a:ext cx="3653155" cy="1839595"/>
          </a:xfrm>
          <a:prstGeom prst="rect">
            <a:avLst/>
          </a:prstGeom>
          <a:solidFill>
            <a:srgbClr val="FFFFFF"/>
          </a:solidFill>
          <a:ln w="9525">
            <a:solidFill>
              <a:srgbClr val="DDE6EF"/>
            </a:solidFill>
            <a:prstDash val="solid"/>
          </a:ln>
        </p:spPr>
        <p:txBody>
          <a:bodyPr/>
          <a:p>
            <a:endParaRPr lang="zh-CN" altLang="en-US"/>
          </a:p>
        </p:txBody>
      </p:sp>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会员</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积分模块实施</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规划</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eaLnBrk="0" fontAlgn="base"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47" name="矩形 46"/>
          <p:cNvSpPr>
            <a:spLocks noGrp="1"/>
          </p:cNvSpPr>
          <p:nvPr/>
        </p:nvSpPr>
        <p:spPr>
          <a:xfrm>
            <a:off x="681355" y="1188085"/>
            <a:ext cx="8572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7212B"/>
                </a:solidFill>
                <a:latin typeface="Aptos Display"/>
                <a:ea typeface="Aptos Display"/>
                <a:cs typeface="Aptos Display"/>
              </a:defRPr>
            </a:pPr>
            <a:r>
              <a:rPr sz="2400" b="1">
                <a:solidFill>
                  <a:srgbClr val="17212B"/>
                </a:solidFill>
                <a:latin typeface="微软雅黑" charset="0"/>
                <a:ea typeface="微软雅黑" charset="0"/>
                <a:cs typeface="Aptos Display"/>
              </a:rPr>
              <a:t>先跑通内部积分场景，再实现跨业务互通</a:t>
            </a:r>
            <a:endParaRPr sz="2400" b="1">
              <a:solidFill>
                <a:srgbClr val="17212B"/>
              </a:solidFill>
              <a:latin typeface="微软雅黑" charset="0"/>
              <a:ea typeface="微软雅黑" charset="0"/>
              <a:cs typeface="Aptos Display"/>
            </a:endParaRPr>
          </a:p>
        </p:txBody>
      </p:sp>
      <p:sp>
        <p:nvSpPr>
          <p:cNvPr id="48" name="矩形 47"/>
          <p:cNvSpPr>
            <a:spLocks noGrp="1"/>
          </p:cNvSpPr>
          <p:nvPr/>
        </p:nvSpPr>
        <p:spPr>
          <a:xfrm>
            <a:off x="681355" y="1835785"/>
            <a:ext cx="781050" cy="38100"/>
          </a:xfrm>
          <a:prstGeom prst="rect">
            <a:avLst/>
          </a:prstGeom>
          <a:solidFill>
            <a:srgbClr val="FF8439"/>
          </a:solidFill>
          <a:ln w="0">
            <a:solidFill>
              <a:srgbClr val="000000">
                <a:alpha val="0"/>
              </a:srgbClr>
            </a:solidFill>
            <a:prstDash val="solid"/>
          </a:ln>
        </p:spPr>
      </p:sp>
      <p:sp>
        <p:nvSpPr>
          <p:cNvPr id="49" name="椭圆 48"/>
          <p:cNvSpPr>
            <a:spLocks noGrp="1"/>
          </p:cNvSpPr>
          <p:nvPr/>
        </p:nvSpPr>
        <p:spPr>
          <a:xfrm>
            <a:off x="909955" y="2282825"/>
            <a:ext cx="2286000" cy="2286000"/>
          </a:xfrm>
          <a:prstGeom prst="ellipse">
            <a:avLst/>
          </a:prstGeom>
          <a:solidFill>
            <a:srgbClr val="0086D1"/>
          </a:solidFill>
          <a:ln w="0">
            <a:solidFill>
              <a:srgbClr val="000000">
                <a:alpha val="0"/>
              </a:srgbClr>
            </a:solidFill>
            <a:prstDash val="solid"/>
          </a:ln>
        </p:spPr>
      </p:sp>
      <p:sp>
        <p:nvSpPr>
          <p:cNvPr id="50" name="矩形 49"/>
          <p:cNvSpPr>
            <a:spLocks noGrp="1"/>
          </p:cNvSpPr>
          <p:nvPr/>
        </p:nvSpPr>
        <p:spPr>
          <a:xfrm>
            <a:off x="1271905" y="3006725"/>
            <a:ext cx="15621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3750" b="1">
                <a:solidFill>
                  <a:srgbClr val="FFFFFF"/>
                </a:solidFill>
                <a:latin typeface="Aptos"/>
                <a:ea typeface="Aptos"/>
                <a:cs typeface="Aptos"/>
              </a:defRPr>
            </a:pPr>
            <a:r>
              <a:rPr sz="3750" b="1">
                <a:solidFill>
                  <a:srgbClr val="FFFFFF"/>
                </a:solidFill>
                <a:latin typeface="微软雅黑" charset="0"/>
                <a:ea typeface="微软雅黑" charset="0"/>
                <a:cs typeface="Aptos"/>
              </a:rPr>
              <a:t>60%</a:t>
            </a:r>
            <a:endParaRPr sz="3750" b="1">
              <a:solidFill>
                <a:srgbClr val="FFFFFF"/>
              </a:solidFill>
              <a:latin typeface="微软雅黑" charset="0"/>
              <a:ea typeface="微软雅黑" charset="0"/>
              <a:cs typeface="Aptos"/>
            </a:endParaRPr>
          </a:p>
        </p:txBody>
      </p:sp>
      <p:sp>
        <p:nvSpPr>
          <p:cNvPr id="51" name="矩形 50"/>
          <p:cNvSpPr>
            <a:spLocks noGrp="1"/>
          </p:cNvSpPr>
          <p:nvPr/>
        </p:nvSpPr>
        <p:spPr>
          <a:xfrm>
            <a:off x="1271905" y="3616325"/>
            <a:ext cx="1562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0">
                <a:solidFill>
                  <a:srgbClr val="FFFFFF"/>
                </a:solidFill>
                <a:latin typeface="Aptos"/>
                <a:ea typeface="Aptos"/>
                <a:cs typeface="Aptos"/>
              </a:defRPr>
            </a:pPr>
            <a:r>
              <a:rPr sz="1600" b="0">
                <a:solidFill>
                  <a:srgbClr val="FFFFFF"/>
                </a:solidFill>
                <a:latin typeface="微软雅黑" charset="0"/>
                <a:ea typeface="微软雅黑" charset="0"/>
                <a:cs typeface="Aptos"/>
              </a:rPr>
              <a:t>阶段一</a:t>
            </a:r>
            <a:r>
              <a:rPr lang="zh-CN" sz="1600" b="0">
                <a:solidFill>
                  <a:srgbClr val="FFFFFF"/>
                </a:solidFill>
                <a:latin typeface="微软雅黑" charset="0"/>
                <a:ea typeface="微软雅黑" charset="0"/>
                <a:cs typeface="Aptos"/>
              </a:rPr>
              <a:t>实现</a:t>
            </a:r>
            <a:endParaRPr lang="zh-CN" sz="1600" b="0">
              <a:solidFill>
                <a:srgbClr val="FFFFFF"/>
              </a:solidFill>
              <a:latin typeface="微软雅黑" charset="0"/>
              <a:ea typeface="微软雅黑" charset="0"/>
              <a:cs typeface="Aptos"/>
            </a:endParaRPr>
          </a:p>
        </p:txBody>
      </p:sp>
      <p:sp>
        <p:nvSpPr>
          <p:cNvPr id="52" name="矩形 51"/>
          <p:cNvSpPr>
            <a:spLocks noGrp="1"/>
          </p:cNvSpPr>
          <p:nvPr/>
        </p:nvSpPr>
        <p:spPr>
          <a:xfrm>
            <a:off x="3691255" y="2168525"/>
            <a:ext cx="7620000" cy="9525"/>
          </a:xfrm>
          <a:prstGeom prst="rect">
            <a:avLst/>
          </a:prstGeom>
          <a:solidFill>
            <a:srgbClr val="D5DEE8"/>
          </a:solidFill>
          <a:ln w="0">
            <a:solidFill>
              <a:srgbClr val="000000">
                <a:alpha val="0"/>
              </a:srgbClr>
            </a:solidFill>
            <a:prstDash val="solid"/>
          </a:ln>
        </p:spPr>
      </p:sp>
      <p:sp>
        <p:nvSpPr>
          <p:cNvPr id="53" name="矩形 52"/>
          <p:cNvSpPr>
            <a:spLocks noGrp="1"/>
          </p:cNvSpPr>
          <p:nvPr/>
        </p:nvSpPr>
        <p:spPr>
          <a:xfrm>
            <a:off x="3881755" y="2587625"/>
            <a:ext cx="1276350" cy="876300"/>
          </a:xfrm>
          <a:prstGeom prst="rect">
            <a:avLst/>
          </a:prstGeom>
          <a:solidFill>
            <a:srgbClr val="FFFFFF"/>
          </a:solidFill>
          <a:ln w="9525">
            <a:solidFill>
              <a:srgbClr val="DDE6EF"/>
            </a:solidFill>
            <a:prstDash val="solid"/>
          </a:ln>
        </p:spPr>
      </p:sp>
      <p:sp>
        <p:nvSpPr>
          <p:cNvPr id="54" name="矩形 53"/>
          <p:cNvSpPr>
            <a:spLocks noGrp="1"/>
          </p:cNvSpPr>
          <p:nvPr/>
        </p:nvSpPr>
        <p:spPr>
          <a:xfrm>
            <a:off x="3881755" y="2587625"/>
            <a:ext cx="1276350" cy="76200"/>
          </a:xfrm>
          <a:prstGeom prst="rect">
            <a:avLst/>
          </a:prstGeom>
          <a:solidFill>
            <a:srgbClr val="0070C6"/>
          </a:solidFill>
          <a:ln w="0">
            <a:solidFill>
              <a:srgbClr val="000000">
                <a:alpha val="0"/>
              </a:srgbClr>
            </a:solidFill>
            <a:prstDash val="solid"/>
          </a:ln>
        </p:spPr>
      </p:sp>
      <p:sp>
        <p:nvSpPr>
          <p:cNvPr id="55" name="矩形 54"/>
          <p:cNvSpPr>
            <a:spLocks noGrp="1"/>
          </p:cNvSpPr>
          <p:nvPr/>
        </p:nvSpPr>
        <p:spPr>
          <a:xfrm>
            <a:off x="4015105" y="2949575"/>
            <a:ext cx="10096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17212B"/>
                </a:solidFill>
                <a:latin typeface="Aptos"/>
                <a:ea typeface="Aptos"/>
                <a:cs typeface="Aptos"/>
              </a:defRPr>
            </a:pPr>
            <a:r>
              <a:rPr sz="1600" b="1">
                <a:solidFill>
                  <a:srgbClr val="17212B"/>
                </a:solidFill>
                <a:latin typeface="微软雅黑" charset="0"/>
                <a:ea typeface="微软雅黑" charset="0"/>
                <a:cs typeface="Aptos"/>
              </a:rPr>
              <a:t>会员中心</a:t>
            </a:r>
            <a:endParaRPr sz="1600" b="1">
              <a:solidFill>
                <a:srgbClr val="17212B"/>
              </a:solidFill>
              <a:latin typeface="微软雅黑" charset="0"/>
              <a:ea typeface="微软雅黑" charset="0"/>
              <a:cs typeface="Aptos"/>
            </a:endParaRPr>
          </a:p>
        </p:txBody>
      </p:sp>
      <p:sp>
        <p:nvSpPr>
          <p:cNvPr id="56" name="矩形 55"/>
          <p:cNvSpPr>
            <a:spLocks noGrp="1"/>
          </p:cNvSpPr>
          <p:nvPr/>
        </p:nvSpPr>
        <p:spPr>
          <a:xfrm>
            <a:off x="5691505" y="2587625"/>
            <a:ext cx="1276350" cy="876300"/>
          </a:xfrm>
          <a:prstGeom prst="rect">
            <a:avLst/>
          </a:prstGeom>
          <a:solidFill>
            <a:srgbClr val="FFFFFF"/>
          </a:solidFill>
          <a:ln w="9525">
            <a:solidFill>
              <a:srgbClr val="DDE6EF"/>
            </a:solidFill>
            <a:prstDash val="solid"/>
          </a:ln>
        </p:spPr>
      </p:sp>
      <p:sp>
        <p:nvSpPr>
          <p:cNvPr id="57" name="矩形 56"/>
          <p:cNvSpPr>
            <a:spLocks noGrp="1"/>
          </p:cNvSpPr>
          <p:nvPr/>
        </p:nvSpPr>
        <p:spPr>
          <a:xfrm>
            <a:off x="5691505" y="2587625"/>
            <a:ext cx="1276350" cy="76200"/>
          </a:xfrm>
          <a:prstGeom prst="rect">
            <a:avLst/>
          </a:prstGeom>
          <a:solidFill>
            <a:srgbClr val="0086D1"/>
          </a:solidFill>
          <a:ln w="0">
            <a:solidFill>
              <a:srgbClr val="000000">
                <a:alpha val="0"/>
              </a:srgbClr>
            </a:solidFill>
            <a:prstDash val="solid"/>
          </a:ln>
        </p:spPr>
      </p:sp>
      <p:sp>
        <p:nvSpPr>
          <p:cNvPr id="58" name="矩形 57"/>
          <p:cNvSpPr>
            <a:spLocks noGrp="1"/>
          </p:cNvSpPr>
          <p:nvPr/>
        </p:nvSpPr>
        <p:spPr>
          <a:xfrm>
            <a:off x="5824855" y="2949575"/>
            <a:ext cx="10096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17212B"/>
                </a:solidFill>
                <a:latin typeface="Aptos"/>
                <a:ea typeface="Aptos"/>
                <a:cs typeface="Aptos"/>
              </a:defRPr>
            </a:pPr>
            <a:r>
              <a:rPr sz="1600" b="1">
                <a:solidFill>
                  <a:srgbClr val="17212B"/>
                </a:solidFill>
                <a:latin typeface="微软雅黑" charset="0"/>
                <a:ea typeface="微软雅黑" charset="0"/>
                <a:cs typeface="Aptos"/>
              </a:rPr>
              <a:t>积分中心</a:t>
            </a:r>
            <a:endParaRPr sz="1600" b="1">
              <a:solidFill>
                <a:srgbClr val="17212B"/>
              </a:solidFill>
              <a:latin typeface="微软雅黑" charset="0"/>
              <a:ea typeface="微软雅黑" charset="0"/>
              <a:cs typeface="Aptos"/>
            </a:endParaRPr>
          </a:p>
        </p:txBody>
      </p:sp>
      <p:sp>
        <p:nvSpPr>
          <p:cNvPr id="59" name="矩形 58"/>
          <p:cNvSpPr>
            <a:spLocks noGrp="1"/>
          </p:cNvSpPr>
          <p:nvPr/>
        </p:nvSpPr>
        <p:spPr>
          <a:xfrm>
            <a:off x="7501255" y="2587625"/>
            <a:ext cx="1276350" cy="876300"/>
          </a:xfrm>
          <a:prstGeom prst="rect">
            <a:avLst/>
          </a:prstGeom>
          <a:solidFill>
            <a:srgbClr val="FFFFFF"/>
          </a:solidFill>
          <a:ln w="9525">
            <a:solidFill>
              <a:srgbClr val="DDE6EF"/>
            </a:solidFill>
            <a:prstDash val="solid"/>
          </a:ln>
        </p:spPr>
      </p:sp>
      <p:sp>
        <p:nvSpPr>
          <p:cNvPr id="60" name="矩形 59"/>
          <p:cNvSpPr>
            <a:spLocks noGrp="1"/>
          </p:cNvSpPr>
          <p:nvPr/>
        </p:nvSpPr>
        <p:spPr>
          <a:xfrm>
            <a:off x="7501255" y="2587625"/>
            <a:ext cx="1276350" cy="76200"/>
          </a:xfrm>
          <a:prstGeom prst="rect">
            <a:avLst/>
          </a:prstGeom>
          <a:solidFill>
            <a:srgbClr val="00B5D1"/>
          </a:solidFill>
          <a:ln w="0">
            <a:solidFill>
              <a:srgbClr val="000000">
                <a:alpha val="0"/>
              </a:srgbClr>
            </a:solidFill>
            <a:prstDash val="solid"/>
          </a:ln>
        </p:spPr>
      </p:sp>
      <p:sp>
        <p:nvSpPr>
          <p:cNvPr id="61" name="矩形 60"/>
          <p:cNvSpPr>
            <a:spLocks noGrp="1"/>
          </p:cNvSpPr>
          <p:nvPr/>
        </p:nvSpPr>
        <p:spPr>
          <a:xfrm>
            <a:off x="7634605" y="2949575"/>
            <a:ext cx="10096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17212B"/>
                </a:solidFill>
                <a:latin typeface="Aptos"/>
                <a:ea typeface="Aptos"/>
                <a:cs typeface="Aptos"/>
              </a:defRPr>
            </a:pPr>
            <a:r>
              <a:rPr sz="1600" b="1">
                <a:solidFill>
                  <a:srgbClr val="17212B"/>
                </a:solidFill>
                <a:latin typeface="微软雅黑" charset="0"/>
                <a:ea typeface="微软雅黑" charset="0"/>
                <a:cs typeface="Aptos"/>
              </a:rPr>
              <a:t>权益中心</a:t>
            </a:r>
            <a:endParaRPr sz="1600" b="1">
              <a:solidFill>
                <a:srgbClr val="17212B"/>
              </a:solidFill>
              <a:latin typeface="微软雅黑" charset="0"/>
              <a:ea typeface="微软雅黑" charset="0"/>
              <a:cs typeface="Aptos"/>
            </a:endParaRPr>
          </a:p>
        </p:txBody>
      </p:sp>
      <p:sp>
        <p:nvSpPr>
          <p:cNvPr id="62" name="矩形 61"/>
          <p:cNvSpPr>
            <a:spLocks noGrp="1"/>
          </p:cNvSpPr>
          <p:nvPr/>
        </p:nvSpPr>
        <p:spPr>
          <a:xfrm>
            <a:off x="9311005" y="2587625"/>
            <a:ext cx="1276350" cy="876300"/>
          </a:xfrm>
          <a:prstGeom prst="rect">
            <a:avLst/>
          </a:prstGeom>
          <a:solidFill>
            <a:srgbClr val="FFFFFF"/>
          </a:solidFill>
          <a:ln w="9525">
            <a:solidFill>
              <a:srgbClr val="DDE6EF"/>
            </a:solidFill>
            <a:prstDash val="solid"/>
          </a:ln>
        </p:spPr>
      </p:sp>
      <p:sp>
        <p:nvSpPr>
          <p:cNvPr id="63" name="矩形 62"/>
          <p:cNvSpPr>
            <a:spLocks noGrp="1"/>
          </p:cNvSpPr>
          <p:nvPr/>
        </p:nvSpPr>
        <p:spPr>
          <a:xfrm>
            <a:off x="9311005" y="2587625"/>
            <a:ext cx="1276350" cy="76200"/>
          </a:xfrm>
          <a:prstGeom prst="rect">
            <a:avLst/>
          </a:prstGeom>
          <a:solidFill>
            <a:srgbClr val="48C0A9"/>
          </a:solidFill>
          <a:ln w="0">
            <a:solidFill>
              <a:srgbClr val="000000">
                <a:alpha val="0"/>
              </a:srgbClr>
            </a:solidFill>
            <a:prstDash val="solid"/>
          </a:ln>
        </p:spPr>
      </p:sp>
      <p:sp>
        <p:nvSpPr>
          <p:cNvPr id="64" name="矩形 63"/>
          <p:cNvSpPr>
            <a:spLocks noGrp="1"/>
          </p:cNvSpPr>
          <p:nvPr/>
        </p:nvSpPr>
        <p:spPr>
          <a:xfrm>
            <a:off x="9444355" y="2949575"/>
            <a:ext cx="10096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17212B"/>
                </a:solidFill>
                <a:latin typeface="Aptos"/>
                <a:ea typeface="Aptos"/>
                <a:cs typeface="Aptos"/>
              </a:defRPr>
            </a:pPr>
            <a:r>
              <a:rPr sz="1600" b="1">
                <a:solidFill>
                  <a:srgbClr val="17212B"/>
                </a:solidFill>
                <a:latin typeface="微软雅黑" charset="0"/>
                <a:ea typeface="微软雅黑" charset="0"/>
                <a:cs typeface="Aptos"/>
              </a:rPr>
              <a:t>优惠券管理</a:t>
            </a:r>
            <a:endParaRPr sz="1600" b="1">
              <a:solidFill>
                <a:srgbClr val="17212B"/>
              </a:solidFill>
              <a:latin typeface="微软雅黑" charset="0"/>
              <a:ea typeface="微软雅黑" charset="0"/>
              <a:cs typeface="Aptos"/>
            </a:endParaRPr>
          </a:p>
        </p:txBody>
      </p:sp>
      <p:sp>
        <p:nvSpPr>
          <p:cNvPr id="65" name="圆角矩形 64"/>
          <p:cNvSpPr>
            <a:spLocks noGrp="1"/>
          </p:cNvSpPr>
          <p:nvPr/>
        </p:nvSpPr>
        <p:spPr>
          <a:xfrm>
            <a:off x="4815205" y="3921125"/>
            <a:ext cx="2667000" cy="389255"/>
          </a:xfrm>
          <a:prstGeom prst="roundRect">
            <a:avLst>
              <a:gd name="adj" fmla="val 23529"/>
            </a:avLst>
          </a:prstGeom>
          <a:solidFill>
            <a:srgbClr val="0070C6"/>
          </a:solidFill>
          <a:ln w="0">
            <a:noFill/>
            <a:prstDash val="solid"/>
          </a:ln>
        </p:spPr>
      </p:sp>
      <p:sp>
        <p:nvSpPr>
          <p:cNvPr id="66" name="矩形 65"/>
          <p:cNvSpPr>
            <a:spLocks noGrp="1"/>
          </p:cNvSpPr>
          <p:nvPr/>
        </p:nvSpPr>
        <p:spPr>
          <a:xfrm>
            <a:off x="4948555" y="3997325"/>
            <a:ext cx="2400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Aptos"/>
                <a:ea typeface="Aptos"/>
                <a:cs typeface="Aptos"/>
              </a:defRPr>
            </a:pPr>
            <a:r>
              <a:rPr sz="1400" b="1">
                <a:solidFill>
                  <a:srgbClr val="FFFFFF"/>
                </a:solidFill>
                <a:latin typeface="微软雅黑" charset="0"/>
                <a:ea typeface="微软雅黑" charset="0"/>
                <a:cs typeface="Aptos"/>
              </a:rPr>
              <a:t>发分</a:t>
            </a:r>
            <a:endParaRPr sz="1400" b="1">
              <a:solidFill>
                <a:srgbClr val="FFFFFF"/>
              </a:solidFill>
              <a:latin typeface="微软雅黑" charset="0"/>
              <a:ea typeface="微软雅黑" charset="0"/>
              <a:cs typeface="Aptos"/>
            </a:endParaRPr>
          </a:p>
        </p:txBody>
      </p:sp>
      <p:sp>
        <p:nvSpPr>
          <p:cNvPr id="67" name="圆角矩形 66"/>
          <p:cNvSpPr>
            <a:spLocks noGrp="1"/>
          </p:cNvSpPr>
          <p:nvPr/>
        </p:nvSpPr>
        <p:spPr>
          <a:xfrm>
            <a:off x="7710805" y="3921125"/>
            <a:ext cx="2667000" cy="389255"/>
          </a:xfrm>
          <a:prstGeom prst="roundRect">
            <a:avLst>
              <a:gd name="adj" fmla="val 23529"/>
            </a:avLst>
          </a:prstGeom>
          <a:solidFill>
            <a:srgbClr val="00B5D1"/>
          </a:solidFill>
          <a:ln w="0">
            <a:solidFill>
              <a:srgbClr val="20A7B8"/>
            </a:solidFill>
            <a:prstDash val="solid"/>
          </a:ln>
        </p:spPr>
      </p:sp>
      <p:sp>
        <p:nvSpPr>
          <p:cNvPr id="68" name="矩形 67"/>
          <p:cNvSpPr>
            <a:spLocks noGrp="1"/>
          </p:cNvSpPr>
          <p:nvPr/>
        </p:nvSpPr>
        <p:spPr>
          <a:xfrm>
            <a:off x="7844155" y="3997325"/>
            <a:ext cx="2400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Aptos"/>
                <a:ea typeface="Aptos"/>
                <a:cs typeface="Aptos"/>
              </a:defRPr>
            </a:pPr>
            <a:r>
              <a:rPr sz="1400" b="1">
                <a:solidFill>
                  <a:srgbClr val="FFFFFF"/>
                </a:solidFill>
                <a:latin typeface="微软雅黑" charset="0"/>
                <a:ea typeface="微软雅黑" charset="0"/>
                <a:cs typeface="Aptos"/>
              </a:rPr>
              <a:t>兑换</a:t>
            </a:r>
            <a:endParaRPr sz="1400" b="1">
              <a:solidFill>
                <a:srgbClr val="FFFFFF"/>
              </a:solidFill>
              <a:latin typeface="微软雅黑" charset="0"/>
              <a:ea typeface="微软雅黑" charset="0"/>
              <a:cs typeface="Aptos"/>
            </a:endParaRPr>
          </a:p>
        </p:txBody>
      </p:sp>
      <p:sp>
        <p:nvSpPr>
          <p:cNvPr id="69" name="矩形 68"/>
          <p:cNvSpPr>
            <a:spLocks noGrp="1"/>
          </p:cNvSpPr>
          <p:nvPr/>
        </p:nvSpPr>
        <p:spPr>
          <a:xfrm>
            <a:off x="7310755" y="4064000"/>
            <a:ext cx="514350" cy="38100"/>
          </a:xfrm>
          <a:prstGeom prst="rect">
            <a:avLst/>
          </a:prstGeom>
          <a:solidFill>
            <a:srgbClr val="FF8439"/>
          </a:solidFill>
          <a:ln w="0">
            <a:solidFill>
              <a:srgbClr val="000000">
                <a:alpha val="0"/>
              </a:srgbClr>
            </a:solidFill>
            <a:prstDash val="solid"/>
          </a:ln>
        </p:spPr>
      </p:sp>
      <p:sp>
        <p:nvSpPr>
          <p:cNvPr id="71" name="矩形 70"/>
          <p:cNvSpPr>
            <a:spLocks noGrp="1"/>
          </p:cNvSpPr>
          <p:nvPr/>
        </p:nvSpPr>
        <p:spPr>
          <a:xfrm>
            <a:off x="7847330" y="5225415"/>
            <a:ext cx="66675" cy="66675"/>
          </a:xfrm>
          <a:prstGeom prst="rect">
            <a:avLst/>
          </a:prstGeom>
          <a:solidFill>
            <a:srgbClr val="00B5D1"/>
          </a:solidFill>
          <a:ln w="0">
            <a:solidFill>
              <a:srgbClr val="000000">
                <a:alpha val="0"/>
              </a:srgbClr>
            </a:solidFill>
            <a:prstDash val="solid"/>
          </a:ln>
        </p:spPr>
      </p:sp>
      <p:sp>
        <p:nvSpPr>
          <p:cNvPr id="72" name="矩形 71"/>
          <p:cNvSpPr>
            <a:spLocks noGrp="1"/>
          </p:cNvSpPr>
          <p:nvPr/>
        </p:nvSpPr>
        <p:spPr>
          <a:xfrm>
            <a:off x="8040370" y="5158105"/>
            <a:ext cx="3178810" cy="55181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整合其他业务系统，建立跨业务场景会员积分互通</a:t>
            </a:r>
            <a:endParaRPr sz="1600" b="0">
              <a:solidFill>
                <a:srgbClr val="17212B"/>
              </a:solidFill>
              <a:latin typeface="微软雅黑" charset="0"/>
              <a:ea typeface="微软雅黑" charset="0"/>
              <a:cs typeface="Aptos"/>
            </a:endParaRPr>
          </a:p>
        </p:txBody>
      </p:sp>
      <p:sp>
        <p:nvSpPr>
          <p:cNvPr id="73" name="矩形 72"/>
          <p:cNvSpPr>
            <a:spLocks noGrp="1"/>
          </p:cNvSpPr>
          <p:nvPr/>
        </p:nvSpPr>
        <p:spPr>
          <a:xfrm>
            <a:off x="7847330" y="5836285"/>
            <a:ext cx="66675" cy="66675"/>
          </a:xfrm>
          <a:prstGeom prst="rect">
            <a:avLst/>
          </a:prstGeom>
          <a:solidFill>
            <a:srgbClr val="00B5D1"/>
          </a:solidFill>
          <a:ln w="0">
            <a:solidFill>
              <a:srgbClr val="000000">
                <a:alpha val="0"/>
              </a:srgbClr>
            </a:solidFill>
            <a:prstDash val="solid"/>
          </a:ln>
        </p:spPr>
      </p:sp>
      <p:sp>
        <p:nvSpPr>
          <p:cNvPr id="74" name="矩形 73"/>
          <p:cNvSpPr>
            <a:spLocks noGrp="1"/>
          </p:cNvSpPr>
          <p:nvPr/>
        </p:nvSpPr>
        <p:spPr>
          <a:xfrm>
            <a:off x="8040370" y="5784850"/>
            <a:ext cx="3077210" cy="55054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微软雅黑" charset="0"/>
              </a:rPr>
              <a:t>完成积分清结算能力，并沉淀通用接入 API</a:t>
            </a:r>
            <a:endParaRPr sz="1600" b="0">
              <a:solidFill>
                <a:srgbClr val="17212B"/>
              </a:solidFill>
              <a:latin typeface="微软雅黑" charset="0"/>
              <a:ea typeface="微软雅黑" charset="0"/>
              <a:cs typeface="微软雅黑" charset="0"/>
            </a:endParaRPr>
          </a:p>
        </p:txBody>
      </p:sp>
      <p:sp>
        <p:nvSpPr>
          <p:cNvPr id="78" name="矩形 77"/>
          <p:cNvSpPr>
            <a:spLocks noGrp="1"/>
          </p:cNvSpPr>
          <p:nvPr/>
        </p:nvSpPr>
        <p:spPr>
          <a:xfrm>
            <a:off x="3648075" y="4575810"/>
            <a:ext cx="3653155" cy="1839595"/>
          </a:xfrm>
          <a:prstGeom prst="rect">
            <a:avLst/>
          </a:prstGeom>
          <a:solidFill>
            <a:srgbClr val="FFFFFF"/>
          </a:solidFill>
          <a:ln w="9525">
            <a:solidFill>
              <a:srgbClr val="DDE6EF"/>
            </a:solidFill>
            <a:prstDash val="solid"/>
          </a:ln>
        </p:spPr>
        <p:txBody>
          <a:bodyPr/>
          <a:p>
            <a:endParaRPr lang="zh-CN" altLang="en-US"/>
          </a:p>
        </p:txBody>
      </p:sp>
      <p:sp>
        <p:nvSpPr>
          <p:cNvPr id="70" name="矩形 69"/>
          <p:cNvSpPr>
            <a:spLocks noGrp="1"/>
          </p:cNvSpPr>
          <p:nvPr/>
        </p:nvSpPr>
        <p:spPr>
          <a:xfrm>
            <a:off x="3825240" y="4733290"/>
            <a:ext cx="3335020" cy="166243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1800" b="1">
                <a:solidFill>
                  <a:srgbClr val="17212B"/>
                </a:solidFill>
                <a:latin typeface="微软雅黑" charset="0"/>
                <a:ea typeface="微软雅黑" charset="0"/>
                <a:cs typeface="Aptos"/>
              </a:rPr>
              <a:t>第一阶段</a:t>
            </a:r>
            <a:r>
              <a:rPr lang="en-US" sz="1800">
                <a:latin typeface="微软雅黑" charset="0"/>
                <a:ea typeface="微软雅黑" charset="0"/>
                <a:cs typeface="微软雅黑" charset="0"/>
                <a:sym typeface="+mn-ea"/>
              </a:rPr>
              <a:t>【2026.10】</a:t>
            </a:r>
            <a:endParaRPr lang="en-US" sz="1800" b="1">
              <a:solidFill>
                <a:srgbClr val="17212B"/>
              </a:solidFill>
              <a:latin typeface="微软雅黑" charset="0"/>
              <a:ea typeface="微软雅黑" charset="0"/>
              <a:cs typeface="Aptos"/>
            </a:endParaRPr>
          </a:p>
          <a:p>
            <a:pPr algn="l">
              <a:defRPr sz="1650" b="1">
                <a:solidFill>
                  <a:srgbClr val="17212B"/>
                </a:solidFill>
                <a:latin typeface="Aptos"/>
                <a:ea typeface="Aptos"/>
                <a:cs typeface="Aptos"/>
              </a:defRPr>
            </a:pPr>
            <a:endParaRPr lang="en-US" sz="1800" b="1">
              <a:solidFill>
                <a:srgbClr val="17212B"/>
              </a:solidFill>
              <a:latin typeface="微软雅黑" charset="0"/>
              <a:ea typeface="微软雅黑" charset="0"/>
              <a:cs typeface="Aptos"/>
            </a:endParaRPr>
          </a:p>
          <a:p>
            <a:pPr algn="l">
              <a:defRPr sz="1650" b="1">
                <a:solidFill>
                  <a:srgbClr val="17212B"/>
                </a:solidFill>
                <a:latin typeface="Aptos"/>
                <a:ea typeface="Aptos"/>
                <a:cs typeface="Aptos"/>
              </a:defRPr>
            </a:pPr>
            <a:r>
              <a:rPr sz="1600" b="1">
                <a:solidFill>
                  <a:srgbClr val="17212B"/>
                </a:solidFill>
                <a:latin typeface="微软雅黑" charset="0"/>
                <a:ea typeface="微软雅黑" charset="0"/>
                <a:cs typeface="Aptos"/>
              </a:rPr>
              <a:t>上线内部闭环积分应用场景，支撑发分、兑换等基础运营动作。</a:t>
            </a:r>
            <a:endParaRPr sz="1600" b="1">
              <a:solidFill>
                <a:srgbClr val="17212B"/>
              </a:solidFill>
              <a:latin typeface="微软雅黑" charset="0"/>
              <a:ea typeface="微软雅黑" charset="0"/>
              <a:cs typeface="Aptos"/>
            </a:endParaRPr>
          </a:p>
        </p:txBody>
      </p:sp>
      <p:sp>
        <p:nvSpPr>
          <p:cNvPr id="77" name="矩形 76"/>
          <p:cNvSpPr>
            <a:spLocks noGrp="1"/>
          </p:cNvSpPr>
          <p:nvPr/>
        </p:nvSpPr>
        <p:spPr>
          <a:xfrm>
            <a:off x="7849870" y="4725670"/>
            <a:ext cx="2578735" cy="2832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1800" b="1">
                <a:solidFill>
                  <a:srgbClr val="17212B"/>
                </a:solidFill>
                <a:latin typeface="微软雅黑" charset="0"/>
                <a:ea typeface="微软雅黑" charset="0"/>
                <a:cs typeface="Aptos"/>
              </a:rPr>
              <a:t>第</a:t>
            </a:r>
            <a:r>
              <a:rPr lang="zh-CN" sz="1800" b="1">
                <a:solidFill>
                  <a:srgbClr val="17212B"/>
                </a:solidFill>
                <a:latin typeface="微软雅黑" charset="0"/>
                <a:ea typeface="微软雅黑" charset="0"/>
                <a:cs typeface="Aptos"/>
              </a:rPr>
              <a:t>二</a:t>
            </a:r>
            <a:r>
              <a:rPr sz="1800" b="1">
                <a:solidFill>
                  <a:srgbClr val="17212B"/>
                </a:solidFill>
                <a:latin typeface="微软雅黑" charset="0"/>
                <a:ea typeface="微软雅黑" charset="0"/>
                <a:cs typeface="Aptos"/>
              </a:rPr>
              <a:t>阶段</a:t>
            </a:r>
            <a:r>
              <a:rPr lang="en-US" sz="1800">
                <a:latin typeface="微软雅黑" charset="0"/>
                <a:ea typeface="微软雅黑" charset="0"/>
                <a:cs typeface="微软雅黑" charset="0"/>
                <a:sym typeface="+mn-ea"/>
              </a:rPr>
              <a:t>【2027.2】</a:t>
            </a:r>
            <a:endParaRPr lang="en-US" sz="1800" b="1">
              <a:solidFill>
                <a:srgbClr val="17212B"/>
              </a:solidFill>
              <a:latin typeface="微软雅黑" charset="0"/>
              <a:ea typeface="微软雅黑" charset="0"/>
              <a:cs typeface="Aptos"/>
            </a:endParaRPr>
          </a:p>
          <a:p>
            <a:pPr algn="l">
              <a:defRPr sz="1650" b="1">
                <a:solidFill>
                  <a:srgbClr val="17212B"/>
                </a:solidFill>
                <a:latin typeface="Aptos"/>
                <a:ea typeface="Aptos"/>
                <a:cs typeface="Aptos"/>
              </a:defRPr>
            </a:pPr>
            <a:endParaRPr sz="1800" b="1">
              <a:solidFill>
                <a:srgbClr val="17212B"/>
              </a:solidFill>
              <a:latin typeface="微软雅黑" charset="0"/>
              <a:ea typeface="微软雅黑" charset="0"/>
              <a:cs typeface="Apto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客户数据</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模块实施</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规划</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eaLnBrk="0" fontAlgn="base"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2" name="矩形 1"/>
          <p:cNvSpPr>
            <a:spLocks noGrp="1"/>
          </p:cNvSpPr>
          <p:nvPr/>
        </p:nvSpPr>
        <p:spPr>
          <a:xfrm>
            <a:off x="753110" y="1097915"/>
            <a:ext cx="8572500" cy="57086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7212B"/>
                </a:solidFill>
                <a:latin typeface="Aptos Display"/>
                <a:ea typeface="Aptos Display"/>
                <a:cs typeface="Aptos Display"/>
              </a:defRPr>
            </a:pPr>
            <a:r>
              <a:rPr sz="2400" b="1">
                <a:solidFill>
                  <a:srgbClr val="17212B"/>
                </a:solidFill>
                <a:latin typeface="微软雅黑" charset="0"/>
                <a:ea typeface="微软雅黑" charset="0"/>
                <a:cs typeface="Aptos Display"/>
              </a:rPr>
              <a:t>数据规则先行，逐步形成客户台账、标签与画像</a:t>
            </a:r>
            <a:endParaRPr sz="2400" b="1">
              <a:solidFill>
                <a:srgbClr val="17212B"/>
              </a:solidFill>
              <a:latin typeface="微软雅黑" charset="0"/>
              <a:ea typeface="微软雅黑" charset="0"/>
              <a:cs typeface="Aptos Display"/>
            </a:endParaRPr>
          </a:p>
        </p:txBody>
      </p:sp>
      <p:sp>
        <p:nvSpPr>
          <p:cNvPr id="3" name="矩形 2"/>
          <p:cNvSpPr>
            <a:spLocks noGrp="1"/>
          </p:cNvSpPr>
          <p:nvPr/>
        </p:nvSpPr>
        <p:spPr>
          <a:xfrm>
            <a:off x="753110" y="1764030"/>
            <a:ext cx="781050" cy="38100"/>
          </a:xfrm>
          <a:prstGeom prst="rect">
            <a:avLst/>
          </a:prstGeom>
          <a:solidFill>
            <a:srgbClr val="FF8439"/>
          </a:solidFill>
          <a:ln w="0">
            <a:solidFill>
              <a:srgbClr val="000000">
                <a:alpha val="0"/>
              </a:srgbClr>
            </a:solidFill>
            <a:prstDash val="solid"/>
          </a:ln>
        </p:spPr>
      </p:sp>
      <p:sp>
        <p:nvSpPr>
          <p:cNvPr id="7" name="矩形 6"/>
          <p:cNvSpPr>
            <a:spLocks noGrp="1"/>
          </p:cNvSpPr>
          <p:nvPr/>
        </p:nvSpPr>
        <p:spPr>
          <a:xfrm>
            <a:off x="962660" y="2240280"/>
            <a:ext cx="2952750" cy="3562350"/>
          </a:xfrm>
          <a:prstGeom prst="rect">
            <a:avLst/>
          </a:prstGeom>
          <a:solidFill>
            <a:srgbClr val="FFFFFF"/>
          </a:solidFill>
          <a:ln w="9525">
            <a:solidFill>
              <a:srgbClr val="DDE6EF"/>
            </a:solidFill>
            <a:prstDash val="solid"/>
          </a:ln>
        </p:spPr>
      </p:sp>
      <p:sp>
        <p:nvSpPr>
          <p:cNvPr id="10" name="矩形 9"/>
          <p:cNvSpPr>
            <a:spLocks noGrp="1"/>
          </p:cNvSpPr>
          <p:nvPr/>
        </p:nvSpPr>
        <p:spPr>
          <a:xfrm>
            <a:off x="962660" y="2240280"/>
            <a:ext cx="2952750" cy="76200"/>
          </a:xfrm>
          <a:prstGeom prst="rect">
            <a:avLst/>
          </a:prstGeom>
          <a:solidFill>
            <a:srgbClr val="0086D1"/>
          </a:solidFill>
          <a:ln w="0">
            <a:solidFill>
              <a:srgbClr val="000000">
                <a:alpha val="0"/>
              </a:srgbClr>
            </a:solidFill>
            <a:prstDash val="solid"/>
          </a:ln>
        </p:spPr>
      </p:sp>
      <p:sp>
        <p:nvSpPr>
          <p:cNvPr id="11" name="矩形 10"/>
          <p:cNvSpPr>
            <a:spLocks noGrp="1"/>
          </p:cNvSpPr>
          <p:nvPr/>
        </p:nvSpPr>
        <p:spPr>
          <a:xfrm>
            <a:off x="1191260" y="256413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7212B"/>
                </a:solidFill>
                <a:latin typeface="Aptos"/>
                <a:ea typeface="Aptos"/>
                <a:cs typeface="Aptos"/>
              </a:defRPr>
            </a:pPr>
            <a:r>
              <a:rPr sz="1800" b="1">
                <a:solidFill>
                  <a:srgbClr val="17212B"/>
                </a:solidFill>
                <a:latin typeface="微软雅黑" charset="0"/>
                <a:ea typeface="微软雅黑" charset="0"/>
                <a:cs typeface="Aptos"/>
              </a:rPr>
              <a:t>阶段一</a:t>
            </a:r>
            <a:r>
              <a:rPr lang="en-US" sz="1800">
                <a:latin typeface="微软雅黑" charset="0"/>
                <a:ea typeface="微软雅黑" charset="0"/>
                <a:cs typeface="微软雅黑" charset="0"/>
                <a:sym typeface="+mn-ea"/>
              </a:rPr>
              <a:t>【2026.10】</a:t>
            </a:r>
            <a:endParaRPr sz="1800" b="1">
              <a:solidFill>
                <a:srgbClr val="17212B"/>
              </a:solidFill>
              <a:latin typeface="微软雅黑" charset="0"/>
              <a:ea typeface="微软雅黑" charset="0"/>
              <a:cs typeface="Aptos"/>
            </a:endParaRPr>
          </a:p>
        </p:txBody>
      </p:sp>
      <p:sp>
        <p:nvSpPr>
          <p:cNvPr id="12" name="矩形 11"/>
          <p:cNvSpPr>
            <a:spLocks noGrp="1"/>
          </p:cNvSpPr>
          <p:nvPr/>
        </p:nvSpPr>
        <p:spPr>
          <a:xfrm>
            <a:off x="1191260" y="2887980"/>
            <a:ext cx="2476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673"/>
                </a:solidFill>
                <a:latin typeface="Aptos"/>
                <a:ea typeface="Aptos"/>
                <a:cs typeface="Aptos"/>
              </a:defRPr>
            </a:pPr>
            <a:r>
              <a:rPr sz="1600" b="0">
                <a:solidFill>
                  <a:srgbClr val="5B6673"/>
                </a:solidFill>
                <a:latin typeface="微软雅黑" charset="0"/>
                <a:ea typeface="微软雅黑" charset="0"/>
                <a:cs typeface="Aptos"/>
              </a:rPr>
              <a:t>规则与权限基础</a:t>
            </a:r>
            <a:endParaRPr sz="1600" b="0">
              <a:solidFill>
                <a:srgbClr val="5B6673"/>
              </a:solidFill>
              <a:latin typeface="微软雅黑" charset="0"/>
              <a:ea typeface="微软雅黑" charset="0"/>
              <a:cs typeface="Aptos"/>
            </a:endParaRPr>
          </a:p>
        </p:txBody>
      </p:sp>
      <p:sp>
        <p:nvSpPr>
          <p:cNvPr id="16" name="矩形 15"/>
          <p:cNvSpPr>
            <a:spLocks noGrp="1"/>
          </p:cNvSpPr>
          <p:nvPr/>
        </p:nvSpPr>
        <p:spPr>
          <a:xfrm>
            <a:off x="1210310" y="3526155"/>
            <a:ext cx="76200" cy="76200"/>
          </a:xfrm>
          <a:prstGeom prst="rect">
            <a:avLst/>
          </a:prstGeom>
          <a:solidFill>
            <a:srgbClr val="F59E0B"/>
          </a:solidFill>
          <a:ln w="0">
            <a:solidFill>
              <a:srgbClr val="000000">
                <a:alpha val="0"/>
              </a:srgbClr>
            </a:solidFill>
            <a:prstDash val="solid"/>
          </a:ln>
        </p:spPr>
      </p:sp>
      <p:sp>
        <p:nvSpPr>
          <p:cNvPr id="17" name="矩形 16"/>
          <p:cNvSpPr>
            <a:spLocks noGrp="1"/>
          </p:cNvSpPr>
          <p:nvPr/>
        </p:nvSpPr>
        <p:spPr>
          <a:xfrm>
            <a:off x="1400810" y="34594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确认客户数据同步规则</a:t>
            </a:r>
            <a:endParaRPr sz="1600" b="0">
              <a:solidFill>
                <a:srgbClr val="17212B"/>
              </a:solidFill>
              <a:latin typeface="微软雅黑" charset="0"/>
              <a:ea typeface="微软雅黑" charset="0"/>
              <a:cs typeface="Aptos"/>
            </a:endParaRPr>
          </a:p>
        </p:txBody>
      </p:sp>
      <p:sp>
        <p:nvSpPr>
          <p:cNvPr id="18" name="矩形 17"/>
          <p:cNvSpPr>
            <a:spLocks noGrp="1"/>
          </p:cNvSpPr>
          <p:nvPr/>
        </p:nvSpPr>
        <p:spPr>
          <a:xfrm>
            <a:off x="1210310" y="3945255"/>
            <a:ext cx="76200" cy="76200"/>
          </a:xfrm>
          <a:prstGeom prst="rect">
            <a:avLst/>
          </a:prstGeom>
          <a:solidFill>
            <a:srgbClr val="F59E0B"/>
          </a:solidFill>
          <a:ln w="0">
            <a:solidFill>
              <a:srgbClr val="000000">
                <a:alpha val="0"/>
              </a:srgbClr>
            </a:solidFill>
            <a:prstDash val="solid"/>
          </a:ln>
        </p:spPr>
      </p:sp>
      <p:sp>
        <p:nvSpPr>
          <p:cNvPr id="19" name="矩形 18"/>
          <p:cNvSpPr>
            <a:spLocks noGrp="1"/>
          </p:cNvSpPr>
          <p:nvPr/>
        </p:nvSpPr>
        <p:spPr>
          <a:xfrm>
            <a:off x="1400810" y="38785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确认清洗整合规则</a:t>
            </a:r>
            <a:endParaRPr sz="1600" b="0">
              <a:solidFill>
                <a:srgbClr val="17212B"/>
              </a:solidFill>
              <a:latin typeface="微软雅黑" charset="0"/>
              <a:ea typeface="微软雅黑" charset="0"/>
              <a:cs typeface="Aptos"/>
            </a:endParaRPr>
          </a:p>
        </p:txBody>
      </p:sp>
      <p:sp>
        <p:nvSpPr>
          <p:cNvPr id="20" name="矩形 19"/>
          <p:cNvSpPr>
            <a:spLocks noGrp="1"/>
          </p:cNvSpPr>
          <p:nvPr/>
        </p:nvSpPr>
        <p:spPr>
          <a:xfrm>
            <a:off x="1210310" y="4364355"/>
            <a:ext cx="76200" cy="76200"/>
          </a:xfrm>
          <a:prstGeom prst="rect">
            <a:avLst/>
          </a:prstGeom>
          <a:solidFill>
            <a:srgbClr val="F59E0B"/>
          </a:solidFill>
          <a:ln w="0">
            <a:solidFill>
              <a:srgbClr val="000000">
                <a:alpha val="0"/>
              </a:srgbClr>
            </a:solidFill>
            <a:prstDash val="solid"/>
          </a:ln>
        </p:spPr>
      </p:sp>
      <p:sp>
        <p:nvSpPr>
          <p:cNvPr id="21" name="矩形 20"/>
          <p:cNvSpPr>
            <a:spLocks noGrp="1"/>
          </p:cNvSpPr>
          <p:nvPr/>
        </p:nvSpPr>
        <p:spPr>
          <a:xfrm>
            <a:off x="1400810" y="42976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搭建用户组织基础</a:t>
            </a:r>
            <a:endParaRPr sz="1600" b="0">
              <a:solidFill>
                <a:srgbClr val="17212B"/>
              </a:solidFill>
              <a:latin typeface="微软雅黑" charset="0"/>
              <a:ea typeface="微软雅黑" charset="0"/>
              <a:cs typeface="Aptos"/>
            </a:endParaRPr>
          </a:p>
        </p:txBody>
      </p:sp>
      <p:sp>
        <p:nvSpPr>
          <p:cNvPr id="22" name="矩形 21"/>
          <p:cNvSpPr>
            <a:spLocks noGrp="1"/>
          </p:cNvSpPr>
          <p:nvPr/>
        </p:nvSpPr>
        <p:spPr>
          <a:xfrm>
            <a:off x="1210310" y="4783455"/>
            <a:ext cx="76200" cy="76200"/>
          </a:xfrm>
          <a:prstGeom prst="rect">
            <a:avLst/>
          </a:prstGeom>
          <a:solidFill>
            <a:srgbClr val="F59E0B"/>
          </a:solidFill>
          <a:ln w="0">
            <a:solidFill>
              <a:srgbClr val="000000">
                <a:alpha val="0"/>
              </a:srgbClr>
            </a:solidFill>
            <a:prstDash val="solid"/>
          </a:ln>
        </p:spPr>
      </p:sp>
      <p:sp>
        <p:nvSpPr>
          <p:cNvPr id="23" name="矩形 22"/>
          <p:cNvSpPr>
            <a:spLocks noGrp="1"/>
          </p:cNvSpPr>
          <p:nvPr/>
        </p:nvSpPr>
        <p:spPr>
          <a:xfrm>
            <a:off x="1400810" y="47167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搭建角色权限基础</a:t>
            </a:r>
            <a:endParaRPr sz="1600" b="0">
              <a:solidFill>
                <a:srgbClr val="17212B"/>
              </a:solidFill>
              <a:latin typeface="微软雅黑" charset="0"/>
              <a:ea typeface="微软雅黑" charset="0"/>
              <a:cs typeface="Aptos"/>
            </a:endParaRPr>
          </a:p>
        </p:txBody>
      </p:sp>
      <p:sp>
        <p:nvSpPr>
          <p:cNvPr id="24" name="矩形 23"/>
          <p:cNvSpPr>
            <a:spLocks noGrp="1"/>
          </p:cNvSpPr>
          <p:nvPr/>
        </p:nvSpPr>
        <p:spPr>
          <a:xfrm>
            <a:off x="3962400" y="3926205"/>
            <a:ext cx="514350" cy="38100"/>
          </a:xfrm>
          <a:prstGeom prst="rect">
            <a:avLst/>
          </a:prstGeom>
          <a:solidFill>
            <a:srgbClr val="C8D4DF"/>
          </a:solidFill>
          <a:ln w="0">
            <a:solidFill>
              <a:srgbClr val="000000">
                <a:alpha val="0"/>
              </a:srgbClr>
            </a:solidFill>
            <a:prstDash val="solid"/>
          </a:ln>
        </p:spPr>
      </p:sp>
      <p:sp>
        <p:nvSpPr>
          <p:cNvPr id="45" name="等腰三角形 44"/>
          <p:cNvSpPr>
            <a:spLocks noGrp="1"/>
          </p:cNvSpPr>
          <p:nvPr/>
        </p:nvSpPr>
        <p:spPr>
          <a:xfrm>
            <a:off x="4563110" y="3840480"/>
            <a:ext cx="171450" cy="209550"/>
          </a:xfrm>
          <a:prstGeom prst="triangle">
            <a:avLst/>
          </a:prstGeom>
          <a:solidFill>
            <a:srgbClr val="C8D4DF"/>
          </a:solidFill>
          <a:ln w="0">
            <a:solidFill>
              <a:srgbClr val="000000">
                <a:alpha val="0"/>
              </a:srgbClr>
            </a:solidFill>
            <a:prstDash val="solid"/>
          </a:ln>
        </p:spPr>
      </p:sp>
      <p:sp>
        <p:nvSpPr>
          <p:cNvPr id="46" name="矩形 45"/>
          <p:cNvSpPr>
            <a:spLocks noGrp="1"/>
          </p:cNvSpPr>
          <p:nvPr/>
        </p:nvSpPr>
        <p:spPr>
          <a:xfrm>
            <a:off x="4620260" y="2240280"/>
            <a:ext cx="2952750" cy="3562350"/>
          </a:xfrm>
          <a:prstGeom prst="rect">
            <a:avLst/>
          </a:prstGeom>
          <a:solidFill>
            <a:srgbClr val="FDFEFE"/>
          </a:solidFill>
          <a:ln w="9525">
            <a:solidFill>
              <a:srgbClr val="DDE6EF"/>
            </a:solidFill>
            <a:prstDash val="solid"/>
          </a:ln>
        </p:spPr>
      </p:sp>
      <p:sp>
        <p:nvSpPr>
          <p:cNvPr id="47" name="矩形 46"/>
          <p:cNvSpPr>
            <a:spLocks noGrp="1"/>
          </p:cNvSpPr>
          <p:nvPr/>
        </p:nvSpPr>
        <p:spPr>
          <a:xfrm>
            <a:off x="4620260" y="2240280"/>
            <a:ext cx="2952750" cy="76200"/>
          </a:xfrm>
          <a:prstGeom prst="rect">
            <a:avLst/>
          </a:prstGeom>
          <a:solidFill>
            <a:srgbClr val="00B5D1"/>
          </a:solidFill>
          <a:ln w="0">
            <a:solidFill>
              <a:srgbClr val="000000">
                <a:alpha val="0"/>
              </a:srgbClr>
            </a:solidFill>
            <a:prstDash val="solid"/>
          </a:ln>
        </p:spPr>
      </p:sp>
      <p:sp>
        <p:nvSpPr>
          <p:cNvPr id="48" name="矩形 47"/>
          <p:cNvSpPr>
            <a:spLocks noGrp="1"/>
          </p:cNvSpPr>
          <p:nvPr/>
        </p:nvSpPr>
        <p:spPr>
          <a:xfrm>
            <a:off x="4848860" y="256413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7212B"/>
                </a:solidFill>
                <a:latin typeface="Aptos"/>
                <a:ea typeface="Aptos"/>
                <a:cs typeface="Aptos"/>
              </a:defRPr>
            </a:pPr>
            <a:r>
              <a:rPr sz="1800" b="1">
                <a:solidFill>
                  <a:srgbClr val="17212B"/>
                </a:solidFill>
                <a:latin typeface="微软雅黑" charset="0"/>
                <a:ea typeface="微软雅黑" charset="0"/>
                <a:cs typeface="Aptos"/>
              </a:rPr>
              <a:t>阶段二</a:t>
            </a:r>
            <a:r>
              <a:rPr lang="en-US" sz="1800">
                <a:latin typeface="微软雅黑" charset="0"/>
                <a:ea typeface="微软雅黑" charset="0"/>
                <a:cs typeface="微软雅黑" charset="0"/>
                <a:sym typeface="+mn-ea"/>
              </a:rPr>
              <a:t>【2027.2】</a:t>
            </a:r>
            <a:endParaRPr sz="1800" b="1">
              <a:solidFill>
                <a:srgbClr val="17212B"/>
              </a:solidFill>
              <a:latin typeface="微软雅黑" charset="0"/>
              <a:ea typeface="微软雅黑" charset="0"/>
              <a:cs typeface="Aptos"/>
            </a:endParaRPr>
          </a:p>
        </p:txBody>
      </p:sp>
      <p:sp>
        <p:nvSpPr>
          <p:cNvPr id="49" name="矩形 48"/>
          <p:cNvSpPr>
            <a:spLocks noGrp="1"/>
          </p:cNvSpPr>
          <p:nvPr/>
        </p:nvSpPr>
        <p:spPr>
          <a:xfrm>
            <a:off x="4848860" y="2887980"/>
            <a:ext cx="2476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673"/>
                </a:solidFill>
                <a:latin typeface="Aptos"/>
                <a:ea typeface="Aptos"/>
                <a:cs typeface="Aptos"/>
              </a:defRPr>
            </a:pPr>
            <a:r>
              <a:rPr sz="1600" b="0">
                <a:solidFill>
                  <a:srgbClr val="5B6673"/>
                </a:solidFill>
                <a:latin typeface="微软雅黑" charset="0"/>
                <a:ea typeface="微软雅黑" charset="0"/>
                <a:cs typeface="Aptos"/>
              </a:rPr>
              <a:t>业务数据同步</a:t>
            </a:r>
            <a:endParaRPr sz="1600" b="0">
              <a:solidFill>
                <a:srgbClr val="5B6673"/>
              </a:solidFill>
              <a:latin typeface="微软雅黑" charset="0"/>
              <a:ea typeface="微软雅黑" charset="0"/>
              <a:cs typeface="Aptos"/>
            </a:endParaRPr>
          </a:p>
        </p:txBody>
      </p:sp>
      <p:sp>
        <p:nvSpPr>
          <p:cNvPr id="50" name="矩形 49"/>
          <p:cNvSpPr>
            <a:spLocks noGrp="1"/>
          </p:cNvSpPr>
          <p:nvPr/>
        </p:nvSpPr>
        <p:spPr>
          <a:xfrm>
            <a:off x="4867910" y="3526155"/>
            <a:ext cx="76200" cy="76200"/>
          </a:xfrm>
          <a:prstGeom prst="rect">
            <a:avLst/>
          </a:prstGeom>
          <a:solidFill>
            <a:srgbClr val="20A7B8"/>
          </a:solidFill>
          <a:ln w="0">
            <a:solidFill>
              <a:srgbClr val="000000">
                <a:alpha val="0"/>
              </a:srgbClr>
            </a:solidFill>
            <a:prstDash val="solid"/>
          </a:ln>
        </p:spPr>
      </p:sp>
      <p:sp>
        <p:nvSpPr>
          <p:cNvPr id="51" name="矩形 50"/>
          <p:cNvSpPr>
            <a:spLocks noGrp="1"/>
          </p:cNvSpPr>
          <p:nvPr/>
        </p:nvSpPr>
        <p:spPr>
          <a:xfrm>
            <a:off x="5058410" y="34594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打通同步业务客户数据</a:t>
            </a:r>
            <a:endParaRPr sz="1600" b="0">
              <a:solidFill>
                <a:srgbClr val="17212B"/>
              </a:solidFill>
              <a:latin typeface="微软雅黑" charset="0"/>
              <a:ea typeface="微软雅黑" charset="0"/>
              <a:cs typeface="Aptos"/>
            </a:endParaRPr>
          </a:p>
        </p:txBody>
      </p:sp>
      <p:sp>
        <p:nvSpPr>
          <p:cNvPr id="52" name="矩形 51"/>
          <p:cNvSpPr>
            <a:spLocks noGrp="1"/>
          </p:cNvSpPr>
          <p:nvPr/>
        </p:nvSpPr>
        <p:spPr>
          <a:xfrm>
            <a:off x="4867910" y="3945255"/>
            <a:ext cx="76200" cy="76200"/>
          </a:xfrm>
          <a:prstGeom prst="rect">
            <a:avLst/>
          </a:prstGeom>
          <a:solidFill>
            <a:srgbClr val="20A7B8"/>
          </a:solidFill>
          <a:ln w="0">
            <a:solidFill>
              <a:srgbClr val="000000">
                <a:alpha val="0"/>
              </a:srgbClr>
            </a:solidFill>
            <a:prstDash val="solid"/>
          </a:ln>
        </p:spPr>
      </p:sp>
      <p:sp>
        <p:nvSpPr>
          <p:cNvPr id="53" name="矩形 52"/>
          <p:cNvSpPr>
            <a:spLocks noGrp="1"/>
          </p:cNvSpPr>
          <p:nvPr/>
        </p:nvSpPr>
        <p:spPr>
          <a:xfrm>
            <a:off x="5058410" y="38785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建立客户台账</a:t>
            </a:r>
            <a:endParaRPr sz="1600" b="0">
              <a:solidFill>
                <a:srgbClr val="17212B"/>
              </a:solidFill>
              <a:latin typeface="微软雅黑" charset="0"/>
              <a:ea typeface="微软雅黑" charset="0"/>
              <a:cs typeface="Aptos"/>
            </a:endParaRPr>
          </a:p>
        </p:txBody>
      </p:sp>
      <p:sp>
        <p:nvSpPr>
          <p:cNvPr id="54" name="矩形 53"/>
          <p:cNvSpPr>
            <a:spLocks noGrp="1"/>
          </p:cNvSpPr>
          <p:nvPr/>
        </p:nvSpPr>
        <p:spPr>
          <a:xfrm>
            <a:off x="4867910" y="4364355"/>
            <a:ext cx="76200" cy="76200"/>
          </a:xfrm>
          <a:prstGeom prst="rect">
            <a:avLst/>
          </a:prstGeom>
          <a:solidFill>
            <a:srgbClr val="20A7B8"/>
          </a:solidFill>
          <a:ln w="0">
            <a:solidFill>
              <a:srgbClr val="000000">
                <a:alpha val="0"/>
              </a:srgbClr>
            </a:solidFill>
            <a:prstDash val="solid"/>
          </a:ln>
        </p:spPr>
      </p:sp>
      <p:sp>
        <p:nvSpPr>
          <p:cNvPr id="55" name="矩形 54"/>
          <p:cNvSpPr>
            <a:spLocks noGrp="1"/>
          </p:cNvSpPr>
          <p:nvPr/>
        </p:nvSpPr>
        <p:spPr>
          <a:xfrm>
            <a:off x="5058410" y="42976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沉淀标签体系</a:t>
            </a:r>
            <a:endParaRPr sz="1600" b="0">
              <a:solidFill>
                <a:srgbClr val="17212B"/>
              </a:solidFill>
              <a:latin typeface="微软雅黑" charset="0"/>
              <a:ea typeface="微软雅黑" charset="0"/>
              <a:cs typeface="Aptos"/>
            </a:endParaRPr>
          </a:p>
        </p:txBody>
      </p:sp>
      <p:sp>
        <p:nvSpPr>
          <p:cNvPr id="56" name="矩形 55"/>
          <p:cNvSpPr>
            <a:spLocks noGrp="1"/>
          </p:cNvSpPr>
          <p:nvPr/>
        </p:nvSpPr>
        <p:spPr>
          <a:xfrm>
            <a:off x="4867910" y="4783455"/>
            <a:ext cx="76200" cy="76200"/>
          </a:xfrm>
          <a:prstGeom prst="rect">
            <a:avLst/>
          </a:prstGeom>
          <a:solidFill>
            <a:srgbClr val="20A7B8"/>
          </a:solidFill>
          <a:ln w="0">
            <a:solidFill>
              <a:srgbClr val="000000">
                <a:alpha val="0"/>
              </a:srgbClr>
            </a:solidFill>
            <a:prstDash val="solid"/>
          </a:ln>
        </p:spPr>
      </p:sp>
      <p:sp>
        <p:nvSpPr>
          <p:cNvPr id="57" name="矩形 56"/>
          <p:cNvSpPr>
            <a:spLocks noGrp="1"/>
          </p:cNvSpPr>
          <p:nvPr/>
        </p:nvSpPr>
        <p:spPr>
          <a:xfrm>
            <a:off x="5058410" y="47167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建立客户画像</a:t>
            </a:r>
            <a:endParaRPr sz="1600" b="0">
              <a:solidFill>
                <a:srgbClr val="17212B"/>
              </a:solidFill>
              <a:latin typeface="微软雅黑" charset="0"/>
              <a:ea typeface="微软雅黑" charset="0"/>
              <a:cs typeface="Aptos"/>
            </a:endParaRPr>
          </a:p>
        </p:txBody>
      </p:sp>
      <p:sp>
        <p:nvSpPr>
          <p:cNvPr id="58" name="矩形 57"/>
          <p:cNvSpPr>
            <a:spLocks noGrp="1"/>
          </p:cNvSpPr>
          <p:nvPr/>
        </p:nvSpPr>
        <p:spPr>
          <a:xfrm>
            <a:off x="7620000" y="3926205"/>
            <a:ext cx="514350" cy="38100"/>
          </a:xfrm>
          <a:prstGeom prst="rect">
            <a:avLst/>
          </a:prstGeom>
          <a:solidFill>
            <a:srgbClr val="C8D4DF"/>
          </a:solidFill>
          <a:ln w="0">
            <a:solidFill>
              <a:srgbClr val="000000">
                <a:alpha val="0"/>
              </a:srgbClr>
            </a:solidFill>
            <a:prstDash val="solid"/>
          </a:ln>
        </p:spPr>
      </p:sp>
      <p:sp>
        <p:nvSpPr>
          <p:cNvPr id="59" name="等腰三角形 58"/>
          <p:cNvSpPr>
            <a:spLocks noGrp="1"/>
          </p:cNvSpPr>
          <p:nvPr/>
        </p:nvSpPr>
        <p:spPr>
          <a:xfrm>
            <a:off x="8220710" y="3840480"/>
            <a:ext cx="171450" cy="209550"/>
          </a:xfrm>
          <a:prstGeom prst="triangle">
            <a:avLst/>
          </a:prstGeom>
          <a:solidFill>
            <a:srgbClr val="C8D4DF"/>
          </a:solidFill>
          <a:ln w="0">
            <a:solidFill>
              <a:srgbClr val="000000">
                <a:alpha val="0"/>
              </a:srgbClr>
            </a:solidFill>
            <a:prstDash val="solid"/>
          </a:ln>
        </p:spPr>
      </p:sp>
      <p:sp>
        <p:nvSpPr>
          <p:cNvPr id="60" name="矩形 59"/>
          <p:cNvSpPr>
            <a:spLocks noGrp="1"/>
          </p:cNvSpPr>
          <p:nvPr/>
        </p:nvSpPr>
        <p:spPr>
          <a:xfrm>
            <a:off x="8277860" y="2240280"/>
            <a:ext cx="2952750" cy="3562350"/>
          </a:xfrm>
          <a:prstGeom prst="rect">
            <a:avLst/>
          </a:prstGeom>
          <a:solidFill>
            <a:srgbClr val="FDFEFE"/>
          </a:solidFill>
          <a:ln w="9525">
            <a:solidFill>
              <a:srgbClr val="DDE6EF"/>
            </a:solidFill>
            <a:prstDash val="solid"/>
          </a:ln>
        </p:spPr>
      </p:sp>
      <p:sp>
        <p:nvSpPr>
          <p:cNvPr id="61" name="矩形 60"/>
          <p:cNvSpPr>
            <a:spLocks noGrp="1"/>
          </p:cNvSpPr>
          <p:nvPr/>
        </p:nvSpPr>
        <p:spPr>
          <a:xfrm>
            <a:off x="8277860" y="2240280"/>
            <a:ext cx="2952750" cy="76200"/>
          </a:xfrm>
          <a:prstGeom prst="rect">
            <a:avLst/>
          </a:prstGeom>
          <a:solidFill>
            <a:srgbClr val="FF8439"/>
          </a:solidFill>
          <a:ln w="0">
            <a:solidFill>
              <a:srgbClr val="000000">
                <a:alpha val="0"/>
              </a:srgbClr>
            </a:solidFill>
            <a:prstDash val="solid"/>
          </a:ln>
        </p:spPr>
      </p:sp>
      <p:sp>
        <p:nvSpPr>
          <p:cNvPr id="62" name="矩形 61"/>
          <p:cNvSpPr>
            <a:spLocks noGrp="1"/>
          </p:cNvSpPr>
          <p:nvPr/>
        </p:nvSpPr>
        <p:spPr>
          <a:xfrm>
            <a:off x="8506460" y="256413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7212B"/>
                </a:solidFill>
                <a:latin typeface="Aptos"/>
                <a:ea typeface="Aptos"/>
                <a:cs typeface="Aptos"/>
              </a:defRPr>
            </a:pPr>
            <a:r>
              <a:rPr sz="1800" b="1">
                <a:solidFill>
                  <a:srgbClr val="17212B"/>
                </a:solidFill>
                <a:latin typeface="微软雅黑" charset="0"/>
                <a:ea typeface="微软雅黑" charset="0"/>
                <a:cs typeface="Aptos"/>
              </a:rPr>
              <a:t>运营应用</a:t>
            </a:r>
            <a:endParaRPr sz="1800" b="1">
              <a:solidFill>
                <a:srgbClr val="17212B"/>
              </a:solidFill>
              <a:latin typeface="微软雅黑" charset="0"/>
              <a:ea typeface="微软雅黑" charset="0"/>
              <a:cs typeface="Aptos"/>
            </a:endParaRPr>
          </a:p>
        </p:txBody>
      </p:sp>
      <p:sp>
        <p:nvSpPr>
          <p:cNvPr id="63" name="矩形 62"/>
          <p:cNvSpPr>
            <a:spLocks noGrp="1"/>
          </p:cNvSpPr>
          <p:nvPr/>
        </p:nvSpPr>
        <p:spPr>
          <a:xfrm>
            <a:off x="8506460" y="2887980"/>
            <a:ext cx="2476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673"/>
                </a:solidFill>
                <a:latin typeface="Aptos"/>
                <a:ea typeface="Aptos"/>
                <a:cs typeface="Aptos"/>
              </a:defRPr>
            </a:pPr>
            <a:r>
              <a:rPr sz="1600" b="0">
                <a:solidFill>
                  <a:srgbClr val="5B6673"/>
                </a:solidFill>
                <a:latin typeface="微软雅黑" charset="0"/>
                <a:ea typeface="微软雅黑" charset="0"/>
                <a:cs typeface="Aptos"/>
              </a:rPr>
              <a:t>分析与营销支撑</a:t>
            </a:r>
            <a:endParaRPr sz="1600" b="0">
              <a:solidFill>
                <a:srgbClr val="5B6673"/>
              </a:solidFill>
              <a:latin typeface="微软雅黑" charset="0"/>
              <a:ea typeface="微软雅黑" charset="0"/>
              <a:cs typeface="Aptos"/>
            </a:endParaRPr>
          </a:p>
        </p:txBody>
      </p:sp>
      <p:sp>
        <p:nvSpPr>
          <p:cNvPr id="64" name="矩形 63"/>
          <p:cNvSpPr>
            <a:spLocks noGrp="1"/>
          </p:cNvSpPr>
          <p:nvPr/>
        </p:nvSpPr>
        <p:spPr>
          <a:xfrm>
            <a:off x="8525510" y="3526155"/>
            <a:ext cx="76200" cy="76200"/>
          </a:xfrm>
          <a:prstGeom prst="rect">
            <a:avLst/>
          </a:prstGeom>
          <a:solidFill>
            <a:srgbClr val="42B883"/>
          </a:solidFill>
          <a:ln w="0">
            <a:solidFill>
              <a:srgbClr val="000000">
                <a:alpha val="0"/>
              </a:srgbClr>
            </a:solidFill>
            <a:prstDash val="solid"/>
          </a:ln>
        </p:spPr>
      </p:sp>
      <p:sp>
        <p:nvSpPr>
          <p:cNvPr id="65" name="矩形 64"/>
          <p:cNvSpPr>
            <a:spLocks noGrp="1"/>
          </p:cNvSpPr>
          <p:nvPr/>
        </p:nvSpPr>
        <p:spPr>
          <a:xfrm>
            <a:off x="8716010" y="34594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用户分析</a:t>
            </a:r>
            <a:endParaRPr sz="1600" b="0">
              <a:solidFill>
                <a:srgbClr val="17212B"/>
              </a:solidFill>
              <a:latin typeface="微软雅黑" charset="0"/>
              <a:ea typeface="微软雅黑" charset="0"/>
              <a:cs typeface="Aptos"/>
            </a:endParaRPr>
          </a:p>
        </p:txBody>
      </p:sp>
      <p:sp>
        <p:nvSpPr>
          <p:cNvPr id="66" name="矩形 65"/>
          <p:cNvSpPr>
            <a:spLocks noGrp="1"/>
          </p:cNvSpPr>
          <p:nvPr/>
        </p:nvSpPr>
        <p:spPr>
          <a:xfrm>
            <a:off x="8525510" y="3945255"/>
            <a:ext cx="76200" cy="76200"/>
          </a:xfrm>
          <a:prstGeom prst="rect">
            <a:avLst/>
          </a:prstGeom>
          <a:solidFill>
            <a:srgbClr val="42B883"/>
          </a:solidFill>
          <a:ln w="0">
            <a:solidFill>
              <a:srgbClr val="000000">
                <a:alpha val="0"/>
              </a:srgbClr>
            </a:solidFill>
            <a:prstDash val="solid"/>
          </a:ln>
        </p:spPr>
      </p:sp>
      <p:sp>
        <p:nvSpPr>
          <p:cNvPr id="67" name="矩形 66"/>
          <p:cNvSpPr>
            <a:spLocks noGrp="1"/>
          </p:cNvSpPr>
          <p:nvPr/>
        </p:nvSpPr>
        <p:spPr>
          <a:xfrm>
            <a:off x="8716010" y="38785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客群洞察</a:t>
            </a:r>
            <a:endParaRPr sz="1600" b="0">
              <a:solidFill>
                <a:srgbClr val="17212B"/>
              </a:solidFill>
              <a:latin typeface="微软雅黑" charset="0"/>
              <a:ea typeface="微软雅黑" charset="0"/>
              <a:cs typeface="Aptos"/>
            </a:endParaRPr>
          </a:p>
        </p:txBody>
      </p:sp>
      <p:sp>
        <p:nvSpPr>
          <p:cNvPr id="68" name="矩形 67"/>
          <p:cNvSpPr>
            <a:spLocks noGrp="1"/>
          </p:cNvSpPr>
          <p:nvPr/>
        </p:nvSpPr>
        <p:spPr>
          <a:xfrm>
            <a:off x="8525510" y="4364355"/>
            <a:ext cx="76200" cy="76200"/>
          </a:xfrm>
          <a:prstGeom prst="rect">
            <a:avLst/>
          </a:prstGeom>
          <a:solidFill>
            <a:srgbClr val="42B883"/>
          </a:solidFill>
          <a:ln w="0">
            <a:solidFill>
              <a:srgbClr val="000000">
                <a:alpha val="0"/>
              </a:srgbClr>
            </a:solidFill>
            <a:prstDash val="solid"/>
          </a:ln>
        </p:spPr>
      </p:sp>
      <p:sp>
        <p:nvSpPr>
          <p:cNvPr id="69" name="矩形 68"/>
          <p:cNvSpPr>
            <a:spLocks noGrp="1"/>
          </p:cNvSpPr>
          <p:nvPr/>
        </p:nvSpPr>
        <p:spPr>
          <a:xfrm>
            <a:off x="8716010" y="42976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营销触达</a:t>
            </a:r>
            <a:endParaRPr sz="1600" b="0">
              <a:solidFill>
                <a:srgbClr val="17212B"/>
              </a:solidFill>
              <a:latin typeface="微软雅黑" charset="0"/>
              <a:ea typeface="微软雅黑" charset="0"/>
              <a:cs typeface="Aptos"/>
            </a:endParaRPr>
          </a:p>
        </p:txBody>
      </p:sp>
      <p:sp>
        <p:nvSpPr>
          <p:cNvPr id="70" name="矩形 69"/>
          <p:cNvSpPr>
            <a:spLocks noGrp="1"/>
          </p:cNvSpPr>
          <p:nvPr/>
        </p:nvSpPr>
        <p:spPr>
          <a:xfrm>
            <a:off x="8525510" y="4783455"/>
            <a:ext cx="76200" cy="76200"/>
          </a:xfrm>
          <a:prstGeom prst="rect">
            <a:avLst/>
          </a:prstGeom>
          <a:solidFill>
            <a:srgbClr val="42B883"/>
          </a:solidFill>
          <a:ln w="0">
            <a:solidFill>
              <a:srgbClr val="000000">
                <a:alpha val="0"/>
              </a:srgbClr>
            </a:solidFill>
            <a:prstDash val="solid"/>
          </a:ln>
        </p:spPr>
      </p:sp>
      <p:sp>
        <p:nvSpPr>
          <p:cNvPr id="71" name="矩形 70"/>
          <p:cNvSpPr>
            <a:spLocks noGrp="1"/>
          </p:cNvSpPr>
          <p:nvPr/>
        </p:nvSpPr>
        <p:spPr>
          <a:xfrm>
            <a:off x="8716010" y="471678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运营评估</a:t>
            </a:r>
            <a:endParaRPr sz="1600" b="0">
              <a:solidFill>
                <a:srgbClr val="17212B"/>
              </a:solidFill>
              <a:latin typeface="微软雅黑" charset="0"/>
              <a:ea typeface="微软雅黑" charset="0"/>
              <a:cs typeface="Aptos"/>
            </a:endParaRPr>
          </a:p>
        </p:txBody>
      </p:sp>
      <p:sp>
        <p:nvSpPr>
          <p:cNvPr id="72" name="矩形 71"/>
          <p:cNvSpPr>
            <a:spLocks noGrp="1"/>
          </p:cNvSpPr>
          <p:nvPr/>
        </p:nvSpPr>
        <p:spPr>
          <a:xfrm>
            <a:off x="962660" y="6051550"/>
            <a:ext cx="8953500" cy="426720"/>
          </a:xfrm>
          <a:prstGeom prst="rect">
            <a:avLst/>
          </a:prstGeom>
          <a:solidFill>
            <a:srgbClr val="000000">
              <a:alpha val="0"/>
            </a:srgbClr>
          </a:solidFill>
          <a:ln w="0">
            <a:solidFill>
              <a:srgbClr val="000000">
                <a:alpha val="0"/>
              </a:srgbClr>
            </a:solidFill>
            <a:prstDash val="solid"/>
          </a:ln>
        </p:spPr>
        <p:txBody>
          <a:bodyPr lIns="0" tIns="0" rIns="0" bIns="0" anchor="t"/>
          <a:lstStyle/>
          <a:p>
            <a:pPr algn="l">
              <a:lnSpc>
                <a:spcPct val="100000"/>
              </a:lnSpc>
              <a:defRPr sz="1350" b="0">
                <a:solidFill>
                  <a:srgbClr val="5B6673"/>
                </a:solidFill>
                <a:latin typeface="Aptos"/>
                <a:ea typeface="Aptos"/>
                <a:cs typeface="Aptos"/>
              </a:defRPr>
            </a:pPr>
            <a:r>
              <a:rPr sz="1800">
                <a:solidFill>
                  <a:srgbClr val="0086D1"/>
                </a:solidFill>
                <a:latin typeface="微软雅黑" charset="0"/>
                <a:ea typeface="微软雅黑" charset="0"/>
                <a:cs typeface="Aptos"/>
              </a:rPr>
              <a:t>关键原则：客户数据模块</a:t>
            </a:r>
            <a:r>
              <a:rPr lang="zh-CN" sz="1800">
                <a:solidFill>
                  <a:srgbClr val="0086D1"/>
                </a:solidFill>
                <a:latin typeface="微软雅黑" charset="0"/>
                <a:ea typeface="微软雅黑" charset="0"/>
                <a:cs typeface="Aptos"/>
              </a:rPr>
              <a:t>优</a:t>
            </a:r>
            <a:r>
              <a:rPr sz="1800">
                <a:solidFill>
                  <a:srgbClr val="0086D1"/>
                </a:solidFill>
                <a:latin typeface="微软雅黑" charset="0"/>
                <a:ea typeface="微软雅黑" charset="0"/>
                <a:cs typeface="Aptos"/>
              </a:rPr>
              <a:t>先把口径、规则、权限和同步边界确认清楚。</a:t>
            </a:r>
            <a:endParaRPr sz="1800">
              <a:solidFill>
                <a:srgbClr val="0086D1"/>
              </a:solidFill>
              <a:latin typeface="微软雅黑" charset="0"/>
              <a:ea typeface="微软雅黑" charset="0"/>
              <a:cs typeface="Apto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8947785" cy="571500"/>
          </a:xfrm>
          <a:prstGeom prst="rect">
            <a:avLst/>
          </a:prstGeom>
          <a:noFill/>
        </p:spPr>
        <p:txBody>
          <a:bodyPr wrap="square" rtlCol="0">
            <a:noAutofit/>
          </a:bodyPr>
          <a:lstStyle/>
          <a:p>
            <a:pPr eaLnBrk="0" fontAlgn="base" hangingPunct="0"/>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上线落地优先级</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pPr eaLnBrk="0" fontAlgn="base" hangingPunct="0"/>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9" name="矩形 8"/>
          <p:cNvSpPr>
            <a:spLocks noGrp="1"/>
          </p:cNvSpPr>
          <p:nvPr/>
        </p:nvSpPr>
        <p:spPr>
          <a:xfrm>
            <a:off x="3143250" y="1522730"/>
            <a:ext cx="1714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12B"/>
                </a:solidFill>
                <a:latin typeface="Aptos"/>
                <a:ea typeface="Aptos"/>
                <a:cs typeface="Aptos"/>
              </a:defRPr>
            </a:pPr>
            <a:r>
              <a:rPr sz="1600" b="1">
                <a:solidFill>
                  <a:srgbClr val="17212B"/>
                </a:solidFill>
                <a:latin typeface="微软雅黑" charset="0"/>
                <a:ea typeface="微软雅黑" charset="0"/>
                <a:cs typeface="微软雅黑" charset="0"/>
              </a:rPr>
              <a:t>优先级 1</a:t>
            </a:r>
            <a:endParaRPr sz="1600" b="1">
              <a:solidFill>
                <a:srgbClr val="17212B"/>
              </a:solidFill>
              <a:latin typeface="微软雅黑" charset="0"/>
              <a:ea typeface="微软雅黑" charset="0"/>
              <a:cs typeface="微软雅黑" charset="0"/>
            </a:endParaRPr>
          </a:p>
        </p:txBody>
      </p:sp>
      <p:sp>
        <p:nvSpPr>
          <p:cNvPr id="6" name="矩形 5"/>
          <p:cNvSpPr>
            <a:spLocks noGrp="1"/>
          </p:cNvSpPr>
          <p:nvPr/>
        </p:nvSpPr>
        <p:spPr>
          <a:xfrm>
            <a:off x="5738495" y="1522730"/>
            <a:ext cx="1714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12B"/>
                </a:solidFill>
                <a:latin typeface="Aptos"/>
                <a:ea typeface="Aptos"/>
                <a:cs typeface="Aptos"/>
              </a:defRPr>
            </a:pPr>
            <a:r>
              <a:rPr sz="1600" b="1">
                <a:solidFill>
                  <a:srgbClr val="17212B"/>
                </a:solidFill>
                <a:latin typeface="微软雅黑" charset="0"/>
                <a:ea typeface="微软雅黑" charset="0"/>
                <a:cs typeface="微软雅黑" charset="0"/>
              </a:rPr>
              <a:t>优先级 2</a:t>
            </a:r>
            <a:endParaRPr sz="1600" b="1">
              <a:solidFill>
                <a:srgbClr val="17212B"/>
              </a:solidFill>
              <a:latin typeface="微软雅黑" charset="0"/>
              <a:ea typeface="微软雅黑" charset="0"/>
              <a:cs typeface="微软雅黑" charset="0"/>
            </a:endParaRPr>
          </a:p>
        </p:txBody>
      </p:sp>
      <p:sp>
        <p:nvSpPr>
          <p:cNvPr id="8" name="矩形 7"/>
          <p:cNvSpPr>
            <a:spLocks noGrp="1"/>
          </p:cNvSpPr>
          <p:nvPr/>
        </p:nvSpPr>
        <p:spPr>
          <a:xfrm>
            <a:off x="8405495" y="152273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12B"/>
                </a:solidFill>
                <a:latin typeface="Aptos"/>
                <a:ea typeface="Aptos"/>
                <a:cs typeface="Aptos"/>
              </a:defRPr>
            </a:pPr>
            <a:r>
              <a:rPr sz="1600" b="1">
                <a:solidFill>
                  <a:srgbClr val="17212B"/>
                </a:solidFill>
                <a:latin typeface="微软雅黑" charset="0"/>
                <a:ea typeface="微软雅黑" charset="0"/>
                <a:cs typeface="微软雅黑" charset="0"/>
              </a:rPr>
              <a:t>优先级 3</a:t>
            </a:r>
            <a:endParaRPr sz="1600" b="1">
              <a:solidFill>
                <a:srgbClr val="17212B"/>
              </a:solidFill>
              <a:latin typeface="微软雅黑" charset="0"/>
              <a:ea typeface="微软雅黑" charset="0"/>
              <a:cs typeface="微软雅黑" charset="0"/>
            </a:endParaRPr>
          </a:p>
        </p:txBody>
      </p:sp>
      <p:sp>
        <p:nvSpPr>
          <p:cNvPr id="13" name="矩形 12"/>
          <p:cNvSpPr>
            <a:spLocks noGrp="1"/>
          </p:cNvSpPr>
          <p:nvPr/>
        </p:nvSpPr>
        <p:spPr>
          <a:xfrm>
            <a:off x="890905" y="2227580"/>
            <a:ext cx="1712595" cy="3067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2000" b="1">
                <a:solidFill>
                  <a:srgbClr val="17212B"/>
                </a:solidFill>
                <a:latin typeface="微软雅黑" charset="0"/>
                <a:ea typeface="微软雅黑" charset="0"/>
                <a:cs typeface="微软雅黑" charset="0"/>
              </a:rPr>
              <a:t>400模块</a:t>
            </a:r>
            <a:endParaRPr sz="2000" b="1">
              <a:solidFill>
                <a:srgbClr val="17212B"/>
              </a:solidFill>
              <a:latin typeface="微软雅黑" charset="0"/>
              <a:ea typeface="微软雅黑" charset="0"/>
              <a:cs typeface="微软雅黑" charset="0"/>
            </a:endParaRPr>
          </a:p>
        </p:txBody>
      </p:sp>
      <p:sp>
        <p:nvSpPr>
          <p:cNvPr id="14" name="矩形 13"/>
          <p:cNvSpPr>
            <a:spLocks noGrp="1"/>
          </p:cNvSpPr>
          <p:nvPr/>
        </p:nvSpPr>
        <p:spPr>
          <a:xfrm>
            <a:off x="2834005" y="2018030"/>
            <a:ext cx="2190750" cy="685800"/>
          </a:xfrm>
          <a:prstGeom prst="rect">
            <a:avLst/>
          </a:prstGeom>
          <a:solidFill>
            <a:srgbClr val="FFFFFF"/>
          </a:solidFill>
          <a:ln w="19050">
            <a:solidFill>
              <a:srgbClr val="48C0A9"/>
            </a:solidFill>
            <a:prstDash val="solid"/>
          </a:ln>
        </p:spPr>
      </p:sp>
      <p:sp>
        <p:nvSpPr>
          <p:cNvPr id="15" name="矩形 14"/>
          <p:cNvSpPr>
            <a:spLocks noGrp="1"/>
          </p:cNvSpPr>
          <p:nvPr/>
        </p:nvSpPr>
        <p:spPr>
          <a:xfrm>
            <a:off x="2986405" y="2208530"/>
            <a:ext cx="1885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20A7B8"/>
                </a:solidFill>
                <a:latin typeface="Aptos"/>
                <a:ea typeface="Aptos"/>
                <a:cs typeface="Aptos"/>
              </a:defRPr>
            </a:pPr>
            <a:r>
              <a:rPr sz="1600" b="0">
                <a:solidFill>
                  <a:srgbClr val="48C0A9"/>
                </a:solidFill>
                <a:latin typeface="微软雅黑" charset="0"/>
                <a:ea typeface="微软雅黑" charset="0"/>
                <a:cs typeface="Aptos"/>
              </a:rPr>
              <a:t>租赁公司城服</a:t>
            </a:r>
            <a:endParaRPr sz="1600" b="0">
              <a:solidFill>
                <a:srgbClr val="48C0A9"/>
              </a:solidFill>
              <a:latin typeface="微软雅黑" charset="0"/>
              <a:ea typeface="微软雅黑" charset="0"/>
              <a:cs typeface="Aptos"/>
            </a:endParaRPr>
          </a:p>
        </p:txBody>
      </p:sp>
      <p:sp>
        <p:nvSpPr>
          <p:cNvPr id="25" name="矩形 24"/>
          <p:cNvSpPr>
            <a:spLocks noGrp="1"/>
          </p:cNvSpPr>
          <p:nvPr/>
        </p:nvSpPr>
        <p:spPr>
          <a:xfrm>
            <a:off x="5105400" y="2341880"/>
            <a:ext cx="361950" cy="38100"/>
          </a:xfrm>
          <a:prstGeom prst="rect">
            <a:avLst/>
          </a:prstGeom>
          <a:solidFill>
            <a:srgbClr val="C8D4DF"/>
          </a:solidFill>
          <a:ln w="0">
            <a:solidFill>
              <a:srgbClr val="000000">
                <a:alpha val="0"/>
              </a:srgbClr>
            </a:solidFill>
            <a:prstDash val="solid"/>
          </a:ln>
        </p:spPr>
      </p:sp>
      <p:sp>
        <p:nvSpPr>
          <p:cNvPr id="26" name="矩形 25"/>
          <p:cNvSpPr>
            <a:spLocks noGrp="1"/>
          </p:cNvSpPr>
          <p:nvPr/>
        </p:nvSpPr>
        <p:spPr>
          <a:xfrm>
            <a:off x="5501005" y="2018030"/>
            <a:ext cx="2190750" cy="685800"/>
          </a:xfrm>
          <a:prstGeom prst="rect">
            <a:avLst/>
          </a:prstGeom>
          <a:solidFill>
            <a:srgbClr val="FFFFFF"/>
          </a:solidFill>
          <a:ln w="9525">
            <a:solidFill>
              <a:srgbClr val="DDE6EF"/>
            </a:solidFill>
            <a:prstDash val="solid"/>
          </a:ln>
        </p:spPr>
      </p:sp>
      <p:sp>
        <p:nvSpPr>
          <p:cNvPr id="27" name="矩形 26"/>
          <p:cNvSpPr>
            <a:spLocks noGrp="1"/>
          </p:cNvSpPr>
          <p:nvPr/>
        </p:nvSpPr>
        <p:spPr>
          <a:xfrm>
            <a:off x="5653405" y="2208530"/>
            <a:ext cx="1885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租赁公司其他业务部门</a:t>
            </a:r>
            <a:endParaRPr sz="1600" b="0">
              <a:solidFill>
                <a:srgbClr val="17212B"/>
              </a:solidFill>
              <a:latin typeface="微软雅黑" charset="0"/>
              <a:ea typeface="微软雅黑" charset="0"/>
              <a:cs typeface="Aptos"/>
            </a:endParaRPr>
          </a:p>
        </p:txBody>
      </p:sp>
      <p:sp>
        <p:nvSpPr>
          <p:cNvPr id="28" name="矩形 27"/>
          <p:cNvSpPr>
            <a:spLocks noGrp="1"/>
          </p:cNvSpPr>
          <p:nvPr/>
        </p:nvSpPr>
        <p:spPr>
          <a:xfrm>
            <a:off x="7772400" y="2341880"/>
            <a:ext cx="361950" cy="38100"/>
          </a:xfrm>
          <a:prstGeom prst="rect">
            <a:avLst/>
          </a:prstGeom>
          <a:solidFill>
            <a:srgbClr val="C8D4DF"/>
          </a:solidFill>
          <a:ln w="0">
            <a:solidFill>
              <a:srgbClr val="000000">
                <a:alpha val="0"/>
              </a:srgbClr>
            </a:solidFill>
            <a:prstDash val="solid"/>
          </a:ln>
        </p:spPr>
      </p:sp>
      <p:sp>
        <p:nvSpPr>
          <p:cNvPr id="29" name="矩形 28"/>
          <p:cNvSpPr>
            <a:spLocks noGrp="1"/>
          </p:cNvSpPr>
          <p:nvPr/>
        </p:nvSpPr>
        <p:spPr>
          <a:xfrm>
            <a:off x="8168005" y="2018030"/>
            <a:ext cx="2190750" cy="685800"/>
          </a:xfrm>
          <a:prstGeom prst="rect">
            <a:avLst/>
          </a:prstGeom>
          <a:solidFill>
            <a:srgbClr val="FFFFFF"/>
          </a:solidFill>
          <a:ln w="9525">
            <a:solidFill>
              <a:srgbClr val="0086D1"/>
            </a:solidFill>
            <a:prstDash val="solid"/>
          </a:ln>
        </p:spPr>
      </p:sp>
      <p:sp>
        <p:nvSpPr>
          <p:cNvPr id="30" name="矩形 29"/>
          <p:cNvSpPr>
            <a:spLocks noGrp="1"/>
          </p:cNvSpPr>
          <p:nvPr/>
        </p:nvSpPr>
        <p:spPr>
          <a:xfrm>
            <a:off x="8320405" y="2208530"/>
            <a:ext cx="1885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17212B"/>
                </a:solidFill>
                <a:latin typeface="Aptos"/>
                <a:ea typeface="Aptos"/>
                <a:cs typeface="Aptos"/>
              </a:defRPr>
            </a:pPr>
            <a:r>
              <a:rPr sz="1600" b="0">
                <a:solidFill>
                  <a:srgbClr val="0086D1"/>
                </a:solidFill>
                <a:latin typeface="微软雅黑" charset="0"/>
                <a:ea typeface="微软雅黑" charset="0"/>
                <a:cs typeface="Aptos"/>
              </a:rPr>
              <a:t>集团</a:t>
            </a:r>
            <a:endParaRPr sz="1600" b="0">
              <a:solidFill>
                <a:srgbClr val="0086D1"/>
              </a:solidFill>
              <a:latin typeface="微软雅黑" charset="0"/>
              <a:ea typeface="微软雅黑" charset="0"/>
              <a:cs typeface="Aptos"/>
            </a:endParaRPr>
          </a:p>
        </p:txBody>
      </p:sp>
      <p:sp>
        <p:nvSpPr>
          <p:cNvPr id="31" name="矩形 30"/>
          <p:cNvSpPr>
            <a:spLocks noGrp="1"/>
          </p:cNvSpPr>
          <p:nvPr/>
        </p:nvSpPr>
        <p:spPr>
          <a:xfrm>
            <a:off x="890905" y="3294380"/>
            <a:ext cx="1712595" cy="3067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2000" b="1">
                <a:solidFill>
                  <a:srgbClr val="17212B"/>
                </a:solidFill>
                <a:latin typeface="微软雅黑" charset="0"/>
                <a:ea typeface="微软雅黑" charset="0"/>
                <a:cs typeface="Aptos"/>
              </a:rPr>
              <a:t>会员积分模块</a:t>
            </a:r>
            <a:endParaRPr sz="2000" b="1">
              <a:solidFill>
                <a:srgbClr val="17212B"/>
              </a:solidFill>
              <a:latin typeface="微软雅黑" charset="0"/>
              <a:ea typeface="微软雅黑" charset="0"/>
              <a:cs typeface="Aptos"/>
            </a:endParaRPr>
          </a:p>
        </p:txBody>
      </p:sp>
      <p:sp>
        <p:nvSpPr>
          <p:cNvPr id="32" name="矩形 31"/>
          <p:cNvSpPr>
            <a:spLocks noGrp="1"/>
          </p:cNvSpPr>
          <p:nvPr/>
        </p:nvSpPr>
        <p:spPr>
          <a:xfrm>
            <a:off x="2834005" y="3084830"/>
            <a:ext cx="2190750" cy="685800"/>
          </a:xfrm>
          <a:prstGeom prst="rect">
            <a:avLst/>
          </a:prstGeom>
          <a:solidFill>
            <a:srgbClr val="FFFFFF"/>
          </a:solidFill>
          <a:ln w="19050">
            <a:solidFill>
              <a:srgbClr val="48C0A9"/>
            </a:solidFill>
            <a:prstDash val="solid"/>
          </a:ln>
        </p:spPr>
      </p:sp>
      <p:sp>
        <p:nvSpPr>
          <p:cNvPr id="33" name="矩形 32"/>
          <p:cNvSpPr>
            <a:spLocks noGrp="1"/>
          </p:cNvSpPr>
          <p:nvPr/>
        </p:nvSpPr>
        <p:spPr>
          <a:xfrm>
            <a:off x="2986405" y="3275330"/>
            <a:ext cx="1885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42B883"/>
                </a:solidFill>
                <a:latin typeface="Aptos"/>
                <a:ea typeface="Aptos"/>
                <a:cs typeface="Aptos"/>
              </a:defRPr>
            </a:pPr>
            <a:r>
              <a:rPr sz="1600" b="0">
                <a:solidFill>
                  <a:srgbClr val="48C0A9"/>
                </a:solidFill>
                <a:latin typeface="微软雅黑" charset="0"/>
                <a:ea typeface="微软雅黑" charset="0"/>
                <a:cs typeface="Aptos"/>
              </a:rPr>
              <a:t>租赁公司城服</a:t>
            </a:r>
            <a:endParaRPr sz="1600" b="0">
              <a:solidFill>
                <a:srgbClr val="48C0A9"/>
              </a:solidFill>
              <a:latin typeface="微软雅黑" charset="0"/>
              <a:ea typeface="微软雅黑" charset="0"/>
              <a:cs typeface="Aptos"/>
            </a:endParaRPr>
          </a:p>
        </p:txBody>
      </p:sp>
      <p:sp>
        <p:nvSpPr>
          <p:cNvPr id="34" name="矩形 33"/>
          <p:cNvSpPr>
            <a:spLocks noGrp="1"/>
          </p:cNvSpPr>
          <p:nvPr/>
        </p:nvSpPr>
        <p:spPr>
          <a:xfrm>
            <a:off x="5105400" y="3408680"/>
            <a:ext cx="361950" cy="38100"/>
          </a:xfrm>
          <a:prstGeom prst="rect">
            <a:avLst/>
          </a:prstGeom>
          <a:solidFill>
            <a:srgbClr val="C8D4DF"/>
          </a:solidFill>
          <a:ln w="0">
            <a:solidFill>
              <a:srgbClr val="000000">
                <a:alpha val="0"/>
              </a:srgbClr>
            </a:solidFill>
            <a:prstDash val="solid"/>
          </a:ln>
        </p:spPr>
      </p:sp>
      <p:sp>
        <p:nvSpPr>
          <p:cNvPr id="35" name="矩形 34"/>
          <p:cNvSpPr>
            <a:spLocks noGrp="1"/>
          </p:cNvSpPr>
          <p:nvPr/>
        </p:nvSpPr>
        <p:spPr>
          <a:xfrm>
            <a:off x="5501005" y="3084830"/>
            <a:ext cx="2190750" cy="685800"/>
          </a:xfrm>
          <a:prstGeom prst="rect">
            <a:avLst/>
          </a:prstGeom>
          <a:solidFill>
            <a:srgbClr val="FFFFFF"/>
          </a:solidFill>
          <a:ln w="9525">
            <a:solidFill>
              <a:srgbClr val="FF8439"/>
            </a:solidFill>
            <a:prstDash val="solid"/>
          </a:ln>
        </p:spPr>
      </p:sp>
      <p:sp>
        <p:nvSpPr>
          <p:cNvPr id="36" name="矩形 35"/>
          <p:cNvSpPr>
            <a:spLocks noGrp="1"/>
          </p:cNvSpPr>
          <p:nvPr/>
        </p:nvSpPr>
        <p:spPr>
          <a:xfrm>
            <a:off x="5653405" y="3275330"/>
            <a:ext cx="1885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17212B"/>
                </a:solidFill>
                <a:latin typeface="Aptos"/>
                <a:ea typeface="Aptos"/>
                <a:cs typeface="Aptos"/>
              </a:defRPr>
            </a:pPr>
            <a:r>
              <a:rPr sz="1600">
                <a:solidFill>
                  <a:srgbClr val="FF8439"/>
                </a:solidFill>
                <a:latin typeface="微软雅黑" charset="0"/>
                <a:ea typeface="微软雅黑" charset="0"/>
                <a:sym typeface="+mn-ea"/>
              </a:rPr>
              <a:t>租赁公司</a:t>
            </a:r>
            <a:r>
              <a:rPr lang="zh-CN" sz="1600">
                <a:solidFill>
                  <a:srgbClr val="FF8439"/>
                </a:solidFill>
                <a:latin typeface="微软雅黑" charset="0"/>
                <a:ea typeface="微软雅黑" charset="0"/>
                <a:sym typeface="+mn-ea"/>
              </a:rPr>
              <a:t>商业</a:t>
            </a:r>
            <a:endParaRPr lang="zh-CN" sz="1600">
              <a:solidFill>
                <a:srgbClr val="FF8439"/>
              </a:solidFill>
              <a:latin typeface="微软雅黑" charset="0"/>
              <a:ea typeface="微软雅黑" charset="0"/>
              <a:sym typeface="+mn-ea"/>
            </a:endParaRPr>
          </a:p>
        </p:txBody>
      </p:sp>
      <p:sp>
        <p:nvSpPr>
          <p:cNvPr id="37" name="矩形 36"/>
          <p:cNvSpPr>
            <a:spLocks noGrp="1"/>
          </p:cNvSpPr>
          <p:nvPr/>
        </p:nvSpPr>
        <p:spPr>
          <a:xfrm>
            <a:off x="7772400" y="3408680"/>
            <a:ext cx="361950" cy="38100"/>
          </a:xfrm>
          <a:prstGeom prst="rect">
            <a:avLst/>
          </a:prstGeom>
          <a:solidFill>
            <a:srgbClr val="C8D4DF"/>
          </a:solidFill>
          <a:ln w="0">
            <a:solidFill>
              <a:srgbClr val="000000">
                <a:alpha val="0"/>
              </a:srgbClr>
            </a:solidFill>
            <a:prstDash val="solid"/>
          </a:ln>
        </p:spPr>
      </p:sp>
      <p:sp>
        <p:nvSpPr>
          <p:cNvPr id="38" name="矩形 37"/>
          <p:cNvSpPr>
            <a:spLocks noGrp="1"/>
          </p:cNvSpPr>
          <p:nvPr/>
        </p:nvSpPr>
        <p:spPr>
          <a:xfrm>
            <a:off x="8168005" y="3084830"/>
            <a:ext cx="2190750" cy="685800"/>
          </a:xfrm>
          <a:prstGeom prst="rect">
            <a:avLst/>
          </a:prstGeom>
          <a:solidFill>
            <a:srgbClr val="FFFFFF"/>
          </a:solidFill>
          <a:ln w="9525">
            <a:solidFill>
              <a:srgbClr val="DDE6EF"/>
            </a:solidFill>
            <a:prstDash val="solid"/>
          </a:ln>
        </p:spPr>
      </p:sp>
      <p:sp>
        <p:nvSpPr>
          <p:cNvPr id="39" name="矩形 38"/>
          <p:cNvSpPr>
            <a:spLocks noGrp="1"/>
          </p:cNvSpPr>
          <p:nvPr/>
        </p:nvSpPr>
        <p:spPr>
          <a:xfrm>
            <a:off x="8320405" y="3275330"/>
            <a:ext cx="1885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其他合作平台</a:t>
            </a:r>
            <a:endParaRPr sz="1600" b="0">
              <a:solidFill>
                <a:srgbClr val="17212B"/>
              </a:solidFill>
              <a:latin typeface="微软雅黑" charset="0"/>
              <a:ea typeface="微软雅黑" charset="0"/>
              <a:cs typeface="Aptos"/>
            </a:endParaRPr>
          </a:p>
        </p:txBody>
      </p:sp>
      <p:sp>
        <p:nvSpPr>
          <p:cNvPr id="40" name="矩形 39"/>
          <p:cNvSpPr>
            <a:spLocks noGrp="1"/>
          </p:cNvSpPr>
          <p:nvPr/>
        </p:nvSpPr>
        <p:spPr>
          <a:xfrm>
            <a:off x="890905" y="4361180"/>
            <a:ext cx="1712595" cy="3067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2000" b="1">
                <a:solidFill>
                  <a:srgbClr val="17212B"/>
                </a:solidFill>
                <a:latin typeface="微软雅黑" charset="0"/>
                <a:ea typeface="微软雅黑" charset="0"/>
                <a:cs typeface="Aptos"/>
              </a:rPr>
              <a:t>客户数据模块</a:t>
            </a:r>
            <a:endParaRPr sz="2000" b="1">
              <a:solidFill>
                <a:srgbClr val="17212B"/>
              </a:solidFill>
              <a:latin typeface="微软雅黑" charset="0"/>
              <a:ea typeface="微软雅黑" charset="0"/>
              <a:cs typeface="Aptos"/>
            </a:endParaRPr>
          </a:p>
        </p:txBody>
      </p:sp>
      <p:sp>
        <p:nvSpPr>
          <p:cNvPr id="42" name="矩形 41"/>
          <p:cNvSpPr>
            <a:spLocks noGrp="1"/>
          </p:cNvSpPr>
          <p:nvPr/>
        </p:nvSpPr>
        <p:spPr>
          <a:xfrm>
            <a:off x="2834005" y="4151630"/>
            <a:ext cx="2190750" cy="685800"/>
          </a:xfrm>
          <a:prstGeom prst="rect">
            <a:avLst/>
          </a:prstGeom>
          <a:solidFill>
            <a:srgbClr val="FFFFFF"/>
          </a:solidFill>
          <a:ln w="9525">
            <a:solidFill>
              <a:srgbClr val="DDE6EF"/>
            </a:solidFill>
            <a:prstDash val="solid"/>
          </a:ln>
        </p:spPr>
      </p:sp>
      <p:sp>
        <p:nvSpPr>
          <p:cNvPr id="43" name="矩形 42"/>
          <p:cNvSpPr>
            <a:spLocks noGrp="1"/>
          </p:cNvSpPr>
          <p:nvPr/>
        </p:nvSpPr>
        <p:spPr>
          <a:xfrm>
            <a:off x="2986405" y="4342130"/>
            <a:ext cx="1885950" cy="2667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lvl="0" algn="ctr">
              <a:buClrTx/>
              <a:buSzTx/>
              <a:defRPr sz="1275" b="0">
                <a:solidFill>
                  <a:srgbClr val="17212B"/>
                </a:solidFill>
                <a:latin typeface="Aptos"/>
                <a:ea typeface="Aptos"/>
                <a:cs typeface="Aptos"/>
              </a:defRPr>
            </a:pPr>
            <a:r>
              <a:rPr sz="1600">
                <a:latin typeface="微软雅黑" charset="0"/>
                <a:ea typeface="微软雅黑" charset="0"/>
                <a:sym typeface="+mn-ea"/>
              </a:rPr>
              <a:t>规则确认与权限基础</a:t>
            </a:r>
            <a:endParaRPr sz="1600">
              <a:latin typeface="微软雅黑" charset="0"/>
              <a:ea typeface="微软雅黑" charset="0"/>
              <a:sym typeface="+mn-ea"/>
            </a:endParaRPr>
          </a:p>
        </p:txBody>
      </p:sp>
      <p:sp>
        <p:nvSpPr>
          <p:cNvPr id="44" name="矩形 43"/>
          <p:cNvSpPr>
            <a:spLocks noGrp="1"/>
          </p:cNvSpPr>
          <p:nvPr/>
        </p:nvSpPr>
        <p:spPr>
          <a:xfrm>
            <a:off x="5105400" y="4475480"/>
            <a:ext cx="361950" cy="38100"/>
          </a:xfrm>
          <a:prstGeom prst="rect">
            <a:avLst/>
          </a:prstGeom>
          <a:solidFill>
            <a:srgbClr val="C8D4DF"/>
          </a:solidFill>
          <a:ln w="0">
            <a:solidFill>
              <a:srgbClr val="000000">
                <a:alpha val="0"/>
              </a:srgbClr>
            </a:solidFill>
            <a:prstDash val="solid"/>
          </a:ln>
        </p:spPr>
      </p:sp>
      <p:sp>
        <p:nvSpPr>
          <p:cNvPr id="73" name="矩形 72"/>
          <p:cNvSpPr>
            <a:spLocks noGrp="1"/>
          </p:cNvSpPr>
          <p:nvPr/>
        </p:nvSpPr>
        <p:spPr>
          <a:xfrm>
            <a:off x="5501005" y="4151630"/>
            <a:ext cx="2190750" cy="685800"/>
          </a:xfrm>
          <a:prstGeom prst="rect">
            <a:avLst/>
          </a:prstGeom>
          <a:solidFill>
            <a:srgbClr val="FFFFFF"/>
          </a:solidFill>
          <a:ln w="9525">
            <a:solidFill>
              <a:srgbClr val="DDE6EF"/>
            </a:solidFill>
            <a:prstDash val="solid"/>
          </a:ln>
        </p:spPr>
      </p:sp>
      <p:sp>
        <p:nvSpPr>
          <p:cNvPr id="74" name="矩形 73"/>
          <p:cNvSpPr>
            <a:spLocks noGrp="1"/>
          </p:cNvSpPr>
          <p:nvPr/>
        </p:nvSpPr>
        <p:spPr>
          <a:xfrm>
            <a:off x="5653405" y="4342130"/>
            <a:ext cx="1885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同步业务客户数据</a:t>
            </a:r>
            <a:endParaRPr sz="1600" b="0">
              <a:solidFill>
                <a:srgbClr val="17212B"/>
              </a:solidFill>
              <a:latin typeface="微软雅黑" charset="0"/>
              <a:ea typeface="微软雅黑" charset="0"/>
              <a:cs typeface="Aptos"/>
            </a:endParaRPr>
          </a:p>
        </p:txBody>
      </p:sp>
      <p:sp>
        <p:nvSpPr>
          <p:cNvPr id="75" name="矩形 74"/>
          <p:cNvSpPr>
            <a:spLocks noGrp="1"/>
          </p:cNvSpPr>
          <p:nvPr/>
        </p:nvSpPr>
        <p:spPr>
          <a:xfrm>
            <a:off x="7772400" y="4475480"/>
            <a:ext cx="361950" cy="38100"/>
          </a:xfrm>
          <a:prstGeom prst="rect">
            <a:avLst/>
          </a:prstGeom>
          <a:solidFill>
            <a:srgbClr val="C8D4DF"/>
          </a:solidFill>
          <a:ln w="0">
            <a:solidFill>
              <a:srgbClr val="000000">
                <a:alpha val="0"/>
              </a:srgbClr>
            </a:solidFill>
            <a:prstDash val="solid"/>
          </a:ln>
        </p:spPr>
      </p:sp>
      <p:sp>
        <p:nvSpPr>
          <p:cNvPr id="76" name="矩形 75"/>
          <p:cNvSpPr>
            <a:spLocks noGrp="1"/>
          </p:cNvSpPr>
          <p:nvPr/>
        </p:nvSpPr>
        <p:spPr>
          <a:xfrm>
            <a:off x="8168005" y="4151630"/>
            <a:ext cx="2190750" cy="685800"/>
          </a:xfrm>
          <a:prstGeom prst="rect">
            <a:avLst/>
          </a:prstGeom>
          <a:solidFill>
            <a:srgbClr val="FFFFFF"/>
          </a:solidFill>
          <a:ln w="9525">
            <a:solidFill>
              <a:srgbClr val="DDE6EF"/>
            </a:solidFill>
            <a:prstDash val="solid"/>
          </a:ln>
        </p:spPr>
      </p:sp>
      <p:sp>
        <p:nvSpPr>
          <p:cNvPr id="77" name="矩形 76"/>
          <p:cNvSpPr>
            <a:spLocks noGrp="1"/>
          </p:cNvSpPr>
          <p:nvPr/>
        </p:nvSpPr>
        <p:spPr>
          <a:xfrm>
            <a:off x="8320405" y="4342130"/>
            <a:ext cx="1885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17212B"/>
                </a:solidFill>
                <a:latin typeface="Aptos"/>
                <a:ea typeface="Aptos"/>
                <a:cs typeface="Aptos"/>
              </a:defRPr>
            </a:pPr>
            <a:r>
              <a:rPr sz="1600" b="0">
                <a:solidFill>
                  <a:srgbClr val="17212B"/>
                </a:solidFill>
                <a:latin typeface="微软雅黑" charset="0"/>
                <a:ea typeface="微软雅黑" charset="0"/>
                <a:cs typeface="Aptos"/>
              </a:rPr>
              <a:t>分析与营销运营</a:t>
            </a:r>
            <a:endParaRPr sz="1600" b="0">
              <a:solidFill>
                <a:srgbClr val="17212B"/>
              </a:solidFill>
              <a:latin typeface="微软雅黑" charset="0"/>
              <a:ea typeface="微软雅黑" charset="0"/>
              <a:cs typeface="Aptos"/>
            </a:endParaRPr>
          </a:p>
        </p:txBody>
      </p:sp>
      <p:sp>
        <p:nvSpPr>
          <p:cNvPr id="78" name="矩形 77"/>
          <p:cNvSpPr>
            <a:spLocks noGrp="1"/>
          </p:cNvSpPr>
          <p:nvPr/>
        </p:nvSpPr>
        <p:spPr>
          <a:xfrm>
            <a:off x="890905" y="5447030"/>
            <a:ext cx="10382250" cy="571500"/>
          </a:xfrm>
          <a:prstGeom prst="rect">
            <a:avLst/>
          </a:prstGeom>
          <a:solidFill>
            <a:srgbClr val="EEF5F8"/>
          </a:solidFill>
          <a:ln w="9525">
            <a:solidFill>
              <a:srgbClr val="CEE3EA"/>
            </a:solidFill>
            <a:prstDash val="solid"/>
          </a:ln>
        </p:spPr>
      </p:sp>
      <p:sp>
        <p:nvSpPr>
          <p:cNvPr id="79" name="矩形 78"/>
          <p:cNvSpPr>
            <a:spLocks noGrp="1"/>
          </p:cNvSpPr>
          <p:nvPr/>
        </p:nvSpPr>
        <p:spPr>
          <a:xfrm>
            <a:off x="1123950" y="5633085"/>
            <a:ext cx="9883140" cy="177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7212B"/>
                </a:solidFill>
                <a:latin typeface="Aptos"/>
                <a:ea typeface="Aptos"/>
                <a:cs typeface="Aptos"/>
              </a:defRPr>
            </a:pPr>
            <a:r>
              <a:rPr sz="1800" b="0">
                <a:solidFill>
                  <a:srgbClr val="17212B"/>
                </a:solidFill>
                <a:latin typeface="微软雅黑" charset="0"/>
                <a:ea typeface="微软雅黑" charset="0"/>
                <a:cs typeface="Aptos"/>
              </a:rPr>
              <a:t>建议以</a:t>
            </a:r>
            <a:r>
              <a:rPr lang="zh-CN" sz="1800" b="0">
                <a:solidFill>
                  <a:srgbClr val="17212B"/>
                </a:solidFill>
                <a:latin typeface="微软雅黑" charset="0"/>
                <a:ea typeface="微软雅黑" charset="0"/>
                <a:cs typeface="Aptos"/>
              </a:rPr>
              <a:t>租赁公司</a:t>
            </a:r>
            <a:r>
              <a:rPr sz="1800" b="0">
                <a:solidFill>
                  <a:srgbClr val="17212B"/>
                </a:solidFill>
                <a:latin typeface="微软雅黑" charset="0"/>
                <a:ea typeface="微软雅黑" charset="0"/>
                <a:cs typeface="Aptos"/>
              </a:rPr>
              <a:t>场景作为首批样板，沉淀流程、口径和指标后，再向其他业务单元与合作平台推广</a:t>
            </a:r>
            <a:endParaRPr sz="1800" b="0">
              <a:solidFill>
                <a:srgbClr val="17212B"/>
              </a:solidFill>
              <a:latin typeface="微软雅黑" charset="0"/>
              <a:ea typeface="微软雅黑" charset="0"/>
              <a:cs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12189613" cy="6858000"/>
          </a:xfrm>
          <a:prstGeom prst="rect">
            <a:avLst/>
          </a:prstGeom>
        </p:spPr>
      </p:pic>
      <p:sp>
        <p:nvSpPr>
          <p:cNvPr id="5" name="文本框 4"/>
          <p:cNvSpPr txBox="1"/>
          <p:nvPr/>
        </p:nvSpPr>
        <p:spPr>
          <a:xfrm>
            <a:off x="604351" y="821635"/>
            <a:ext cx="6291749" cy="1569660"/>
          </a:xfrm>
          <a:prstGeom prst="rect">
            <a:avLst/>
          </a:prstGeom>
          <a:noFill/>
        </p:spPr>
        <p:txBody>
          <a:bodyPr wrap="square" rtlCol="0">
            <a:spAutoFit/>
          </a:bodyPr>
          <a:lstStyle/>
          <a:p>
            <a:r>
              <a:rPr kumimoji="1" lang="en-US" altLang="zh-CN" sz="9600" dirty="0">
                <a:solidFill>
                  <a:schemeClr val="bg1"/>
                </a:solidFill>
                <a:latin typeface="Source Han Sans CN Light" panose="020B0500000000000000" charset="-122"/>
                <a:ea typeface="Source Han Sans CN Light" panose="020B0500000000000000" charset="-122"/>
                <a:cs typeface="Source Han Sans CN Light" panose="020B0500000000000000" charset="-122"/>
              </a:rPr>
              <a:t>THANKS</a:t>
            </a:r>
            <a:endParaRPr kumimoji="1" lang="zh-CN" altLang="en-US" sz="9600" dirty="0">
              <a:solidFill>
                <a:schemeClr val="bg1"/>
              </a:solidFill>
              <a:latin typeface="Source Han Sans CN Light" panose="020B0500000000000000" charset="-122"/>
              <a:ea typeface="Source Han Sans CN Light" panose="020B0500000000000000" charset="-122"/>
              <a:cs typeface="Source Han Sans CN Light" panose="020B0500000000000000" charset="-122"/>
            </a:endParaRPr>
          </a:p>
        </p:txBody>
      </p:sp>
      <p:sp>
        <p:nvSpPr>
          <p:cNvPr id="6" name="文本框 5"/>
          <p:cNvSpPr txBox="1"/>
          <p:nvPr/>
        </p:nvSpPr>
        <p:spPr>
          <a:xfrm>
            <a:off x="604351" y="2266122"/>
            <a:ext cx="2271371" cy="492443"/>
          </a:xfrm>
          <a:prstGeom prst="rect">
            <a:avLst/>
          </a:prstGeom>
          <a:noFill/>
        </p:spPr>
        <p:txBody>
          <a:bodyPr wrap="square" rtlCol="0">
            <a:spAutoFit/>
          </a:bodyPr>
          <a:lstStyle/>
          <a:p>
            <a:pPr algn="dist"/>
            <a:r>
              <a:rPr kumimoji="1" lang="zh-CN" altLang="en-US" sz="2600" spc="600" dirty="0">
                <a:solidFill>
                  <a:schemeClr val="bg1"/>
                </a:solidFill>
                <a:latin typeface="Source Han Sans CN Light" panose="020B0500000000000000" charset="-122"/>
                <a:ea typeface="Source Han Sans CN Light" panose="020B0500000000000000" charset="-122"/>
                <a:cs typeface="Source Han Sans CN Light" panose="020B0500000000000000" charset="-122"/>
              </a:rPr>
              <a:t>非常感谢</a:t>
            </a:r>
            <a:endParaRPr kumimoji="1" lang="zh-CN" altLang="en-US" sz="2600" spc="600" dirty="0">
              <a:solidFill>
                <a:schemeClr val="bg1"/>
              </a:solidFill>
              <a:latin typeface="Source Han Sans CN Light" panose="020B0500000000000000" charset="-122"/>
              <a:ea typeface="Source Han Sans CN Light" panose="020B0500000000000000" charset="-122"/>
              <a:cs typeface="Source Han Sans CN Light" panose="020B0500000000000000" charset="-122"/>
            </a:endParaRPr>
          </a:p>
        </p:txBody>
      </p:sp>
      <p:cxnSp>
        <p:nvCxnSpPr>
          <p:cNvPr id="10" name="直线连接符 9"/>
          <p:cNvCxnSpPr/>
          <p:nvPr/>
        </p:nvCxnSpPr>
        <p:spPr>
          <a:xfrm>
            <a:off x="2831869" y="5802284"/>
            <a:ext cx="0" cy="379928"/>
          </a:xfrm>
          <a:prstGeom prst="line">
            <a:avLst/>
          </a:prstGeom>
          <a:ln w="9525">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7" name="图片 6" descr="手里拿着手机&#10;&#10;描述已自动生成"/>
          <p:cNvPicPr>
            <a:picLocks noChangeAspect="1"/>
          </p:cNvPicPr>
          <p:nvPr/>
        </p:nvPicPr>
        <p:blipFill rotWithShape="1">
          <a:blip r:embed="rId2">
            <a:extLst>
              <a:ext uri="{28A0092B-C50C-407E-A947-70E740481C1C}">
                <a14:useLocalDpi xmlns:a14="http://schemas.microsoft.com/office/drawing/2010/main" val="0"/>
              </a:ext>
            </a:extLst>
          </a:blip>
          <a:srcRect b="42053"/>
          <a:stretch>
            <a:fillRect/>
          </a:stretch>
        </p:blipFill>
        <p:spPr>
          <a:xfrm>
            <a:off x="5760415" y="685521"/>
            <a:ext cx="6291749" cy="6172479"/>
          </a:xfrm>
          <a:prstGeom prst="rect">
            <a:avLst/>
          </a:prstGeom>
        </p:spPr>
      </p:pic>
      <p:grpSp>
        <p:nvGrpSpPr>
          <p:cNvPr id="25" name="组合 24"/>
          <p:cNvGrpSpPr/>
          <p:nvPr/>
        </p:nvGrpSpPr>
        <p:grpSpPr>
          <a:xfrm>
            <a:off x="13944872" y="7317432"/>
            <a:ext cx="3115383" cy="6257660"/>
            <a:chOff x="8461213" y="569198"/>
            <a:chExt cx="3350899" cy="6730725"/>
          </a:xfrm>
          <a:effectLst>
            <a:outerShdw blurRad="50800" dist="38100" dir="2700000" algn="tl" rotWithShape="0">
              <a:prstClr val="black">
                <a:alpha val="40000"/>
              </a:prstClr>
            </a:outerShdw>
          </a:effectLst>
        </p:grpSpPr>
        <p:sp>
          <p:nvSpPr>
            <p:cNvPr id="14" name="任意多边形 53"/>
            <p:cNvSpPr/>
            <p:nvPr/>
          </p:nvSpPr>
          <p:spPr>
            <a:xfrm>
              <a:off x="8461213" y="569198"/>
              <a:ext cx="3350899" cy="6730725"/>
            </a:xfrm>
            <a:custGeom>
              <a:avLst/>
              <a:gdLst>
                <a:gd name="connsiteX0" fmla="*/ 3316374 w 3392281"/>
                <a:gd name="connsiteY0" fmla="*/ 6944890 h 7212734"/>
                <a:gd name="connsiteX1" fmla="*/ 3311583 w 3392281"/>
                <a:gd name="connsiteY1" fmla="*/ 6960162 h 7212734"/>
                <a:gd name="connsiteX2" fmla="*/ 3303387 w 3392281"/>
                <a:gd name="connsiteY2" fmla="*/ 6973602 h 7212734"/>
                <a:gd name="connsiteX3" fmla="*/ 3303387 w 3392281"/>
                <a:gd name="connsiteY3" fmla="*/ 6973603 h 7212734"/>
                <a:gd name="connsiteX4" fmla="*/ 3311583 w 3392281"/>
                <a:gd name="connsiteY4" fmla="*/ 6960163 h 7212734"/>
                <a:gd name="connsiteX5" fmla="*/ 3311583 w 3392281"/>
                <a:gd name="connsiteY5" fmla="*/ 6960162 h 7212734"/>
                <a:gd name="connsiteX6" fmla="*/ 3311584 w 3392281"/>
                <a:gd name="connsiteY6" fmla="*/ 6960161 h 7212734"/>
                <a:gd name="connsiteX7" fmla="*/ 377411 w 3392281"/>
                <a:gd name="connsiteY7" fmla="*/ 0 h 7212734"/>
                <a:gd name="connsiteX8" fmla="*/ 3014870 w 3392281"/>
                <a:gd name="connsiteY8" fmla="*/ 0 h 7212734"/>
                <a:gd name="connsiteX9" fmla="*/ 3392281 w 3392281"/>
                <a:gd name="connsiteY9" fmla="*/ 377413 h 7212734"/>
                <a:gd name="connsiteX10" fmla="*/ 3392281 w 3392281"/>
                <a:gd name="connsiteY10" fmla="*/ 6835324 h 7212734"/>
                <a:gd name="connsiteX11" fmla="*/ 3014870 w 3392281"/>
                <a:gd name="connsiteY11" fmla="*/ 7212734 h 7212734"/>
                <a:gd name="connsiteX12" fmla="*/ 377411 w 3392281"/>
                <a:gd name="connsiteY12" fmla="*/ 7212734 h 7212734"/>
                <a:gd name="connsiteX13" fmla="*/ 0 w 3392281"/>
                <a:gd name="connsiteY13" fmla="*/ 6835324 h 7212734"/>
                <a:gd name="connsiteX14" fmla="*/ 0 w 3392281"/>
                <a:gd name="connsiteY14" fmla="*/ 377413 h 7212734"/>
                <a:gd name="connsiteX15" fmla="*/ 377411 w 3392281"/>
                <a:gd name="connsiteY15" fmla="*/ 0 h 721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2281" h="7212734">
                  <a:moveTo>
                    <a:pt x="3316374" y="6944890"/>
                  </a:moveTo>
                  <a:lnTo>
                    <a:pt x="3311583" y="6960162"/>
                  </a:lnTo>
                  <a:lnTo>
                    <a:pt x="3303387" y="6973602"/>
                  </a:lnTo>
                  <a:lnTo>
                    <a:pt x="3303387" y="6973603"/>
                  </a:lnTo>
                  <a:lnTo>
                    <a:pt x="3311583" y="6960163"/>
                  </a:lnTo>
                  <a:lnTo>
                    <a:pt x="3311583" y="6960162"/>
                  </a:lnTo>
                  <a:lnTo>
                    <a:pt x="3311584" y="6960161"/>
                  </a:lnTo>
                  <a:close/>
                  <a:moveTo>
                    <a:pt x="377411" y="0"/>
                  </a:moveTo>
                  <a:lnTo>
                    <a:pt x="3014870" y="0"/>
                  </a:lnTo>
                  <a:cubicBezTo>
                    <a:pt x="3222335" y="0"/>
                    <a:pt x="3392281" y="169946"/>
                    <a:pt x="3392281" y="377413"/>
                  </a:cubicBezTo>
                  <a:lnTo>
                    <a:pt x="3392281" y="6835324"/>
                  </a:lnTo>
                  <a:cubicBezTo>
                    <a:pt x="3392281" y="7042790"/>
                    <a:pt x="3222335" y="7212734"/>
                    <a:pt x="3014870" y="7212734"/>
                  </a:cubicBezTo>
                  <a:lnTo>
                    <a:pt x="377411" y="7212734"/>
                  </a:lnTo>
                  <a:cubicBezTo>
                    <a:pt x="169946" y="7212734"/>
                    <a:pt x="0" y="7042790"/>
                    <a:pt x="0" y="6835324"/>
                  </a:cubicBezTo>
                  <a:lnTo>
                    <a:pt x="0" y="377413"/>
                  </a:lnTo>
                  <a:cubicBezTo>
                    <a:pt x="0" y="169946"/>
                    <a:pt x="169946" y="0"/>
                    <a:pt x="377411" y="0"/>
                  </a:cubicBezTo>
                  <a:close/>
                </a:path>
              </a:pathLst>
            </a:custGeom>
            <a:solidFill>
              <a:schemeClr val="tx1">
                <a:lumMod val="95000"/>
                <a:lumOff val="5000"/>
              </a:schemeClr>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rcRect l="573"/>
            <a:stretch>
              <a:fillRect/>
            </a:stretch>
          </p:blipFill>
          <p:spPr>
            <a:xfrm>
              <a:off x="8558316" y="648104"/>
              <a:ext cx="3176107" cy="6572913"/>
            </a:xfrm>
            <a:custGeom>
              <a:avLst/>
              <a:gdLst>
                <a:gd name="connsiteX0" fmla="*/ 385446 w 3221808"/>
                <a:gd name="connsiteY0" fmla="*/ 0 h 6627744"/>
                <a:gd name="connsiteX1" fmla="*/ 902587 w 3221808"/>
                <a:gd name="connsiteY1" fmla="*/ 0 h 6627744"/>
                <a:gd name="connsiteX2" fmla="*/ 942370 w 3221808"/>
                <a:gd name="connsiteY2" fmla="*/ 15188 h 6627744"/>
                <a:gd name="connsiteX3" fmla="*/ 959266 w 3221808"/>
                <a:gd name="connsiteY3" fmla="*/ 53547 h 6627744"/>
                <a:gd name="connsiteX4" fmla="*/ 959266 w 3221808"/>
                <a:gd name="connsiteY4" fmla="*/ 94739 h 6627744"/>
                <a:gd name="connsiteX5" fmla="*/ 1133678 w 3221808"/>
                <a:gd name="connsiteY5" fmla="*/ 259506 h 6627744"/>
                <a:gd name="connsiteX6" fmla="*/ 2108206 w 3221808"/>
                <a:gd name="connsiteY6" fmla="*/ 259506 h 6627744"/>
                <a:gd name="connsiteX7" fmla="*/ 2282618 w 3221808"/>
                <a:gd name="connsiteY7" fmla="*/ 94739 h 6627744"/>
                <a:gd name="connsiteX8" fmla="*/ 2282618 w 3221808"/>
                <a:gd name="connsiteY8" fmla="*/ 53547 h 6627744"/>
                <a:gd name="connsiteX9" fmla="*/ 2298699 w 3221808"/>
                <a:gd name="connsiteY9" fmla="*/ 15960 h 6627744"/>
                <a:gd name="connsiteX10" fmla="*/ 2339300 w 3221808"/>
                <a:gd name="connsiteY10" fmla="*/ 0 h 6627744"/>
                <a:gd name="connsiteX11" fmla="*/ 2817810 w 3221808"/>
                <a:gd name="connsiteY11" fmla="*/ 0 h 6627744"/>
                <a:gd name="connsiteX12" fmla="*/ 2899222 w 3221808"/>
                <a:gd name="connsiteY12" fmla="*/ 8207 h 6627744"/>
                <a:gd name="connsiteX13" fmla="*/ 3221808 w 3221808"/>
                <a:gd name="connsiteY13" fmla="*/ 404007 h 6627744"/>
                <a:gd name="connsiteX14" fmla="*/ 3221808 w 3221808"/>
                <a:gd name="connsiteY14" fmla="*/ 6223736 h 6627744"/>
                <a:gd name="connsiteX15" fmla="*/ 2817800 w 3221808"/>
                <a:gd name="connsiteY15" fmla="*/ 6627744 h 6627744"/>
                <a:gd name="connsiteX16" fmla="*/ 385456 w 3221808"/>
                <a:gd name="connsiteY16" fmla="*/ 6627744 h 6627744"/>
                <a:gd name="connsiteX17" fmla="*/ 13197 w 3221808"/>
                <a:gd name="connsiteY17" fmla="*/ 6380994 h 6627744"/>
                <a:gd name="connsiteX18" fmla="*/ 3782 w 3221808"/>
                <a:gd name="connsiteY18" fmla="*/ 6350666 h 6627744"/>
                <a:gd name="connsiteX19" fmla="*/ 0 w 3221808"/>
                <a:gd name="connsiteY19" fmla="*/ 6327046 h 6627744"/>
                <a:gd name="connsiteX20" fmla="*/ 0 w 3221808"/>
                <a:gd name="connsiteY20" fmla="*/ 300701 h 6627744"/>
                <a:gd name="connsiteX21" fmla="*/ 1903 w 3221808"/>
                <a:gd name="connsiteY21" fmla="*/ 283133 h 6627744"/>
                <a:gd name="connsiteX22" fmla="*/ 13197 w 3221808"/>
                <a:gd name="connsiteY22" fmla="*/ 246749 h 6627744"/>
                <a:gd name="connsiteX23" fmla="*/ 304034 w 3221808"/>
                <a:gd name="connsiteY23" fmla="*/ 8207 h 6627744"/>
                <a:gd name="connsiteX24" fmla="*/ 385446 w 3221808"/>
                <a:gd name="connsiteY24" fmla="*/ 0 h 662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21808" h="6627744">
                  <a:moveTo>
                    <a:pt x="385446" y="0"/>
                  </a:moveTo>
                  <a:lnTo>
                    <a:pt x="902587" y="0"/>
                  </a:lnTo>
                  <a:lnTo>
                    <a:pt x="942370" y="15188"/>
                  </a:lnTo>
                  <a:cubicBezTo>
                    <a:pt x="952726" y="24713"/>
                    <a:pt x="959266" y="38101"/>
                    <a:pt x="959266" y="53547"/>
                  </a:cubicBezTo>
                  <a:lnTo>
                    <a:pt x="959266" y="94739"/>
                  </a:lnTo>
                  <a:cubicBezTo>
                    <a:pt x="959266" y="185361"/>
                    <a:pt x="1037752" y="259506"/>
                    <a:pt x="1133678" y="259506"/>
                  </a:cubicBezTo>
                  <a:lnTo>
                    <a:pt x="2108206" y="259506"/>
                  </a:lnTo>
                  <a:cubicBezTo>
                    <a:pt x="2204135" y="259506"/>
                    <a:pt x="2282618" y="185361"/>
                    <a:pt x="2282618" y="94739"/>
                  </a:cubicBezTo>
                  <a:lnTo>
                    <a:pt x="2282618" y="53547"/>
                  </a:lnTo>
                  <a:cubicBezTo>
                    <a:pt x="2282618" y="39131"/>
                    <a:pt x="2288614" y="25743"/>
                    <a:pt x="2298699" y="15960"/>
                  </a:cubicBezTo>
                  <a:lnTo>
                    <a:pt x="2339300" y="0"/>
                  </a:lnTo>
                  <a:lnTo>
                    <a:pt x="2817810" y="0"/>
                  </a:lnTo>
                  <a:lnTo>
                    <a:pt x="2899222" y="8207"/>
                  </a:lnTo>
                  <a:cubicBezTo>
                    <a:pt x="3083321" y="45879"/>
                    <a:pt x="3221808" y="208771"/>
                    <a:pt x="3221808" y="404007"/>
                  </a:cubicBezTo>
                  <a:lnTo>
                    <a:pt x="3221808" y="6223736"/>
                  </a:lnTo>
                  <a:cubicBezTo>
                    <a:pt x="3221808" y="6446863"/>
                    <a:pt x="3040927" y="6627744"/>
                    <a:pt x="2817800" y="6627744"/>
                  </a:cubicBezTo>
                  <a:lnTo>
                    <a:pt x="385456" y="6627744"/>
                  </a:lnTo>
                  <a:cubicBezTo>
                    <a:pt x="218111" y="6627744"/>
                    <a:pt x="74529" y="6525999"/>
                    <a:pt x="13197" y="6380994"/>
                  </a:cubicBezTo>
                  <a:lnTo>
                    <a:pt x="3782" y="6350666"/>
                  </a:lnTo>
                  <a:lnTo>
                    <a:pt x="0" y="6327046"/>
                  </a:lnTo>
                  <a:lnTo>
                    <a:pt x="0" y="300701"/>
                  </a:lnTo>
                  <a:lnTo>
                    <a:pt x="1903" y="283133"/>
                  </a:lnTo>
                  <a:lnTo>
                    <a:pt x="13197" y="246749"/>
                  </a:lnTo>
                  <a:cubicBezTo>
                    <a:pt x="64307" y="125912"/>
                    <a:pt x="172535" y="35116"/>
                    <a:pt x="304034" y="8207"/>
                  </a:cubicBezTo>
                  <a:lnTo>
                    <a:pt x="385446" y="0"/>
                  </a:lnTo>
                  <a:close/>
                </a:path>
              </a:pathLst>
            </a:cu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grpSp>
        <p:nvGrpSpPr>
          <p:cNvPr id="26" name="组合 25"/>
          <p:cNvGrpSpPr/>
          <p:nvPr/>
        </p:nvGrpSpPr>
        <p:grpSpPr>
          <a:xfrm>
            <a:off x="7822089" y="901545"/>
            <a:ext cx="2939640" cy="5904656"/>
            <a:chOff x="8461213" y="569198"/>
            <a:chExt cx="3350899" cy="6730725"/>
          </a:xfrm>
          <a:effectLst>
            <a:outerShdw blurRad="50800" dist="38100" dir="2700000" algn="tl" rotWithShape="0">
              <a:prstClr val="black">
                <a:alpha val="40000"/>
              </a:prstClr>
            </a:outerShdw>
          </a:effectLst>
        </p:grpSpPr>
        <p:sp>
          <p:nvSpPr>
            <p:cNvPr id="27" name="任意多边形 53"/>
            <p:cNvSpPr/>
            <p:nvPr/>
          </p:nvSpPr>
          <p:spPr>
            <a:xfrm>
              <a:off x="8461213" y="569198"/>
              <a:ext cx="3350899" cy="6730725"/>
            </a:xfrm>
            <a:custGeom>
              <a:avLst/>
              <a:gdLst>
                <a:gd name="connsiteX0" fmla="*/ 3316374 w 3392281"/>
                <a:gd name="connsiteY0" fmla="*/ 6944890 h 7212734"/>
                <a:gd name="connsiteX1" fmla="*/ 3311583 w 3392281"/>
                <a:gd name="connsiteY1" fmla="*/ 6960162 h 7212734"/>
                <a:gd name="connsiteX2" fmla="*/ 3303387 w 3392281"/>
                <a:gd name="connsiteY2" fmla="*/ 6973602 h 7212734"/>
                <a:gd name="connsiteX3" fmla="*/ 3303387 w 3392281"/>
                <a:gd name="connsiteY3" fmla="*/ 6973603 h 7212734"/>
                <a:gd name="connsiteX4" fmla="*/ 3311583 w 3392281"/>
                <a:gd name="connsiteY4" fmla="*/ 6960163 h 7212734"/>
                <a:gd name="connsiteX5" fmla="*/ 3311583 w 3392281"/>
                <a:gd name="connsiteY5" fmla="*/ 6960162 h 7212734"/>
                <a:gd name="connsiteX6" fmla="*/ 3311584 w 3392281"/>
                <a:gd name="connsiteY6" fmla="*/ 6960161 h 7212734"/>
                <a:gd name="connsiteX7" fmla="*/ 377411 w 3392281"/>
                <a:gd name="connsiteY7" fmla="*/ 0 h 7212734"/>
                <a:gd name="connsiteX8" fmla="*/ 3014870 w 3392281"/>
                <a:gd name="connsiteY8" fmla="*/ 0 h 7212734"/>
                <a:gd name="connsiteX9" fmla="*/ 3392281 w 3392281"/>
                <a:gd name="connsiteY9" fmla="*/ 377413 h 7212734"/>
                <a:gd name="connsiteX10" fmla="*/ 3392281 w 3392281"/>
                <a:gd name="connsiteY10" fmla="*/ 6835324 h 7212734"/>
                <a:gd name="connsiteX11" fmla="*/ 3014870 w 3392281"/>
                <a:gd name="connsiteY11" fmla="*/ 7212734 h 7212734"/>
                <a:gd name="connsiteX12" fmla="*/ 377411 w 3392281"/>
                <a:gd name="connsiteY12" fmla="*/ 7212734 h 7212734"/>
                <a:gd name="connsiteX13" fmla="*/ 0 w 3392281"/>
                <a:gd name="connsiteY13" fmla="*/ 6835324 h 7212734"/>
                <a:gd name="connsiteX14" fmla="*/ 0 w 3392281"/>
                <a:gd name="connsiteY14" fmla="*/ 377413 h 7212734"/>
                <a:gd name="connsiteX15" fmla="*/ 377411 w 3392281"/>
                <a:gd name="connsiteY15" fmla="*/ 0 h 721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2281" h="7212734">
                  <a:moveTo>
                    <a:pt x="3316374" y="6944890"/>
                  </a:moveTo>
                  <a:lnTo>
                    <a:pt x="3311583" y="6960162"/>
                  </a:lnTo>
                  <a:lnTo>
                    <a:pt x="3303387" y="6973602"/>
                  </a:lnTo>
                  <a:lnTo>
                    <a:pt x="3303387" y="6973603"/>
                  </a:lnTo>
                  <a:lnTo>
                    <a:pt x="3311583" y="6960163"/>
                  </a:lnTo>
                  <a:lnTo>
                    <a:pt x="3311583" y="6960162"/>
                  </a:lnTo>
                  <a:lnTo>
                    <a:pt x="3311584" y="6960161"/>
                  </a:lnTo>
                  <a:close/>
                  <a:moveTo>
                    <a:pt x="377411" y="0"/>
                  </a:moveTo>
                  <a:lnTo>
                    <a:pt x="3014870" y="0"/>
                  </a:lnTo>
                  <a:cubicBezTo>
                    <a:pt x="3222335" y="0"/>
                    <a:pt x="3392281" y="169946"/>
                    <a:pt x="3392281" y="377413"/>
                  </a:cubicBezTo>
                  <a:lnTo>
                    <a:pt x="3392281" y="6835324"/>
                  </a:lnTo>
                  <a:cubicBezTo>
                    <a:pt x="3392281" y="7042790"/>
                    <a:pt x="3222335" y="7212734"/>
                    <a:pt x="3014870" y="7212734"/>
                  </a:cubicBezTo>
                  <a:lnTo>
                    <a:pt x="377411" y="7212734"/>
                  </a:lnTo>
                  <a:cubicBezTo>
                    <a:pt x="169946" y="7212734"/>
                    <a:pt x="0" y="7042790"/>
                    <a:pt x="0" y="6835324"/>
                  </a:cubicBezTo>
                  <a:lnTo>
                    <a:pt x="0" y="377413"/>
                  </a:lnTo>
                  <a:cubicBezTo>
                    <a:pt x="0" y="169946"/>
                    <a:pt x="169946" y="0"/>
                    <a:pt x="377411" y="0"/>
                  </a:cubicBezTo>
                  <a:close/>
                </a:path>
              </a:pathLst>
            </a:custGeom>
            <a:solidFill>
              <a:schemeClr val="tx1">
                <a:lumMod val="95000"/>
                <a:lumOff val="5000"/>
              </a:schemeClr>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rcRect l="573"/>
            <a:stretch>
              <a:fillRect/>
            </a:stretch>
          </p:blipFill>
          <p:spPr>
            <a:xfrm>
              <a:off x="8558316" y="648104"/>
              <a:ext cx="3176107" cy="6572913"/>
            </a:xfrm>
            <a:custGeom>
              <a:avLst/>
              <a:gdLst>
                <a:gd name="connsiteX0" fmla="*/ 385446 w 3221808"/>
                <a:gd name="connsiteY0" fmla="*/ 0 h 6627744"/>
                <a:gd name="connsiteX1" fmla="*/ 902587 w 3221808"/>
                <a:gd name="connsiteY1" fmla="*/ 0 h 6627744"/>
                <a:gd name="connsiteX2" fmla="*/ 942370 w 3221808"/>
                <a:gd name="connsiteY2" fmla="*/ 15188 h 6627744"/>
                <a:gd name="connsiteX3" fmla="*/ 959266 w 3221808"/>
                <a:gd name="connsiteY3" fmla="*/ 53547 h 6627744"/>
                <a:gd name="connsiteX4" fmla="*/ 959266 w 3221808"/>
                <a:gd name="connsiteY4" fmla="*/ 94739 h 6627744"/>
                <a:gd name="connsiteX5" fmla="*/ 1133678 w 3221808"/>
                <a:gd name="connsiteY5" fmla="*/ 259506 h 6627744"/>
                <a:gd name="connsiteX6" fmla="*/ 2108206 w 3221808"/>
                <a:gd name="connsiteY6" fmla="*/ 259506 h 6627744"/>
                <a:gd name="connsiteX7" fmla="*/ 2282618 w 3221808"/>
                <a:gd name="connsiteY7" fmla="*/ 94739 h 6627744"/>
                <a:gd name="connsiteX8" fmla="*/ 2282618 w 3221808"/>
                <a:gd name="connsiteY8" fmla="*/ 53547 h 6627744"/>
                <a:gd name="connsiteX9" fmla="*/ 2298699 w 3221808"/>
                <a:gd name="connsiteY9" fmla="*/ 15960 h 6627744"/>
                <a:gd name="connsiteX10" fmla="*/ 2339300 w 3221808"/>
                <a:gd name="connsiteY10" fmla="*/ 0 h 6627744"/>
                <a:gd name="connsiteX11" fmla="*/ 2817810 w 3221808"/>
                <a:gd name="connsiteY11" fmla="*/ 0 h 6627744"/>
                <a:gd name="connsiteX12" fmla="*/ 2899222 w 3221808"/>
                <a:gd name="connsiteY12" fmla="*/ 8207 h 6627744"/>
                <a:gd name="connsiteX13" fmla="*/ 3221808 w 3221808"/>
                <a:gd name="connsiteY13" fmla="*/ 404007 h 6627744"/>
                <a:gd name="connsiteX14" fmla="*/ 3221808 w 3221808"/>
                <a:gd name="connsiteY14" fmla="*/ 6223736 h 6627744"/>
                <a:gd name="connsiteX15" fmla="*/ 2817800 w 3221808"/>
                <a:gd name="connsiteY15" fmla="*/ 6627744 h 6627744"/>
                <a:gd name="connsiteX16" fmla="*/ 385456 w 3221808"/>
                <a:gd name="connsiteY16" fmla="*/ 6627744 h 6627744"/>
                <a:gd name="connsiteX17" fmla="*/ 13197 w 3221808"/>
                <a:gd name="connsiteY17" fmla="*/ 6380994 h 6627744"/>
                <a:gd name="connsiteX18" fmla="*/ 3782 w 3221808"/>
                <a:gd name="connsiteY18" fmla="*/ 6350666 h 6627744"/>
                <a:gd name="connsiteX19" fmla="*/ 0 w 3221808"/>
                <a:gd name="connsiteY19" fmla="*/ 6327046 h 6627744"/>
                <a:gd name="connsiteX20" fmla="*/ 0 w 3221808"/>
                <a:gd name="connsiteY20" fmla="*/ 300701 h 6627744"/>
                <a:gd name="connsiteX21" fmla="*/ 1903 w 3221808"/>
                <a:gd name="connsiteY21" fmla="*/ 283133 h 6627744"/>
                <a:gd name="connsiteX22" fmla="*/ 13197 w 3221808"/>
                <a:gd name="connsiteY22" fmla="*/ 246749 h 6627744"/>
                <a:gd name="connsiteX23" fmla="*/ 304034 w 3221808"/>
                <a:gd name="connsiteY23" fmla="*/ 8207 h 6627744"/>
                <a:gd name="connsiteX24" fmla="*/ 385446 w 3221808"/>
                <a:gd name="connsiteY24" fmla="*/ 0 h 662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21808" h="6627744">
                  <a:moveTo>
                    <a:pt x="385446" y="0"/>
                  </a:moveTo>
                  <a:lnTo>
                    <a:pt x="902587" y="0"/>
                  </a:lnTo>
                  <a:lnTo>
                    <a:pt x="942370" y="15188"/>
                  </a:lnTo>
                  <a:cubicBezTo>
                    <a:pt x="952726" y="24713"/>
                    <a:pt x="959266" y="38101"/>
                    <a:pt x="959266" y="53547"/>
                  </a:cubicBezTo>
                  <a:lnTo>
                    <a:pt x="959266" y="94739"/>
                  </a:lnTo>
                  <a:cubicBezTo>
                    <a:pt x="959266" y="185361"/>
                    <a:pt x="1037752" y="259506"/>
                    <a:pt x="1133678" y="259506"/>
                  </a:cubicBezTo>
                  <a:lnTo>
                    <a:pt x="2108206" y="259506"/>
                  </a:lnTo>
                  <a:cubicBezTo>
                    <a:pt x="2204135" y="259506"/>
                    <a:pt x="2282618" y="185361"/>
                    <a:pt x="2282618" y="94739"/>
                  </a:cubicBezTo>
                  <a:lnTo>
                    <a:pt x="2282618" y="53547"/>
                  </a:lnTo>
                  <a:cubicBezTo>
                    <a:pt x="2282618" y="39131"/>
                    <a:pt x="2288614" y="25743"/>
                    <a:pt x="2298699" y="15960"/>
                  </a:cubicBezTo>
                  <a:lnTo>
                    <a:pt x="2339300" y="0"/>
                  </a:lnTo>
                  <a:lnTo>
                    <a:pt x="2817810" y="0"/>
                  </a:lnTo>
                  <a:lnTo>
                    <a:pt x="2899222" y="8207"/>
                  </a:lnTo>
                  <a:cubicBezTo>
                    <a:pt x="3083321" y="45879"/>
                    <a:pt x="3221808" y="208771"/>
                    <a:pt x="3221808" y="404007"/>
                  </a:cubicBezTo>
                  <a:lnTo>
                    <a:pt x="3221808" y="6223736"/>
                  </a:lnTo>
                  <a:cubicBezTo>
                    <a:pt x="3221808" y="6446863"/>
                    <a:pt x="3040927" y="6627744"/>
                    <a:pt x="2817800" y="6627744"/>
                  </a:cubicBezTo>
                  <a:lnTo>
                    <a:pt x="385456" y="6627744"/>
                  </a:lnTo>
                  <a:cubicBezTo>
                    <a:pt x="218111" y="6627744"/>
                    <a:pt x="74529" y="6525999"/>
                    <a:pt x="13197" y="6380994"/>
                  </a:cubicBezTo>
                  <a:lnTo>
                    <a:pt x="3782" y="6350666"/>
                  </a:lnTo>
                  <a:lnTo>
                    <a:pt x="0" y="6327046"/>
                  </a:lnTo>
                  <a:lnTo>
                    <a:pt x="0" y="300701"/>
                  </a:lnTo>
                  <a:lnTo>
                    <a:pt x="1903" y="283133"/>
                  </a:lnTo>
                  <a:lnTo>
                    <a:pt x="13197" y="246749"/>
                  </a:lnTo>
                  <a:cubicBezTo>
                    <a:pt x="64307" y="125912"/>
                    <a:pt x="172535" y="35116"/>
                    <a:pt x="304034" y="8207"/>
                  </a:cubicBezTo>
                  <a:lnTo>
                    <a:pt x="385446" y="0"/>
                  </a:lnTo>
                  <a:close/>
                </a:path>
              </a:pathLst>
            </a:cu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4351" y="5445224"/>
            <a:ext cx="2362228" cy="1015900"/>
          </a:xfrm>
          <a:prstGeom prst="rect">
            <a:avLst/>
          </a:prstGeom>
        </p:spPr>
      </p:pic>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ADV_TOP" val="493.4643"/>
  <p:tag name="ADV_LEFT" val="175.979"/>
  <p:tag name="ADV_HEIGHT" val="29.19685"/>
  <p:tag name="ADV_WIDTH" val="610.7717"/>
  <p:tag name="ADV_COPYRIGHT" val="TRUE"/>
</p:tagLst>
</file>

<file path=ppt/tags/tag3.xml><?xml version="1.0" encoding="utf-8"?>
<p:tagLst xmlns:p="http://schemas.openxmlformats.org/presentationml/2006/main">
  <p:tag name="ADV_TOP" val="493.4643"/>
  <p:tag name="ADV_LEFT" val="175.979"/>
  <p:tag name="ADV_HEIGHT" val="29.19685"/>
  <p:tag name="ADV_WIDTH" val="610.7717"/>
  <p:tag name="ADV_COPYRIGHT" val="TRUE"/>
</p:tagLst>
</file>

<file path=ppt/tags/tag4.xml><?xml version="1.0" encoding="utf-8"?>
<p:tagLst xmlns:p="http://schemas.openxmlformats.org/presentationml/2006/main">
  <p:tag name="ADV_TOP" val="493.4643"/>
  <p:tag name="ADV_LEFT" val="175.979"/>
  <p:tag name="ADV_HEIGHT" val="29.19685"/>
  <p:tag name="ADV_WIDTH" val="610.7717"/>
  <p:tag name="ADV_COPYRIGHT" val="TRUE"/>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3B8VcOYfTJiMFx2jVW7mWg"/>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ABLE_ENDDRAG_ORIGIN_RECT" val="874*450"/>
  <p:tag name="TABLE_ENDDRAG_RECT" val="42*72*874*450"/>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COMMONDATA" val="eyJoZGlkIjoiYmIwNGJkZjZlZjVmZGU3NzhjYWZjN2ExOGU4Zjk2ZmMifQ=="/>
  <p:tag name="KSO_WPP_MARK_KEY" val="94df468b-36d1-4d4c-a289-008b10e89b93"/>
</p:tagLst>
</file>

<file path=ppt/theme/theme1.xml><?xml version="1.0" encoding="utf-8"?>
<a:theme xmlns:a="http://schemas.openxmlformats.org/drawingml/2006/main" name="Office 主题​​">
  <a:themeElements>
    <a:clrScheme name="Couture">
      <a:dk1>
        <a:sysClr val="windowText" lastClr="000000"/>
      </a:dk1>
      <a:lt1>
        <a:sysClr val="window" lastClr="FFFFFF"/>
      </a:lt1>
      <a:dk2>
        <a:srgbClr val="37302A"/>
      </a:dk2>
      <a:lt2>
        <a:srgbClr val="D0CCB9"/>
      </a:lt2>
      <a:accent1>
        <a:srgbClr val="9E8E5C"/>
      </a:accent1>
      <a:accent2>
        <a:srgbClr val="A09781"/>
      </a:accent2>
      <a:accent3>
        <a:srgbClr val="85776D"/>
      </a:accent3>
      <a:accent4>
        <a:srgbClr val="AEAFA9"/>
      </a:accent4>
      <a:accent5>
        <a:srgbClr val="8D878B"/>
      </a:accent5>
      <a:accent6>
        <a:srgbClr val="6B6149"/>
      </a:accent6>
      <a:hlink>
        <a:srgbClr val="B6A272"/>
      </a:hlink>
      <a:folHlink>
        <a:srgbClr val="8A784F"/>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12700">
          <a:miter lim="400000"/>
        </a:ln>
      </a:spPr>
      <a:bodyPr lIns="0" tIns="0" rIns="0" bIns="0"/>
      <a:lstStyle>
        <a:defPPr algn="l">
          <a:defRPr sz="1300" dirty="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anose="020B0604020202090204" pitchFamily="34" charset="0"/>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12700">
          <a:miter lim="400000"/>
        </a:ln>
      </a:spPr>
      <a:bodyPr lIns="0" tIns="0" rIns="0" bIns="0"/>
      <a:lstStyle>
        <a:defPPr algn="l">
          <a:defRPr sz="1300" dirty="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anose="020B0604020202090204" pitchFamily="34" charset="0"/>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KPMG_Talkbook_4x3_1021_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54000" tIns="54000" rIns="54000" bIns="54000" rtlCol="0" anchor="ctr"/>
      <a:lstStyle>
        <a:defPPr algn="ctr">
          <a:spcAft>
            <a:spcPts val="600"/>
          </a:spcAft>
          <a:defRPr sz="1100" b="1" dirty="0" smtClean="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0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TM04033929[[fn=石板]]</Template>
  <TotalTime>0</TotalTime>
  <Words>8291</Words>
  <Application>WPS 表格</Application>
  <PresentationFormat>宽屏</PresentationFormat>
  <Paragraphs>2316</Paragraphs>
  <Slides>25</Slides>
  <Notes>6</Notes>
  <HiddenSlides>0</HiddenSlides>
  <MMClips>0</MMClips>
  <ScaleCrop>false</ScaleCrop>
  <HeadingPairs>
    <vt:vector size="8" baseType="variant">
      <vt:variant>
        <vt:lpstr>已用的字体</vt:lpstr>
      </vt:variant>
      <vt:variant>
        <vt:i4>33</vt:i4>
      </vt:variant>
      <vt:variant>
        <vt:lpstr>主题</vt:lpstr>
      </vt:variant>
      <vt:variant>
        <vt:i4>3</vt:i4>
      </vt:variant>
      <vt:variant>
        <vt:lpstr>嵌入 OLE 服务器</vt:lpstr>
      </vt:variant>
      <vt:variant>
        <vt:i4>4</vt:i4>
      </vt:variant>
      <vt:variant>
        <vt:lpstr>幻灯片标题</vt:lpstr>
      </vt:variant>
      <vt:variant>
        <vt:i4>25</vt:i4>
      </vt:variant>
    </vt:vector>
  </HeadingPairs>
  <TitlesOfParts>
    <vt:vector size="65" baseType="lpstr">
      <vt:lpstr>Arial</vt:lpstr>
      <vt:lpstr>宋体</vt:lpstr>
      <vt:lpstr>Wingdings</vt:lpstr>
      <vt:lpstr>汉仪书宋二KW</vt:lpstr>
      <vt:lpstr>Calibri</vt:lpstr>
      <vt:lpstr>Helvetica Neue</vt:lpstr>
      <vt:lpstr>微软雅黑</vt:lpstr>
      <vt:lpstr>汉仪旗黑</vt:lpstr>
      <vt:lpstr>Arial</vt:lpstr>
      <vt:lpstr>Univers for KPMG</vt:lpstr>
      <vt:lpstr>黑体</vt:lpstr>
      <vt:lpstr>Noto Sans SC</vt:lpstr>
      <vt:lpstr>Thonburi</vt:lpstr>
      <vt:lpstr>Times New Roman</vt:lpstr>
      <vt:lpstr>思源黑体</vt:lpstr>
      <vt:lpstr>Segoe UI Black</vt:lpstr>
      <vt:lpstr>微软雅黑</vt:lpstr>
      <vt:lpstr>微软雅黑</vt:lpstr>
      <vt:lpstr>Aptos</vt:lpstr>
      <vt:lpstr>宋体</vt:lpstr>
      <vt:lpstr>汉仪中黑KW</vt:lpstr>
      <vt:lpstr>苹方-简</vt:lpstr>
      <vt:lpstr>Arial Unicode MS</vt:lpstr>
      <vt:lpstr>宋体</vt:lpstr>
      <vt:lpstr>PingFang SC</vt:lpstr>
      <vt:lpstr>Aptos Display</vt:lpstr>
      <vt:lpstr>Source Han Sans CN Light</vt:lpstr>
      <vt:lpstr>Aptos</vt:lpstr>
      <vt:lpstr>Aptos Display</vt:lpstr>
      <vt:lpstr>Noto Sans SC</vt:lpstr>
      <vt:lpstr>Source Han Sans CN Light</vt:lpstr>
      <vt:lpstr>Wingdings</vt:lpstr>
      <vt:lpstr>思源黑体</vt:lpstr>
      <vt:lpstr>Office 主题​​</vt:lpstr>
      <vt:lpstr>1_Office 主题​​</vt:lpstr>
      <vt:lpstr>1_KPMG_Talkbook_4x3_1021_2015</vt:lpstr>
      <vt:lpstr>TCLayout.ActiveDocument.1</vt:lpstr>
      <vt:lpstr>TCLayout.ActiveDocument.1</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guoxiaobo</dc:creator>
  <cp:lastModifiedBy>这一刻</cp:lastModifiedBy>
  <cp:revision>6462</cp:revision>
  <cp:lastPrinted>2026-06-05T03:49:37Z</cp:lastPrinted>
  <dcterms:created xsi:type="dcterms:W3CDTF">2026-06-05T03:49:37Z</dcterms:created>
  <dcterms:modified xsi:type="dcterms:W3CDTF">2026-06-05T03:49:37Z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KSORubyTemplateID">
    <vt:lpwstr>2</vt:lpwstr>
  </property>
  <property fmtid="{D5CDD505-2E9C-101B-9397-08002B2CF9AE}" pid="4" name="ICV">
    <vt:lpwstr>84AD86BAB1554C75B808BFEF284C2D40</vt:lpwstr>
  </property>
</Properties>
</file>