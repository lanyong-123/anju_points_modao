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8" r:id="rId4"/>
    <p:sldId id="277" r:id="rId5"/>
    <p:sldId id="264" r:id="rId6"/>
    <p:sldId id="263" r:id="rId7"/>
    <p:sldId id="257" r:id="rId8"/>
    <p:sldId id="258" r:id="rId9"/>
    <p:sldId id="267" r:id="rId10"/>
    <p:sldId id="259" r:id="rId11"/>
    <p:sldId id="268" r:id="rId12"/>
    <p:sldId id="269" r:id="rId13"/>
    <p:sldId id="270" r:id="rId14"/>
    <p:sldId id="271" r:id="rId15"/>
    <p:sldId id="272" r:id="rId16"/>
    <p:sldId id="273" r:id="rId17"/>
    <p:sldId id="260" r:id="rId18"/>
    <p:sldId id="276" r:id="rId19"/>
    <p:sldId id="261" r:id="rId20"/>
    <p:sldId id="262" r:id="rId21"/>
    <p:sldId id="27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5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4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5" Type="http://schemas.openxmlformats.org/officeDocument/2006/relationships/slideLayout" Target="../slideLayouts/slideLayout7.xml"/><Relationship Id="rId44" Type="http://schemas.openxmlformats.org/officeDocument/2006/relationships/tags" Target="../tags/tag63.xml"/><Relationship Id="rId43" Type="http://schemas.openxmlformats.org/officeDocument/2006/relationships/tags" Target="../tags/tag62.xml"/><Relationship Id="rId42" Type="http://schemas.openxmlformats.org/officeDocument/2006/relationships/tags" Target="../tags/tag61.xml"/><Relationship Id="rId41" Type="http://schemas.openxmlformats.org/officeDocument/2006/relationships/tags" Target="../tags/tag60.xml"/><Relationship Id="rId40" Type="http://schemas.openxmlformats.org/officeDocument/2006/relationships/tags" Target="../tags/tag59.xml"/><Relationship Id="rId4" Type="http://schemas.openxmlformats.org/officeDocument/2006/relationships/tags" Target="../tags/tag29.xml"/><Relationship Id="rId39" Type="http://schemas.openxmlformats.org/officeDocument/2006/relationships/tags" Target="../tags/tag58.xml"/><Relationship Id="rId38" Type="http://schemas.openxmlformats.org/officeDocument/2006/relationships/tags" Target="../tags/tag57.xml"/><Relationship Id="rId37" Type="http://schemas.openxmlformats.org/officeDocument/2006/relationships/tags" Target="../tags/tag56.xml"/><Relationship Id="rId36" Type="http://schemas.openxmlformats.org/officeDocument/2006/relationships/tags" Target="../tags/tag55.xml"/><Relationship Id="rId35" Type="http://schemas.openxmlformats.org/officeDocument/2006/relationships/tags" Target="../tags/tag54.xml"/><Relationship Id="rId34" Type="http://schemas.openxmlformats.org/officeDocument/2006/relationships/tags" Target="../tags/tag53.xml"/><Relationship Id="rId33" Type="http://schemas.openxmlformats.org/officeDocument/2006/relationships/tags" Target="../tags/tag52.xml"/><Relationship Id="rId32" Type="http://schemas.openxmlformats.org/officeDocument/2006/relationships/tags" Target="../tags/tag51.xml"/><Relationship Id="rId31" Type="http://schemas.openxmlformats.org/officeDocument/2006/relationships/tags" Target="../tags/tag50.xml"/><Relationship Id="rId30" Type="http://schemas.openxmlformats.org/officeDocument/2006/relationships/tags" Target="../tags/tag49.xml"/><Relationship Id="rId3" Type="http://schemas.openxmlformats.org/officeDocument/2006/relationships/tags" Target="../tags/tag28.xml"/><Relationship Id="rId29" Type="http://schemas.openxmlformats.org/officeDocument/2006/relationships/tags" Target="../tags/tag48.xml"/><Relationship Id="rId28" Type="http://schemas.openxmlformats.org/officeDocument/2006/relationships/tags" Target="../tags/tag47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7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6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35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5" Type="http://schemas.openxmlformats.org/officeDocument/2006/relationships/slideLayout" Target="../slideLayouts/slideLayout7.xml"/><Relationship Id="rId44" Type="http://schemas.openxmlformats.org/officeDocument/2006/relationships/tags" Target="../tags/tag107.xml"/><Relationship Id="rId43" Type="http://schemas.openxmlformats.org/officeDocument/2006/relationships/tags" Target="../tags/tag106.xml"/><Relationship Id="rId42" Type="http://schemas.openxmlformats.org/officeDocument/2006/relationships/tags" Target="../tags/tag105.xml"/><Relationship Id="rId41" Type="http://schemas.openxmlformats.org/officeDocument/2006/relationships/tags" Target="../tags/tag104.xml"/><Relationship Id="rId40" Type="http://schemas.openxmlformats.org/officeDocument/2006/relationships/tags" Target="../tags/tag103.xml"/><Relationship Id="rId4" Type="http://schemas.openxmlformats.org/officeDocument/2006/relationships/tags" Target="../tags/tag67.xml"/><Relationship Id="rId39" Type="http://schemas.openxmlformats.org/officeDocument/2006/relationships/tags" Target="../tags/tag102.xml"/><Relationship Id="rId38" Type="http://schemas.openxmlformats.org/officeDocument/2006/relationships/tags" Target="../tags/tag101.xml"/><Relationship Id="rId37" Type="http://schemas.openxmlformats.org/officeDocument/2006/relationships/tags" Target="../tags/tag100.xml"/><Relationship Id="rId36" Type="http://schemas.openxmlformats.org/officeDocument/2006/relationships/tags" Target="../tags/tag99.xml"/><Relationship Id="rId35" Type="http://schemas.openxmlformats.org/officeDocument/2006/relationships/tags" Target="../tags/tag98.xml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211.xml"/><Relationship Id="rId55" Type="http://schemas.openxmlformats.org/officeDocument/2006/relationships/tags" Target="../tags/tag210.xml"/><Relationship Id="rId54" Type="http://schemas.openxmlformats.org/officeDocument/2006/relationships/tags" Target="../tags/tag209.xml"/><Relationship Id="rId53" Type="http://schemas.openxmlformats.org/officeDocument/2006/relationships/tags" Target="../tags/tag208.xml"/><Relationship Id="rId52" Type="http://schemas.openxmlformats.org/officeDocument/2006/relationships/tags" Target="../tags/tag207.xml"/><Relationship Id="rId51" Type="http://schemas.openxmlformats.org/officeDocument/2006/relationships/tags" Target="../tags/tag206.xml"/><Relationship Id="rId50" Type="http://schemas.openxmlformats.org/officeDocument/2006/relationships/tags" Target="../tags/tag205.xml"/><Relationship Id="rId5" Type="http://schemas.openxmlformats.org/officeDocument/2006/relationships/tags" Target="../tags/tag160.xml"/><Relationship Id="rId49" Type="http://schemas.openxmlformats.org/officeDocument/2006/relationships/tags" Target="../tags/tag204.xml"/><Relationship Id="rId48" Type="http://schemas.openxmlformats.org/officeDocument/2006/relationships/tags" Target="../tags/tag203.xml"/><Relationship Id="rId47" Type="http://schemas.openxmlformats.org/officeDocument/2006/relationships/tags" Target="../tags/tag202.xml"/><Relationship Id="rId46" Type="http://schemas.openxmlformats.org/officeDocument/2006/relationships/tags" Target="../tags/tag201.xml"/><Relationship Id="rId45" Type="http://schemas.openxmlformats.org/officeDocument/2006/relationships/tags" Target="../tags/tag200.xml"/><Relationship Id="rId44" Type="http://schemas.openxmlformats.org/officeDocument/2006/relationships/tags" Target="../tags/tag199.xml"/><Relationship Id="rId43" Type="http://schemas.openxmlformats.org/officeDocument/2006/relationships/tags" Target="../tags/tag198.xml"/><Relationship Id="rId42" Type="http://schemas.openxmlformats.org/officeDocument/2006/relationships/tags" Target="../tags/tag197.xml"/><Relationship Id="rId41" Type="http://schemas.openxmlformats.org/officeDocument/2006/relationships/tags" Target="../tags/tag196.xml"/><Relationship Id="rId40" Type="http://schemas.openxmlformats.org/officeDocument/2006/relationships/tags" Target="../tags/tag195.xml"/><Relationship Id="rId4" Type="http://schemas.openxmlformats.org/officeDocument/2006/relationships/tags" Target="../tags/tag159.xml"/><Relationship Id="rId39" Type="http://schemas.openxmlformats.org/officeDocument/2006/relationships/tags" Target="../tags/tag194.xml"/><Relationship Id="rId38" Type="http://schemas.openxmlformats.org/officeDocument/2006/relationships/tags" Target="../tags/tag193.xml"/><Relationship Id="rId37" Type="http://schemas.openxmlformats.org/officeDocument/2006/relationships/tags" Target="../tags/tag192.xml"/><Relationship Id="rId36" Type="http://schemas.openxmlformats.org/officeDocument/2006/relationships/tags" Target="../tags/tag191.xml"/><Relationship Id="rId35" Type="http://schemas.openxmlformats.org/officeDocument/2006/relationships/tags" Target="../tags/tag190.xml"/><Relationship Id="rId34" Type="http://schemas.openxmlformats.org/officeDocument/2006/relationships/tags" Target="../tags/tag189.xml"/><Relationship Id="rId33" Type="http://schemas.openxmlformats.org/officeDocument/2006/relationships/tags" Target="../tags/tag188.xml"/><Relationship Id="rId32" Type="http://schemas.openxmlformats.org/officeDocument/2006/relationships/tags" Target="../tags/tag187.xml"/><Relationship Id="rId31" Type="http://schemas.openxmlformats.org/officeDocument/2006/relationships/tags" Target="../tags/tag186.xml"/><Relationship Id="rId30" Type="http://schemas.openxmlformats.org/officeDocument/2006/relationships/tags" Target="../tags/tag185.xml"/><Relationship Id="rId3" Type="http://schemas.openxmlformats.org/officeDocument/2006/relationships/tags" Target="../tags/tag158.xml"/><Relationship Id="rId29" Type="http://schemas.openxmlformats.org/officeDocument/2006/relationships/tags" Target="../tags/tag184.xml"/><Relationship Id="rId28" Type="http://schemas.openxmlformats.org/officeDocument/2006/relationships/tags" Target="../tags/tag183.xml"/><Relationship Id="rId27" Type="http://schemas.openxmlformats.org/officeDocument/2006/relationships/tags" Target="../tags/tag182.xml"/><Relationship Id="rId26" Type="http://schemas.openxmlformats.org/officeDocument/2006/relationships/tags" Target="../tags/tag181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216.xml"/><Relationship Id="rId49" Type="http://schemas.openxmlformats.org/officeDocument/2006/relationships/tags" Target="../tags/tag260.xml"/><Relationship Id="rId48" Type="http://schemas.openxmlformats.org/officeDocument/2006/relationships/tags" Target="../tags/tag259.xml"/><Relationship Id="rId47" Type="http://schemas.openxmlformats.org/officeDocument/2006/relationships/tags" Target="../tags/tag258.xml"/><Relationship Id="rId46" Type="http://schemas.openxmlformats.org/officeDocument/2006/relationships/tags" Target="../tags/tag257.xml"/><Relationship Id="rId45" Type="http://schemas.openxmlformats.org/officeDocument/2006/relationships/tags" Target="../tags/tag256.xml"/><Relationship Id="rId44" Type="http://schemas.openxmlformats.org/officeDocument/2006/relationships/tags" Target="../tags/tag255.xml"/><Relationship Id="rId43" Type="http://schemas.openxmlformats.org/officeDocument/2006/relationships/tags" Target="../tags/tag254.xml"/><Relationship Id="rId42" Type="http://schemas.openxmlformats.org/officeDocument/2006/relationships/tags" Target="../tags/tag253.xml"/><Relationship Id="rId41" Type="http://schemas.openxmlformats.org/officeDocument/2006/relationships/tags" Target="../tags/tag252.xml"/><Relationship Id="rId40" Type="http://schemas.openxmlformats.org/officeDocument/2006/relationships/tags" Target="../tags/tag251.xml"/><Relationship Id="rId4" Type="http://schemas.openxmlformats.org/officeDocument/2006/relationships/tags" Target="../tags/tag215.xml"/><Relationship Id="rId39" Type="http://schemas.openxmlformats.org/officeDocument/2006/relationships/tags" Target="../tags/tag250.xml"/><Relationship Id="rId38" Type="http://schemas.openxmlformats.org/officeDocument/2006/relationships/tags" Target="../tags/tag249.xml"/><Relationship Id="rId37" Type="http://schemas.openxmlformats.org/officeDocument/2006/relationships/tags" Target="../tags/tag248.xml"/><Relationship Id="rId36" Type="http://schemas.openxmlformats.org/officeDocument/2006/relationships/tags" Target="../tags/tag247.xml"/><Relationship Id="rId35" Type="http://schemas.openxmlformats.org/officeDocument/2006/relationships/tags" Target="../tags/tag246.xml"/><Relationship Id="rId34" Type="http://schemas.openxmlformats.org/officeDocument/2006/relationships/tags" Target="../tags/tag245.xml"/><Relationship Id="rId33" Type="http://schemas.openxmlformats.org/officeDocument/2006/relationships/tags" Target="../tags/tag244.xml"/><Relationship Id="rId32" Type="http://schemas.openxmlformats.org/officeDocument/2006/relationships/tags" Target="../tags/tag243.xml"/><Relationship Id="rId31" Type="http://schemas.openxmlformats.org/officeDocument/2006/relationships/tags" Target="../tags/tag242.xml"/><Relationship Id="rId30" Type="http://schemas.openxmlformats.org/officeDocument/2006/relationships/tags" Target="../tags/tag241.xml"/><Relationship Id="rId3" Type="http://schemas.openxmlformats.org/officeDocument/2006/relationships/tags" Target="../tags/tag214.xml"/><Relationship Id="rId29" Type="http://schemas.openxmlformats.org/officeDocument/2006/relationships/tags" Target="../tags/tag240.xml"/><Relationship Id="rId28" Type="http://schemas.openxmlformats.org/officeDocument/2006/relationships/tags" Target="../tags/tag239.xml"/><Relationship Id="rId27" Type="http://schemas.openxmlformats.org/officeDocument/2006/relationships/tags" Target="../tags/tag238.xml"/><Relationship Id="rId26" Type="http://schemas.openxmlformats.org/officeDocument/2006/relationships/tags" Target="../tags/tag237.xml"/><Relationship Id="rId25" Type="http://schemas.openxmlformats.org/officeDocument/2006/relationships/tags" Target="../tags/tag236.xml"/><Relationship Id="rId24" Type="http://schemas.openxmlformats.org/officeDocument/2006/relationships/tags" Target="../tags/tag235.xml"/><Relationship Id="rId23" Type="http://schemas.openxmlformats.org/officeDocument/2006/relationships/tags" Target="../tags/tag234.xml"/><Relationship Id="rId22" Type="http://schemas.openxmlformats.org/officeDocument/2006/relationships/tags" Target="../tags/tag233.xml"/><Relationship Id="rId21" Type="http://schemas.openxmlformats.org/officeDocument/2006/relationships/tags" Target="../tags/tag232.xml"/><Relationship Id="rId20" Type="http://schemas.openxmlformats.org/officeDocument/2006/relationships/tags" Target="../tags/tag231.xml"/><Relationship Id="rId2" Type="http://schemas.openxmlformats.org/officeDocument/2006/relationships/tags" Target="../tags/tag213.xml"/><Relationship Id="rId19" Type="http://schemas.openxmlformats.org/officeDocument/2006/relationships/tags" Target="../tags/tag230.xml"/><Relationship Id="rId18" Type="http://schemas.openxmlformats.org/officeDocument/2006/relationships/tags" Target="../tags/tag229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4" Type="http://schemas.openxmlformats.org/officeDocument/2006/relationships/slideLayout" Target="../slideLayouts/slideLayout7.xml"/><Relationship Id="rId53" Type="http://schemas.openxmlformats.org/officeDocument/2006/relationships/tags" Target="../tags/tag313.xml"/><Relationship Id="rId52" Type="http://schemas.openxmlformats.org/officeDocument/2006/relationships/tags" Target="../tags/tag312.xml"/><Relationship Id="rId51" Type="http://schemas.openxmlformats.org/officeDocument/2006/relationships/tags" Target="../tags/tag311.xml"/><Relationship Id="rId50" Type="http://schemas.openxmlformats.org/officeDocument/2006/relationships/tags" Target="../tags/tag310.xml"/><Relationship Id="rId5" Type="http://schemas.openxmlformats.org/officeDocument/2006/relationships/tags" Target="../tags/tag265.xml"/><Relationship Id="rId49" Type="http://schemas.openxmlformats.org/officeDocument/2006/relationships/tags" Target="../tags/tag309.xml"/><Relationship Id="rId48" Type="http://schemas.openxmlformats.org/officeDocument/2006/relationships/tags" Target="../tags/tag308.xml"/><Relationship Id="rId47" Type="http://schemas.openxmlformats.org/officeDocument/2006/relationships/tags" Target="../tags/tag307.xml"/><Relationship Id="rId46" Type="http://schemas.openxmlformats.org/officeDocument/2006/relationships/tags" Target="../tags/tag306.xml"/><Relationship Id="rId45" Type="http://schemas.openxmlformats.org/officeDocument/2006/relationships/tags" Target="../tags/tag305.xml"/><Relationship Id="rId44" Type="http://schemas.openxmlformats.org/officeDocument/2006/relationships/tags" Target="../tags/tag304.xml"/><Relationship Id="rId43" Type="http://schemas.openxmlformats.org/officeDocument/2006/relationships/tags" Target="../tags/tag303.xml"/><Relationship Id="rId42" Type="http://schemas.openxmlformats.org/officeDocument/2006/relationships/tags" Target="../tags/tag302.xml"/><Relationship Id="rId41" Type="http://schemas.openxmlformats.org/officeDocument/2006/relationships/tags" Target="../tags/tag301.xml"/><Relationship Id="rId40" Type="http://schemas.openxmlformats.org/officeDocument/2006/relationships/tags" Target="../tags/tag300.xml"/><Relationship Id="rId4" Type="http://schemas.openxmlformats.org/officeDocument/2006/relationships/tags" Target="../tags/tag264.xml"/><Relationship Id="rId39" Type="http://schemas.openxmlformats.org/officeDocument/2006/relationships/tags" Target="../tags/tag299.xml"/><Relationship Id="rId38" Type="http://schemas.openxmlformats.org/officeDocument/2006/relationships/tags" Target="../tags/tag298.xml"/><Relationship Id="rId37" Type="http://schemas.openxmlformats.org/officeDocument/2006/relationships/tags" Target="../tags/tag297.xml"/><Relationship Id="rId36" Type="http://schemas.openxmlformats.org/officeDocument/2006/relationships/tags" Target="../tags/tag296.xml"/><Relationship Id="rId35" Type="http://schemas.openxmlformats.org/officeDocument/2006/relationships/tags" Target="../tags/tag295.xml"/><Relationship Id="rId34" Type="http://schemas.openxmlformats.org/officeDocument/2006/relationships/tags" Target="../tags/tag294.xml"/><Relationship Id="rId33" Type="http://schemas.openxmlformats.org/officeDocument/2006/relationships/tags" Target="../tags/tag293.xml"/><Relationship Id="rId32" Type="http://schemas.openxmlformats.org/officeDocument/2006/relationships/tags" Target="../tags/tag292.xml"/><Relationship Id="rId31" Type="http://schemas.openxmlformats.org/officeDocument/2006/relationships/tags" Target="../tags/tag291.xml"/><Relationship Id="rId30" Type="http://schemas.openxmlformats.org/officeDocument/2006/relationships/tags" Target="../tags/tag290.xml"/><Relationship Id="rId3" Type="http://schemas.openxmlformats.org/officeDocument/2006/relationships/tags" Target="../tags/tag263.xml"/><Relationship Id="rId29" Type="http://schemas.openxmlformats.org/officeDocument/2006/relationships/tags" Target="../tags/tag289.xml"/><Relationship Id="rId28" Type="http://schemas.openxmlformats.org/officeDocument/2006/relationships/tags" Target="../tags/tag288.xml"/><Relationship Id="rId27" Type="http://schemas.openxmlformats.org/officeDocument/2006/relationships/tags" Target="../tags/tag287.xml"/><Relationship Id="rId26" Type="http://schemas.openxmlformats.org/officeDocument/2006/relationships/tags" Target="../tags/tag286.xml"/><Relationship Id="rId25" Type="http://schemas.openxmlformats.org/officeDocument/2006/relationships/tags" Target="../tags/tag28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2" Type="http://schemas.openxmlformats.org/officeDocument/2006/relationships/slideLayout" Target="../slideLayouts/slideLayout7.xml"/><Relationship Id="rId51" Type="http://schemas.openxmlformats.org/officeDocument/2006/relationships/tags" Target="../tags/tag367.xml"/><Relationship Id="rId50" Type="http://schemas.openxmlformats.org/officeDocument/2006/relationships/tags" Target="../tags/tag366.xml"/><Relationship Id="rId5" Type="http://schemas.openxmlformats.org/officeDocument/2006/relationships/tags" Target="../tags/tag321.xml"/><Relationship Id="rId49" Type="http://schemas.openxmlformats.org/officeDocument/2006/relationships/tags" Target="../tags/tag365.xml"/><Relationship Id="rId48" Type="http://schemas.openxmlformats.org/officeDocument/2006/relationships/tags" Target="../tags/tag364.xml"/><Relationship Id="rId47" Type="http://schemas.openxmlformats.org/officeDocument/2006/relationships/tags" Target="../tags/tag363.xml"/><Relationship Id="rId46" Type="http://schemas.openxmlformats.org/officeDocument/2006/relationships/tags" Target="../tags/tag362.xml"/><Relationship Id="rId45" Type="http://schemas.openxmlformats.org/officeDocument/2006/relationships/tags" Target="../tags/tag361.xml"/><Relationship Id="rId44" Type="http://schemas.openxmlformats.org/officeDocument/2006/relationships/tags" Target="../tags/tag360.xml"/><Relationship Id="rId43" Type="http://schemas.openxmlformats.org/officeDocument/2006/relationships/tags" Target="../tags/tag359.xml"/><Relationship Id="rId42" Type="http://schemas.openxmlformats.org/officeDocument/2006/relationships/tags" Target="../tags/tag358.xml"/><Relationship Id="rId41" Type="http://schemas.openxmlformats.org/officeDocument/2006/relationships/tags" Target="../tags/tag357.xml"/><Relationship Id="rId40" Type="http://schemas.openxmlformats.org/officeDocument/2006/relationships/tags" Target="../tags/tag356.xml"/><Relationship Id="rId4" Type="http://schemas.openxmlformats.org/officeDocument/2006/relationships/tags" Target="../tags/tag320.xml"/><Relationship Id="rId39" Type="http://schemas.openxmlformats.org/officeDocument/2006/relationships/tags" Target="../tags/tag355.xml"/><Relationship Id="rId38" Type="http://schemas.openxmlformats.org/officeDocument/2006/relationships/tags" Target="../tags/tag354.xml"/><Relationship Id="rId37" Type="http://schemas.openxmlformats.org/officeDocument/2006/relationships/tags" Target="../tags/tag353.xml"/><Relationship Id="rId36" Type="http://schemas.openxmlformats.org/officeDocument/2006/relationships/tags" Target="../tags/tag352.xml"/><Relationship Id="rId35" Type="http://schemas.openxmlformats.org/officeDocument/2006/relationships/tags" Target="../tags/tag351.xml"/><Relationship Id="rId34" Type="http://schemas.openxmlformats.org/officeDocument/2006/relationships/tags" Target="../tags/tag350.xml"/><Relationship Id="rId33" Type="http://schemas.openxmlformats.org/officeDocument/2006/relationships/tags" Target="../tags/tag349.xml"/><Relationship Id="rId32" Type="http://schemas.openxmlformats.org/officeDocument/2006/relationships/tags" Target="../tags/tag348.xml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19.xml"/><Relationship Id="rId29" Type="http://schemas.openxmlformats.org/officeDocument/2006/relationships/tags" Target="../tags/tag345.xml"/><Relationship Id="rId28" Type="http://schemas.openxmlformats.org/officeDocument/2006/relationships/tags" Target="../tags/tag344.xml"/><Relationship Id="rId27" Type="http://schemas.openxmlformats.org/officeDocument/2006/relationships/tags" Target="../tags/tag343.xml"/><Relationship Id="rId26" Type="http://schemas.openxmlformats.org/officeDocument/2006/relationships/tags" Target="../tags/tag342.xml"/><Relationship Id="rId25" Type="http://schemas.openxmlformats.org/officeDocument/2006/relationships/tags" Target="../tags/tag341.xml"/><Relationship Id="rId24" Type="http://schemas.openxmlformats.org/officeDocument/2006/relationships/tags" Target="../tags/tag340.xml"/><Relationship Id="rId23" Type="http://schemas.openxmlformats.org/officeDocument/2006/relationships/tags" Target="../tags/tag339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openxmlformats.org/officeDocument/2006/relationships/tags" Target="../tags/tag318.xml"/><Relationship Id="rId19" Type="http://schemas.openxmlformats.org/officeDocument/2006/relationships/tags" Target="../tags/tag335.xml"/><Relationship Id="rId18" Type="http://schemas.openxmlformats.org/officeDocument/2006/relationships/tags" Target="../tags/tag334.xml"/><Relationship Id="rId17" Type="http://schemas.openxmlformats.org/officeDocument/2006/relationships/tags" Target="../tags/tag333.xml"/><Relationship Id="rId16" Type="http://schemas.openxmlformats.org/officeDocument/2006/relationships/tags" Target="../tags/tag332.xml"/><Relationship Id="rId15" Type="http://schemas.openxmlformats.org/officeDocument/2006/relationships/tags" Target="../tags/tag331.xml"/><Relationship Id="rId14" Type="http://schemas.openxmlformats.org/officeDocument/2006/relationships/tags" Target="../tags/tag330.xml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tags" Target="../tags/tag31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1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376.xml"/><Relationship Id="rId49" Type="http://schemas.openxmlformats.org/officeDocument/2006/relationships/tags" Target="../tags/tag420.xml"/><Relationship Id="rId48" Type="http://schemas.openxmlformats.org/officeDocument/2006/relationships/tags" Target="../tags/tag419.xml"/><Relationship Id="rId47" Type="http://schemas.openxmlformats.org/officeDocument/2006/relationships/tags" Target="../tags/tag418.xml"/><Relationship Id="rId46" Type="http://schemas.openxmlformats.org/officeDocument/2006/relationships/tags" Target="../tags/tag417.xml"/><Relationship Id="rId45" Type="http://schemas.openxmlformats.org/officeDocument/2006/relationships/tags" Target="../tags/tag416.xml"/><Relationship Id="rId44" Type="http://schemas.openxmlformats.org/officeDocument/2006/relationships/tags" Target="../tags/tag415.xml"/><Relationship Id="rId43" Type="http://schemas.openxmlformats.org/officeDocument/2006/relationships/tags" Target="../tags/tag414.xml"/><Relationship Id="rId42" Type="http://schemas.openxmlformats.org/officeDocument/2006/relationships/tags" Target="../tags/tag413.xml"/><Relationship Id="rId41" Type="http://schemas.openxmlformats.org/officeDocument/2006/relationships/tags" Target="../tags/tag412.xml"/><Relationship Id="rId40" Type="http://schemas.openxmlformats.org/officeDocument/2006/relationships/tags" Target="../tags/tag411.xml"/><Relationship Id="rId4" Type="http://schemas.openxmlformats.org/officeDocument/2006/relationships/tags" Target="../tags/tag375.xml"/><Relationship Id="rId39" Type="http://schemas.openxmlformats.org/officeDocument/2006/relationships/tags" Target="../tags/tag410.xml"/><Relationship Id="rId38" Type="http://schemas.openxmlformats.org/officeDocument/2006/relationships/tags" Target="../tags/tag409.xml"/><Relationship Id="rId37" Type="http://schemas.openxmlformats.org/officeDocument/2006/relationships/tags" Target="../tags/tag408.xml"/><Relationship Id="rId36" Type="http://schemas.openxmlformats.org/officeDocument/2006/relationships/tags" Target="../tags/tag407.xml"/><Relationship Id="rId35" Type="http://schemas.openxmlformats.org/officeDocument/2006/relationships/tags" Target="../tags/tag406.xml"/><Relationship Id="rId34" Type="http://schemas.openxmlformats.org/officeDocument/2006/relationships/tags" Target="../tags/tag405.xml"/><Relationship Id="rId33" Type="http://schemas.openxmlformats.org/officeDocument/2006/relationships/tags" Target="../tags/tag404.xml"/><Relationship Id="rId32" Type="http://schemas.openxmlformats.org/officeDocument/2006/relationships/tags" Target="../tags/tag403.xml"/><Relationship Id="rId31" Type="http://schemas.openxmlformats.org/officeDocument/2006/relationships/tags" Target="../tags/tag402.xml"/><Relationship Id="rId30" Type="http://schemas.openxmlformats.org/officeDocument/2006/relationships/tags" Target="../tags/tag401.xml"/><Relationship Id="rId3" Type="http://schemas.openxmlformats.org/officeDocument/2006/relationships/tags" Target="../tags/tag374.xml"/><Relationship Id="rId29" Type="http://schemas.openxmlformats.org/officeDocument/2006/relationships/tags" Target="../tags/tag400.xml"/><Relationship Id="rId28" Type="http://schemas.openxmlformats.org/officeDocument/2006/relationships/tags" Target="../tags/tag399.xml"/><Relationship Id="rId27" Type="http://schemas.openxmlformats.org/officeDocument/2006/relationships/tags" Target="../tags/tag398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3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tags" Target="../tags/tag37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" Type="http://schemas.openxmlformats.org/officeDocument/2006/relationships/tags" Target="../tags/tag422.xml"/><Relationship Id="rId1" Type="http://schemas.openxmlformats.org/officeDocument/2006/relationships/tags" Target="../tags/tag42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430.xml"/><Relationship Id="rId49" Type="http://schemas.openxmlformats.org/officeDocument/2006/relationships/tags" Target="../tags/tag474.xml"/><Relationship Id="rId48" Type="http://schemas.openxmlformats.org/officeDocument/2006/relationships/tags" Target="../tags/tag473.xml"/><Relationship Id="rId47" Type="http://schemas.openxmlformats.org/officeDocument/2006/relationships/tags" Target="../tags/tag472.xml"/><Relationship Id="rId46" Type="http://schemas.openxmlformats.org/officeDocument/2006/relationships/tags" Target="../tags/tag471.xml"/><Relationship Id="rId45" Type="http://schemas.openxmlformats.org/officeDocument/2006/relationships/tags" Target="../tags/tag470.xml"/><Relationship Id="rId44" Type="http://schemas.openxmlformats.org/officeDocument/2006/relationships/tags" Target="../tags/tag469.xml"/><Relationship Id="rId43" Type="http://schemas.openxmlformats.org/officeDocument/2006/relationships/tags" Target="../tags/tag468.xml"/><Relationship Id="rId42" Type="http://schemas.openxmlformats.org/officeDocument/2006/relationships/tags" Target="../tags/tag467.xml"/><Relationship Id="rId41" Type="http://schemas.openxmlformats.org/officeDocument/2006/relationships/tags" Target="../tags/tag466.xml"/><Relationship Id="rId40" Type="http://schemas.openxmlformats.org/officeDocument/2006/relationships/tags" Target="../tags/tag465.xml"/><Relationship Id="rId4" Type="http://schemas.openxmlformats.org/officeDocument/2006/relationships/tags" Target="../tags/tag429.xml"/><Relationship Id="rId39" Type="http://schemas.openxmlformats.org/officeDocument/2006/relationships/tags" Target="../tags/tag464.xml"/><Relationship Id="rId38" Type="http://schemas.openxmlformats.org/officeDocument/2006/relationships/tags" Target="../tags/tag463.xml"/><Relationship Id="rId37" Type="http://schemas.openxmlformats.org/officeDocument/2006/relationships/tags" Target="../tags/tag462.xml"/><Relationship Id="rId36" Type="http://schemas.openxmlformats.org/officeDocument/2006/relationships/tags" Target="../tags/tag461.xml"/><Relationship Id="rId35" Type="http://schemas.openxmlformats.org/officeDocument/2006/relationships/tags" Target="../tags/tag460.xml"/><Relationship Id="rId34" Type="http://schemas.openxmlformats.org/officeDocument/2006/relationships/tags" Target="../tags/tag459.xml"/><Relationship Id="rId33" Type="http://schemas.openxmlformats.org/officeDocument/2006/relationships/tags" Target="../tags/tag458.xml"/><Relationship Id="rId32" Type="http://schemas.openxmlformats.org/officeDocument/2006/relationships/tags" Target="../tags/tag457.xml"/><Relationship Id="rId31" Type="http://schemas.openxmlformats.org/officeDocument/2006/relationships/tags" Target="../tags/tag456.xml"/><Relationship Id="rId30" Type="http://schemas.openxmlformats.org/officeDocument/2006/relationships/tags" Target="../tags/tag455.xml"/><Relationship Id="rId3" Type="http://schemas.openxmlformats.org/officeDocument/2006/relationships/tags" Target="../tags/tag428.xml"/><Relationship Id="rId29" Type="http://schemas.openxmlformats.org/officeDocument/2006/relationships/tags" Target="../tags/tag454.xml"/><Relationship Id="rId28" Type="http://schemas.openxmlformats.org/officeDocument/2006/relationships/tags" Target="../tags/tag453.xml"/><Relationship Id="rId27" Type="http://schemas.openxmlformats.org/officeDocument/2006/relationships/tags" Target="../tags/tag452.xml"/><Relationship Id="rId26" Type="http://schemas.openxmlformats.org/officeDocument/2006/relationships/tags" Target="../tags/tag451.xml"/><Relationship Id="rId25" Type="http://schemas.openxmlformats.org/officeDocument/2006/relationships/tags" Target="../tags/tag450.xml"/><Relationship Id="rId24" Type="http://schemas.openxmlformats.org/officeDocument/2006/relationships/tags" Target="../tags/tag449.xml"/><Relationship Id="rId23" Type="http://schemas.openxmlformats.org/officeDocument/2006/relationships/tags" Target="../tags/tag448.xml"/><Relationship Id="rId22" Type="http://schemas.openxmlformats.org/officeDocument/2006/relationships/tags" Target="../tags/tag447.xml"/><Relationship Id="rId21" Type="http://schemas.openxmlformats.org/officeDocument/2006/relationships/tags" Target="../tags/tag446.xml"/><Relationship Id="rId20" Type="http://schemas.openxmlformats.org/officeDocument/2006/relationships/tags" Target="../tags/tag445.xml"/><Relationship Id="rId2" Type="http://schemas.openxmlformats.org/officeDocument/2006/relationships/tags" Target="../tags/tag427.xml"/><Relationship Id="rId19" Type="http://schemas.openxmlformats.org/officeDocument/2006/relationships/tags" Target="../tags/tag444.xml"/><Relationship Id="rId18" Type="http://schemas.openxmlformats.org/officeDocument/2006/relationships/tags" Target="../tags/tag443.xml"/><Relationship Id="rId17" Type="http://schemas.openxmlformats.org/officeDocument/2006/relationships/tags" Target="../tags/tag442.xml"/><Relationship Id="rId16" Type="http://schemas.openxmlformats.org/officeDocument/2006/relationships/tags" Target="../tags/tag441.xml"/><Relationship Id="rId15" Type="http://schemas.openxmlformats.org/officeDocument/2006/relationships/tags" Target="../tags/tag440.xml"/><Relationship Id="rId14" Type="http://schemas.openxmlformats.org/officeDocument/2006/relationships/tags" Target="../tags/tag439.xml"/><Relationship Id="rId13" Type="http://schemas.openxmlformats.org/officeDocument/2006/relationships/tags" Target="../tags/tag438.xml"/><Relationship Id="rId12" Type="http://schemas.openxmlformats.org/officeDocument/2006/relationships/tags" Target="../tags/tag437.xml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tags" Target="../tags/tag42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83.xml"/><Relationship Id="rId8" Type="http://schemas.openxmlformats.org/officeDocument/2006/relationships/tags" Target="../tags/tag482.xml"/><Relationship Id="rId78" Type="http://schemas.openxmlformats.org/officeDocument/2006/relationships/slideLayout" Target="../slideLayouts/slideLayout7.xml"/><Relationship Id="rId77" Type="http://schemas.openxmlformats.org/officeDocument/2006/relationships/tags" Target="../tags/tag551.xml"/><Relationship Id="rId76" Type="http://schemas.openxmlformats.org/officeDocument/2006/relationships/tags" Target="../tags/tag550.xml"/><Relationship Id="rId75" Type="http://schemas.openxmlformats.org/officeDocument/2006/relationships/tags" Target="../tags/tag549.xml"/><Relationship Id="rId74" Type="http://schemas.openxmlformats.org/officeDocument/2006/relationships/tags" Target="../tags/tag548.xml"/><Relationship Id="rId73" Type="http://schemas.openxmlformats.org/officeDocument/2006/relationships/tags" Target="../tags/tag547.xml"/><Relationship Id="rId72" Type="http://schemas.openxmlformats.org/officeDocument/2006/relationships/tags" Target="../tags/tag546.xml"/><Relationship Id="rId71" Type="http://schemas.openxmlformats.org/officeDocument/2006/relationships/tags" Target="../tags/tag545.xml"/><Relationship Id="rId70" Type="http://schemas.openxmlformats.org/officeDocument/2006/relationships/tags" Target="../tags/tag544.xml"/><Relationship Id="rId7" Type="http://schemas.openxmlformats.org/officeDocument/2006/relationships/tags" Target="../tags/tag481.xml"/><Relationship Id="rId69" Type="http://schemas.openxmlformats.org/officeDocument/2006/relationships/tags" Target="../tags/tag543.xml"/><Relationship Id="rId68" Type="http://schemas.openxmlformats.org/officeDocument/2006/relationships/tags" Target="../tags/tag542.xml"/><Relationship Id="rId67" Type="http://schemas.openxmlformats.org/officeDocument/2006/relationships/tags" Target="../tags/tag541.xml"/><Relationship Id="rId66" Type="http://schemas.openxmlformats.org/officeDocument/2006/relationships/tags" Target="../tags/tag540.xml"/><Relationship Id="rId65" Type="http://schemas.openxmlformats.org/officeDocument/2006/relationships/tags" Target="../tags/tag539.xml"/><Relationship Id="rId64" Type="http://schemas.openxmlformats.org/officeDocument/2006/relationships/tags" Target="../tags/tag538.xml"/><Relationship Id="rId63" Type="http://schemas.openxmlformats.org/officeDocument/2006/relationships/tags" Target="../tags/tag537.xml"/><Relationship Id="rId62" Type="http://schemas.openxmlformats.org/officeDocument/2006/relationships/tags" Target="../tags/tag536.xml"/><Relationship Id="rId61" Type="http://schemas.openxmlformats.org/officeDocument/2006/relationships/tags" Target="../tags/tag535.xml"/><Relationship Id="rId60" Type="http://schemas.openxmlformats.org/officeDocument/2006/relationships/tags" Target="../tags/tag534.xml"/><Relationship Id="rId6" Type="http://schemas.openxmlformats.org/officeDocument/2006/relationships/tags" Target="../tags/tag480.xml"/><Relationship Id="rId59" Type="http://schemas.openxmlformats.org/officeDocument/2006/relationships/tags" Target="../tags/tag533.xml"/><Relationship Id="rId58" Type="http://schemas.openxmlformats.org/officeDocument/2006/relationships/tags" Target="../tags/tag532.xml"/><Relationship Id="rId57" Type="http://schemas.openxmlformats.org/officeDocument/2006/relationships/tags" Target="../tags/tag531.xml"/><Relationship Id="rId56" Type="http://schemas.openxmlformats.org/officeDocument/2006/relationships/tags" Target="../tags/tag530.xml"/><Relationship Id="rId55" Type="http://schemas.openxmlformats.org/officeDocument/2006/relationships/tags" Target="../tags/tag529.xml"/><Relationship Id="rId54" Type="http://schemas.openxmlformats.org/officeDocument/2006/relationships/tags" Target="../tags/tag528.xml"/><Relationship Id="rId53" Type="http://schemas.openxmlformats.org/officeDocument/2006/relationships/tags" Target="../tags/tag527.xml"/><Relationship Id="rId52" Type="http://schemas.openxmlformats.org/officeDocument/2006/relationships/tags" Target="../tags/tag526.xml"/><Relationship Id="rId51" Type="http://schemas.openxmlformats.org/officeDocument/2006/relationships/tags" Target="../tags/tag525.xml"/><Relationship Id="rId50" Type="http://schemas.openxmlformats.org/officeDocument/2006/relationships/tags" Target="../tags/tag524.xml"/><Relationship Id="rId5" Type="http://schemas.openxmlformats.org/officeDocument/2006/relationships/tags" Target="../tags/tag479.xml"/><Relationship Id="rId49" Type="http://schemas.openxmlformats.org/officeDocument/2006/relationships/tags" Target="../tags/tag523.xml"/><Relationship Id="rId48" Type="http://schemas.openxmlformats.org/officeDocument/2006/relationships/tags" Target="../tags/tag522.xml"/><Relationship Id="rId47" Type="http://schemas.openxmlformats.org/officeDocument/2006/relationships/tags" Target="../tags/tag521.xml"/><Relationship Id="rId46" Type="http://schemas.openxmlformats.org/officeDocument/2006/relationships/tags" Target="../tags/tag520.xml"/><Relationship Id="rId45" Type="http://schemas.openxmlformats.org/officeDocument/2006/relationships/tags" Target="../tags/tag519.xml"/><Relationship Id="rId44" Type="http://schemas.openxmlformats.org/officeDocument/2006/relationships/tags" Target="../tags/tag518.xml"/><Relationship Id="rId43" Type="http://schemas.openxmlformats.org/officeDocument/2006/relationships/tags" Target="../tags/tag517.xml"/><Relationship Id="rId42" Type="http://schemas.openxmlformats.org/officeDocument/2006/relationships/tags" Target="../tags/tag516.xml"/><Relationship Id="rId41" Type="http://schemas.openxmlformats.org/officeDocument/2006/relationships/tags" Target="../tags/tag515.xml"/><Relationship Id="rId40" Type="http://schemas.openxmlformats.org/officeDocument/2006/relationships/tags" Target="../tags/tag514.xml"/><Relationship Id="rId4" Type="http://schemas.openxmlformats.org/officeDocument/2006/relationships/tags" Target="../tags/tag478.xml"/><Relationship Id="rId39" Type="http://schemas.openxmlformats.org/officeDocument/2006/relationships/tags" Target="../tags/tag513.xml"/><Relationship Id="rId38" Type="http://schemas.openxmlformats.org/officeDocument/2006/relationships/tags" Target="../tags/tag512.xml"/><Relationship Id="rId37" Type="http://schemas.openxmlformats.org/officeDocument/2006/relationships/tags" Target="../tags/tag511.xml"/><Relationship Id="rId36" Type="http://schemas.openxmlformats.org/officeDocument/2006/relationships/tags" Target="../tags/tag510.xml"/><Relationship Id="rId35" Type="http://schemas.openxmlformats.org/officeDocument/2006/relationships/tags" Target="../tags/tag509.xml"/><Relationship Id="rId34" Type="http://schemas.openxmlformats.org/officeDocument/2006/relationships/tags" Target="../tags/tag508.xml"/><Relationship Id="rId33" Type="http://schemas.openxmlformats.org/officeDocument/2006/relationships/tags" Target="../tags/tag507.xml"/><Relationship Id="rId32" Type="http://schemas.openxmlformats.org/officeDocument/2006/relationships/tags" Target="../tags/tag506.xml"/><Relationship Id="rId31" Type="http://schemas.openxmlformats.org/officeDocument/2006/relationships/tags" Target="../tags/tag505.xml"/><Relationship Id="rId30" Type="http://schemas.openxmlformats.org/officeDocument/2006/relationships/tags" Target="../tags/tag504.xml"/><Relationship Id="rId3" Type="http://schemas.openxmlformats.org/officeDocument/2006/relationships/tags" Target="../tags/tag477.xml"/><Relationship Id="rId29" Type="http://schemas.openxmlformats.org/officeDocument/2006/relationships/tags" Target="../tags/tag503.xml"/><Relationship Id="rId28" Type="http://schemas.openxmlformats.org/officeDocument/2006/relationships/tags" Target="../tags/tag502.xml"/><Relationship Id="rId27" Type="http://schemas.openxmlformats.org/officeDocument/2006/relationships/tags" Target="../tags/tag501.xml"/><Relationship Id="rId26" Type="http://schemas.openxmlformats.org/officeDocument/2006/relationships/tags" Target="../tags/tag500.xml"/><Relationship Id="rId25" Type="http://schemas.openxmlformats.org/officeDocument/2006/relationships/tags" Target="../tags/tag499.xml"/><Relationship Id="rId24" Type="http://schemas.openxmlformats.org/officeDocument/2006/relationships/tags" Target="../tags/tag498.xml"/><Relationship Id="rId23" Type="http://schemas.openxmlformats.org/officeDocument/2006/relationships/tags" Target="../tags/tag497.xml"/><Relationship Id="rId22" Type="http://schemas.openxmlformats.org/officeDocument/2006/relationships/tags" Target="../tags/tag496.xml"/><Relationship Id="rId21" Type="http://schemas.openxmlformats.org/officeDocument/2006/relationships/tags" Target="../tags/tag495.xml"/><Relationship Id="rId20" Type="http://schemas.openxmlformats.org/officeDocument/2006/relationships/tags" Target="../tags/tag494.xml"/><Relationship Id="rId2" Type="http://schemas.openxmlformats.org/officeDocument/2006/relationships/tags" Target="../tags/tag476.xml"/><Relationship Id="rId19" Type="http://schemas.openxmlformats.org/officeDocument/2006/relationships/tags" Target="../tags/tag493.xml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tags" Target="../tags/tag485.xml"/><Relationship Id="rId10" Type="http://schemas.openxmlformats.org/officeDocument/2006/relationships/tags" Target="../tags/tag484.xml"/><Relationship Id="rId1" Type="http://schemas.openxmlformats.org/officeDocument/2006/relationships/tags" Target="../tags/tag475.xml"/></Relationships>
</file>

<file path=ppt/slides/_rels/slide19.xml.rels><?xml version="1.0" encoding="UTF-8" standalone="yes"?>
<Relationships xmlns="http://schemas.openxmlformats.org/package/2006/relationships"><Relationship Id="rId99" Type="http://schemas.openxmlformats.org/officeDocument/2006/relationships/tags" Target="../tags/tag647.xml"/><Relationship Id="rId98" Type="http://schemas.openxmlformats.org/officeDocument/2006/relationships/tags" Target="../tags/tag646.xml"/><Relationship Id="rId97" Type="http://schemas.openxmlformats.org/officeDocument/2006/relationships/tags" Target="../tags/tag645.xml"/><Relationship Id="rId96" Type="http://schemas.openxmlformats.org/officeDocument/2006/relationships/tags" Target="../tags/tag644.xml"/><Relationship Id="rId95" Type="http://schemas.openxmlformats.org/officeDocument/2006/relationships/tags" Target="../tags/tag643.xml"/><Relationship Id="rId94" Type="http://schemas.openxmlformats.org/officeDocument/2006/relationships/tags" Target="../tags/tag642.xml"/><Relationship Id="rId93" Type="http://schemas.openxmlformats.org/officeDocument/2006/relationships/tags" Target="../tags/tag641.xml"/><Relationship Id="rId92" Type="http://schemas.openxmlformats.org/officeDocument/2006/relationships/tags" Target="../tags/tag640.xml"/><Relationship Id="rId91" Type="http://schemas.openxmlformats.org/officeDocument/2006/relationships/tags" Target="../tags/tag639.xml"/><Relationship Id="rId90" Type="http://schemas.openxmlformats.org/officeDocument/2006/relationships/tags" Target="../tags/tag638.xml"/><Relationship Id="rId9" Type="http://schemas.openxmlformats.org/officeDocument/2006/relationships/tags" Target="../tags/tag560.xml"/><Relationship Id="rId89" Type="http://schemas.openxmlformats.org/officeDocument/2006/relationships/tags" Target="../tags/tag637.xml"/><Relationship Id="rId88" Type="http://schemas.openxmlformats.org/officeDocument/2006/relationships/tags" Target="../tags/tag636.xml"/><Relationship Id="rId87" Type="http://schemas.openxmlformats.org/officeDocument/2006/relationships/tags" Target="../tags/tag635.xml"/><Relationship Id="rId86" Type="http://schemas.openxmlformats.org/officeDocument/2006/relationships/tags" Target="../tags/tag634.xml"/><Relationship Id="rId85" Type="http://schemas.openxmlformats.org/officeDocument/2006/relationships/tags" Target="../tags/tag633.xml"/><Relationship Id="rId84" Type="http://schemas.openxmlformats.org/officeDocument/2006/relationships/tags" Target="../tags/tag632.xml"/><Relationship Id="rId83" Type="http://schemas.openxmlformats.org/officeDocument/2006/relationships/tags" Target="../tags/tag631.xml"/><Relationship Id="rId82" Type="http://schemas.openxmlformats.org/officeDocument/2006/relationships/tags" Target="../tags/tag630.xml"/><Relationship Id="rId81" Type="http://schemas.openxmlformats.org/officeDocument/2006/relationships/tags" Target="../tags/tag629.xml"/><Relationship Id="rId80" Type="http://schemas.openxmlformats.org/officeDocument/2006/relationships/tags" Target="../tags/tag628.xml"/><Relationship Id="rId8" Type="http://schemas.openxmlformats.org/officeDocument/2006/relationships/tags" Target="../tags/tag559.xml"/><Relationship Id="rId79" Type="http://schemas.openxmlformats.org/officeDocument/2006/relationships/tags" Target="../tags/tag627.xml"/><Relationship Id="rId78" Type="http://schemas.openxmlformats.org/officeDocument/2006/relationships/tags" Target="../tags/tag626.xml"/><Relationship Id="rId77" Type="http://schemas.openxmlformats.org/officeDocument/2006/relationships/tags" Target="../tags/tag625.xml"/><Relationship Id="rId76" Type="http://schemas.openxmlformats.org/officeDocument/2006/relationships/tags" Target="../tags/tag624.xml"/><Relationship Id="rId75" Type="http://schemas.openxmlformats.org/officeDocument/2006/relationships/tags" Target="../tags/tag623.xml"/><Relationship Id="rId74" Type="http://schemas.openxmlformats.org/officeDocument/2006/relationships/tags" Target="../tags/tag622.xml"/><Relationship Id="rId73" Type="http://schemas.openxmlformats.org/officeDocument/2006/relationships/tags" Target="../tags/tag621.xml"/><Relationship Id="rId72" Type="http://schemas.openxmlformats.org/officeDocument/2006/relationships/tags" Target="../tags/tag620.xml"/><Relationship Id="rId71" Type="http://schemas.openxmlformats.org/officeDocument/2006/relationships/tags" Target="../tags/tag619.xml"/><Relationship Id="rId70" Type="http://schemas.openxmlformats.org/officeDocument/2006/relationships/tags" Target="../tags/tag618.xml"/><Relationship Id="rId7" Type="http://schemas.openxmlformats.org/officeDocument/2006/relationships/tags" Target="../tags/tag558.xml"/><Relationship Id="rId69" Type="http://schemas.openxmlformats.org/officeDocument/2006/relationships/tags" Target="../tags/tag617.xml"/><Relationship Id="rId68" Type="http://schemas.openxmlformats.org/officeDocument/2006/relationships/tags" Target="../tags/tag616.xml"/><Relationship Id="rId67" Type="http://schemas.openxmlformats.org/officeDocument/2006/relationships/tags" Target="../tags/tag615.xml"/><Relationship Id="rId66" Type="http://schemas.openxmlformats.org/officeDocument/2006/relationships/tags" Target="../tags/tag614.xml"/><Relationship Id="rId65" Type="http://schemas.openxmlformats.org/officeDocument/2006/relationships/tags" Target="../tags/tag613.xml"/><Relationship Id="rId64" Type="http://schemas.openxmlformats.org/officeDocument/2006/relationships/tags" Target="../tags/tag612.xml"/><Relationship Id="rId63" Type="http://schemas.openxmlformats.org/officeDocument/2006/relationships/tags" Target="../tags/tag611.xml"/><Relationship Id="rId62" Type="http://schemas.openxmlformats.org/officeDocument/2006/relationships/tags" Target="../tags/tag610.xml"/><Relationship Id="rId61" Type="http://schemas.openxmlformats.org/officeDocument/2006/relationships/tags" Target="../tags/tag609.xml"/><Relationship Id="rId60" Type="http://schemas.openxmlformats.org/officeDocument/2006/relationships/tags" Target="../tags/tag608.xml"/><Relationship Id="rId6" Type="http://schemas.openxmlformats.org/officeDocument/2006/relationships/tags" Target="../tags/tag557.xml"/><Relationship Id="rId59" Type="http://schemas.openxmlformats.org/officeDocument/2006/relationships/tags" Target="../tags/tag607.xml"/><Relationship Id="rId58" Type="http://schemas.openxmlformats.org/officeDocument/2006/relationships/tags" Target="../tags/tag606.xml"/><Relationship Id="rId57" Type="http://schemas.openxmlformats.org/officeDocument/2006/relationships/tags" Target="../tags/tag605.xml"/><Relationship Id="rId56" Type="http://schemas.openxmlformats.org/officeDocument/2006/relationships/tags" Target="../tags/tag604.xml"/><Relationship Id="rId55" Type="http://schemas.openxmlformats.org/officeDocument/2006/relationships/tags" Target="../tags/tag603.xml"/><Relationship Id="rId54" Type="http://schemas.openxmlformats.org/officeDocument/2006/relationships/tags" Target="../tags/tag602.xml"/><Relationship Id="rId53" Type="http://schemas.openxmlformats.org/officeDocument/2006/relationships/tags" Target="../tags/tag601.xml"/><Relationship Id="rId52" Type="http://schemas.openxmlformats.org/officeDocument/2006/relationships/tags" Target="../tags/tag600.xml"/><Relationship Id="rId51" Type="http://schemas.openxmlformats.org/officeDocument/2006/relationships/image" Target="../media/image13.png"/><Relationship Id="rId50" Type="http://schemas.openxmlformats.org/officeDocument/2006/relationships/tags" Target="../tags/tag599.xml"/><Relationship Id="rId5" Type="http://schemas.openxmlformats.org/officeDocument/2006/relationships/tags" Target="../tags/tag556.xml"/><Relationship Id="rId49" Type="http://schemas.openxmlformats.org/officeDocument/2006/relationships/image" Target="../media/image12.png"/><Relationship Id="rId48" Type="http://schemas.openxmlformats.org/officeDocument/2006/relationships/tags" Target="../tags/tag598.xml"/><Relationship Id="rId47" Type="http://schemas.openxmlformats.org/officeDocument/2006/relationships/image" Target="../media/image11.png"/><Relationship Id="rId46" Type="http://schemas.openxmlformats.org/officeDocument/2006/relationships/tags" Target="../tags/tag597.xml"/><Relationship Id="rId45" Type="http://schemas.openxmlformats.org/officeDocument/2006/relationships/tags" Target="../tags/tag596.xml"/><Relationship Id="rId44" Type="http://schemas.openxmlformats.org/officeDocument/2006/relationships/tags" Target="../tags/tag595.xml"/><Relationship Id="rId43" Type="http://schemas.openxmlformats.org/officeDocument/2006/relationships/tags" Target="../tags/tag594.xml"/><Relationship Id="rId42" Type="http://schemas.openxmlformats.org/officeDocument/2006/relationships/tags" Target="../tags/tag593.xml"/><Relationship Id="rId41" Type="http://schemas.openxmlformats.org/officeDocument/2006/relationships/tags" Target="../tags/tag592.xml"/><Relationship Id="rId40" Type="http://schemas.openxmlformats.org/officeDocument/2006/relationships/tags" Target="../tags/tag591.xml"/><Relationship Id="rId4" Type="http://schemas.openxmlformats.org/officeDocument/2006/relationships/tags" Target="../tags/tag555.xml"/><Relationship Id="rId39" Type="http://schemas.openxmlformats.org/officeDocument/2006/relationships/tags" Target="../tags/tag590.xml"/><Relationship Id="rId38" Type="http://schemas.openxmlformats.org/officeDocument/2006/relationships/tags" Target="../tags/tag589.xml"/><Relationship Id="rId37" Type="http://schemas.openxmlformats.org/officeDocument/2006/relationships/tags" Target="../tags/tag588.xml"/><Relationship Id="rId36" Type="http://schemas.openxmlformats.org/officeDocument/2006/relationships/tags" Target="../tags/tag587.xml"/><Relationship Id="rId35" Type="http://schemas.openxmlformats.org/officeDocument/2006/relationships/tags" Target="../tags/tag586.xml"/><Relationship Id="rId34" Type="http://schemas.openxmlformats.org/officeDocument/2006/relationships/tags" Target="../tags/tag585.xml"/><Relationship Id="rId33" Type="http://schemas.openxmlformats.org/officeDocument/2006/relationships/tags" Target="../tags/tag584.xml"/><Relationship Id="rId32" Type="http://schemas.openxmlformats.org/officeDocument/2006/relationships/tags" Target="../tags/tag583.xml"/><Relationship Id="rId31" Type="http://schemas.openxmlformats.org/officeDocument/2006/relationships/tags" Target="../tags/tag582.xml"/><Relationship Id="rId30" Type="http://schemas.openxmlformats.org/officeDocument/2006/relationships/tags" Target="../tags/tag581.xml"/><Relationship Id="rId3" Type="http://schemas.openxmlformats.org/officeDocument/2006/relationships/tags" Target="../tags/tag554.xml"/><Relationship Id="rId29" Type="http://schemas.openxmlformats.org/officeDocument/2006/relationships/tags" Target="../tags/tag580.xml"/><Relationship Id="rId28" Type="http://schemas.openxmlformats.org/officeDocument/2006/relationships/tags" Target="../tags/tag579.xml"/><Relationship Id="rId27" Type="http://schemas.openxmlformats.org/officeDocument/2006/relationships/tags" Target="../tags/tag578.xml"/><Relationship Id="rId26" Type="http://schemas.openxmlformats.org/officeDocument/2006/relationships/tags" Target="../tags/tag577.xml"/><Relationship Id="rId25" Type="http://schemas.openxmlformats.org/officeDocument/2006/relationships/tags" Target="../tags/tag576.xml"/><Relationship Id="rId24" Type="http://schemas.openxmlformats.org/officeDocument/2006/relationships/tags" Target="../tags/tag575.xml"/><Relationship Id="rId23" Type="http://schemas.openxmlformats.org/officeDocument/2006/relationships/tags" Target="../tags/tag574.xml"/><Relationship Id="rId22" Type="http://schemas.openxmlformats.org/officeDocument/2006/relationships/tags" Target="../tags/tag573.xml"/><Relationship Id="rId21" Type="http://schemas.openxmlformats.org/officeDocument/2006/relationships/tags" Target="../tags/tag572.xml"/><Relationship Id="rId20" Type="http://schemas.openxmlformats.org/officeDocument/2006/relationships/tags" Target="../tags/tag571.xml"/><Relationship Id="rId2" Type="http://schemas.openxmlformats.org/officeDocument/2006/relationships/tags" Target="../tags/tag553.xml"/><Relationship Id="rId19" Type="http://schemas.openxmlformats.org/officeDocument/2006/relationships/tags" Target="../tags/tag570.xml"/><Relationship Id="rId18" Type="http://schemas.openxmlformats.org/officeDocument/2006/relationships/tags" Target="../tags/tag569.xml"/><Relationship Id="rId175" Type="http://schemas.openxmlformats.org/officeDocument/2006/relationships/slideLayout" Target="../slideLayouts/slideLayout7.xml"/><Relationship Id="rId174" Type="http://schemas.openxmlformats.org/officeDocument/2006/relationships/tags" Target="../tags/tag722.xml"/><Relationship Id="rId173" Type="http://schemas.openxmlformats.org/officeDocument/2006/relationships/tags" Target="../tags/tag721.xml"/><Relationship Id="rId172" Type="http://schemas.openxmlformats.org/officeDocument/2006/relationships/tags" Target="../tags/tag720.xml"/><Relationship Id="rId171" Type="http://schemas.openxmlformats.org/officeDocument/2006/relationships/tags" Target="../tags/tag719.xml"/><Relationship Id="rId170" Type="http://schemas.openxmlformats.org/officeDocument/2006/relationships/tags" Target="../tags/tag718.xml"/><Relationship Id="rId17" Type="http://schemas.openxmlformats.org/officeDocument/2006/relationships/tags" Target="../tags/tag568.xml"/><Relationship Id="rId169" Type="http://schemas.openxmlformats.org/officeDocument/2006/relationships/tags" Target="../tags/tag717.xml"/><Relationship Id="rId168" Type="http://schemas.openxmlformats.org/officeDocument/2006/relationships/tags" Target="../tags/tag716.xml"/><Relationship Id="rId167" Type="http://schemas.openxmlformats.org/officeDocument/2006/relationships/tags" Target="../tags/tag715.xml"/><Relationship Id="rId166" Type="http://schemas.openxmlformats.org/officeDocument/2006/relationships/tags" Target="../tags/tag714.xml"/><Relationship Id="rId165" Type="http://schemas.openxmlformats.org/officeDocument/2006/relationships/tags" Target="../tags/tag713.xml"/><Relationship Id="rId164" Type="http://schemas.openxmlformats.org/officeDocument/2006/relationships/tags" Target="../tags/tag712.xml"/><Relationship Id="rId163" Type="http://schemas.openxmlformats.org/officeDocument/2006/relationships/tags" Target="../tags/tag711.xml"/><Relationship Id="rId162" Type="http://schemas.openxmlformats.org/officeDocument/2006/relationships/tags" Target="../tags/tag710.xml"/><Relationship Id="rId161" Type="http://schemas.openxmlformats.org/officeDocument/2006/relationships/tags" Target="../tags/tag709.xml"/><Relationship Id="rId160" Type="http://schemas.openxmlformats.org/officeDocument/2006/relationships/tags" Target="../tags/tag708.xml"/><Relationship Id="rId16" Type="http://schemas.openxmlformats.org/officeDocument/2006/relationships/tags" Target="../tags/tag567.xml"/><Relationship Id="rId159" Type="http://schemas.openxmlformats.org/officeDocument/2006/relationships/tags" Target="../tags/tag707.xml"/><Relationship Id="rId158" Type="http://schemas.openxmlformats.org/officeDocument/2006/relationships/tags" Target="../tags/tag706.xml"/><Relationship Id="rId157" Type="http://schemas.openxmlformats.org/officeDocument/2006/relationships/tags" Target="../tags/tag705.xml"/><Relationship Id="rId156" Type="http://schemas.openxmlformats.org/officeDocument/2006/relationships/tags" Target="../tags/tag704.xml"/><Relationship Id="rId155" Type="http://schemas.openxmlformats.org/officeDocument/2006/relationships/tags" Target="../tags/tag703.xml"/><Relationship Id="rId154" Type="http://schemas.openxmlformats.org/officeDocument/2006/relationships/tags" Target="../tags/tag702.xml"/><Relationship Id="rId153" Type="http://schemas.openxmlformats.org/officeDocument/2006/relationships/tags" Target="../tags/tag701.xml"/><Relationship Id="rId152" Type="http://schemas.openxmlformats.org/officeDocument/2006/relationships/tags" Target="../tags/tag700.xml"/><Relationship Id="rId151" Type="http://schemas.openxmlformats.org/officeDocument/2006/relationships/tags" Target="../tags/tag699.xml"/><Relationship Id="rId150" Type="http://schemas.openxmlformats.org/officeDocument/2006/relationships/tags" Target="../tags/tag698.xml"/><Relationship Id="rId15" Type="http://schemas.openxmlformats.org/officeDocument/2006/relationships/tags" Target="../tags/tag566.xml"/><Relationship Id="rId149" Type="http://schemas.openxmlformats.org/officeDocument/2006/relationships/tags" Target="../tags/tag697.xml"/><Relationship Id="rId148" Type="http://schemas.openxmlformats.org/officeDocument/2006/relationships/tags" Target="../tags/tag696.xml"/><Relationship Id="rId147" Type="http://schemas.openxmlformats.org/officeDocument/2006/relationships/tags" Target="../tags/tag695.xml"/><Relationship Id="rId146" Type="http://schemas.openxmlformats.org/officeDocument/2006/relationships/tags" Target="../tags/tag694.xml"/><Relationship Id="rId145" Type="http://schemas.openxmlformats.org/officeDocument/2006/relationships/tags" Target="../tags/tag693.xml"/><Relationship Id="rId144" Type="http://schemas.openxmlformats.org/officeDocument/2006/relationships/tags" Target="../tags/tag692.xml"/><Relationship Id="rId143" Type="http://schemas.openxmlformats.org/officeDocument/2006/relationships/tags" Target="../tags/tag691.xml"/><Relationship Id="rId142" Type="http://schemas.openxmlformats.org/officeDocument/2006/relationships/tags" Target="../tags/tag690.xml"/><Relationship Id="rId141" Type="http://schemas.openxmlformats.org/officeDocument/2006/relationships/tags" Target="../tags/tag689.xml"/><Relationship Id="rId140" Type="http://schemas.openxmlformats.org/officeDocument/2006/relationships/tags" Target="../tags/tag688.xml"/><Relationship Id="rId14" Type="http://schemas.openxmlformats.org/officeDocument/2006/relationships/tags" Target="../tags/tag565.xml"/><Relationship Id="rId139" Type="http://schemas.openxmlformats.org/officeDocument/2006/relationships/tags" Target="../tags/tag687.xml"/><Relationship Id="rId138" Type="http://schemas.openxmlformats.org/officeDocument/2006/relationships/tags" Target="../tags/tag686.xml"/><Relationship Id="rId137" Type="http://schemas.openxmlformats.org/officeDocument/2006/relationships/tags" Target="../tags/tag685.xml"/><Relationship Id="rId136" Type="http://schemas.openxmlformats.org/officeDocument/2006/relationships/tags" Target="../tags/tag684.xml"/><Relationship Id="rId135" Type="http://schemas.openxmlformats.org/officeDocument/2006/relationships/tags" Target="../tags/tag683.xml"/><Relationship Id="rId134" Type="http://schemas.openxmlformats.org/officeDocument/2006/relationships/tags" Target="../tags/tag682.xml"/><Relationship Id="rId133" Type="http://schemas.openxmlformats.org/officeDocument/2006/relationships/tags" Target="../tags/tag681.xml"/><Relationship Id="rId132" Type="http://schemas.openxmlformats.org/officeDocument/2006/relationships/tags" Target="../tags/tag680.xml"/><Relationship Id="rId131" Type="http://schemas.openxmlformats.org/officeDocument/2006/relationships/tags" Target="../tags/tag679.xml"/><Relationship Id="rId130" Type="http://schemas.openxmlformats.org/officeDocument/2006/relationships/tags" Target="../tags/tag678.xml"/><Relationship Id="rId13" Type="http://schemas.openxmlformats.org/officeDocument/2006/relationships/tags" Target="../tags/tag564.xml"/><Relationship Id="rId129" Type="http://schemas.openxmlformats.org/officeDocument/2006/relationships/tags" Target="../tags/tag677.xml"/><Relationship Id="rId128" Type="http://schemas.openxmlformats.org/officeDocument/2006/relationships/tags" Target="../tags/tag676.xml"/><Relationship Id="rId127" Type="http://schemas.openxmlformats.org/officeDocument/2006/relationships/tags" Target="../tags/tag675.xml"/><Relationship Id="rId126" Type="http://schemas.openxmlformats.org/officeDocument/2006/relationships/tags" Target="../tags/tag674.xml"/><Relationship Id="rId125" Type="http://schemas.openxmlformats.org/officeDocument/2006/relationships/tags" Target="../tags/tag673.xml"/><Relationship Id="rId124" Type="http://schemas.openxmlformats.org/officeDocument/2006/relationships/tags" Target="../tags/tag672.xml"/><Relationship Id="rId123" Type="http://schemas.openxmlformats.org/officeDocument/2006/relationships/tags" Target="../tags/tag671.xml"/><Relationship Id="rId122" Type="http://schemas.openxmlformats.org/officeDocument/2006/relationships/tags" Target="../tags/tag670.xml"/><Relationship Id="rId121" Type="http://schemas.openxmlformats.org/officeDocument/2006/relationships/tags" Target="../tags/tag669.xml"/><Relationship Id="rId120" Type="http://schemas.openxmlformats.org/officeDocument/2006/relationships/tags" Target="../tags/tag668.xml"/><Relationship Id="rId12" Type="http://schemas.openxmlformats.org/officeDocument/2006/relationships/tags" Target="../tags/tag563.xml"/><Relationship Id="rId119" Type="http://schemas.openxmlformats.org/officeDocument/2006/relationships/tags" Target="../tags/tag667.xml"/><Relationship Id="rId118" Type="http://schemas.openxmlformats.org/officeDocument/2006/relationships/tags" Target="../tags/tag666.xml"/><Relationship Id="rId117" Type="http://schemas.openxmlformats.org/officeDocument/2006/relationships/tags" Target="../tags/tag665.xml"/><Relationship Id="rId116" Type="http://schemas.openxmlformats.org/officeDocument/2006/relationships/tags" Target="../tags/tag664.xml"/><Relationship Id="rId115" Type="http://schemas.openxmlformats.org/officeDocument/2006/relationships/tags" Target="../tags/tag663.xml"/><Relationship Id="rId114" Type="http://schemas.openxmlformats.org/officeDocument/2006/relationships/tags" Target="../tags/tag662.xml"/><Relationship Id="rId113" Type="http://schemas.openxmlformats.org/officeDocument/2006/relationships/tags" Target="../tags/tag661.xml"/><Relationship Id="rId112" Type="http://schemas.openxmlformats.org/officeDocument/2006/relationships/tags" Target="../tags/tag660.xml"/><Relationship Id="rId111" Type="http://schemas.openxmlformats.org/officeDocument/2006/relationships/tags" Target="../tags/tag659.xml"/><Relationship Id="rId110" Type="http://schemas.openxmlformats.org/officeDocument/2006/relationships/tags" Target="../tags/tag658.xml"/><Relationship Id="rId11" Type="http://schemas.openxmlformats.org/officeDocument/2006/relationships/tags" Target="../tags/tag562.xml"/><Relationship Id="rId109" Type="http://schemas.openxmlformats.org/officeDocument/2006/relationships/tags" Target="../tags/tag657.xml"/><Relationship Id="rId108" Type="http://schemas.openxmlformats.org/officeDocument/2006/relationships/tags" Target="../tags/tag656.xml"/><Relationship Id="rId107" Type="http://schemas.openxmlformats.org/officeDocument/2006/relationships/tags" Target="../tags/tag655.xml"/><Relationship Id="rId106" Type="http://schemas.openxmlformats.org/officeDocument/2006/relationships/tags" Target="../tags/tag654.xml"/><Relationship Id="rId105" Type="http://schemas.openxmlformats.org/officeDocument/2006/relationships/tags" Target="../tags/tag653.xml"/><Relationship Id="rId104" Type="http://schemas.openxmlformats.org/officeDocument/2006/relationships/tags" Target="../tags/tag652.xml"/><Relationship Id="rId103" Type="http://schemas.openxmlformats.org/officeDocument/2006/relationships/tags" Target="../tags/tag651.xml"/><Relationship Id="rId102" Type="http://schemas.openxmlformats.org/officeDocument/2006/relationships/tags" Target="../tags/tag650.xml"/><Relationship Id="rId101" Type="http://schemas.openxmlformats.org/officeDocument/2006/relationships/tags" Target="../tags/tag649.xml"/><Relationship Id="rId100" Type="http://schemas.openxmlformats.org/officeDocument/2006/relationships/tags" Target="../tags/tag648.xml"/><Relationship Id="rId10" Type="http://schemas.openxmlformats.org/officeDocument/2006/relationships/tags" Target="../tags/tag561.xml"/><Relationship Id="rId1" Type="http://schemas.openxmlformats.org/officeDocument/2006/relationships/tags" Target="../tags/tag55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4.xml"/><Relationship Id="rId1" Type="http://schemas.openxmlformats.org/officeDocument/2006/relationships/tags" Target="../tags/tag7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1"/>
          <a:srcRect t="19085" b="27229"/>
          <a:stretch>
            <a:fillRect/>
          </a:stretch>
        </p:blipFill>
        <p:spPr>
          <a:xfrm>
            <a:off x="0" y="1247172"/>
            <a:ext cx="12192000" cy="4363656"/>
          </a:xfrm>
          <a:prstGeom prst="rect">
            <a:avLst/>
          </a:prstGeom>
        </p:spPr>
      </p:pic>
      <p:sp>
        <p:nvSpPr>
          <p:cNvPr id="85" name="矩形 84"/>
          <p:cNvSpPr/>
          <p:nvPr/>
        </p:nvSpPr>
        <p:spPr>
          <a:xfrm>
            <a:off x="2365226" y="2429539"/>
            <a:ext cx="7461548" cy="1998921"/>
          </a:xfrm>
          <a:prstGeom prst="rect">
            <a:avLst/>
          </a:prstGeom>
          <a:solidFill>
            <a:srgbClr val="145182">
              <a:alpha val="86000"/>
            </a:srgbClr>
          </a:solidFill>
          <a:ln>
            <a:noFill/>
          </a:ln>
          <a:effectLst>
            <a:outerShdw blurRad="339179" dist="249733" dir="2700000" algn="tl" rotWithShape="0">
              <a:srgbClr val="0A2F3E">
                <a:alpha val="2510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5CC6"/>
              </a:solidFill>
            </a:endParaRPr>
          </a:p>
        </p:txBody>
      </p:sp>
      <p:cxnSp>
        <p:nvCxnSpPr>
          <p:cNvPr id="86" name="直线连接符 6"/>
          <p:cNvCxnSpPr/>
          <p:nvPr/>
        </p:nvCxnSpPr>
        <p:spPr>
          <a:xfrm>
            <a:off x="2687256" y="4299896"/>
            <a:ext cx="6817488" cy="0"/>
          </a:xfrm>
          <a:prstGeom prst="line">
            <a:avLst/>
          </a:prstGeom>
          <a:ln w="9525">
            <a:solidFill>
              <a:schemeClr val="bg1">
                <a:alpha val="3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2541179" y="2562822"/>
            <a:ext cx="7040880" cy="119888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478C">
                <a:alpha val="4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深圳市房屋租赁运营管理</a:t>
            </a:r>
            <a:r>
              <a:rPr kumimoji="1"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有限公司</a:t>
            </a:r>
            <a:endParaRPr kumimoji="1" lang="en-US" altLang="zh-CN" sz="3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kumimoji="1"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会员</a:t>
            </a:r>
            <a:r>
              <a:rPr kumimoji="1" lang="en-US" altLang="zh-CN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1"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kumimoji="1" lang="en-US" altLang="zh-CN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体系规划设计</a:t>
            </a:r>
            <a:r>
              <a:rPr kumimoji="1"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总纲</a:t>
            </a:r>
            <a:endParaRPr kumimoji="1"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9" name="图片 88" descr="2222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59275" y="662305"/>
            <a:ext cx="3473450" cy="539115"/>
          </a:xfrm>
          <a:prstGeom prst="rect">
            <a:avLst/>
          </a:prstGeom>
        </p:spPr>
      </p:pic>
      <p:sp>
        <p:nvSpPr>
          <p:cNvPr id="90" name="灯片编号占位符 2"/>
          <p:cNvSpPr txBox="1"/>
          <p:nvPr>
            <p:custDataLst>
              <p:tags r:id="rId4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879600" y="803910"/>
            <a:ext cx="25622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40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01825" y="1510665"/>
            <a:ext cx="254000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>
                    <a:lumMod val="75000"/>
                  </a:schemeClr>
                </a:solidFill>
              </a:rPr>
              <a:t>CONTENTS</a:t>
            </a:r>
            <a:endParaRPr lang="zh-CN" altLang="en-US" b="1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988185" y="1892935"/>
            <a:ext cx="1616710" cy="0"/>
          </a:xfrm>
          <a:prstGeom prst="line">
            <a:avLst/>
          </a:prstGeom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288665" y="2243455"/>
            <a:ext cx="33832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整体设计策略及要素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371725" y="2231390"/>
            <a:ext cx="596265" cy="595630"/>
            <a:chOff x="7785" y="3813"/>
            <a:chExt cx="939" cy="938"/>
          </a:xfrm>
        </p:grpSpPr>
        <p:sp>
          <p:nvSpPr>
            <p:cNvPr id="60" name="椭圆 59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一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 flipH="1">
            <a:off x="1892300" y="2303145"/>
            <a:ext cx="76200" cy="3096895"/>
          </a:xfrm>
          <a:prstGeom prst="rect">
            <a:avLst/>
          </a:prstGeom>
          <a:solidFill>
            <a:srgbClr val="008ED1"/>
          </a:solidFill>
          <a:ln>
            <a:noFill/>
          </a:ln>
          <a:effectLst>
            <a:outerShdw blurRad="50800" dist="381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419985" y="3077210"/>
            <a:ext cx="596265" cy="596265"/>
            <a:chOff x="7785" y="3813"/>
            <a:chExt cx="939" cy="939"/>
          </a:xfrm>
        </p:grpSpPr>
        <p:sp>
          <p:nvSpPr>
            <p:cNvPr id="66" name="椭圆 65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二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419985" y="3940810"/>
            <a:ext cx="596265" cy="596265"/>
            <a:chOff x="7785" y="3813"/>
            <a:chExt cx="939" cy="939"/>
          </a:xfrm>
        </p:grpSpPr>
        <p:sp>
          <p:nvSpPr>
            <p:cNvPr id="69" name="椭圆 68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三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endParaRPr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3313430" y="3103880"/>
            <a:ext cx="566610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buClrTx/>
              <a:buSzTx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关键设计要素说明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371850" y="3978275"/>
            <a:ext cx="49212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buClrTx/>
              <a:buSzTx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整体系统架构设计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88665" y="4808220"/>
            <a:ext cx="58724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大会员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规划与商业会员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系统拉通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情况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409825" y="4786630"/>
            <a:ext cx="596265" cy="596265"/>
            <a:chOff x="7785" y="3813"/>
            <a:chExt cx="939" cy="939"/>
          </a:xfrm>
        </p:grpSpPr>
        <p:sp>
          <p:nvSpPr>
            <p:cNvPr id="9" name="椭圆 8"/>
            <p:cNvSpPr/>
            <p:nvPr/>
          </p:nvSpPr>
          <p:spPr>
            <a:xfrm>
              <a:off x="7785" y="3813"/>
              <a:ext cx="939" cy="939"/>
            </a:xfrm>
            <a:prstGeom prst="ellipse">
              <a:avLst/>
            </a:prstGeom>
            <a:solidFill>
              <a:srgbClr val="008E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800" kern="0" dirty="0">
                <a:solidFill>
                  <a:schemeClr val="accent1"/>
                </a:solidFill>
                <a:latin typeface="Arial" panose="020B0604020202020204" pitchFamily="34" charset="0"/>
                <a:ea typeface="思源黑体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830" y="3871"/>
              <a:ext cx="89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Segoe UI Black" panose="020B0A02040204020203" pitchFamily="34" charset="0"/>
                </a:rPr>
                <a:t>四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Segoe UI Black" panose="020B0A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4" name="组合 53"/>
          <p:cNvGrpSpPr/>
          <p:nvPr/>
        </p:nvGrpSpPr>
        <p:grpSpPr>
          <a:xfrm>
            <a:off x="830205" y="1654175"/>
            <a:ext cx="3526239" cy="3451225"/>
            <a:chOff x="1307" y="3005"/>
            <a:chExt cx="5553" cy="5435"/>
          </a:xfrm>
        </p:grpSpPr>
        <p:grpSp>
          <p:nvGrpSpPr>
            <p:cNvPr id="55" name="组合 54"/>
            <p:cNvGrpSpPr/>
            <p:nvPr/>
          </p:nvGrpSpPr>
          <p:grpSpPr>
            <a:xfrm>
              <a:off x="1307" y="3005"/>
              <a:ext cx="5553" cy="5435"/>
              <a:chOff x="7890" y="3389"/>
              <a:chExt cx="3762" cy="3682"/>
            </a:xfrm>
          </p:grpSpPr>
          <p:sp>
            <p:nvSpPr>
              <p:cNvPr id="56" name="椭圆 55"/>
              <p:cNvSpPr/>
              <p:nvPr>
                <p:custDataLst>
                  <p:tags r:id="rId1"/>
                </p:custDataLst>
              </p:nvPr>
            </p:nvSpPr>
            <p:spPr>
              <a:xfrm>
                <a:off x="7890" y="3389"/>
                <a:ext cx="3621" cy="3682"/>
              </a:xfrm>
              <a:prstGeom prst="ellipse">
                <a:avLst/>
              </a:prstGeom>
              <a:noFill/>
              <a:ln w="79375" cmpd="thickThin">
                <a:gradFill>
                  <a:gsLst>
                    <a:gs pos="0">
                      <a:srgbClr val="E4ECFF"/>
                    </a:gs>
                    <a:gs pos="52000">
                      <a:srgbClr val="0070C0"/>
                    </a:gs>
                    <a:gs pos="100000">
                      <a:srgbClr val="E4ECFF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600">
                  <a:latin typeface="思源黑体 CN Regular" panose="020B0500000000000000" charset="-122"/>
                  <a:ea typeface="思源黑体 CN Regular" panose="020B0500000000000000" charset="-122"/>
                  <a:sym typeface="微软雅黑" panose="020B0503020204020204" charset="-122"/>
                </a:endParaRPr>
              </a:p>
            </p:txBody>
          </p:sp>
          <p:sp>
            <p:nvSpPr>
              <p:cNvPr id="57" name="矩形 56"/>
              <p:cNvSpPr/>
              <p:nvPr>
                <p:custDataLst>
                  <p:tags r:id="rId2"/>
                </p:custDataLst>
              </p:nvPr>
            </p:nvSpPr>
            <p:spPr>
              <a:xfrm>
                <a:off x="8983" y="3963"/>
                <a:ext cx="2669" cy="1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150******46</a:t>
                </a:r>
                <a:endParaRPr lang="en-US" altLang="zh-CN" sz="1600" b="1" dirty="0">
                  <a:solidFill>
                    <a:srgbClr val="0070C0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微软雅黑" panose="020B0503020204020204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黄金会员</a:t>
                </a:r>
                <a:endParaRPr lang="zh-CN" altLang="en-US" sz="1600" b="1" dirty="0">
                  <a:solidFill>
                    <a:srgbClr val="0070C0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微软雅黑" panose="020B0503020204020204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12578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思源黑体 CN Regular" panose="020B0500000000000000" charset="-122"/>
                    <a:ea typeface="思源黑体 CN Regular" panose="020B0500000000000000" charset="-122"/>
                    <a:cs typeface="思源黑体 CN Regular" panose="020B0500000000000000" charset="-122"/>
                    <a:sym typeface="微软雅黑" panose="020B0503020204020204" charset="-122"/>
                  </a:rPr>
                  <a:t>积分</a:t>
                </a:r>
                <a:endParaRPr lang="zh-CN" altLang="en-US" sz="1600" b="1" dirty="0">
                  <a:solidFill>
                    <a:srgbClr val="0070C0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微软雅黑" panose="020B0503020204020204" charset="-122"/>
                </a:endParaRPr>
              </a:p>
            </p:txBody>
          </p:sp>
          <p:pic>
            <p:nvPicPr>
              <p:cNvPr id="58" name="图片 57" descr="343439383331383b343531393032363bd3c3bba7d0d0ceaa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327" y="4017"/>
                <a:ext cx="1199" cy="1199"/>
              </a:xfrm>
              <a:prstGeom prst="rect">
                <a:avLst/>
              </a:prstGeom>
            </p:spPr>
          </p:pic>
        </p:grpSp>
        <p:sp>
          <p:nvSpPr>
            <p:cNvPr id="59" name="矩形 58"/>
            <p:cNvSpPr/>
            <p:nvPr>
              <p:custDataLst>
                <p:tags r:id="rId6"/>
              </p:custDataLst>
            </p:nvPr>
          </p:nvSpPr>
          <p:spPr>
            <a:xfrm>
              <a:off x="1959" y="5740"/>
              <a:ext cx="4120" cy="2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32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岁，单身，博士，软件工程师</a:t>
              </a:r>
              <a:endPara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月收入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4w+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，生活支出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1.5w+</a:t>
              </a:r>
              <a:endPara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消费忠诚度强、频率低、金额大</a:t>
              </a:r>
              <a:endPara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居住在益田大厦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23</a:t>
              </a: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楼</a:t>
              </a:r>
              <a:endPara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经常预缴纳房租、物业费</a:t>
              </a:r>
              <a:endPara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60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一、</a:t>
            </a:r>
            <a:r>
              <a:rPr lang="zh-CN" altLang="en-US" dirty="0" smtClean="0">
                <a:cs typeface="微软雅黑" panose="020B0503020204020204" charset="-122"/>
                <a:sym typeface="+mn-ea"/>
              </a:rPr>
              <a:t>整体设计策略</a:t>
            </a:r>
            <a:endParaRPr lang="zh-CN" altLang="en-US" dirty="0" smtClean="0">
              <a:cs typeface="微软雅黑" panose="020B0503020204020204" charset="-122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7"/>
            </p:custDataLst>
          </p:nvPr>
        </p:nvSpPr>
        <p:spPr>
          <a:xfrm>
            <a:off x="494030" y="656590"/>
            <a:ext cx="11421110" cy="1058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整体业务设计：通过会员通、积分通、权益通、数据通的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四通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策略，将用户全域业务场景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进行连通，整合资源以此为基础，对外开拓异业联盟生态。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灯片编号占位符 2"/>
          <p:cNvSpPr txBox="1"/>
          <p:nvPr>
            <p:custDataLst>
              <p:tags r:id="rId8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5866130" y="170116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会员通</a:t>
            </a:r>
            <a:endParaRPr lang="zh-CN" altLang="en-US" b="1"/>
          </a:p>
        </p:txBody>
      </p:sp>
      <p:sp>
        <p:nvSpPr>
          <p:cNvPr id="64" name="椭圆 63"/>
          <p:cNvSpPr/>
          <p:nvPr>
            <p:custDataLst>
              <p:tags r:id="rId9"/>
            </p:custDataLst>
          </p:nvPr>
        </p:nvSpPr>
        <p:spPr>
          <a:xfrm>
            <a:off x="5866130" y="264477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积分通</a:t>
            </a:r>
            <a:endParaRPr lang="zh-CN" altLang="en-US" b="1"/>
          </a:p>
        </p:txBody>
      </p:sp>
      <p:sp>
        <p:nvSpPr>
          <p:cNvPr id="65" name="椭圆 64"/>
          <p:cNvSpPr/>
          <p:nvPr>
            <p:custDataLst>
              <p:tags r:id="rId10"/>
            </p:custDataLst>
          </p:nvPr>
        </p:nvSpPr>
        <p:spPr>
          <a:xfrm>
            <a:off x="5875655" y="354901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权益通</a:t>
            </a:r>
            <a:endParaRPr lang="zh-CN" altLang="en-US" b="1"/>
          </a:p>
        </p:txBody>
      </p:sp>
      <p:sp>
        <p:nvSpPr>
          <p:cNvPr id="66" name="椭圆 65"/>
          <p:cNvSpPr/>
          <p:nvPr>
            <p:custDataLst>
              <p:tags r:id="rId11"/>
            </p:custDataLst>
          </p:nvPr>
        </p:nvSpPr>
        <p:spPr>
          <a:xfrm>
            <a:off x="5866130" y="4457065"/>
            <a:ext cx="1395095" cy="56261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数据通</a:t>
            </a:r>
            <a:endParaRPr lang="zh-CN" altLang="en-US" b="1"/>
          </a:p>
        </p:txBody>
      </p:sp>
      <p:sp>
        <p:nvSpPr>
          <p:cNvPr id="67" name="文本框 66"/>
          <p:cNvSpPr txBox="1"/>
          <p:nvPr/>
        </p:nvSpPr>
        <p:spPr>
          <a:xfrm>
            <a:off x="7404735" y="1678305"/>
            <a:ext cx="4159885" cy="533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整合各企业会员资源，在集团全域内实现会员的基础信息打通，会员唯一识别。统一会员身份、统一会员账户。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8" name="文本框 67"/>
          <p:cNvSpPr txBox="1"/>
          <p:nvPr>
            <p:custDataLst>
              <p:tags r:id="rId12"/>
            </p:custDataLst>
          </p:nvPr>
        </p:nvSpPr>
        <p:spPr>
          <a:xfrm>
            <a:off x="7404735" y="2660015"/>
            <a:ext cx="415988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集团统一积分价值，整合积分查询、消费场景，增加会员对积分的感知，增加跨场景的触点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，积分作为运营抓手，积分的通积通兑实现客户跨场引流。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13"/>
            </p:custDataLst>
          </p:nvPr>
        </p:nvSpPr>
        <p:spPr>
          <a:xfrm>
            <a:off x="7404735" y="4391025"/>
            <a:ext cx="415988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连通各业务线的与会员相关数据</a:t>
            </a:r>
            <a:r>
              <a:rPr lang="zh-CN" altLang="en-US" sz="1200" dirty="0" smtClean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，标准化会员数据</a:t>
            </a: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标准类型，统一数据沉淀</a:t>
            </a:r>
            <a:r>
              <a:rPr lang="zh-CN" altLang="en-US" sz="1200" dirty="0" smtClean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方式，数据质量提升，沉淀会员全量数据以便开展全方位评价分析与数据应用。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14"/>
            </p:custDataLst>
          </p:nvPr>
        </p:nvSpPr>
        <p:spPr>
          <a:xfrm>
            <a:off x="7404735" y="3566795"/>
            <a:ext cx="4159885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 smtClean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</a:t>
            </a: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跨业态的触点，提供会员的联动的场景，带动会员进行</a:t>
            </a:r>
            <a:r>
              <a:rPr lang="zh-CN" altLang="en-US" sz="1200" dirty="0" smtClean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</a:t>
            </a:r>
            <a:r>
              <a:rPr lang="zh-CN" altLang="en-US" sz="1200" dirty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</a:t>
            </a:r>
            <a:r>
              <a:rPr lang="zh-CN" altLang="en-US" sz="1200" dirty="0" smtClean="0">
                <a:solidFill>
                  <a:srgbClr val="0C0C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场，提升品牌感知与客户满意度。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5"/>
            </p:custDataLst>
          </p:nvPr>
        </p:nvSpPr>
        <p:spPr>
          <a:xfrm>
            <a:off x="4664163" y="2519492"/>
            <a:ext cx="629920" cy="2608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6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四通</a:t>
            </a:r>
            <a:endParaRPr lang="zh-CN" altLang="en-US" sz="3600" b="1" dirty="0">
              <a:solidFill>
                <a:srgbClr val="205CC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85420" y="5256530"/>
            <a:ext cx="11633200" cy="1376680"/>
            <a:chOff x="292" y="8098"/>
            <a:chExt cx="17920" cy="3093"/>
          </a:xfrm>
        </p:grpSpPr>
        <p:sp>
          <p:nvSpPr>
            <p:cNvPr id="73" name="圆角矩形 72"/>
            <p:cNvSpPr/>
            <p:nvPr>
              <p:custDataLst>
                <p:tags r:id="rId16"/>
              </p:custDataLst>
            </p:nvPr>
          </p:nvSpPr>
          <p:spPr>
            <a:xfrm>
              <a:off x="324" y="8098"/>
              <a:ext cx="17888" cy="3093"/>
            </a:xfrm>
            <a:prstGeom prst="roundRect">
              <a:avLst>
                <a:gd name="adj" fmla="val 3792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0" name="圆角矩形 99"/>
            <p:cNvSpPr/>
            <p:nvPr>
              <p:custDataLst>
                <p:tags r:id="rId17"/>
              </p:custDataLst>
            </p:nvPr>
          </p:nvSpPr>
          <p:spPr>
            <a:xfrm>
              <a:off x="1610" y="8373"/>
              <a:ext cx="3829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公共型住房租赁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圆角矩形 101"/>
            <p:cNvSpPr/>
            <p:nvPr>
              <p:custDataLst>
                <p:tags r:id="rId18"/>
              </p:custDataLst>
            </p:nvPr>
          </p:nvSpPr>
          <p:spPr>
            <a:xfrm>
              <a:off x="9861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物业服务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圆角矩形 130"/>
            <p:cNvSpPr/>
            <p:nvPr>
              <p:custDataLst>
                <p:tags r:id="rId19"/>
              </p:custDataLst>
            </p:nvPr>
          </p:nvSpPr>
          <p:spPr>
            <a:xfrm>
              <a:off x="9860" y="8373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市场型企业长租公寓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圆角矩形 73"/>
            <p:cNvSpPr/>
            <p:nvPr>
              <p:custDataLst>
                <p:tags r:id="rId20"/>
              </p:custDataLst>
            </p:nvPr>
          </p:nvSpPr>
          <p:spPr>
            <a:xfrm>
              <a:off x="13984" y="8353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市场型个人长租公寓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圆角矩形 74"/>
            <p:cNvSpPr/>
            <p:nvPr>
              <p:custDataLst>
                <p:tags r:id="rId21"/>
              </p:custDataLst>
            </p:nvPr>
          </p:nvSpPr>
          <p:spPr>
            <a:xfrm>
              <a:off x="5736" y="8392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公共型住房销售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22"/>
              </p:custDataLst>
            </p:nvPr>
          </p:nvSpPr>
          <p:spPr>
            <a:xfrm>
              <a:off x="1611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集中式商业服务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23"/>
              </p:custDataLst>
            </p:nvPr>
          </p:nvSpPr>
          <p:spPr>
            <a:xfrm>
              <a:off x="5736" y="924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临街式商业服务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8" name="圆角矩形 77"/>
            <p:cNvSpPr/>
            <p:nvPr>
              <p:custDataLst>
                <p:tags r:id="rId24"/>
              </p:custDataLst>
            </p:nvPr>
          </p:nvSpPr>
          <p:spPr>
            <a:xfrm>
              <a:off x="13986" y="9214"/>
              <a:ext cx="3827" cy="758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增值服务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92" y="8682"/>
              <a:ext cx="811" cy="2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搭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平台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840" y="8693"/>
              <a:ext cx="811" cy="2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造生态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1" name="圆角矩形 80"/>
            <p:cNvSpPr/>
            <p:nvPr>
              <p:custDataLst>
                <p:tags r:id="rId25"/>
              </p:custDataLst>
            </p:nvPr>
          </p:nvSpPr>
          <p:spPr>
            <a:xfrm>
              <a:off x="1610" y="10125"/>
              <a:ext cx="16237" cy="757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5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外部合作场景</a:t>
              </a:r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82" name="虚尾箭头 81"/>
          <p:cNvSpPr/>
          <p:nvPr/>
        </p:nvSpPr>
        <p:spPr>
          <a:xfrm rot="5400000">
            <a:off x="2414112" y="4833364"/>
            <a:ext cx="276506" cy="675711"/>
          </a:xfrm>
          <a:prstGeom prst="striped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494030" y="694055"/>
            <a:ext cx="11126470" cy="998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应用会员体系搭建模型，以最大化用户价值为理论基础，通过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项设计策略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组设计专题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的研讨，得出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研讨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结论并定期输出进行汇报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，以指导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会员体系的具体设计。</a:t>
            </a:r>
            <a:endPara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Rectangle 4"/>
          <p:cNvSpPr/>
          <p:nvPr>
            <p:custDataLst>
              <p:tags r:id="rId2"/>
            </p:custDataLst>
          </p:nvPr>
        </p:nvSpPr>
        <p:spPr>
          <a:xfrm>
            <a:off x="808746" y="1753989"/>
            <a:ext cx="10811753" cy="496714"/>
          </a:xfrm>
          <a:prstGeom prst="rect">
            <a:avLst/>
          </a:prstGeom>
          <a:solidFill>
            <a:srgbClr val="205C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最大化用户价值</a:t>
            </a:r>
            <a:endParaRPr lang="en-GB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23034" y="3482203"/>
            <a:ext cx="10745077" cy="509587"/>
            <a:chOff x="703972" y="2974975"/>
            <a:chExt cx="7661910" cy="50958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6" name="Rectangle 3"/>
            <p:cNvSpPr/>
            <p:nvPr>
              <p:custDataLst>
                <p:tags r:id="rId3"/>
              </p:custDataLst>
            </p:nvPr>
          </p:nvSpPr>
          <p:spPr>
            <a:xfrm>
              <a:off x="703972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找到价值用户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>
                  <a:sym typeface="+mn-ea"/>
                </a:rPr>
                <a:t>Member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 3"/>
            <p:cNvSpPr/>
            <p:nvPr>
              <p:custDataLst>
                <p:tags r:id="rId4"/>
              </p:custDataLst>
            </p:nvPr>
          </p:nvSpPr>
          <p:spPr>
            <a:xfrm>
              <a:off x="3323347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搭建全渠道互动方式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 smtClean="0">
                  <a:sym typeface="+mn-ea"/>
                </a:rPr>
                <a:t>Social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Rectangle 3"/>
            <p:cNvSpPr/>
            <p:nvPr>
              <p:custDataLst>
                <p:tags r:id="rId5"/>
              </p:custDataLst>
            </p:nvPr>
          </p:nvSpPr>
          <p:spPr>
            <a:xfrm>
              <a:off x="5942722" y="2974975"/>
              <a:ext cx="2423160" cy="509587"/>
            </a:xfrm>
            <a:prstGeom prst="rect">
              <a:avLst/>
            </a:prstGeom>
            <a:solidFill>
              <a:srgbClr val="99B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做大用户价值</a:t>
              </a:r>
              <a:r>
                <a:rPr lang="zh-CN" altLang="en-US" sz="1600" b="1" dirty="0">
                  <a:sym typeface="+mn-ea"/>
                </a:rPr>
                <a:t>（</a:t>
              </a:r>
              <a:r>
                <a:rPr lang="en-US" altLang="zh-CN" sz="1600" b="1" dirty="0">
                  <a:sym typeface="+mn-ea"/>
                </a:rPr>
                <a:t>Nurture</a:t>
              </a:r>
              <a:r>
                <a:rPr lang="zh-CN" altLang="en-US" sz="1600" b="1" dirty="0">
                  <a:sym typeface="+mn-ea"/>
                </a:rPr>
                <a:t>）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Oval 58"/>
          <p:cNvSpPr/>
          <p:nvPr>
            <p:custDataLst>
              <p:tags r:id="rId6"/>
            </p:custDataLst>
          </p:nvPr>
        </p:nvSpPr>
        <p:spPr>
          <a:xfrm>
            <a:off x="9405631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华文楷体" panose="02010600040101010101" pitchFamily="2" charset="-122"/>
            </a:endParaRPr>
          </a:p>
        </p:txBody>
      </p:sp>
      <p:sp>
        <p:nvSpPr>
          <p:cNvPr id="24" name="Oval 68"/>
          <p:cNvSpPr/>
          <p:nvPr>
            <p:custDataLst>
              <p:tags r:id="rId7"/>
            </p:custDataLst>
          </p:nvPr>
        </p:nvSpPr>
        <p:spPr>
          <a:xfrm>
            <a:off x="5751705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华文楷体" panose="02010600040101010101" pitchFamily="2" charset="-122"/>
            </a:endParaRPr>
          </a:p>
        </p:txBody>
      </p:sp>
      <p:sp>
        <p:nvSpPr>
          <p:cNvPr id="25" name="Oval 29"/>
          <p:cNvSpPr/>
          <p:nvPr>
            <p:custDataLst>
              <p:tags r:id="rId8"/>
            </p:custDataLst>
          </p:nvPr>
        </p:nvSpPr>
        <p:spPr>
          <a:xfrm>
            <a:off x="2058798" y="2415087"/>
            <a:ext cx="898140" cy="898140"/>
          </a:xfrm>
          <a:prstGeom prst="ellipse">
            <a:avLst/>
          </a:prstGeom>
          <a:noFill/>
          <a:ln w="57150">
            <a:solidFill>
              <a:srgbClr val="F89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华文楷体" panose="02010600040101010101" pitchFamily="2" charset="-122"/>
            </a:endParaRPr>
          </a:p>
        </p:txBody>
      </p:sp>
      <p:pic>
        <p:nvPicPr>
          <p:cNvPr id="43" name="图形 17" descr="购物车 纯色填充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05512" y="2698785"/>
            <a:ext cx="390525" cy="390525"/>
          </a:xfrm>
          <a:prstGeom prst="rect">
            <a:avLst/>
          </a:prstGeom>
        </p:spPr>
      </p:pic>
      <p:pic>
        <p:nvPicPr>
          <p:cNvPr id="44" name="图形 19" descr="菱形 纯色填充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9906" y="2639255"/>
            <a:ext cx="509587" cy="509587"/>
          </a:xfrm>
          <a:prstGeom prst="rect">
            <a:avLst/>
          </a:prstGeom>
        </p:spPr>
      </p:pic>
      <p:pic>
        <p:nvPicPr>
          <p:cNvPr id="45" name="图形 21" descr="目标受众 纯色填充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62150" y="2620348"/>
            <a:ext cx="481050" cy="48105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18"/>
            </p:custDataLst>
          </p:nvPr>
        </p:nvSpPr>
        <p:spPr>
          <a:xfrm>
            <a:off x="4428307" y="4303395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积分通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19"/>
            </p:custDataLst>
          </p:nvPr>
        </p:nvSpPr>
        <p:spPr>
          <a:xfrm>
            <a:off x="3575862" y="4237354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20"/>
            </p:custDataLst>
          </p:nvPr>
        </p:nvSpPr>
        <p:spPr>
          <a:xfrm>
            <a:off x="210185" y="4769485"/>
            <a:ext cx="438150" cy="1033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设计专题</a:t>
            </a:r>
            <a:endParaRPr lang="zh-CN" altLang="en-US" sz="24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文本框 80"/>
          <p:cNvSpPr txBox="1"/>
          <p:nvPr>
            <p:custDataLst>
              <p:tags r:id="rId21"/>
            </p:custDataLst>
          </p:nvPr>
        </p:nvSpPr>
        <p:spPr>
          <a:xfrm>
            <a:off x="210185" y="2251075"/>
            <a:ext cx="438150" cy="1304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方法论</a:t>
            </a:r>
            <a:endParaRPr lang="zh-CN" altLang="en-US" sz="24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8746" y="1753989"/>
            <a:ext cx="10811753" cy="22472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2"/>
          <p:cNvSpPr txBox="1"/>
          <p:nvPr>
            <p:custDataLst>
              <p:tags r:id="rId2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832493" y="4225421"/>
            <a:ext cx="2539859" cy="2341245"/>
            <a:chOff x="808990" y="4084954"/>
            <a:chExt cx="3398000" cy="2341245"/>
          </a:xfrm>
        </p:grpSpPr>
        <p:sp>
          <p:nvSpPr>
            <p:cNvPr id="65" name="文本框 64"/>
            <p:cNvSpPr txBox="1"/>
            <p:nvPr>
              <p:custDataLst>
                <p:tags r:id="rId23"/>
              </p:custDataLst>
            </p:nvPr>
          </p:nvSpPr>
          <p:spPr>
            <a:xfrm>
              <a:off x="1939892" y="4150995"/>
              <a:ext cx="1853565" cy="30797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altLang="en-US" b="1" dirty="0" smtClean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会员通</a:t>
              </a:r>
              <a:endPara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2" name="圆角矩形 81"/>
            <p:cNvSpPr/>
            <p:nvPr>
              <p:custDataLst>
                <p:tags r:id="rId24"/>
              </p:custDataLst>
            </p:nvPr>
          </p:nvSpPr>
          <p:spPr>
            <a:xfrm>
              <a:off x="936624" y="4556759"/>
              <a:ext cx="3142261" cy="801797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</a:t>
              </a:r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会员标识</a:t>
              </a:r>
              <a:endParaRPr lang="en-US" altLang="zh-CN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圆角矩形 83"/>
            <p:cNvSpPr/>
            <p:nvPr>
              <p:custDataLst>
                <p:tags r:id="rId25"/>
              </p:custDataLst>
            </p:nvPr>
          </p:nvSpPr>
          <p:spPr>
            <a:xfrm>
              <a:off x="968705" y="5468619"/>
              <a:ext cx="3105944" cy="81407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</a:t>
              </a:r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认证方式</a:t>
              </a:r>
              <a:endParaRPr 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圆角矩形 85"/>
            <p:cNvSpPr/>
            <p:nvPr>
              <p:custDataLst>
                <p:tags r:id="rId26"/>
              </p:custDataLst>
            </p:nvPr>
          </p:nvSpPr>
          <p:spPr>
            <a:xfrm>
              <a:off x="808990" y="4084954"/>
              <a:ext cx="3398000" cy="2341245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8" name="文本框 87"/>
          <p:cNvSpPr txBox="1"/>
          <p:nvPr>
            <p:custDataLst>
              <p:tags r:id="rId27"/>
            </p:custDataLst>
          </p:nvPr>
        </p:nvSpPr>
        <p:spPr>
          <a:xfrm>
            <a:off x="7171676" y="4303395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权益通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28"/>
            </p:custDataLst>
          </p:nvPr>
        </p:nvSpPr>
        <p:spPr>
          <a:xfrm>
            <a:off x="6449030" y="4761829"/>
            <a:ext cx="1064276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统一会员等级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>
            <p:custDataLst>
              <p:tags r:id="rId29"/>
            </p:custDataLst>
          </p:nvPr>
        </p:nvSpPr>
        <p:spPr>
          <a:xfrm>
            <a:off x="7655659" y="4768020"/>
            <a:ext cx="1064276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统一权益类型</a:t>
            </a:r>
            <a:endParaRPr 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>
            <p:custDataLst>
              <p:tags r:id="rId30"/>
            </p:custDataLst>
          </p:nvPr>
        </p:nvSpPr>
        <p:spPr>
          <a:xfrm>
            <a:off x="6449030" y="5677064"/>
            <a:ext cx="1055559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统一权益内容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圆角矩形 91"/>
          <p:cNvSpPr/>
          <p:nvPr>
            <p:custDataLst>
              <p:tags r:id="rId31"/>
            </p:custDataLst>
          </p:nvPr>
        </p:nvSpPr>
        <p:spPr>
          <a:xfrm>
            <a:off x="6319231" y="4237354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32"/>
            </p:custDataLst>
          </p:nvPr>
        </p:nvSpPr>
        <p:spPr>
          <a:xfrm>
            <a:off x="9915045" y="4291462"/>
            <a:ext cx="138546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数据通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圆角矩形 94"/>
          <p:cNvSpPr/>
          <p:nvPr>
            <p:custDataLst>
              <p:tags r:id="rId33"/>
            </p:custDataLst>
          </p:nvPr>
        </p:nvSpPr>
        <p:spPr>
          <a:xfrm>
            <a:off x="9204996" y="4741677"/>
            <a:ext cx="2255065" cy="757346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统一数据标准类型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>
            <p:custDataLst>
              <p:tags r:id="rId34"/>
            </p:custDataLst>
          </p:nvPr>
        </p:nvSpPr>
        <p:spPr>
          <a:xfrm>
            <a:off x="9062600" y="4225421"/>
            <a:ext cx="2539859" cy="2341245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>
            <p:custDataLst>
              <p:tags r:id="rId35"/>
            </p:custDataLst>
          </p:nvPr>
        </p:nvSpPr>
        <p:spPr>
          <a:xfrm>
            <a:off x="3671263" y="4753610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统一积分账户</a:t>
            </a:r>
            <a:endParaRPr lang="zh-CN" altLang="en-US" sz="12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49"/>
          <p:cNvSpPr/>
          <p:nvPr>
            <p:custDataLst>
              <p:tags r:id="rId36"/>
            </p:custDataLst>
          </p:nvPr>
        </p:nvSpPr>
        <p:spPr>
          <a:xfrm>
            <a:off x="4479371" y="4745837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统一积分价值</a:t>
            </a:r>
            <a:endParaRPr lang="zh-CN" altLang="en-US" sz="12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>
            <p:custDataLst>
              <p:tags r:id="rId37"/>
            </p:custDataLst>
          </p:nvPr>
        </p:nvSpPr>
        <p:spPr>
          <a:xfrm>
            <a:off x="5287479" y="4745267"/>
            <a:ext cx="764071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统一积分查询</a:t>
            </a:r>
            <a:endParaRPr lang="zh-CN" altLang="en-US" sz="12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圆角矩形 99"/>
          <p:cNvSpPr/>
          <p:nvPr>
            <p:custDataLst>
              <p:tags r:id="rId38"/>
            </p:custDataLst>
          </p:nvPr>
        </p:nvSpPr>
        <p:spPr>
          <a:xfrm>
            <a:off x="3672840" y="5347970"/>
            <a:ext cx="1151255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统一有效期</a:t>
            </a:r>
            <a:endParaRPr lang="zh-CN" altLang="en-US" sz="12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圆角矩形 100"/>
          <p:cNvSpPr/>
          <p:nvPr>
            <p:custDataLst>
              <p:tags r:id="rId39"/>
            </p:custDataLst>
          </p:nvPr>
        </p:nvSpPr>
        <p:spPr>
          <a:xfrm>
            <a:off x="4908550" y="5344160"/>
            <a:ext cx="1155065" cy="500380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统一积分清结算</a:t>
            </a:r>
            <a:endParaRPr lang="zh-CN" altLang="en-US" sz="10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69130" y="5941381"/>
            <a:ext cx="2382420" cy="500380"/>
            <a:chOff x="3669130" y="5941381"/>
            <a:chExt cx="2261769" cy="500380"/>
          </a:xfrm>
        </p:grpSpPr>
        <p:sp>
          <p:nvSpPr>
            <p:cNvPr id="102" name="圆角矩形 101"/>
            <p:cNvSpPr/>
            <p:nvPr>
              <p:custDataLst>
                <p:tags r:id="rId40"/>
              </p:custDataLst>
            </p:nvPr>
          </p:nvSpPr>
          <p:spPr>
            <a:xfrm>
              <a:off x="3669130" y="5941381"/>
              <a:ext cx="1104296" cy="50038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积分发放</a:t>
              </a:r>
              <a:endPara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圆角矩形 102"/>
            <p:cNvSpPr/>
            <p:nvPr>
              <p:custDataLst>
                <p:tags r:id="rId41"/>
              </p:custDataLst>
            </p:nvPr>
          </p:nvSpPr>
          <p:spPr>
            <a:xfrm>
              <a:off x="4845790" y="5941381"/>
              <a:ext cx="1085109" cy="500380"/>
            </a:xfrm>
            <a:prstGeom prst="roundRect">
              <a:avLst>
                <a:gd name="adj" fmla="val 3268"/>
              </a:avLst>
            </a:prstGeom>
            <a:noFill/>
            <a:ln>
              <a:solidFill>
                <a:srgbClr val="2A608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积分回收</a:t>
              </a:r>
              <a:endParaRPr lang="zh-CN" altLang="en-US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" name="圆角矩形 103"/>
          <p:cNvSpPr/>
          <p:nvPr>
            <p:custDataLst>
              <p:tags r:id="rId42"/>
            </p:custDataLst>
          </p:nvPr>
        </p:nvSpPr>
        <p:spPr>
          <a:xfrm>
            <a:off x="7668783" y="5685956"/>
            <a:ext cx="1060509" cy="737194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统一权益服务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>
            <p:custDataLst>
              <p:tags r:id="rId43"/>
            </p:custDataLst>
          </p:nvPr>
        </p:nvSpPr>
        <p:spPr>
          <a:xfrm>
            <a:off x="9204995" y="5673629"/>
            <a:ext cx="2255065" cy="768132"/>
          </a:xfrm>
          <a:prstGeom prst="roundRect">
            <a:avLst>
              <a:gd name="adj" fmla="val 3268"/>
            </a:avLst>
          </a:prstGeom>
          <a:noFill/>
          <a:ln>
            <a:solidFill>
              <a:srgbClr val="2A608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统一数据沉淀方式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44"/>
            </p:custDataLst>
          </p:nvPr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一、</a:t>
            </a:r>
            <a:r>
              <a:rPr lang="zh-CN" altLang="en-US" dirty="0" smtClean="0">
                <a:cs typeface="微软雅黑" panose="020B0503020204020204" charset="-122"/>
                <a:sym typeface="+mn-ea"/>
              </a:rPr>
              <a:t>整体设计</a:t>
            </a:r>
            <a:r>
              <a:rPr lang="zh-CN" altLang="en-US" dirty="0" smtClean="0">
                <a:cs typeface="微软雅黑" panose="020B0503020204020204" charset="-122"/>
                <a:sym typeface="+mn-ea"/>
              </a:rPr>
              <a:t>策略</a:t>
            </a:r>
            <a:endParaRPr lang="zh-CN" altLang="en-US" dirty="0" smtClean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 smtClean="0">
                <a:cs typeface="微软雅黑" panose="020B0503020204020204" charset="-122"/>
                <a:sym typeface="+mn-ea"/>
              </a:rPr>
              <a:t>一、整体设计要素总览</a:t>
            </a:r>
            <a:endParaRPr lang="zh-CN" altLang="en-US" dirty="0" smtClean="0"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310515" y="513080"/>
            <a:ext cx="11516995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会员（用户）体系的设计共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设计策略、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设计专题，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29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个设计要素。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5" name="圆角矩形 164"/>
          <p:cNvSpPr/>
          <p:nvPr>
            <p:custDataLst>
              <p:tags r:id="rId2"/>
            </p:custDataLst>
          </p:nvPr>
        </p:nvSpPr>
        <p:spPr>
          <a:xfrm>
            <a:off x="242570" y="1048385"/>
            <a:ext cx="5934075" cy="18497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3"/>
            </p:custDataLst>
          </p:nvPr>
        </p:nvSpPr>
        <p:spPr>
          <a:xfrm>
            <a:off x="311784" y="1002665"/>
            <a:ext cx="5637531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一、会员</a:t>
            </a:r>
            <a:r>
              <a:rPr lang="zh-CN" altLang="en-US" sz="16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圆角矩形 166"/>
          <p:cNvSpPr/>
          <p:nvPr>
            <p:custDataLst>
              <p:tags r:id="rId4"/>
            </p:custDataLst>
          </p:nvPr>
        </p:nvSpPr>
        <p:spPr>
          <a:xfrm>
            <a:off x="6234430" y="1048385"/>
            <a:ext cx="5878195" cy="18497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/>
          <p:cNvSpPr txBox="1"/>
          <p:nvPr>
            <p:custDataLst>
              <p:tags r:id="rId5"/>
            </p:custDataLst>
          </p:nvPr>
        </p:nvSpPr>
        <p:spPr>
          <a:xfrm>
            <a:off x="6303645" y="1002665"/>
            <a:ext cx="59589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四、数据</a:t>
            </a:r>
            <a:r>
              <a:rPr lang="zh-CN" altLang="en-US" sz="16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endParaRPr lang="zh-CN" altLang="en-US" sz="16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6"/>
            </p:custDataLst>
          </p:nvPr>
        </p:nvSpPr>
        <p:spPr>
          <a:xfrm>
            <a:off x="242570" y="2989580"/>
            <a:ext cx="5934075" cy="366839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7"/>
            </p:custDataLst>
          </p:nvPr>
        </p:nvSpPr>
        <p:spPr>
          <a:xfrm>
            <a:off x="311784" y="2990850"/>
            <a:ext cx="5918836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二、积分</a:t>
            </a:r>
            <a:r>
              <a:rPr lang="zh-CN" altLang="en-US" sz="16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endParaRPr lang="zh-CN" altLang="en-US" sz="16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圆角矩形 170"/>
          <p:cNvSpPr/>
          <p:nvPr>
            <p:custDataLst>
              <p:tags r:id="rId8"/>
            </p:custDataLst>
          </p:nvPr>
        </p:nvSpPr>
        <p:spPr>
          <a:xfrm>
            <a:off x="6234430" y="2989580"/>
            <a:ext cx="5877560" cy="3665855"/>
          </a:xfrm>
          <a:prstGeom prst="roundRect">
            <a:avLst>
              <a:gd name="adj" fmla="val 118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/>
          <p:cNvSpPr txBox="1"/>
          <p:nvPr>
            <p:custDataLst>
              <p:tags r:id="rId9"/>
            </p:custDataLst>
          </p:nvPr>
        </p:nvSpPr>
        <p:spPr>
          <a:xfrm>
            <a:off x="6333489" y="2990850"/>
            <a:ext cx="56884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三、权益</a:t>
            </a:r>
            <a:r>
              <a:rPr lang="zh-CN" altLang="en-US" sz="16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343535" y="1294765"/>
            <a:ext cx="5716905" cy="1614805"/>
            <a:chOff x="541" y="2119"/>
            <a:chExt cx="9003" cy="2543"/>
          </a:xfrm>
        </p:grpSpPr>
        <p:sp>
          <p:nvSpPr>
            <p:cNvPr id="174" name="文本框 173"/>
            <p:cNvSpPr txBox="1"/>
            <p:nvPr/>
          </p:nvSpPr>
          <p:spPr>
            <a:xfrm>
              <a:off x="541" y="2119"/>
              <a:ext cx="4322" cy="25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【统一会员标识】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zh-CN" altLang="en-US" sz="1200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以大会员提供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唯一的会员标识，</a:t>
              </a:r>
              <a:r>
                <a:rPr lang="en-US" altLang="zh-CN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Member ID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）以大会员</a:t>
              </a:r>
              <a:r>
                <a:rPr lang="zh-CN" altLang="en-US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统一管理会员权限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，手机号修改、会员合并、黑白名单等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5" name="文本框 174"/>
            <p:cNvSpPr txBox="1"/>
            <p:nvPr>
              <p:custDataLst>
                <p:tags r:id="rId10"/>
              </p:custDataLst>
            </p:nvPr>
          </p:nvSpPr>
          <p:spPr>
            <a:xfrm>
              <a:off x="4864" y="2119"/>
              <a:ext cx="4680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【会员入会门槛】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zh-CN" altLang="en-US" sz="14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手机号为唯一会员</a:t>
              </a:r>
              <a:r>
                <a:rPr lang="zh-CN" altLang="en-US" sz="1400" b="1" dirty="0" smtClean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标识</a:t>
              </a:r>
              <a:r>
                <a:rPr lang="zh-CN" altLang="en-US" sz="1200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。通过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身份认证分配</a:t>
              </a:r>
              <a:r>
                <a:rPr lang="zh-CN" altLang="en-US" sz="1200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身份标记。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</a:t>
              </a: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会员身份认证包括：实名认证、居住认证、工作认证、员工</a:t>
              </a:r>
              <a:r>
                <a:rPr lang="zh-CN" sz="1200" dirty="0" smtClean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认证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76" name="文本框 175"/>
          <p:cNvSpPr txBox="1"/>
          <p:nvPr>
            <p:custDataLst>
              <p:tags r:id="rId11"/>
            </p:custDataLst>
          </p:nvPr>
        </p:nvSpPr>
        <p:spPr>
          <a:xfrm>
            <a:off x="310515" y="3351530"/>
            <a:ext cx="252984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、【统一积分账户】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积分即统一积分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端用户提供的统一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积分账户。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7" name="文本框 176"/>
          <p:cNvSpPr txBox="1"/>
          <p:nvPr>
            <p:custDataLst>
              <p:tags r:id="rId12"/>
            </p:custDataLst>
          </p:nvPr>
        </p:nvSpPr>
        <p:spPr>
          <a:xfrm>
            <a:off x="310515" y="4248785"/>
            <a:ext cx="2590165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、【统一积分查询】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用户的积分余额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、积分明细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zh-CN"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r>
              <a:rPr lang="zh-CN" sz="12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授权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查询的的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为准。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>
            <p:custDataLst>
              <p:tags r:id="rId13"/>
            </p:custDataLst>
          </p:nvPr>
        </p:nvSpPr>
        <p:spPr>
          <a:xfrm>
            <a:off x="310515" y="5116195"/>
            <a:ext cx="27781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、【统一积分有效期】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积分在大会员进行统一过期，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有效期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，采用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滚动清零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的方式。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9" name="文本框 178"/>
          <p:cNvSpPr txBox="1"/>
          <p:nvPr>
            <p:custDataLst>
              <p:tags r:id="rId14"/>
            </p:custDataLst>
          </p:nvPr>
        </p:nvSpPr>
        <p:spPr>
          <a:xfrm>
            <a:off x="347345" y="5965825"/>
            <a:ext cx="6152846" cy="69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、【统一积分价值】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计算各个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业务场景积分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价值以及行业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对标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分析，所有业务场景使用统一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积分价值</a:t>
            </a:r>
            <a:endParaRPr lang="zh-CN" altLang="en-US" sz="14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0" name="文本框 179"/>
          <p:cNvSpPr txBox="1"/>
          <p:nvPr>
            <p:custDataLst>
              <p:tags r:id="rId15"/>
            </p:custDataLst>
          </p:nvPr>
        </p:nvSpPr>
        <p:spPr>
          <a:xfrm>
            <a:off x="3084195" y="3351530"/>
            <a:ext cx="2975610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、【统一积分清结算】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中央银行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模式结算。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共发分、兑分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种方式，建议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发分结算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1" name="文本框 180"/>
          <p:cNvSpPr txBox="1"/>
          <p:nvPr>
            <p:custDataLst>
              <p:tags r:id="rId16"/>
            </p:custDataLst>
          </p:nvPr>
        </p:nvSpPr>
        <p:spPr>
          <a:xfrm>
            <a:off x="3088640" y="4248785"/>
            <a:ext cx="31140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、【积分发放场景】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大积分发放场景的汇总，并针对现阶段积分发放场景及规则进行预设</a:t>
            </a:r>
            <a:r>
              <a:rPr lang="en-US" altLang="zh-CN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47</a:t>
            </a:r>
            <a:r>
              <a:rPr lang="zh-CN" altLang="en-US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预设。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2" name="文本框 181"/>
          <p:cNvSpPr txBox="1"/>
          <p:nvPr>
            <p:custDataLst>
              <p:tags r:id="rId17"/>
            </p:custDataLst>
          </p:nvPr>
        </p:nvSpPr>
        <p:spPr>
          <a:xfrm>
            <a:off x="3088640" y="5116195"/>
            <a:ext cx="30880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、【积分回收场景】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大积分回收场景的汇总，并针对现阶段积分回收场景及规则进行预设</a:t>
            </a:r>
            <a:r>
              <a:rPr lang="en-US" altLang="zh-CN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预设。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3" name="文本框 182"/>
          <p:cNvSpPr txBox="1"/>
          <p:nvPr>
            <p:custDataLst>
              <p:tags r:id="rId18"/>
            </p:custDataLst>
          </p:nvPr>
        </p:nvSpPr>
        <p:spPr>
          <a:xfrm>
            <a:off x="6351905" y="3351530"/>
            <a:ext cx="23552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、【统一会员等级体系】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6362065" y="1478280"/>
            <a:ext cx="5536565" cy="1245235"/>
            <a:chOff x="541" y="2319"/>
            <a:chExt cx="8719" cy="1961"/>
          </a:xfrm>
        </p:grpSpPr>
        <p:sp>
          <p:nvSpPr>
            <p:cNvPr id="185" name="文本框 184"/>
            <p:cNvSpPr txBox="1"/>
            <p:nvPr>
              <p:custDataLst>
                <p:tags r:id="rId19"/>
              </p:custDataLst>
            </p:nvPr>
          </p:nvSpPr>
          <p:spPr>
            <a:xfrm>
              <a:off x="541" y="2319"/>
              <a:ext cx="4293" cy="19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14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、【统一会员数据标准类型】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、统一会员基础数据，包括</a:t>
              </a: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会员标识信息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、会员基础资料、会员关联新等。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、帮助进行业务及行为数据的整合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6" name="文本框 185"/>
            <p:cNvSpPr txBox="1"/>
            <p:nvPr>
              <p:custDataLst>
                <p:tags r:id="rId20"/>
              </p:custDataLst>
            </p:nvPr>
          </p:nvSpPr>
          <p:spPr>
            <a:xfrm>
              <a:off x="4864" y="2319"/>
              <a:ext cx="4396" cy="19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15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、【会员数据沉淀方式】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lvl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sz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大会员将提供数据主键、数据同步、数据埋点的建议，以供数运部门及数据系统进行数据沉淀。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87" name="圆角矩形 186"/>
          <p:cNvSpPr/>
          <p:nvPr>
            <p:custDataLst>
              <p:tags r:id="rId21"/>
            </p:custDataLst>
          </p:nvPr>
        </p:nvSpPr>
        <p:spPr>
          <a:xfrm>
            <a:off x="6724015" y="4763770"/>
            <a:ext cx="2058670" cy="999490"/>
          </a:xfrm>
          <a:prstGeom prst="roundRect">
            <a:avLst>
              <a:gd name="adj" fmla="val 6741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会员等级根据成长值变更</a:t>
            </a:r>
            <a:endParaRPr lang="zh-CN" altLang="en-US" sz="12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2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2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>
            <p:custDataLst>
              <p:tags r:id="rId22"/>
            </p:custDataLst>
          </p:nvPr>
        </p:nvSpPr>
        <p:spPr>
          <a:xfrm>
            <a:off x="6795135" y="537210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object 40"/>
          <p:cNvSpPr/>
          <p:nvPr>
            <p:custDataLst>
              <p:tags r:id="rId23"/>
            </p:custDataLst>
          </p:nvPr>
        </p:nvSpPr>
        <p:spPr>
          <a:xfrm rot="5400000">
            <a:off x="7219315" y="5411470"/>
            <a:ext cx="120015" cy="9334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>
            <p:custDataLst>
              <p:tags r:id="rId24"/>
            </p:custDataLst>
          </p:nvPr>
        </p:nvSpPr>
        <p:spPr>
          <a:xfrm>
            <a:off x="6957695" y="5219700"/>
            <a:ext cx="1769745" cy="76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/>
          <p:cNvSpPr/>
          <p:nvPr>
            <p:custDataLst>
              <p:tags r:id="rId25"/>
            </p:custDataLst>
          </p:nvPr>
        </p:nvSpPr>
        <p:spPr>
          <a:xfrm>
            <a:off x="6957695" y="5222875"/>
            <a:ext cx="75565" cy="7556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/>
          <p:cNvSpPr/>
          <p:nvPr>
            <p:custDataLst>
              <p:tags r:id="rId26"/>
            </p:custDataLst>
          </p:nvPr>
        </p:nvSpPr>
        <p:spPr>
          <a:xfrm>
            <a:off x="7400925" y="5216525"/>
            <a:ext cx="75565" cy="7556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/>
          <p:cNvSpPr/>
          <p:nvPr>
            <p:custDataLst>
              <p:tags r:id="rId27"/>
            </p:custDataLst>
          </p:nvPr>
        </p:nvSpPr>
        <p:spPr>
          <a:xfrm>
            <a:off x="8154670" y="5222875"/>
            <a:ext cx="76200" cy="76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圆角矩形 193"/>
          <p:cNvSpPr/>
          <p:nvPr>
            <p:custDataLst>
              <p:tags r:id="rId28"/>
            </p:custDataLst>
          </p:nvPr>
        </p:nvSpPr>
        <p:spPr>
          <a:xfrm>
            <a:off x="7367270" y="536575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>
            <p:custDataLst>
              <p:tags r:id="rId29"/>
            </p:custDataLst>
          </p:nvPr>
        </p:nvSpPr>
        <p:spPr>
          <a:xfrm>
            <a:off x="8142605" y="5365750"/>
            <a:ext cx="402590" cy="184150"/>
          </a:xfrm>
          <a:prstGeom prst="roundRect">
            <a:avLst>
              <a:gd name="adj" fmla="val 7817"/>
            </a:avLst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等级</a:t>
            </a:r>
            <a:r>
              <a:rPr lang="en-US" altLang="zh-CN" sz="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object 40"/>
          <p:cNvSpPr/>
          <p:nvPr>
            <p:custDataLst>
              <p:tags r:id="rId30"/>
            </p:custDataLst>
          </p:nvPr>
        </p:nvSpPr>
        <p:spPr>
          <a:xfrm rot="5400000">
            <a:off x="7894955" y="5411470"/>
            <a:ext cx="120015" cy="9334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ln>
            <a:solidFill>
              <a:srgbClr val="4472C4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>
            <p:custDataLst>
              <p:tags r:id="rId31"/>
            </p:custDataLst>
          </p:nvPr>
        </p:nvSpPr>
        <p:spPr>
          <a:xfrm>
            <a:off x="6737350" y="5014595"/>
            <a:ext cx="56769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8" name="文本框 197"/>
          <p:cNvSpPr txBox="1"/>
          <p:nvPr>
            <p:custDataLst>
              <p:tags r:id="rId32"/>
            </p:custDataLst>
          </p:nvPr>
        </p:nvSpPr>
        <p:spPr>
          <a:xfrm>
            <a:off x="7249795" y="5015230"/>
            <a:ext cx="76263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000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9" name="文本框 198"/>
          <p:cNvSpPr txBox="1"/>
          <p:nvPr>
            <p:custDataLst>
              <p:tags r:id="rId33"/>
            </p:custDataLst>
          </p:nvPr>
        </p:nvSpPr>
        <p:spPr>
          <a:xfrm>
            <a:off x="7935595" y="5011420"/>
            <a:ext cx="87249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0000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成长值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圆角矩形 199"/>
          <p:cNvSpPr/>
          <p:nvPr>
            <p:custDataLst>
              <p:tags r:id="rId34"/>
            </p:custDataLst>
          </p:nvPr>
        </p:nvSpPr>
        <p:spPr>
          <a:xfrm>
            <a:off x="9560560" y="3705860"/>
            <a:ext cx="986155" cy="7207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会员等级权益</a:t>
            </a:r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1" name="圆角矩形 200"/>
          <p:cNvSpPr/>
          <p:nvPr>
            <p:custDataLst>
              <p:tags r:id="rId35"/>
            </p:custDataLst>
          </p:nvPr>
        </p:nvSpPr>
        <p:spPr>
          <a:xfrm>
            <a:off x="10631170" y="3705860"/>
            <a:ext cx="984885" cy="720725"/>
          </a:xfrm>
          <a:prstGeom prst="roundRect">
            <a:avLst>
              <a:gd name="adj" fmla="val 7719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特殊身份权益</a:t>
            </a:r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0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2" name="文本框 201"/>
          <p:cNvSpPr txBox="1"/>
          <p:nvPr>
            <p:custDataLst>
              <p:tags r:id="rId36"/>
            </p:custDataLst>
          </p:nvPr>
        </p:nvSpPr>
        <p:spPr>
          <a:xfrm>
            <a:off x="9381490" y="3261360"/>
            <a:ext cx="272986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、【统一权益类型】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3" name="文本框 202"/>
          <p:cNvSpPr txBox="1"/>
          <p:nvPr>
            <p:custDataLst>
              <p:tags r:id="rId37"/>
            </p:custDataLst>
          </p:nvPr>
        </p:nvSpPr>
        <p:spPr>
          <a:xfrm>
            <a:off x="9395460" y="4393565"/>
            <a:ext cx="2426335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、【统一权益内容】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提供权益场景的收集，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业务场景用户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旅程的梳理。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4" name="文本框 203"/>
          <p:cNvSpPr txBox="1"/>
          <p:nvPr>
            <p:custDataLst>
              <p:tags r:id="rId38"/>
            </p:custDataLst>
          </p:nvPr>
        </p:nvSpPr>
        <p:spPr>
          <a:xfrm>
            <a:off x="6795135" y="5564505"/>
            <a:ext cx="14351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注：会员不执行降级规则</a:t>
            </a:r>
            <a:endParaRPr lang="zh-CN" altLang="en-US" sz="800" b="1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圆角矩形 204"/>
          <p:cNvSpPr/>
          <p:nvPr>
            <p:custDataLst>
              <p:tags r:id="rId39"/>
            </p:custDataLst>
          </p:nvPr>
        </p:nvSpPr>
        <p:spPr>
          <a:xfrm>
            <a:off x="9635490" y="4055110"/>
            <a:ext cx="408305" cy="2762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通用权益</a:t>
            </a:r>
            <a:endParaRPr lang="zh-CN" altLang="en-US" sz="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6" name="圆角矩形 205"/>
          <p:cNvSpPr/>
          <p:nvPr>
            <p:custDataLst>
              <p:tags r:id="rId40"/>
            </p:custDataLst>
          </p:nvPr>
        </p:nvSpPr>
        <p:spPr>
          <a:xfrm>
            <a:off x="10796905" y="4074160"/>
            <a:ext cx="635000" cy="2000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员工权益</a:t>
            </a:r>
            <a:endParaRPr lang="zh-CN" altLang="en-US" sz="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7" name="圆角矩形 206"/>
          <p:cNvSpPr/>
          <p:nvPr>
            <p:custDataLst>
              <p:tags r:id="rId41"/>
            </p:custDataLst>
          </p:nvPr>
        </p:nvSpPr>
        <p:spPr>
          <a:xfrm>
            <a:off x="10073640" y="4055110"/>
            <a:ext cx="408305" cy="276225"/>
          </a:xfrm>
          <a:prstGeom prst="roundRect">
            <a:avLst>
              <a:gd name="adj" fmla="val 628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项目权益</a:t>
            </a:r>
            <a:endParaRPr lang="zh-CN" altLang="en-US" sz="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8" name="文本框 207"/>
          <p:cNvSpPr txBox="1"/>
          <p:nvPr>
            <p:custDataLst>
              <p:tags r:id="rId42"/>
            </p:custDataLst>
          </p:nvPr>
        </p:nvSpPr>
        <p:spPr>
          <a:xfrm>
            <a:off x="9395460" y="5297170"/>
            <a:ext cx="242633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、【统一权益服务】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现阶段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权益进行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26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预设。其中通用权益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条，项目权益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条，员工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权益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6315075" y="4034155"/>
            <a:ext cx="3104515" cy="2593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三级会员</a:t>
            </a:r>
            <a:r>
              <a:rPr lang="zh-CN" altLang="en-US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制度、会员只升级不降级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会员升降级门槛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en-US" altLang="zh-CN" sz="1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000</a:t>
            </a:r>
            <a:r>
              <a:rPr lang="zh-CN" altLang="en-US" sz="1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en-US" altLang="zh-CN" sz="12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0000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会员及会员等级名称：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需要领导选择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</a:t>
            </a:r>
            <a:r>
              <a:rPr lang="zh-CN" altLang="en-US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</a:t>
            </a:r>
            <a:r>
              <a:rPr lang="en-US" altLang="zh-CN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400" b="1" dirty="0" smtClean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名称</a:t>
            </a:r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、各等级段会员名称、成长值名称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0" name="文本框 209"/>
          <p:cNvSpPr txBox="1"/>
          <p:nvPr>
            <p:custDataLst>
              <p:tags r:id="rId43"/>
            </p:custDataLst>
          </p:nvPr>
        </p:nvSpPr>
        <p:spPr>
          <a:xfrm>
            <a:off x="6329362" y="3695741"/>
            <a:ext cx="309054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会员交易模型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核算会员等级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灯片编号占位符 2"/>
          <p:cNvSpPr txBox="1"/>
          <p:nvPr>
            <p:custDataLst>
              <p:tags r:id="rId44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>
            <p:custDataLst>
              <p:tags r:id="rId1"/>
            </p:custDataLst>
          </p:nvPr>
        </p:nvSpPr>
        <p:spPr>
          <a:xfrm>
            <a:off x="830580" y="2418080"/>
            <a:ext cx="5500370" cy="3886200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</a:rPr>
              <a:t>积分有效期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540385" y="866140"/>
            <a:ext cx="5712460" cy="1484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【设计要素】统一有效期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）会员平台提供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对所有合作方的过期积分进行清零，不提供合作方自行清零的权限。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）建议采用滚动清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零的方式，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每天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</a:rPr>
              <a:t>23:59:00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将对过期积分开始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清零。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4"/>
            </p:custDataLst>
          </p:nvPr>
        </p:nvSpPr>
        <p:spPr>
          <a:xfrm>
            <a:off x="494030" y="752475"/>
            <a:ext cx="11325860" cy="5833110"/>
          </a:xfrm>
          <a:prstGeom prst="roundRect">
            <a:avLst>
              <a:gd name="adj" fmla="val 277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1339850" y="3888103"/>
          <a:ext cx="4755515" cy="2233239"/>
        </p:xfrm>
        <a:graphic>
          <a:graphicData uri="http://schemas.openxmlformats.org/drawingml/2006/table">
            <a:tbl>
              <a:tblPr/>
              <a:tblGrid>
                <a:gridCol w="752386"/>
                <a:gridCol w="1874567"/>
                <a:gridCol w="2128562"/>
              </a:tblGrid>
              <a:tr h="49078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固定时间过期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滚动时间过期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5978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适用行业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银行、商业地产等行业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通信行业、社区商业等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796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应用场景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低频、高客单的发分场景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高频、低客单的发分场景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5978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回收目标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一次性积分回收，强化品牌感知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快速回收积分，增加用户的活跃度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活动形式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开展大型品牌活动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不定期长期开展促销活动，增加触达用户的频次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518275" y="1250315"/>
            <a:ext cx="4815205" cy="1953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）建议采用积分有效期：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年。即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年前（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</a:rPr>
              <a:t>730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天前）的这一天的积分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累计。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即将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过期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积分统一通知：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由会员平台统一进行即将过期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积分的通知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，各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个业务系统不用计算即将过期积分。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1870" y="2454524"/>
            <a:ext cx="5103495" cy="1014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安居的积分营销以市场化的消费板块为主，住房板块为辅。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安居的消费板块以高频、低客单价的场景为主，缺少集中式规模化消费场景，不适合采用固定日期清零。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固定时间过期和滚动时间过期的特点：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701790" y="2061845"/>
            <a:ext cx="4533900" cy="1009650"/>
          </a:xfrm>
          <a:prstGeom prst="roundRect">
            <a:avLst>
              <a:gd name="adj" fmla="val 943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8"/>
            </p:custDataLst>
          </p:nvPr>
        </p:nvSpPr>
        <p:spPr>
          <a:xfrm>
            <a:off x="6875779" y="2101215"/>
            <a:ext cx="21559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租赁合同有效期：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公共人才房租期：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市场型房屋租期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9"/>
            </p:custDataLst>
          </p:nvPr>
        </p:nvSpPr>
        <p:spPr>
          <a:xfrm>
            <a:off x="9311005" y="2220595"/>
            <a:ext cx="1922145" cy="54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积分有效期：</a:t>
            </a:r>
            <a:r>
              <a:rPr lang="en-US" altLang="zh-CN" sz="22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2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lang="zh-CN" altLang="en-US" sz="2200" b="1" dirty="0" smtClean="0">
              <a:solidFill>
                <a:srgbClr val="205C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object 40"/>
          <p:cNvSpPr/>
          <p:nvPr>
            <p:custDataLst>
              <p:tags r:id="rId10"/>
            </p:custDataLst>
          </p:nvPr>
        </p:nvSpPr>
        <p:spPr>
          <a:xfrm rot="5400000">
            <a:off x="8729980" y="2360930"/>
            <a:ext cx="592455" cy="381635"/>
          </a:xfrm>
          <a:custGeom>
            <a:avLst/>
            <a:gdLst/>
            <a:ahLst/>
            <a:cxnLst/>
            <a:rect l="l" t="t" r="r" b="b"/>
            <a:pathLst>
              <a:path w="360045" h="376554">
                <a:moveTo>
                  <a:pt x="269748" y="179831"/>
                </a:moveTo>
                <a:lnTo>
                  <a:pt x="89916" y="179831"/>
                </a:lnTo>
                <a:lnTo>
                  <a:pt x="89916" y="376427"/>
                </a:lnTo>
                <a:lnTo>
                  <a:pt x="269748" y="376427"/>
                </a:lnTo>
                <a:lnTo>
                  <a:pt x="269748" y="179831"/>
                </a:lnTo>
                <a:close/>
              </a:path>
              <a:path w="360045" h="376554">
                <a:moveTo>
                  <a:pt x="179832" y="0"/>
                </a:moveTo>
                <a:lnTo>
                  <a:pt x="0" y="179831"/>
                </a:lnTo>
                <a:lnTo>
                  <a:pt x="359664" y="179831"/>
                </a:lnTo>
                <a:lnTo>
                  <a:pt x="179832" y="0"/>
                </a:lnTo>
                <a:close/>
              </a:path>
            </a:pathLst>
          </a:custGeom>
          <a:solidFill>
            <a:srgbClr val="205CC6"/>
          </a:solidFill>
        </p:spPr>
        <p:txBody>
          <a:bodyPr wrap="square" lIns="0" tIns="0" rIns="0" bIns="0" rtlCol="0"/>
          <a:lstStyle/>
          <a:p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781800" y="5203825"/>
            <a:ext cx="4450715" cy="381000"/>
            <a:chOff x="9335" y="8557"/>
            <a:chExt cx="8278" cy="826"/>
          </a:xfrm>
          <a:solidFill>
            <a:schemeClr val="bg1"/>
          </a:solidFill>
        </p:grpSpPr>
        <p:sp>
          <p:nvSpPr>
            <p:cNvPr id="65" name="圆角矩形 64"/>
            <p:cNvSpPr/>
            <p:nvPr>
              <p:custDataLst>
                <p:tags r:id="rId11"/>
              </p:custDataLst>
            </p:nvPr>
          </p:nvSpPr>
          <p:spPr>
            <a:xfrm>
              <a:off x="12161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积分即将过期通知</a:t>
              </a:r>
              <a:endPara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12"/>
              </p:custDataLst>
            </p:nvPr>
          </p:nvSpPr>
          <p:spPr>
            <a:xfrm>
              <a:off x="14987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积分清零通知</a:t>
              </a:r>
              <a:endPara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13"/>
              </p:custDataLst>
            </p:nvPr>
          </p:nvSpPr>
          <p:spPr>
            <a:xfrm>
              <a:off x="9335" y="8557"/>
              <a:ext cx="2626" cy="826"/>
            </a:xfrm>
            <a:prstGeom prst="roundRect">
              <a:avLst>
                <a:gd name="adj" fmla="val 345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即将过期积分查询</a:t>
              </a:r>
              <a:endParaRPr lang="zh-CN" altLang="en-US" sz="10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" name="圆角矩形 28"/>
          <p:cNvSpPr/>
          <p:nvPr>
            <p:custDataLst>
              <p:tags r:id="rId14"/>
            </p:custDataLst>
          </p:nvPr>
        </p:nvSpPr>
        <p:spPr>
          <a:xfrm>
            <a:off x="6781800" y="4662170"/>
            <a:ext cx="4453890" cy="422910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统一积分过期通知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积分清结算模型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7519670" y="1767840"/>
            <a:ext cx="4121150" cy="3122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）发分结算：发分即产生费用，兑分即产生收入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发分：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即业务单元发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分，应付大会员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兑分：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即业务单元收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分，应收大会员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）兑分结算：发分不产生费用，积分跨场兑换后产生积分费用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本场积分本场兑：不结算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本场积分他场兑：应付大会员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他场积分本场兑：应收大会员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966309" y="986100"/>
            <a:ext cx="4643120" cy="4425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【设计要素】结算方式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）共两种结算方式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过期积分残值价值归属：发分结算归属大会员；兑分归属发分方。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）建议采用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发分结算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的方式。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>
            <p:custDataLst>
              <p:tags r:id="rId4"/>
            </p:custDataLst>
          </p:nvPr>
        </p:nvSpPr>
        <p:spPr>
          <a:xfrm>
            <a:off x="6912610" y="879475"/>
            <a:ext cx="4739005" cy="5365750"/>
          </a:xfrm>
          <a:prstGeom prst="roundRect">
            <a:avLst>
              <a:gd name="adj" fmla="val 1924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5"/>
            </p:custDataLst>
          </p:nvPr>
        </p:nvSpPr>
        <p:spPr>
          <a:xfrm>
            <a:off x="613410" y="879475"/>
            <a:ext cx="6102350" cy="536575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62305" y="987425"/>
            <a:ext cx="5932170" cy="2084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【设计要素】清结算模型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sz="1400" dirty="0" err="1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r>
              <a:rPr sz="1400" dirty="0" err="1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采用中央银行模式</a:t>
            </a:r>
            <a:r>
              <a:rPr sz="1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，进行积分清结算。清结算系统作为管理方，</a:t>
            </a:r>
            <a:r>
              <a:rPr sz="1400" dirty="0" err="1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向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业务方</a:t>
            </a:r>
            <a:r>
              <a:rPr sz="1400" dirty="0" err="1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输出积分结算账单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）成立特定组织（法人）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负责“中央银行“的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日常运营。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）房屋租赁公司（公共住房、市场租赁、商业运营）内部跨场结算采用营销费用调拨的方式；房屋租赁公司与城服公司间采用开票结算的方式。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右箭头 21"/>
          <p:cNvSpPr/>
          <p:nvPr>
            <p:custDataLst>
              <p:tags r:id="rId7"/>
            </p:custDataLst>
          </p:nvPr>
        </p:nvSpPr>
        <p:spPr>
          <a:xfrm rot="5400000">
            <a:off x="3347720" y="5074920"/>
            <a:ext cx="413385" cy="5378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8"/>
            </p:custDataLst>
          </p:nvPr>
        </p:nvSpPr>
        <p:spPr>
          <a:xfrm>
            <a:off x="2874645" y="4229100"/>
            <a:ext cx="1359535" cy="1055370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房屋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租赁公司会员平台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清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结算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9"/>
            </p:custDataLst>
          </p:nvPr>
        </p:nvSpPr>
        <p:spPr>
          <a:xfrm>
            <a:off x="4775835" y="489013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城服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公司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椭圆 34"/>
          <p:cNvSpPr/>
          <p:nvPr>
            <p:custDataLst>
              <p:tags r:id="rId10"/>
            </p:custDataLst>
          </p:nvPr>
        </p:nvSpPr>
        <p:spPr>
          <a:xfrm>
            <a:off x="4745355" y="3542030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市场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租赁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椭圆 43"/>
          <p:cNvSpPr/>
          <p:nvPr>
            <p:custDataLst>
              <p:tags r:id="rId11"/>
            </p:custDataLst>
          </p:nvPr>
        </p:nvSpPr>
        <p:spPr>
          <a:xfrm>
            <a:off x="982345" y="503618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商业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运营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椭圆 44"/>
          <p:cNvSpPr/>
          <p:nvPr>
            <p:custDataLst>
              <p:tags r:id="rId12"/>
            </p:custDataLst>
          </p:nvPr>
        </p:nvSpPr>
        <p:spPr>
          <a:xfrm>
            <a:off x="1035685" y="3552825"/>
            <a:ext cx="1350645" cy="864235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公共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住房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右箭头 17"/>
          <p:cNvSpPr/>
          <p:nvPr>
            <p:custDataLst>
              <p:tags r:id="rId13"/>
            </p:custDataLst>
          </p:nvPr>
        </p:nvSpPr>
        <p:spPr>
          <a:xfrm rot="20100000">
            <a:off x="4364355" y="4035425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右箭头 19"/>
          <p:cNvSpPr/>
          <p:nvPr>
            <p:custDataLst>
              <p:tags r:id="rId14"/>
            </p:custDataLst>
          </p:nvPr>
        </p:nvSpPr>
        <p:spPr>
          <a:xfrm rot="13200000">
            <a:off x="2432050" y="4035425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右箭头 20"/>
          <p:cNvSpPr/>
          <p:nvPr>
            <p:custDataLst>
              <p:tags r:id="rId15"/>
            </p:custDataLst>
          </p:nvPr>
        </p:nvSpPr>
        <p:spPr>
          <a:xfrm rot="1200000">
            <a:off x="4363085" y="5057140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右箭头 22"/>
          <p:cNvSpPr/>
          <p:nvPr>
            <p:custDataLst>
              <p:tags r:id="rId16"/>
            </p:custDataLst>
          </p:nvPr>
        </p:nvSpPr>
        <p:spPr>
          <a:xfrm rot="8820000">
            <a:off x="2440305" y="5057140"/>
            <a:ext cx="327025" cy="3092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2804160" y="5560060"/>
            <a:ext cx="1500505" cy="44386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第三方发分主体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3491230" y="2931160"/>
            <a:ext cx="5001260" cy="3340100"/>
          </a:xfrm>
          <a:prstGeom prst="roundRect">
            <a:avLst>
              <a:gd name="adj" fmla="val 1700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积分价值核算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>
            <p:custDataLst>
              <p:tags r:id="rId3"/>
            </p:custDataLst>
          </p:nvPr>
        </p:nvSpPr>
        <p:spPr>
          <a:xfrm>
            <a:off x="85090" y="802640"/>
            <a:ext cx="11975465" cy="5633085"/>
          </a:xfrm>
          <a:prstGeom prst="roundRect">
            <a:avLst>
              <a:gd name="adj" fmla="val 1579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4"/>
            </p:custDataLst>
          </p:nvPr>
        </p:nvSpPr>
        <p:spPr>
          <a:xfrm>
            <a:off x="4069715" y="1669415"/>
            <a:ext cx="4269740" cy="740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28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0.004</a:t>
            </a:r>
            <a:r>
              <a:rPr lang="zh-CN" altLang="en-US" sz="2800" b="1" dirty="0" smtClean="0">
                <a:solidFill>
                  <a:srgbClr val="205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en-US" altLang="zh-CN" sz="2800" b="1" dirty="0" smtClean="0">
              <a:solidFill>
                <a:srgbClr val="205C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41910" y="819150"/>
            <a:ext cx="4200525" cy="559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【设计要素】积分价值核算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00050" y="2985770"/>
            <a:ext cx="2103755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行业对标企业积分价值：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7"/>
            </p:custDataLst>
          </p:nvPr>
        </p:nvSpPr>
        <p:spPr>
          <a:xfrm>
            <a:off x="240665" y="2931160"/>
            <a:ext cx="3149600" cy="3327400"/>
          </a:xfrm>
          <a:prstGeom prst="roundRect">
            <a:avLst>
              <a:gd name="adj" fmla="val 1948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539490" y="297624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各个业务线积分价值：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0405" y="3663315"/>
            <a:ext cx="2414905" cy="2188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某润：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=0.004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某秀：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=0.02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某泰：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某湖：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某国信：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=0.01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65845" y="3424555"/>
            <a:ext cx="3260090" cy="2768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积分价值低优点：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、积分价值低更多满足低频、低单价的场景。例如，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元积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的效果好于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“10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元积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、积分价值低，将来的业务灵活度越高；对预算的把握程度更高。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、精准到小数点后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位，更满足财务精准的的处理。</a:t>
            </a:r>
            <a:endParaRPr lang="zh-CN" altLang="en-US" sz="11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积分价值高优点：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高价值适用于高单价、高利润的场景，更利于品牌传播。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9"/>
            </p:custDataLst>
          </p:nvPr>
        </p:nvGraphicFramePr>
        <p:xfrm>
          <a:off x="3581400" y="3561080"/>
          <a:ext cx="4819650" cy="2396490"/>
        </p:xfrm>
        <a:graphic>
          <a:graphicData uri="http://schemas.openxmlformats.org/drawingml/2006/table">
            <a:tbl>
              <a:tblPr/>
              <a:tblGrid>
                <a:gridCol w="287020"/>
                <a:gridCol w="769620"/>
                <a:gridCol w="559435"/>
                <a:gridCol w="608965"/>
                <a:gridCol w="680720"/>
                <a:gridCol w="641985"/>
                <a:gridCol w="671830"/>
                <a:gridCol w="600075"/>
              </a:tblGrid>
              <a:tr h="397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业务线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年营销预算金(万元)</a:t>
                      </a:r>
                      <a:endParaRPr lang="en-US" altLang="en-US" sz="800" b="0" dirty="0" err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年会员预算金额(万元)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年积分预算金额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万元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  <a:endParaRPr lang="en-US" altLang="zh-CN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年度交易规模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万元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  <a:endParaRPr lang="en-US" altLang="zh-CN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年度发分规模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万积分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)</a:t>
                      </a:r>
                      <a:endParaRPr lang="en-US" altLang="zh-CN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积分价值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公共住房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公共型住房租赁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2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公共型住房销售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企业长租公寓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1.3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0.78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180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=0.0043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800" b="1" i="0" u="none" strike="noStrike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2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个人长租公寓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91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集中式商业服务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1164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132.5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79.5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205CC6"/>
                          </a:solidFill>
                          <a:latin typeface="微软雅黑" panose="020B0503020204020204" charset="-122"/>
                          <a:sym typeface="+mn-ea"/>
                        </a:rPr>
                        <a:t>19914.4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=0.0040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800" b="1" i="0" u="none" strike="noStrike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89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临街式商业服务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城服公司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188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5.5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3.3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3300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740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=0.0045</a:t>
                      </a:r>
                      <a:r>
                        <a:rPr lang="zh-CN" altLang="en-US" sz="800" b="1" i="0" u="none" strike="noStrike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800" b="1" i="0" u="none" strike="noStrike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增值业务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0.64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sz="10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=0.0063</a:t>
                      </a:r>
                      <a:r>
                        <a:rPr lang="zh-CN" altLang="en-US" sz="800" b="1" i="0" u="none" strike="noStrike" dirty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800" b="1" i="0" u="none" strike="noStrike" dirty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平台运营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350" marR="6350" marT="635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1000" b="1" i="0" u="none" strike="noStrike" dirty="0" smtClean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0" i="0" u="none" strike="noStrike" dirty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5500</a:t>
                      </a:r>
                      <a:endParaRPr lang="en-US" altLang="zh-CN" sz="1000" b="1" i="0" u="none" strike="noStrike" dirty="0" smtClean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8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</a:t>
                      </a:r>
                      <a:r>
                        <a:rPr lang="en-US" altLang="zh-CN" sz="8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=0.0055</a:t>
                      </a:r>
                      <a:r>
                        <a:rPr lang="zh-CN" altLang="en-US" sz="800" b="1" i="0" u="none" strike="noStrike" dirty="0" smtClean="0">
                          <a:solidFill>
                            <a:srgbClr val="205CC6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800" b="1" i="0" u="none" strike="noStrike" dirty="0" smtClean="0">
                        <a:solidFill>
                          <a:srgbClr val="205CC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3613150" y="5984875"/>
            <a:ext cx="2707640" cy="213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zh-CN" altLang="en-US" sz="8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预设会员整体投入预算，其中发积分形式占比</a:t>
            </a:r>
            <a:r>
              <a:rPr lang="en-US" altLang="zh-CN" sz="8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60%</a:t>
            </a:r>
            <a:endParaRPr lang="zh-CN" altLang="en-US" sz="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12090" y="1238885"/>
            <a:ext cx="10670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根据行业积分价值以及</a:t>
            </a:r>
            <a:r>
              <a:rPr lang="zh-CN" altLang="en-US" sz="1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各个业务场景积分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价值，积分价值高低的优缺点，建议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业务场景采用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统一的积分价值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10"/>
            </p:custDataLst>
          </p:nvPr>
        </p:nvSpPr>
        <p:spPr>
          <a:xfrm>
            <a:off x="3491230" y="2933700"/>
            <a:ext cx="4999355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各业务线积分价值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8595995" y="2931160"/>
            <a:ext cx="3387725" cy="3339465"/>
          </a:xfrm>
          <a:prstGeom prst="roundRect">
            <a:avLst>
              <a:gd name="adj" fmla="val 1700"/>
            </a:avLst>
          </a:prstGeom>
          <a:noFill/>
          <a:ln w="3175">
            <a:solidFill>
              <a:srgbClr val="205CC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12"/>
            </p:custDataLst>
          </p:nvPr>
        </p:nvSpPr>
        <p:spPr>
          <a:xfrm>
            <a:off x="8590915" y="2922270"/>
            <a:ext cx="3399155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积分价值高低的优缺点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>
            <p:custDataLst>
              <p:tags r:id="rId13"/>
            </p:custDataLst>
          </p:nvPr>
        </p:nvSpPr>
        <p:spPr>
          <a:xfrm>
            <a:off x="239395" y="2922905"/>
            <a:ext cx="3150870" cy="473710"/>
          </a:xfrm>
          <a:prstGeom prst="roundRect">
            <a:avLst>
              <a:gd name="adj" fmla="val 3450"/>
            </a:avLst>
          </a:prstGeom>
          <a:solidFill>
            <a:srgbClr val="205CC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行业对标企业积分价值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12595" y="2500630"/>
            <a:ext cx="8683625" cy="236855"/>
            <a:chOff x="2697" y="3938"/>
            <a:chExt cx="13675" cy="373"/>
          </a:xfrm>
        </p:grpSpPr>
        <p:sp>
          <p:nvSpPr>
            <p:cNvPr id="27" name="object 40"/>
            <p:cNvSpPr/>
            <p:nvPr>
              <p:custDataLst>
                <p:tags r:id="rId14"/>
              </p:custDataLst>
            </p:nvPr>
          </p:nvSpPr>
          <p:spPr>
            <a:xfrm>
              <a:off x="2697" y="3971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object 40"/>
            <p:cNvSpPr/>
            <p:nvPr>
              <p:custDataLst>
                <p:tags r:id="rId15"/>
              </p:custDataLst>
            </p:nvPr>
          </p:nvSpPr>
          <p:spPr>
            <a:xfrm>
              <a:off x="9418" y="3938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object 40"/>
            <p:cNvSpPr/>
            <p:nvPr>
              <p:custDataLst>
                <p:tags r:id="rId16"/>
              </p:custDataLst>
            </p:nvPr>
          </p:nvSpPr>
          <p:spPr>
            <a:xfrm>
              <a:off x="15980" y="3938"/>
              <a:ext cx="392" cy="340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205CC6"/>
            </a:solidFill>
          </p:spPr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圆角矩形 9"/>
          <p:cNvSpPr/>
          <p:nvPr>
            <p:custDataLst>
              <p:tags r:id="rId17"/>
            </p:custDataLst>
          </p:nvPr>
        </p:nvSpPr>
        <p:spPr>
          <a:xfrm>
            <a:off x="315595" y="1799590"/>
            <a:ext cx="11610975" cy="618490"/>
          </a:xfrm>
          <a:prstGeom prst="roundRect">
            <a:avLst>
              <a:gd name="adj" fmla="val 3450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05CC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12879705" y="398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273050" y="826770"/>
            <a:ext cx="3306445" cy="5781675"/>
          </a:xfrm>
          <a:prstGeom prst="roundRect">
            <a:avLst>
              <a:gd name="adj" fmla="val 119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2392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会员等级及升降级规则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11" name="灯片编号占位符 2"/>
          <p:cNvSpPr txBox="1"/>
          <p:nvPr>
            <p:custDataLst>
              <p:tags r:id="rId3"/>
            </p:custDataLst>
          </p:nvPr>
        </p:nvSpPr>
        <p:spPr>
          <a:xfrm>
            <a:off x="11460164" y="6618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006705" y="4111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4"/>
            </p:custDataLst>
          </p:nvPr>
        </p:nvSpPr>
        <p:spPr>
          <a:xfrm>
            <a:off x="3667760" y="826770"/>
            <a:ext cx="8190230" cy="5781675"/>
          </a:xfrm>
          <a:prstGeom prst="roundRect">
            <a:avLst>
              <a:gd name="adj" fmla="val 1195"/>
            </a:avLst>
          </a:prstGeom>
          <a:solidFill>
            <a:schemeClr val="bg1"/>
          </a:solidFill>
          <a:ln>
            <a:solidFill>
              <a:srgbClr val="99B1DE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689350" y="904875"/>
            <a:ext cx="781939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【设计要素】会员升降级规则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会员等级与成长值挂钩，成长值累积带来会员等级提升。目前不执行降级策略。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350520" y="2002155"/>
            <a:ext cx="3133090" cy="124015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70815" y="894715"/>
            <a:ext cx="3409315" cy="1050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【设计要素】会员等级划分标准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会员等级采用以交易成长值为基础的三级会员制度。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8"/>
            </p:custDataLst>
          </p:nvPr>
        </p:nvGraphicFramePr>
        <p:xfrm>
          <a:off x="401320" y="3415665"/>
          <a:ext cx="3082290" cy="2998470"/>
        </p:xfrm>
        <a:graphic>
          <a:graphicData uri="http://schemas.openxmlformats.org/drawingml/2006/table">
            <a:tbl>
              <a:tblPr/>
              <a:tblGrid>
                <a:gridCol w="680085"/>
                <a:gridCol w="1200785"/>
                <a:gridCol w="1201420"/>
              </a:tblGrid>
              <a:tr h="4083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分级方式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优点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缺点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347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三级</a:t>
                      </a:r>
                      <a:endParaRPr lang="zh-CN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会员制度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级别规则对于用户相对简单清晰易懂； 高端会员相对集中，较容易与普通会员区分，执行区别的忠诚度计划策略相对容易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级别升级标准跨越度较大，会员升级相对困难，普通会员晋升积极性较低； 对银卡以上级别会员的区别权益设置不够显著；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54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四级</a:t>
                      </a:r>
                      <a:endParaRPr lang="zh-CN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会员制度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级别晋升标准落差相对平缓，普通会员晋升银卡级别相对容易，能够较好的识别出潜在的价值用户；级别权益划分更加精准，能够覆盖较多不同需求的会员；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划分四级以后，会员对级别权益需求增加，当顶级权益并无大幅提高的情况下，高端会员的心理落差较大；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692785" y="2182495"/>
            <a:ext cx="2589530" cy="281940"/>
            <a:chOff x="2339" y="5667"/>
            <a:chExt cx="4078" cy="444"/>
          </a:xfrm>
        </p:grpSpPr>
        <p:sp>
          <p:nvSpPr>
            <p:cNvPr id="25" name="圆角矩形 24"/>
            <p:cNvSpPr/>
            <p:nvPr>
              <p:custDataLst>
                <p:tags r:id="rId9"/>
              </p:custDataLst>
            </p:nvPr>
          </p:nvSpPr>
          <p:spPr>
            <a:xfrm>
              <a:off x="2339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10"/>
              </p:custDataLst>
            </p:nvPr>
          </p:nvSpPr>
          <p:spPr>
            <a:xfrm>
              <a:off x="3872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11"/>
              </p:custDataLst>
            </p:nvPr>
          </p:nvSpPr>
          <p:spPr>
            <a:xfrm>
              <a:off x="5405" y="5670"/>
              <a:ext cx="1012" cy="439"/>
            </a:xfrm>
            <a:prstGeom prst="roundRect">
              <a:avLst>
                <a:gd name="adj" fmla="val 7817"/>
              </a:avLst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等级</a:t>
              </a:r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object 40"/>
            <p:cNvSpPr/>
            <p:nvPr>
              <p:custDataLst>
                <p:tags r:id="rId12"/>
              </p:custDataLst>
            </p:nvPr>
          </p:nvSpPr>
          <p:spPr>
            <a:xfrm rot="5400000">
              <a:off x="3424" y="5774"/>
              <a:ext cx="441" cy="232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ln>
              <a:solidFill>
                <a:srgbClr val="4472C4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object 40"/>
            <p:cNvSpPr/>
            <p:nvPr>
              <p:custDataLst>
                <p:tags r:id="rId13"/>
              </p:custDataLst>
            </p:nvPr>
          </p:nvSpPr>
          <p:spPr>
            <a:xfrm rot="5400000">
              <a:off x="4939" y="5771"/>
              <a:ext cx="441" cy="232"/>
            </a:xfrm>
            <a:custGeom>
              <a:avLst/>
              <a:gdLst/>
              <a:ahLst/>
              <a:cxnLst/>
              <a:rect l="l" t="t" r="r" b="b"/>
              <a:pathLst>
                <a:path w="360045" h="376554">
                  <a:moveTo>
                    <a:pt x="269748" y="179831"/>
                  </a:moveTo>
                  <a:lnTo>
                    <a:pt x="89916" y="179831"/>
                  </a:lnTo>
                  <a:lnTo>
                    <a:pt x="89916" y="376427"/>
                  </a:lnTo>
                  <a:lnTo>
                    <a:pt x="269748" y="376427"/>
                  </a:lnTo>
                  <a:lnTo>
                    <a:pt x="269748" y="179831"/>
                  </a:lnTo>
                  <a:close/>
                </a:path>
                <a:path w="360045" h="376554">
                  <a:moveTo>
                    <a:pt x="179832" y="0"/>
                  </a:moveTo>
                  <a:lnTo>
                    <a:pt x="0" y="179831"/>
                  </a:lnTo>
                  <a:lnTo>
                    <a:pt x="359664" y="179831"/>
                  </a:lnTo>
                  <a:lnTo>
                    <a:pt x="179832" y="0"/>
                  </a:lnTo>
                  <a:close/>
                </a:path>
              </a:pathLst>
            </a:custGeom>
            <a:ln>
              <a:solidFill>
                <a:srgbClr val="4472C4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870585" y="2541905"/>
            <a:ext cx="22053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）筛选会员及非会员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）初步筛选优质客户</a:t>
            </a:r>
            <a:endParaRPr lang="zh-CN" altLang="en-US" sz="14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15"/>
            </p:custDataLst>
          </p:nvPr>
        </p:nvSpPr>
        <p:spPr>
          <a:xfrm>
            <a:off x="7723505" y="4177665"/>
            <a:ext cx="3695700" cy="236918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圆角矩形 31"/>
          <p:cNvSpPr/>
          <p:nvPr>
            <p:custDataLst>
              <p:tags r:id="rId16"/>
            </p:custDataLst>
          </p:nvPr>
        </p:nvSpPr>
        <p:spPr>
          <a:xfrm>
            <a:off x="3957320" y="4213225"/>
            <a:ext cx="3617595" cy="2333625"/>
          </a:xfrm>
          <a:prstGeom prst="roundRect">
            <a:avLst>
              <a:gd name="adj" fmla="val 182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4467225" y="418909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行业对标企业会员等级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4157345" y="4609465"/>
          <a:ext cx="3279140" cy="1871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695"/>
                <a:gridCol w="584200"/>
                <a:gridCol w="594995"/>
                <a:gridCol w="574675"/>
                <a:gridCol w="586105"/>
                <a:gridCol w="585470"/>
              </a:tblGrid>
              <a:tr h="3829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华润通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亚泰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越秀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龙珠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国信通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10000</a:t>
                      </a:r>
                      <a:r>
                        <a:rPr lang="zh-CN" altLang="en-US" sz="8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500000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7813675" y="4610100"/>
          <a:ext cx="3531235" cy="187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955"/>
                <a:gridCol w="1647190"/>
                <a:gridCol w="1101090"/>
              </a:tblGrid>
              <a:tr h="3721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业务线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年人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户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均</a:t>
                      </a:r>
                      <a:endParaRPr lang="zh-CN" altLang="en-US" sz="1200" b="1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交易</a:t>
                      </a:r>
                      <a:r>
                        <a:rPr lang="zh-CN" altLang="en-US" sz="12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金额</a:t>
                      </a:r>
                      <a:r>
                        <a:rPr lang="en-US" altLang="zh-CN" sz="12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2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r>
                        <a:rPr lang="en-US" altLang="zh-CN" sz="12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200" b="1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公共住房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公共型住房租赁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24000.0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0180"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公共型住房销售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53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市场企业保租房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40946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7170"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市场个人保租房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081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集中式商业服务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2000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0815"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临街式商业服务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954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城服公司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增值业务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360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 vMerge="1"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2500</a:t>
                      </a:r>
                      <a:endParaRPr lang="en-US" altLang="zh-CN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" name="文本框 35"/>
          <p:cNvSpPr txBox="1"/>
          <p:nvPr>
            <p:custDataLst>
              <p:tags r:id="rId20"/>
            </p:custDataLst>
          </p:nvPr>
        </p:nvSpPr>
        <p:spPr>
          <a:xfrm>
            <a:off x="8304530" y="4189095"/>
            <a:ext cx="2509520" cy="525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各个部门主要业务交易情况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062095" y="2158365"/>
            <a:ext cx="3056890" cy="1332472"/>
            <a:chOff x="11796" y="8251"/>
            <a:chExt cx="3412" cy="1701"/>
          </a:xfrm>
        </p:grpSpPr>
        <p:grpSp>
          <p:nvGrpSpPr>
            <p:cNvPr id="38" name="组合 76"/>
            <p:cNvGrpSpPr/>
            <p:nvPr/>
          </p:nvGrpSpPr>
          <p:grpSpPr>
            <a:xfrm>
              <a:off x="11796" y="8251"/>
              <a:ext cx="1599" cy="1688"/>
              <a:chOff x="6741813" y="-1166514"/>
              <a:chExt cx="2286564" cy="2938225"/>
            </a:xfrm>
          </p:grpSpPr>
          <p:sp>
            <p:nvSpPr>
              <p:cNvPr id="44" name="Freeform 4"/>
              <p:cNvSpPr/>
              <p:nvPr>
                <p:custDataLst>
                  <p:tags r:id="rId21"/>
                </p:custDataLst>
              </p:nvPr>
            </p:nvSpPr>
            <p:spPr bwMode="blackWhite">
              <a:xfrm>
                <a:off x="8579420" y="702195"/>
                <a:ext cx="448957" cy="1069514"/>
              </a:xfrm>
              <a:custGeom>
                <a:avLst/>
                <a:gdLst>
                  <a:gd name="T0" fmla="*/ 2147483647 w 979"/>
                  <a:gd name="T1" fmla="*/ 2147483647 h 1146"/>
                  <a:gd name="T2" fmla="*/ 0 w 979"/>
                  <a:gd name="T3" fmla="*/ 2147483647 h 1146"/>
                  <a:gd name="T4" fmla="*/ 2147483647 w 979"/>
                  <a:gd name="T5" fmla="*/ 0 h 1146"/>
                  <a:gd name="T6" fmla="*/ 2147483647 w 979"/>
                  <a:gd name="T7" fmla="*/ 2147483647 h 1146"/>
                  <a:gd name="T8" fmla="*/ 2147483647 w 979"/>
                  <a:gd name="T9" fmla="*/ 2147483647 h 11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79" h="1146">
                    <a:moveTo>
                      <a:pt x="498" y="1145"/>
                    </a:moveTo>
                    <a:lnTo>
                      <a:pt x="0" y="401"/>
                    </a:lnTo>
                    <a:lnTo>
                      <a:pt x="366" y="0"/>
                    </a:lnTo>
                    <a:lnTo>
                      <a:pt x="978" y="631"/>
                    </a:lnTo>
                    <a:lnTo>
                      <a:pt x="498" y="1145"/>
                    </a:lnTo>
                  </a:path>
                </a:pathLst>
              </a:custGeom>
              <a:solidFill>
                <a:srgbClr val="85C9F6">
                  <a:alpha val="81000"/>
                </a:srgbClr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59" name="Freeform 5"/>
              <p:cNvSpPr/>
              <p:nvPr>
                <p:custDataLst>
                  <p:tags r:id="rId22"/>
                </p:custDataLst>
              </p:nvPr>
            </p:nvSpPr>
            <p:spPr bwMode="blackWhite">
              <a:xfrm>
                <a:off x="6969201" y="702198"/>
                <a:ext cx="1778379" cy="378360"/>
              </a:xfrm>
              <a:custGeom>
                <a:avLst/>
                <a:gdLst>
                  <a:gd name="T0" fmla="*/ 0 w 3876"/>
                  <a:gd name="T1" fmla="*/ 2147483647 h 405"/>
                  <a:gd name="T2" fmla="*/ 2147483647 w 3876"/>
                  <a:gd name="T3" fmla="*/ 2147483647 h 405"/>
                  <a:gd name="T4" fmla="*/ 2147483647 w 3876"/>
                  <a:gd name="T5" fmla="*/ 0 h 405"/>
                  <a:gd name="T6" fmla="*/ 2147483647 w 3876"/>
                  <a:gd name="T7" fmla="*/ 2147483647 h 405"/>
                  <a:gd name="T8" fmla="*/ 0 w 3876"/>
                  <a:gd name="T9" fmla="*/ 2147483647 h 4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76" h="405">
                    <a:moveTo>
                      <a:pt x="0" y="404"/>
                    </a:moveTo>
                    <a:lnTo>
                      <a:pt x="3510" y="404"/>
                    </a:lnTo>
                    <a:lnTo>
                      <a:pt x="3875" y="0"/>
                    </a:lnTo>
                    <a:lnTo>
                      <a:pt x="692" y="2"/>
                    </a:lnTo>
                    <a:lnTo>
                      <a:pt x="0" y="404"/>
                    </a:lnTo>
                  </a:path>
                </a:pathLst>
              </a:custGeom>
              <a:solidFill>
                <a:srgbClr val="FFFFFF">
                  <a:alpha val="50195"/>
                </a:srgbClr>
              </a:solidFill>
              <a:ln w="9525" cap="rnd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0" name="Freeform 6"/>
              <p:cNvSpPr/>
              <p:nvPr>
                <p:custDataLst>
                  <p:tags r:id="rId23"/>
                </p:custDataLst>
              </p:nvPr>
            </p:nvSpPr>
            <p:spPr bwMode="blackWhite">
              <a:xfrm>
                <a:off x="6741813" y="1077334"/>
                <a:ext cx="2066579" cy="694377"/>
              </a:xfrm>
              <a:custGeom>
                <a:avLst/>
                <a:gdLst>
                  <a:gd name="T0" fmla="*/ 0 w 4504"/>
                  <a:gd name="T1" fmla="*/ 2147483647 h 744"/>
                  <a:gd name="T2" fmla="*/ 2147483647 w 4504"/>
                  <a:gd name="T3" fmla="*/ 2147483647 h 744"/>
                  <a:gd name="T4" fmla="*/ 2147483647 w 4504"/>
                  <a:gd name="T5" fmla="*/ 0 h 744"/>
                  <a:gd name="T6" fmla="*/ 2147483647 w 4504"/>
                  <a:gd name="T7" fmla="*/ 0 h 744"/>
                  <a:gd name="T8" fmla="*/ 0 w 4504"/>
                  <a:gd name="T9" fmla="*/ 2147483647 h 7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04" h="744">
                    <a:moveTo>
                      <a:pt x="0" y="743"/>
                    </a:moveTo>
                    <a:lnTo>
                      <a:pt x="4503" y="743"/>
                    </a:lnTo>
                    <a:lnTo>
                      <a:pt x="4003" y="0"/>
                    </a:lnTo>
                    <a:lnTo>
                      <a:pt x="494" y="0"/>
                    </a:lnTo>
                    <a:lnTo>
                      <a:pt x="0" y="743"/>
                    </a:lnTo>
                  </a:path>
                </a:pathLst>
              </a:custGeom>
              <a:solidFill>
                <a:srgbClr val="B8D9F2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2" name="Freeform 7"/>
              <p:cNvSpPr/>
              <p:nvPr>
                <p:custDataLst>
                  <p:tags r:id="rId24"/>
                </p:custDataLst>
              </p:nvPr>
            </p:nvSpPr>
            <p:spPr bwMode="blackWhite">
              <a:xfrm>
                <a:off x="8312372" y="53424"/>
                <a:ext cx="391376" cy="914414"/>
              </a:xfrm>
              <a:custGeom>
                <a:avLst/>
                <a:gdLst>
                  <a:gd name="T0" fmla="*/ 0 w 854"/>
                  <a:gd name="T1" fmla="*/ 2147483647 h 993"/>
                  <a:gd name="T2" fmla="*/ 2147483647 w 854"/>
                  <a:gd name="T3" fmla="*/ 2147483647 h 993"/>
                  <a:gd name="T4" fmla="*/ 2147483647 w 854"/>
                  <a:gd name="T5" fmla="*/ 2147483647 h 993"/>
                  <a:gd name="T6" fmla="*/ 2147483647 w 854"/>
                  <a:gd name="T7" fmla="*/ 0 h 993"/>
                  <a:gd name="T8" fmla="*/ 0 w 854"/>
                  <a:gd name="T9" fmla="*/ 2147483647 h 9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0 w 9988"/>
                  <a:gd name="connsiteY0" fmla="*/ 2588 h 9869"/>
                  <a:gd name="connsiteX1" fmla="*/ 5913 w 9988"/>
                  <a:gd name="connsiteY1" fmla="*/ 9869 h 9869"/>
                  <a:gd name="connsiteX2" fmla="*/ 9988 w 9988"/>
                  <a:gd name="connsiteY2" fmla="*/ 6133 h 9869"/>
                  <a:gd name="connsiteX3" fmla="*/ 4047 w 9988"/>
                  <a:gd name="connsiteY3" fmla="*/ 0 h 9869"/>
                  <a:gd name="connsiteX4" fmla="*/ 0 w 9988"/>
                  <a:gd name="connsiteY4" fmla="*/ 2588 h 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88" h="9869">
                    <a:moveTo>
                      <a:pt x="0" y="2588"/>
                    </a:moveTo>
                    <a:lnTo>
                      <a:pt x="5913" y="9869"/>
                    </a:lnTo>
                    <a:lnTo>
                      <a:pt x="9988" y="6133"/>
                    </a:lnTo>
                    <a:lnTo>
                      <a:pt x="4047" y="0"/>
                    </a:lnTo>
                    <a:cubicBezTo>
                      <a:pt x="3091" y="903"/>
                      <a:pt x="956" y="1685"/>
                      <a:pt x="0" y="2588"/>
                    </a:cubicBezTo>
                  </a:path>
                </a:pathLst>
              </a:custGeom>
              <a:solidFill>
                <a:srgbClr val="85C9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3" name="Freeform 9"/>
              <p:cNvSpPr/>
              <p:nvPr>
                <p:custDataLst>
                  <p:tags r:id="rId25"/>
                </p:custDataLst>
              </p:nvPr>
            </p:nvSpPr>
            <p:spPr bwMode="blackWhite">
              <a:xfrm>
                <a:off x="7006745" y="292666"/>
                <a:ext cx="1538829" cy="677179"/>
              </a:xfrm>
              <a:custGeom>
                <a:avLst/>
                <a:gdLst>
                  <a:gd name="T0" fmla="*/ 0 w 3354"/>
                  <a:gd name="T1" fmla="*/ 2147483647 h 726"/>
                  <a:gd name="T2" fmla="*/ 2147483647 w 3354"/>
                  <a:gd name="T3" fmla="*/ 2147483647 h 726"/>
                  <a:gd name="T4" fmla="*/ 2147483647 w 3354"/>
                  <a:gd name="T5" fmla="*/ 0 h 726"/>
                  <a:gd name="T6" fmla="*/ 2147483647 w 3354"/>
                  <a:gd name="T7" fmla="*/ 0 h 726"/>
                  <a:gd name="T8" fmla="*/ 0 w 3354"/>
                  <a:gd name="T9" fmla="*/ 2147483647 h 7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54" h="726">
                    <a:moveTo>
                      <a:pt x="0" y="725"/>
                    </a:moveTo>
                    <a:lnTo>
                      <a:pt x="3353" y="725"/>
                    </a:lnTo>
                    <a:lnTo>
                      <a:pt x="2844" y="0"/>
                    </a:lnTo>
                    <a:lnTo>
                      <a:pt x="499" y="0"/>
                    </a:lnTo>
                    <a:lnTo>
                      <a:pt x="0" y="725"/>
                    </a:lnTo>
                  </a:path>
                </a:pathLst>
              </a:custGeom>
              <a:solidFill>
                <a:srgbClr val="85C9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4" name="Freeform 13"/>
              <p:cNvSpPr/>
              <p:nvPr>
                <p:custDataLst>
                  <p:tags r:id="rId26"/>
                </p:custDataLst>
              </p:nvPr>
            </p:nvSpPr>
            <p:spPr bwMode="blackWhite">
              <a:xfrm rot="120000">
                <a:off x="7747571" y="-1166514"/>
                <a:ext cx="708478" cy="1358903"/>
              </a:xfrm>
              <a:custGeom>
                <a:avLst/>
                <a:gdLst>
                  <a:gd name="T0" fmla="*/ 2147483647 w 623"/>
                  <a:gd name="T1" fmla="*/ 2147483647 h 735"/>
                  <a:gd name="T2" fmla="*/ 2147483647 w 623"/>
                  <a:gd name="T3" fmla="*/ 2147483647 h 735"/>
                  <a:gd name="T4" fmla="*/ 0 w 623"/>
                  <a:gd name="T5" fmla="*/ 0 h 735"/>
                  <a:gd name="T6" fmla="*/ 2147483647 w 623"/>
                  <a:gd name="T7" fmla="*/ 2147483647 h 7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3" h="735">
                    <a:moveTo>
                      <a:pt x="505" y="734"/>
                    </a:moveTo>
                    <a:lnTo>
                      <a:pt x="622" y="620"/>
                    </a:lnTo>
                    <a:lnTo>
                      <a:pt x="0" y="0"/>
                    </a:lnTo>
                    <a:lnTo>
                      <a:pt x="505" y="734"/>
                    </a:lnTo>
                  </a:path>
                </a:pathLst>
              </a:custGeom>
              <a:solidFill>
                <a:srgbClr val="067DD4"/>
              </a:solidFill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5" name="Freeform 14"/>
              <p:cNvSpPr/>
              <p:nvPr>
                <p:custDataLst>
                  <p:tags r:id="rId27"/>
                </p:custDataLst>
              </p:nvPr>
            </p:nvSpPr>
            <p:spPr bwMode="blackWhite">
              <a:xfrm>
                <a:off x="7236776" y="-1144224"/>
                <a:ext cx="1057032" cy="1357390"/>
              </a:xfrm>
              <a:custGeom>
                <a:avLst/>
                <a:gdLst>
                  <a:gd name="T0" fmla="*/ 0 w 1011"/>
                  <a:gd name="T1" fmla="*/ 2147483647 h 735"/>
                  <a:gd name="T2" fmla="*/ 2147483647 w 1011"/>
                  <a:gd name="T3" fmla="*/ 2147483647 h 735"/>
                  <a:gd name="T4" fmla="*/ 2147483647 w 1011"/>
                  <a:gd name="T5" fmla="*/ 0 h 735"/>
                  <a:gd name="T6" fmla="*/ 0 w 1011"/>
                  <a:gd name="T7" fmla="*/ 2147483647 h 7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11" h="735">
                    <a:moveTo>
                      <a:pt x="0" y="734"/>
                    </a:moveTo>
                    <a:lnTo>
                      <a:pt x="1010" y="734"/>
                    </a:lnTo>
                    <a:lnTo>
                      <a:pt x="505" y="0"/>
                    </a:lnTo>
                    <a:lnTo>
                      <a:pt x="0" y="734"/>
                    </a:lnTo>
                  </a:path>
                </a:pathLst>
              </a:custGeom>
              <a:solidFill>
                <a:srgbClr val="067DD4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6" name="Rectangle 15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black">
              <a:xfrm>
                <a:off x="6921996" y="1238701"/>
                <a:ext cx="1589066" cy="409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7620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rPr>
                  <a:t>V1</a:t>
                </a:r>
                <a:endParaRPr kumimoji="0" lang="en-US" altLang="zh-CN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  <p:sp>
            <p:nvSpPr>
              <p:cNvPr id="77" name="Rectangle 18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black">
              <a:xfrm>
                <a:off x="7100786" y="462412"/>
                <a:ext cx="1250281" cy="409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 anchorCtr="1">
                <a:spAutoFit/>
              </a:bodyPr>
              <a:lstStyle>
                <a:lvl1pPr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 b="1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7620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rPr>
                  <a:t>V2</a:t>
                </a:r>
                <a:endParaRPr kumimoji="0" lang="en-US" altLang="zh-CN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endParaRPr>
              </a:p>
            </p:txBody>
          </p:sp>
        </p:grpSp>
        <p:sp>
          <p:nvSpPr>
            <p:cNvPr id="78" name="Rectangle 18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black">
            <a:xfrm>
              <a:off x="12075" y="8662"/>
              <a:ext cx="874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微软雅黑" panose="020B0503020204020204" charset="-122"/>
                </a:rPr>
                <a:t>V3</a:t>
              </a:r>
              <a:endParaRPr kumimoji="0" lang="en-US" altLang="zh-CN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cxnSp>
          <p:nvCxnSpPr>
            <p:cNvPr id="79" name="直接连接符 81"/>
            <p:cNvCxnSpPr/>
            <p:nvPr>
              <p:custDataLst>
                <p:tags r:id="rId31"/>
              </p:custDataLst>
            </p:nvPr>
          </p:nvCxnSpPr>
          <p:spPr>
            <a:xfrm>
              <a:off x="12877" y="9513"/>
              <a:ext cx="2331" cy="0"/>
            </a:xfrm>
            <a:prstGeom prst="line">
              <a:avLst/>
            </a:prstGeom>
            <a:ln>
              <a:solidFill>
                <a:srgbClr val="067DD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82"/>
            <p:cNvSpPr txBox="1"/>
            <p:nvPr>
              <p:custDataLst>
                <p:tags r:id="rId32"/>
              </p:custDataLst>
            </p:nvPr>
          </p:nvSpPr>
          <p:spPr>
            <a:xfrm>
              <a:off x="13445" y="9600"/>
              <a:ext cx="1052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注册入会</a:t>
              </a:r>
              <a:endParaRPr kumimoji="0" lang="zh-CN" altLang="en-US" sz="12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文本框 83"/>
            <p:cNvSpPr txBox="1"/>
            <p:nvPr>
              <p:custDataLst>
                <p:tags r:id="rId33"/>
              </p:custDataLst>
            </p:nvPr>
          </p:nvSpPr>
          <p:spPr>
            <a:xfrm>
              <a:off x="13445" y="9130"/>
              <a:ext cx="1638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成长值达到</a:t>
              </a:r>
              <a:r>
                <a:rPr lang="en-US" altLang="zh-CN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kumimoji="0" lang="en-US" altLang="zh-CN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000</a:t>
              </a:r>
              <a:endParaRPr kumimoji="0" lang="zh-CN" altLang="en-US" sz="12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2" name="文本框 84"/>
            <p:cNvSpPr txBox="1"/>
            <p:nvPr>
              <p:custDataLst>
                <p:tags r:id="rId34"/>
              </p:custDataLst>
            </p:nvPr>
          </p:nvSpPr>
          <p:spPr>
            <a:xfrm>
              <a:off x="13445" y="8480"/>
              <a:ext cx="1763" cy="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成长值达到</a:t>
              </a:r>
              <a:r>
                <a:rPr lang="en-US" altLang="zh-CN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  <a:r>
                <a:rPr kumimoji="0" lang="en-US" altLang="zh-CN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0000</a:t>
              </a:r>
              <a:endParaRPr kumimoji="0" lang="zh-CN" altLang="en-US" sz="12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83" name="直接连接符 85"/>
            <p:cNvCxnSpPr/>
            <p:nvPr>
              <p:custDataLst>
                <p:tags r:id="rId35"/>
              </p:custDataLst>
            </p:nvPr>
          </p:nvCxnSpPr>
          <p:spPr>
            <a:xfrm>
              <a:off x="12815" y="9074"/>
              <a:ext cx="2393" cy="0"/>
            </a:xfrm>
            <a:prstGeom prst="line">
              <a:avLst/>
            </a:prstGeom>
            <a:ln>
              <a:solidFill>
                <a:srgbClr val="067DD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表格 83"/>
          <p:cNvGraphicFramePr/>
          <p:nvPr>
            <p:custDataLst>
              <p:tags r:id="rId36"/>
            </p:custDataLst>
          </p:nvPr>
        </p:nvGraphicFramePr>
        <p:xfrm>
          <a:off x="3964305" y="3597275"/>
          <a:ext cx="3269615" cy="557530"/>
        </p:xfrm>
        <a:graphic>
          <a:graphicData uri="http://schemas.openxmlformats.org/drawingml/2006/table">
            <a:tbl>
              <a:tblPr/>
              <a:tblGrid>
                <a:gridCol w="775970"/>
                <a:gridCol w="823595"/>
                <a:gridCol w="762000"/>
                <a:gridCol w="908050"/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会员等级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升级门槛</a:t>
                      </a:r>
                      <a:endParaRPr lang="zh-CN" altLang="en-US" sz="105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105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105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</a:t>
                      </a:r>
                      <a:r>
                        <a:rPr lang="zh-CN" altLang="en-US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en-US" altLang="zh-CN" sz="1050" b="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0000</a:t>
                      </a:r>
                      <a:r>
                        <a:rPr lang="zh-CN" altLang="en-US" sz="105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成长值</a:t>
                      </a:r>
                      <a:endParaRPr lang="zh-CN" altLang="en-US" sz="105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5" name="Rectangle 1"/>
          <p:cNvSpPr/>
          <p:nvPr>
            <p:custDataLst>
              <p:tags r:id="rId37"/>
            </p:custDataLst>
          </p:nvPr>
        </p:nvSpPr>
        <p:spPr>
          <a:xfrm>
            <a:off x="8069580" y="2218055"/>
            <a:ext cx="897890" cy="5638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交易</a:t>
            </a: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消费</a:t>
            </a:r>
            <a:endParaRPr kumimoji="0" lang="en-US" altLang="zh-CN" sz="12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升级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38"/>
          <p:cNvSpPr/>
          <p:nvPr>
            <p:custDataLst>
              <p:tags r:id="rId38"/>
            </p:custDataLst>
          </p:nvPr>
        </p:nvSpPr>
        <p:spPr>
          <a:xfrm>
            <a:off x="8078470" y="2933065"/>
            <a:ext cx="897890" cy="565785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住房板块</a:t>
            </a:r>
            <a:endParaRPr kumimoji="0" lang="en-US" altLang="zh-CN" sz="12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圆角矩形 2"/>
          <p:cNvSpPr/>
          <p:nvPr>
            <p:custDataLst>
              <p:tags r:id="rId39"/>
            </p:custDataLst>
          </p:nvPr>
        </p:nvSpPr>
        <p:spPr>
          <a:xfrm>
            <a:off x="8072120" y="3608705"/>
            <a:ext cx="904240" cy="474345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定向</a:t>
            </a:r>
            <a:r>
              <a:rPr lang="zh-CN" altLang="en-US" sz="1200" b="1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矩形 4"/>
          <p:cNvSpPr/>
          <p:nvPr>
            <p:custDataLst>
              <p:tags r:id="rId40"/>
            </p:custDataLst>
          </p:nvPr>
        </p:nvSpPr>
        <p:spPr>
          <a:xfrm>
            <a:off x="7911465" y="169545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升级路径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89" name="直接连接符 9"/>
          <p:cNvCxnSpPr/>
          <p:nvPr>
            <p:custDataLst>
              <p:tags r:id="rId41"/>
            </p:custDataLst>
          </p:nvPr>
        </p:nvCxnSpPr>
        <p:spPr>
          <a:xfrm>
            <a:off x="7854950" y="210883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直接连接符 22"/>
          <p:cNvCxnSpPr/>
          <p:nvPr>
            <p:custDataLst>
              <p:tags r:id="rId42"/>
            </p:custDataLst>
          </p:nvPr>
        </p:nvCxnSpPr>
        <p:spPr>
          <a:xfrm>
            <a:off x="9744075" y="205168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1" name="Rectangle 6"/>
          <p:cNvSpPr/>
          <p:nvPr>
            <p:custDataLst>
              <p:tags r:id="rId43"/>
            </p:custDataLst>
          </p:nvPr>
        </p:nvSpPr>
        <p:spPr>
          <a:xfrm>
            <a:off x="9455785" y="3602990"/>
            <a:ext cx="193040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r>
              <a:rPr kumimoji="0" lang="en-US" altLang="zh-CN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按需设置</a:t>
            </a:r>
            <a:endParaRPr lang="en-US" altLang="zh-CN" sz="1100" b="1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100" b="1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可售人才房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6"/>
          <p:cNvSpPr/>
          <p:nvPr>
            <p:custDataLst>
              <p:tags r:id="rId44"/>
            </p:custDataLst>
          </p:nvPr>
        </p:nvSpPr>
        <p:spPr>
          <a:xfrm>
            <a:off x="9464675" y="2812415"/>
            <a:ext cx="204470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公共租赁住房、市场租赁住房</a:t>
            </a:r>
            <a:endParaRPr kumimoji="0" lang="zh-CN" altLang="en-US" sz="11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93" name="Rectangle 6"/>
          <p:cNvSpPr/>
          <p:nvPr>
            <p:custDataLst>
              <p:tags r:id="rId45"/>
            </p:custDataLst>
          </p:nvPr>
        </p:nvSpPr>
        <p:spPr>
          <a:xfrm>
            <a:off x="9562465" y="2132965"/>
            <a:ext cx="181102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l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商业消费、增值服务消费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4" name="直接连接符 20"/>
          <p:cNvCxnSpPr/>
          <p:nvPr>
            <p:custDataLst>
              <p:tags r:id="rId46"/>
            </p:custDataLst>
          </p:nvPr>
        </p:nvCxnSpPr>
        <p:spPr>
          <a:xfrm>
            <a:off x="8056880" y="2863215"/>
            <a:ext cx="3078480" cy="444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AutoShape 13"/>
          <p:cNvSpPr>
            <a:spLocks noChangeArrowheads="1"/>
          </p:cNvSpPr>
          <p:nvPr>
            <p:custDataLst>
              <p:tags r:id="rId47"/>
            </p:custDataLst>
          </p:nvPr>
        </p:nvSpPr>
        <p:spPr bwMode="gray">
          <a:xfrm>
            <a:off x="7513955" y="2216150"/>
            <a:ext cx="340995" cy="1284605"/>
          </a:xfrm>
          <a:prstGeom prst="rect">
            <a:avLst/>
          </a:prstGeom>
          <a:solidFill>
            <a:srgbClr val="4472C4"/>
          </a:solidFill>
          <a:ln w="12700" cap="rnd" algn="ctr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常规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6" name="AutoShape 13"/>
          <p:cNvSpPr>
            <a:spLocks noChangeArrowheads="1"/>
          </p:cNvSpPr>
          <p:nvPr>
            <p:custDataLst>
              <p:tags r:id="rId48"/>
            </p:custDataLst>
          </p:nvPr>
        </p:nvSpPr>
        <p:spPr bwMode="gray">
          <a:xfrm>
            <a:off x="7509510" y="3557905"/>
            <a:ext cx="340995" cy="56705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rnd" algn="ctr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特殊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7" name="Rectangle 6"/>
          <p:cNvSpPr/>
          <p:nvPr>
            <p:custDataLst>
              <p:tags r:id="rId49"/>
            </p:custDataLst>
          </p:nvPr>
        </p:nvSpPr>
        <p:spPr>
          <a:xfrm>
            <a:off x="9006840" y="2360930"/>
            <a:ext cx="795020" cy="334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8" name="矩形 35"/>
          <p:cNvSpPr/>
          <p:nvPr>
            <p:custDataLst>
              <p:tags r:id="rId50"/>
            </p:custDataLst>
          </p:nvPr>
        </p:nvSpPr>
        <p:spPr>
          <a:xfrm>
            <a:off x="9773920" y="169545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67DD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9" name="矩形 4"/>
          <p:cNvSpPr/>
          <p:nvPr>
            <p:custDataLst>
              <p:tags r:id="rId51"/>
            </p:custDataLst>
          </p:nvPr>
        </p:nvSpPr>
        <p:spPr>
          <a:xfrm>
            <a:off x="9753600" y="169291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升级规则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矩形 99"/>
          <p:cNvSpPr/>
          <p:nvPr>
            <p:custDataLst>
              <p:tags r:id="rId52"/>
            </p:custDataLst>
          </p:nvPr>
        </p:nvSpPr>
        <p:spPr>
          <a:xfrm>
            <a:off x="9578975" y="2508250"/>
            <a:ext cx="193040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日常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消费，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元赠送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个成长值。</a:t>
            </a:r>
            <a:endParaRPr lang="zh-CN" altLang="en-US" sz="900" dirty="0"/>
          </a:p>
        </p:txBody>
      </p:sp>
      <p:sp>
        <p:nvSpPr>
          <p:cNvPr id="101" name="矩形 100"/>
          <p:cNvSpPr/>
          <p:nvPr>
            <p:custDataLst>
              <p:tags r:id="rId53"/>
            </p:custDataLst>
          </p:nvPr>
        </p:nvSpPr>
        <p:spPr>
          <a:xfrm>
            <a:off x="9591675" y="3113405"/>
            <a:ext cx="1706245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按租赁住房时长，</a:t>
            </a:r>
            <a:r>
              <a:rPr lang="en-US" altLang="zh-CN" sz="9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年升级</a:t>
            </a:r>
            <a:r>
              <a:rPr lang="en-US" altLang="zh-CN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V2,3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年升级</a:t>
            </a:r>
            <a:r>
              <a:rPr lang="en-US" altLang="zh-CN" sz="9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V3</a:t>
            </a:r>
            <a:endParaRPr lang="zh-CN" altLang="en-US" sz="900" dirty="0"/>
          </a:p>
        </p:txBody>
      </p:sp>
      <p:cxnSp>
        <p:nvCxnSpPr>
          <p:cNvPr id="102" name="直接连接符 22"/>
          <p:cNvCxnSpPr/>
          <p:nvPr>
            <p:custDataLst>
              <p:tags r:id="rId54"/>
            </p:custDataLst>
          </p:nvPr>
        </p:nvCxnSpPr>
        <p:spPr>
          <a:xfrm>
            <a:off x="5002530" y="2101215"/>
            <a:ext cx="1262380" cy="0"/>
          </a:xfrm>
          <a:prstGeom prst="line">
            <a:avLst/>
          </a:prstGeom>
          <a:ln w="28575">
            <a:solidFill>
              <a:srgbClr val="067DD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3" name="矩形 35"/>
          <p:cNvSpPr/>
          <p:nvPr>
            <p:custDataLst>
              <p:tags r:id="rId55"/>
            </p:custDataLst>
          </p:nvPr>
        </p:nvSpPr>
        <p:spPr>
          <a:xfrm>
            <a:off x="5032375" y="174498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67DD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" name="矩形 4"/>
          <p:cNvSpPr/>
          <p:nvPr>
            <p:custDataLst>
              <p:tags r:id="rId56"/>
            </p:custDataLst>
          </p:nvPr>
        </p:nvSpPr>
        <p:spPr>
          <a:xfrm>
            <a:off x="5012055" y="1742440"/>
            <a:ext cx="120586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成长值规则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主力收发分场景汇总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4081" y="578225"/>
            <a:ext cx="10407843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对行业及本项目的主力收、发分场景进行汇总：</a:t>
            </a: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344170" y="1112520"/>
            <a:ext cx="11535410" cy="2493645"/>
          </a:xfrm>
          <a:prstGeom prst="roundRect">
            <a:avLst>
              <a:gd name="adj" fmla="val 1566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344170" y="1112520"/>
            <a:ext cx="11535410" cy="53784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行业收发分主力场景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文本框 106"/>
          <p:cNvSpPr txBox="1"/>
          <p:nvPr>
            <p:custDataLst>
              <p:tags r:id="rId5"/>
            </p:custDataLst>
          </p:nvPr>
        </p:nvSpPr>
        <p:spPr>
          <a:xfrm>
            <a:off x="176530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地产销售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3783965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580263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物业服务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7821295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商业服务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9839960" y="176911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社区增值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>
            <a:off x="573405" y="2233930"/>
            <a:ext cx="56070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11"/>
            </p:custDataLst>
          </p:nvPr>
        </p:nvSpPr>
        <p:spPr>
          <a:xfrm>
            <a:off x="584200" y="3079750"/>
            <a:ext cx="5600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2"/>
            </p:custDataLst>
          </p:nvPr>
        </p:nvSpPr>
        <p:spPr>
          <a:xfrm>
            <a:off x="5384165" y="2235200"/>
            <a:ext cx="1643380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预缴物业费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>
            <a:off x="7526655" y="2228215"/>
            <a:ext cx="164338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9493250" y="2228215"/>
            <a:ext cx="183007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15"/>
            </p:custDataLst>
          </p:nvPr>
        </p:nvSpPr>
        <p:spPr>
          <a:xfrm>
            <a:off x="3412490" y="2228215"/>
            <a:ext cx="148653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缴纳房租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1419860" y="2131695"/>
            <a:ext cx="1740535" cy="66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注册经纪人、荐客等；购房签约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5440680" y="3074353"/>
            <a:ext cx="1572895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抵物业费、抵月卡费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18"/>
            </p:custDataLst>
          </p:nvPr>
        </p:nvSpPr>
        <p:spPr>
          <a:xfrm>
            <a:off x="7567295" y="2981643"/>
            <a:ext cx="142049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抵消费、抵停车费及兑礼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文本框 69"/>
          <p:cNvSpPr txBox="1"/>
          <p:nvPr>
            <p:custDataLst>
              <p:tags r:id="rId19"/>
            </p:custDataLst>
          </p:nvPr>
        </p:nvSpPr>
        <p:spPr>
          <a:xfrm>
            <a:off x="9780905" y="3067368"/>
            <a:ext cx="139128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抵消费及兑礼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20"/>
            </p:custDataLst>
          </p:nvPr>
        </p:nvSpPr>
        <p:spPr>
          <a:xfrm>
            <a:off x="3706495" y="3067368"/>
            <a:ext cx="133985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抵服务费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21"/>
            </p:custDataLst>
          </p:nvPr>
        </p:nvSpPr>
        <p:spPr>
          <a:xfrm>
            <a:off x="1449705" y="3097530"/>
            <a:ext cx="168973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抵房款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1179195" y="2820035"/>
            <a:ext cx="10349865" cy="1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>
            <p:custDataLst>
              <p:tags r:id="rId22"/>
            </p:custDataLst>
          </p:nvPr>
        </p:nvSpPr>
        <p:spPr>
          <a:xfrm>
            <a:off x="344170" y="3920490"/>
            <a:ext cx="11535410" cy="2493645"/>
          </a:xfrm>
          <a:prstGeom prst="roundRect">
            <a:avLst>
              <a:gd name="adj" fmla="val 1566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圆角矩形 80"/>
          <p:cNvSpPr/>
          <p:nvPr>
            <p:custDataLst>
              <p:tags r:id="rId23"/>
            </p:custDataLst>
          </p:nvPr>
        </p:nvSpPr>
        <p:spPr>
          <a:xfrm>
            <a:off x="344170" y="3920490"/>
            <a:ext cx="11535410" cy="537845"/>
          </a:xfrm>
          <a:prstGeom prst="roundRect">
            <a:avLst>
              <a:gd name="adj" fmla="val 345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人才安居收发分主力场景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24"/>
            </p:custDataLst>
          </p:nvPr>
        </p:nvSpPr>
        <p:spPr>
          <a:xfrm>
            <a:off x="1268095" y="4577080"/>
            <a:ext cx="13855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公共住房销售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25"/>
            </p:custDataLst>
          </p:nvPr>
        </p:nvSpPr>
        <p:spPr>
          <a:xfrm>
            <a:off x="4135755" y="4577080"/>
            <a:ext cx="96266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市场租赁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26"/>
            </p:custDataLst>
          </p:nvPr>
        </p:nvSpPr>
        <p:spPr>
          <a:xfrm>
            <a:off x="5802630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城服物业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1" name="文本框 90"/>
          <p:cNvSpPr txBox="1"/>
          <p:nvPr>
            <p:custDataLst>
              <p:tags r:id="rId27"/>
            </p:custDataLst>
          </p:nvPr>
        </p:nvSpPr>
        <p:spPr>
          <a:xfrm>
            <a:off x="7821295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商业运营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文本框 91"/>
          <p:cNvSpPr txBox="1"/>
          <p:nvPr>
            <p:custDataLst>
              <p:tags r:id="rId28"/>
            </p:custDataLst>
          </p:nvPr>
        </p:nvSpPr>
        <p:spPr>
          <a:xfrm>
            <a:off x="9839960" y="4577080"/>
            <a:ext cx="96202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社区增值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文本框 92"/>
          <p:cNvSpPr txBox="1"/>
          <p:nvPr>
            <p:custDataLst>
              <p:tags r:id="rId29"/>
            </p:custDataLst>
          </p:nvPr>
        </p:nvSpPr>
        <p:spPr>
          <a:xfrm>
            <a:off x="573405" y="5041900"/>
            <a:ext cx="56070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文本框 93"/>
          <p:cNvSpPr txBox="1"/>
          <p:nvPr>
            <p:custDataLst>
              <p:tags r:id="rId30"/>
            </p:custDataLst>
          </p:nvPr>
        </p:nvSpPr>
        <p:spPr>
          <a:xfrm>
            <a:off x="584200" y="5887720"/>
            <a:ext cx="5600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文本框 94"/>
          <p:cNvSpPr txBox="1"/>
          <p:nvPr>
            <p:custDataLst>
              <p:tags r:id="rId31"/>
            </p:custDataLst>
          </p:nvPr>
        </p:nvSpPr>
        <p:spPr>
          <a:xfrm>
            <a:off x="5297170" y="5034915"/>
            <a:ext cx="1822450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推荐、评价等每次送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预缴物业费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文本框 95"/>
          <p:cNvSpPr txBox="1"/>
          <p:nvPr>
            <p:custDataLst>
              <p:tags r:id="rId32"/>
            </p:custDataLst>
          </p:nvPr>
        </p:nvSpPr>
        <p:spPr>
          <a:xfrm>
            <a:off x="7526655" y="5149215"/>
            <a:ext cx="164338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7" name="文本框 96"/>
          <p:cNvSpPr txBox="1"/>
          <p:nvPr>
            <p:custDataLst>
              <p:tags r:id="rId33"/>
            </p:custDataLst>
          </p:nvPr>
        </p:nvSpPr>
        <p:spPr>
          <a:xfrm>
            <a:off x="9493250" y="5149215"/>
            <a:ext cx="183007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增值服务消费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文本框 97"/>
          <p:cNvSpPr txBox="1"/>
          <p:nvPr>
            <p:custDataLst>
              <p:tags r:id="rId34"/>
            </p:custDataLst>
          </p:nvPr>
        </p:nvSpPr>
        <p:spPr>
          <a:xfrm>
            <a:off x="3955415" y="5034915"/>
            <a:ext cx="129603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推荐、评价等每次送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文本框 98"/>
          <p:cNvSpPr txBox="1"/>
          <p:nvPr>
            <p:custDataLst>
              <p:tags r:id="rId35"/>
            </p:custDataLst>
          </p:nvPr>
        </p:nvSpPr>
        <p:spPr>
          <a:xfrm>
            <a:off x="1172210" y="5034915"/>
            <a:ext cx="1451610" cy="66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评价、签约等，购房签约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Y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36"/>
            </p:custDataLst>
          </p:nvPr>
        </p:nvSpPr>
        <p:spPr>
          <a:xfrm>
            <a:off x="5394325" y="5882323"/>
            <a:ext cx="1572895" cy="458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抵月卡费、社区兑礼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>
            <p:custDataLst>
              <p:tags r:id="rId37"/>
            </p:custDataLst>
          </p:nvPr>
        </p:nvSpPr>
        <p:spPr>
          <a:xfrm>
            <a:off x="7539355" y="5780405"/>
            <a:ext cx="148145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抵消费、抵停车费及兑礼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" name="文本框 101"/>
          <p:cNvSpPr txBox="1"/>
          <p:nvPr>
            <p:custDataLst>
              <p:tags r:id="rId38"/>
            </p:custDataLst>
          </p:nvPr>
        </p:nvSpPr>
        <p:spPr>
          <a:xfrm>
            <a:off x="9780905" y="5875338"/>
            <a:ext cx="1391285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抵消费及兑礼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文本框 102"/>
          <p:cNvSpPr txBox="1"/>
          <p:nvPr>
            <p:custDataLst>
              <p:tags r:id="rId39"/>
            </p:custDataLst>
          </p:nvPr>
        </p:nvSpPr>
        <p:spPr>
          <a:xfrm>
            <a:off x="4116070" y="5905183"/>
            <a:ext cx="133985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抵服务费</a:t>
            </a:r>
            <a:endParaRPr 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文本框 103"/>
          <p:cNvSpPr txBox="1"/>
          <p:nvPr>
            <p:custDataLst>
              <p:tags r:id="rId40"/>
            </p:custDataLst>
          </p:nvPr>
        </p:nvSpPr>
        <p:spPr>
          <a:xfrm>
            <a:off x="1354455" y="590550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6" name="直接连接符 105"/>
          <p:cNvCxnSpPr/>
          <p:nvPr>
            <p:custDataLst>
              <p:tags r:id="rId41"/>
            </p:custDataLst>
          </p:nvPr>
        </p:nvCxnSpPr>
        <p:spPr>
          <a:xfrm>
            <a:off x="1172845" y="5728335"/>
            <a:ext cx="10349865" cy="107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>
            <p:custDataLst>
              <p:tags r:id="rId42"/>
            </p:custDataLst>
          </p:nvPr>
        </p:nvSpPr>
        <p:spPr>
          <a:xfrm>
            <a:off x="2615565" y="4577080"/>
            <a:ext cx="138557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公共住房租赁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43"/>
            </p:custDataLst>
          </p:nvPr>
        </p:nvSpPr>
        <p:spPr>
          <a:xfrm>
            <a:off x="2701925" y="590550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文本框 110"/>
          <p:cNvSpPr txBox="1"/>
          <p:nvPr>
            <p:custDataLst>
              <p:tags r:id="rId44"/>
            </p:custDataLst>
          </p:nvPr>
        </p:nvSpPr>
        <p:spPr>
          <a:xfrm>
            <a:off x="2719070" y="5133340"/>
            <a:ext cx="1026795" cy="4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2" name="上箭头 111"/>
          <p:cNvSpPr/>
          <p:nvPr>
            <p:custDataLst>
              <p:tags r:id="rId45"/>
            </p:custDataLst>
          </p:nvPr>
        </p:nvSpPr>
        <p:spPr>
          <a:xfrm rot="10800000">
            <a:off x="194437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上箭头 112"/>
          <p:cNvSpPr/>
          <p:nvPr>
            <p:custDataLst>
              <p:tags r:id="rId46"/>
            </p:custDataLst>
          </p:nvPr>
        </p:nvSpPr>
        <p:spPr>
          <a:xfrm rot="10800000">
            <a:off x="423672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上箭头 113"/>
          <p:cNvSpPr/>
          <p:nvPr>
            <p:custDataLst>
              <p:tags r:id="rId47"/>
            </p:custDataLst>
          </p:nvPr>
        </p:nvSpPr>
        <p:spPr>
          <a:xfrm rot="10800000">
            <a:off x="6087745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上箭头 114"/>
          <p:cNvSpPr/>
          <p:nvPr>
            <p:custDataLst>
              <p:tags r:id="rId48"/>
            </p:custDataLst>
          </p:nvPr>
        </p:nvSpPr>
        <p:spPr>
          <a:xfrm rot="10800000">
            <a:off x="8153400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上箭头 115"/>
          <p:cNvSpPr/>
          <p:nvPr>
            <p:custDataLst>
              <p:tags r:id="rId49"/>
            </p:custDataLst>
          </p:nvPr>
        </p:nvSpPr>
        <p:spPr>
          <a:xfrm rot="10800000">
            <a:off x="10215245" y="36918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积分发放场景及规则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5608955" y="3324860"/>
            <a:ext cx="2076450" cy="50736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增值服务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圆角矩形 28"/>
          <p:cNvSpPr/>
          <p:nvPr>
            <p:custDataLst>
              <p:tags r:id="rId2"/>
            </p:custDataLst>
          </p:nvPr>
        </p:nvSpPr>
        <p:spPr>
          <a:xfrm>
            <a:off x="9707245" y="1053465"/>
            <a:ext cx="221742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物业服务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3"/>
            </p:custDataLst>
          </p:nvPr>
        </p:nvSpPr>
        <p:spPr>
          <a:xfrm>
            <a:off x="9716770" y="1053465"/>
            <a:ext cx="2218055" cy="432117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>
            <p:custDataLst>
              <p:tags r:id="rId4"/>
            </p:custDataLst>
          </p:nvPr>
        </p:nvSpPr>
        <p:spPr>
          <a:xfrm>
            <a:off x="5608320" y="3324860"/>
            <a:ext cx="2077085" cy="205041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5"/>
            </p:custDataLst>
          </p:nvPr>
        </p:nvSpPr>
        <p:spPr>
          <a:xfrm>
            <a:off x="7759065" y="1053465"/>
            <a:ext cx="187071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市场个人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圆角矩形 36"/>
          <p:cNvSpPr/>
          <p:nvPr>
            <p:custDataLst>
              <p:tags r:id="rId6"/>
            </p:custDataLst>
          </p:nvPr>
        </p:nvSpPr>
        <p:spPr>
          <a:xfrm>
            <a:off x="6185535" y="1041400"/>
            <a:ext cx="15100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市场企业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长租公寓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7"/>
            </p:custDataLst>
          </p:nvPr>
        </p:nvSpPr>
        <p:spPr>
          <a:xfrm>
            <a:off x="7759065" y="1065530"/>
            <a:ext cx="1871345" cy="431228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>
            <p:custDataLst>
              <p:tags r:id="rId8"/>
            </p:custDataLst>
          </p:nvPr>
        </p:nvSpPr>
        <p:spPr>
          <a:xfrm>
            <a:off x="4269105" y="1022985"/>
            <a:ext cx="18148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</a:t>
            </a:r>
            <a:r>
              <a:rPr lang="zh-CN" altLang="en-US" sz="13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住房销售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>
            <p:custDataLst>
              <p:tags r:id="rId9"/>
            </p:custDataLst>
          </p:nvPr>
        </p:nvSpPr>
        <p:spPr>
          <a:xfrm>
            <a:off x="2100580" y="1041400"/>
            <a:ext cx="2046605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公共住房租赁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圆角矩形 43"/>
          <p:cNvSpPr/>
          <p:nvPr>
            <p:custDataLst>
              <p:tags r:id="rId10"/>
            </p:custDataLst>
          </p:nvPr>
        </p:nvSpPr>
        <p:spPr>
          <a:xfrm>
            <a:off x="443230" y="1041400"/>
            <a:ext cx="1510030" cy="45910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基础服务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圆角矩形 38"/>
          <p:cNvSpPr/>
          <p:nvPr>
            <p:custDataLst>
              <p:tags r:id="rId11"/>
            </p:custDataLst>
          </p:nvPr>
        </p:nvSpPr>
        <p:spPr>
          <a:xfrm>
            <a:off x="6184900" y="1041400"/>
            <a:ext cx="1510665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12"/>
            </p:custDataLst>
          </p:nvPr>
        </p:nvSpPr>
        <p:spPr>
          <a:xfrm>
            <a:off x="4269105" y="1035050"/>
            <a:ext cx="1816100" cy="222440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>
            <p:custDataLst>
              <p:tags r:id="rId13"/>
            </p:custDataLst>
          </p:nvPr>
        </p:nvSpPr>
        <p:spPr>
          <a:xfrm>
            <a:off x="2099945" y="1041400"/>
            <a:ext cx="2047240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>
            <p:custDataLst>
              <p:tags r:id="rId14"/>
            </p:custDataLst>
          </p:nvPr>
        </p:nvSpPr>
        <p:spPr>
          <a:xfrm>
            <a:off x="442595" y="1041400"/>
            <a:ext cx="1510665" cy="222885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6" name="表格 45"/>
          <p:cNvGraphicFramePr/>
          <p:nvPr>
            <p:custDataLst>
              <p:tags r:id="rId15"/>
            </p:custDataLst>
          </p:nvPr>
        </p:nvGraphicFramePr>
        <p:xfrm>
          <a:off x="592455" y="1560195"/>
          <a:ext cx="1264285" cy="1698625"/>
        </p:xfrm>
        <a:graphic>
          <a:graphicData uri="http://schemas.openxmlformats.org/drawingml/2006/table">
            <a:tbl>
              <a:tblPr/>
              <a:tblGrid>
                <a:gridCol w="1264285"/>
              </a:tblGrid>
              <a:tr h="1698625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入会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2、完善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资料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3、完成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认证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4、签到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游戏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互动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填写调查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问卷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表格 46"/>
          <p:cNvGraphicFramePr/>
          <p:nvPr/>
        </p:nvGraphicFramePr>
        <p:xfrm>
          <a:off x="2212340" y="1455420"/>
          <a:ext cx="1809115" cy="1932940"/>
        </p:xfrm>
        <a:graphic>
          <a:graphicData uri="http://schemas.openxmlformats.org/drawingml/2006/table">
            <a:tbl>
              <a:tblPr/>
              <a:tblGrid>
                <a:gridCol w="1809115"/>
              </a:tblGrid>
              <a:tr h="19329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缴费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2、预付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租金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3、续租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签约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4、缴纳x元送Y积分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5、办理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dirty="0" smtClean="0">
                          <a:effectLst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dirty="0" smtClean="0">
                          <a:effectLst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押金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退款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dirty="0" smtClean="0">
                          <a:effectLst/>
                        </a:rPr>
                        <a:t>送积分</a:t>
                      </a:r>
                      <a:endParaRPr lang="zh-CN" altLang="en-US" sz="1100" dirty="0" smtClean="0">
                        <a:effectLst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4418965" y="1421765"/>
          <a:ext cx="1771015" cy="1932940"/>
        </p:xfrm>
        <a:graphic>
          <a:graphicData uri="http://schemas.openxmlformats.org/drawingml/2006/table">
            <a:tbl>
              <a:tblPr/>
              <a:tblGrid>
                <a:gridCol w="1771015"/>
              </a:tblGrid>
              <a:tr h="1932940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房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2、多次看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房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3、支付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预付款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4、支付尾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款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5、办理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房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8、邀请好友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购买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表格 48"/>
          <p:cNvGraphicFramePr/>
          <p:nvPr>
            <p:custDataLst>
              <p:tags r:id="rId16"/>
            </p:custDataLst>
          </p:nvPr>
        </p:nvGraphicFramePr>
        <p:xfrm>
          <a:off x="6306185" y="1769745"/>
          <a:ext cx="1336675" cy="1231900"/>
        </p:xfrm>
        <a:graphic>
          <a:graphicData uri="http://schemas.openxmlformats.org/drawingml/2006/table">
            <a:tbl>
              <a:tblPr/>
              <a:tblGrid>
                <a:gridCol w="1336675"/>
              </a:tblGrid>
              <a:tr h="1229995">
                <a:tc>
                  <a:txBody>
                    <a:bodyPr/>
                    <a:lstStyle/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1、办理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4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表格 49"/>
          <p:cNvGraphicFramePr/>
          <p:nvPr>
            <p:custDataLst>
              <p:tags r:id="rId17"/>
            </p:custDataLst>
          </p:nvPr>
        </p:nvGraphicFramePr>
        <p:xfrm>
          <a:off x="7894320" y="1597660"/>
          <a:ext cx="1654810" cy="3653155"/>
        </p:xfrm>
        <a:graphic>
          <a:graphicData uri="http://schemas.openxmlformats.org/drawingml/2006/table">
            <a:tbl>
              <a:tblPr/>
              <a:tblGrid>
                <a:gridCol w="1654810"/>
              </a:tblGrid>
              <a:tr h="3653155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1、预约看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房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2、首次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签约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3、预付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租金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4、按时支付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租金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5、支付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租金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6、缴纳x元送Y积分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7、办理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8、续租1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次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9、连续续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房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缴费评价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入住评价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13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续约评价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14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退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15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换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租/升房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16、邀请好友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租房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表格 50"/>
          <p:cNvGraphicFramePr/>
          <p:nvPr/>
        </p:nvGraphicFramePr>
        <p:xfrm>
          <a:off x="9903460" y="1407795"/>
          <a:ext cx="1943100" cy="3807460"/>
        </p:xfrm>
        <a:graphic>
          <a:graphicData uri="http://schemas.openxmlformats.org/drawingml/2006/table">
            <a:tbl>
              <a:tblPr/>
              <a:tblGrid>
                <a:gridCol w="1943100"/>
              </a:tblGrid>
              <a:tr h="3807460"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签约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2、装修施工全过程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规范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3、预付物业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费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4、按时支付物业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费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5、缴纳X元送Y积分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6、参与社区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活动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7、垃圾分类（正确投放）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8、办理停车月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卡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9、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节假日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报修评价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签约评价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缴费评价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13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活动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14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物业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15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20000"/>
                        </a:lnSpc>
                        <a:buNone/>
                      </a:pP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16、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充电评价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/>
          <p:nvPr>
            <p:custDataLst>
              <p:tags r:id="rId18"/>
            </p:custDataLst>
          </p:nvPr>
        </p:nvGraphicFramePr>
        <p:xfrm>
          <a:off x="5987415" y="3742055"/>
          <a:ext cx="1367155" cy="1704340"/>
        </p:xfrm>
        <a:graphic>
          <a:graphicData uri="http://schemas.openxmlformats.org/drawingml/2006/table">
            <a:tbl>
              <a:tblPr/>
              <a:tblGrid>
                <a:gridCol w="1367155"/>
              </a:tblGrid>
              <a:tr h="1704340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1、首次消费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2、消费X元送Y积分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3、生日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当天领积分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4、会员升级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领积分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5、节假日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6、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消费评价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、邀请好友注册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zh-CN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、邀请好友消费</a:t>
                      </a:r>
                      <a:r>
                        <a:rPr lang="zh-CN" altLang="en-US" sz="9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9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" name="圆角矩形 56"/>
          <p:cNvSpPr/>
          <p:nvPr>
            <p:custDataLst>
              <p:tags r:id="rId19"/>
            </p:custDataLst>
          </p:nvPr>
        </p:nvSpPr>
        <p:spPr>
          <a:xfrm>
            <a:off x="2094865" y="3324860"/>
            <a:ext cx="3438525" cy="507365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商业运营服务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圆角矩形 57"/>
          <p:cNvSpPr/>
          <p:nvPr>
            <p:custDataLst>
              <p:tags r:id="rId20"/>
            </p:custDataLst>
          </p:nvPr>
        </p:nvSpPr>
        <p:spPr>
          <a:xfrm>
            <a:off x="2093595" y="3324860"/>
            <a:ext cx="3439795" cy="2052320"/>
          </a:xfrm>
          <a:prstGeom prst="roundRect">
            <a:avLst>
              <a:gd name="adj" fmla="val 4420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61"/>
          <p:cNvSpPr/>
          <p:nvPr>
            <p:custDataLst>
              <p:tags r:id="rId21"/>
            </p:custDataLst>
          </p:nvPr>
        </p:nvSpPr>
        <p:spPr>
          <a:xfrm>
            <a:off x="433705" y="3332480"/>
            <a:ext cx="1510030" cy="507365"/>
          </a:xfrm>
          <a:prstGeom prst="roundRect">
            <a:avLst/>
          </a:prstGeom>
          <a:solidFill>
            <a:srgbClr val="4472C4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外部合作服务</a:t>
            </a:r>
            <a:endParaRPr lang="zh-CN" altLang="en-US" sz="13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圆角矩形 62"/>
          <p:cNvSpPr/>
          <p:nvPr>
            <p:custDataLst>
              <p:tags r:id="rId22"/>
            </p:custDataLst>
          </p:nvPr>
        </p:nvSpPr>
        <p:spPr>
          <a:xfrm>
            <a:off x="443230" y="3332480"/>
            <a:ext cx="1510665" cy="203771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4" name="表格 63"/>
          <p:cNvGraphicFramePr/>
          <p:nvPr>
            <p:custDataLst>
              <p:tags r:id="rId23"/>
            </p:custDataLst>
          </p:nvPr>
        </p:nvGraphicFramePr>
        <p:xfrm>
          <a:off x="589915" y="4025900"/>
          <a:ext cx="1163955" cy="1051560"/>
        </p:xfrm>
        <a:graphic>
          <a:graphicData uri="http://schemas.openxmlformats.org/drawingml/2006/table">
            <a:tbl>
              <a:tblPr/>
              <a:tblGrid>
                <a:gridCol w="1163955"/>
              </a:tblGrid>
              <a:tr h="1051560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、办理农行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信用卡送积分</a:t>
                      </a:r>
                      <a:endParaRPr lang="zh-CN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、使用信用卡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消费送积分</a:t>
                      </a:r>
                      <a:endParaRPr lang="en-US" altLang="zh-CN" sz="1100" b="0" dirty="0" smtClean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/>
          <p:nvPr>
            <p:custDataLst>
              <p:tags r:id="rId24"/>
            </p:custDataLst>
          </p:nvPr>
        </p:nvGraphicFramePr>
        <p:xfrm>
          <a:off x="2206625" y="3828415"/>
          <a:ext cx="1586230" cy="1444625"/>
        </p:xfrm>
        <a:graphic>
          <a:graphicData uri="http://schemas.openxmlformats.org/drawingml/2006/table">
            <a:tbl>
              <a:tblPr/>
              <a:tblGrid>
                <a:gridCol w="1586230"/>
              </a:tblGrid>
              <a:tr h="1444625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1、首次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2、消费X元送Y积分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3、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生日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当天领积分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4、会员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升级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领积分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5、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节假日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/>
          <p:nvPr>
            <p:custDataLst>
              <p:tags r:id="rId25"/>
            </p:custDataLst>
          </p:nvPr>
        </p:nvGraphicFramePr>
        <p:xfrm>
          <a:off x="3870325" y="3771265"/>
          <a:ext cx="1611630" cy="1567180"/>
        </p:xfrm>
        <a:graphic>
          <a:graphicData uri="http://schemas.openxmlformats.org/drawingml/2006/table">
            <a:tbl>
              <a:tblPr/>
              <a:tblGrid>
                <a:gridCol w="1611630"/>
              </a:tblGrid>
              <a:tr h="1567180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7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邀请好友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注册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8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邀请好友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消费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sz="11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9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sz="11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</a:t>
                      </a:r>
                      <a:r>
                        <a:rPr 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活动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en-US" altLang="zh-CN" sz="11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、填写服务反馈送积分</a:t>
                      </a:r>
                      <a:endParaRPr lang="en-US" altLang="zh-CN" sz="11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11</a:t>
                      </a:r>
                      <a:r>
                        <a:rPr lang="zh-CN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12</a:t>
                      </a:r>
                      <a:r>
                        <a:rPr lang="zh-CN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</a:t>
                      </a:r>
                      <a:r>
                        <a:rPr lang="zh-CN" altLang="zh-CN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充电评价</a:t>
                      </a:r>
                      <a:r>
                        <a:rPr lang="zh-CN" altLang="en-US" sz="11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送积分</a:t>
                      </a:r>
                      <a:endParaRPr lang="zh-CN" altLang="zh-CN" sz="11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>
            <p:custDataLst>
              <p:tags r:id="rId26"/>
            </p:custDataLst>
          </p:nvPr>
        </p:nvSpPr>
        <p:spPr>
          <a:xfrm>
            <a:off x="344081" y="578225"/>
            <a:ext cx="10407843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积分发放场景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汇总：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通过对各条业务线的的业务及行业情况进行研究，进行了如下积分发放场景的汇总：</a:t>
            </a: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314450" y="5652770"/>
            <a:ext cx="10569575" cy="941070"/>
            <a:chOff x="-800" y="10800"/>
            <a:chExt cx="18050" cy="1482"/>
          </a:xfrm>
        </p:grpSpPr>
        <p:sp>
          <p:nvSpPr>
            <p:cNvPr id="9" name="圆角矩形 8"/>
            <p:cNvSpPr/>
            <p:nvPr>
              <p:custDataLst>
                <p:tags r:id="rId27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28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圆角矩形 10"/>
            <p:cNvSpPr/>
            <p:nvPr>
              <p:custDataLst>
                <p:tags r:id="rId29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圆角矩形 11"/>
            <p:cNvSpPr/>
            <p:nvPr>
              <p:custDataLst>
                <p:tags r:id="rId30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" name="圆角矩形 12"/>
            <p:cNvSpPr/>
            <p:nvPr>
              <p:custDataLst>
                <p:tags r:id="rId31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2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圆角矩形 14"/>
            <p:cNvSpPr/>
            <p:nvPr>
              <p:custDataLst>
                <p:tags r:id="rId33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" name="圆角矩形 15"/>
            <p:cNvSpPr/>
            <p:nvPr>
              <p:custDataLst>
                <p:tags r:id="rId34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" name="圆角矩形 16"/>
            <p:cNvSpPr/>
            <p:nvPr>
              <p:custDataLst>
                <p:tags r:id="rId35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36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" name="圆角矩形 18"/>
            <p:cNvSpPr/>
            <p:nvPr>
              <p:custDataLst>
                <p:tags r:id="rId37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38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" name="圆角矩形 21"/>
            <p:cNvSpPr/>
            <p:nvPr>
              <p:custDataLst>
                <p:tags r:id="rId39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圆角矩形 22"/>
            <p:cNvSpPr/>
            <p:nvPr>
              <p:custDataLst>
                <p:tags r:id="rId40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41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圆角矩形 24"/>
            <p:cNvSpPr/>
            <p:nvPr>
              <p:custDataLst>
                <p:tags r:id="rId42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43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44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45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46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8" name="圆角矩形 77"/>
          <p:cNvSpPr/>
          <p:nvPr>
            <p:custDataLst>
              <p:tags r:id="rId47"/>
            </p:custDataLst>
          </p:nvPr>
        </p:nvSpPr>
        <p:spPr>
          <a:xfrm>
            <a:off x="436245" y="552767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48"/>
            </p:custDataLst>
          </p:nvPr>
        </p:nvGraphicFramePr>
        <p:xfrm>
          <a:off x="548640" y="559498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9"/>
            </p:custDataLst>
          </p:nvPr>
        </p:nvGraphicFramePr>
        <p:xfrm>
          <a:off x="548640" y="613092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" name="上箭头 82"/>
          <p:cNvSpPr/>
          <p:nvPr/>
        </p:nvSpPr>
        <p:spPr>
          <a:xfrm>
            <a:off x="222377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50"/>
            </p:custDataLst>
          </p:nvPr>
        </p:nvSpPr>
        <p:spPr>
          <a:xfrm>
            <a:off x="478790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51"/>
            </p:custDataLst>
          </p:nvPr>
        </p:nvSpPr>
        <p:spPr>
          <a:xfrm>
            <a:off x="735203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52"/>
            </p:custDataLst>
          </p:nvPr>
        </p:nvSpPr>
        <p:spPr>
          <a:xfrm>
            <a:off x="991616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2"/>
          <p:cNvSpPr txBox="1"/>
          <p:nvPr>
            <p:custDataLst>
              <p:tags r:id="rId53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积分发放场景及规则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"/>
            </p:custDataLst>
          </p:nvPr>
        </p:nvSpPr>
        <p:spPr>
          <a:xfrm>
            <a:off x="351155" y="599440"/>
            <a:ext cx="1077150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积分发放场景及规则预设：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根据对业务线初步调研，共收集汇总以下共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47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个积分发放场景：</a:t>
            </a: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23120" y="694690"/>
            <a:ext cx="22428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备注：灰色标注部分为可选项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351155" y="1013460"/>
          <a:ext cx="5706745" cy="5666291"/>
        </p:xfrm>
        <a:graphic>
          <a:graphicData uri="http://schemas.openxmlformats.org/drawingml/2006/table">
            <a:tbl>
              <a:tblPr/>
              <a:tblGrid>
                <a:gridCol w="558322"/>
                <a:gridCol w="582507"/>
                <a:gridCol w="750770"/>
                <a:gridCol w="1568918"/>
                <a:gridCol w="2246228"/>
              </a:tblGrid>
              <a:tr h="3257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平台运营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基础模块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用户注册会员赠送积分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一次性奖励0.3~0.5元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会员签到赠送积分，持续签到获得更多的积分奖励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每月持续完成签到，获得0.8~1.5元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会员参与老虎机、大转盘等活动赠送积分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会员填写满意度调查问卷赠送积分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每季度1次，每次填写问卷，奖励0.2~0.4元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会员关注公众号赠送积分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一次性奖励0.3~0.5元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27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外部合作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用户办理农行信用卡赠送积分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办理成功，一次性赠送40~120元的积分（10000~30000积分，成本由银行承担）</a:t>
                      </a:r>
                      <a:endParaRPr lang="zh-CN" altLang="en-US" sz="900" b="1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4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使用银行信用卡消费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使用信用卡消费1元，赠送1个积分（成本由银行承担）</a:t>
                      </a:r>
                      <a:endParaRPr lang="zh-CN" altLang="en-US" sz="900" b="1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外部积分互换的价差</a:t>
                      </a:r>
                      <a:endParaRPr lang="zh-CN" altLang="en-US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900" b="1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1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公共住房租赁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填写签约评价赠送积分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填写押金退款评价赠送积分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446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举报违规用房(转租、转借)，并核实成功赠送积分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公共住房销售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现场看房赠送积分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看房1次，奖励0.1~0.2元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填写看房评价赠送积分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填写购房调查问卷赠送积分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完成购房签约赠送积分</a:t>
                      </a:r>
                      <a:endParaRPr lang="zh-CN" altLang="en-US" sz="900" b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4472C4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奖励金额=房屋金额*X%*40%</a:t>
                      </a:r>
                      <a:endParaRPr lang="zh-CN" altLang="en-US" sz="900" b="0" dirty="0">
                        <a:solidFill>
                          <a:srgbClr val="4472C4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市场企业长租公寓</a:t>
                      </a:r>
                      <a:endParaRPr lang="zh-CN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填写租务评价赠送积分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参与社群活动赠送积分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每次参与社区活动，奖励0.3~0.5元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03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市场个人长租公寓</a:t>
                      </a:r>
                      <a:endParaRPr lang="zh-CN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参与社群活动赠送积分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每次参与社区活动，奖励0.3~0.5元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填写看房评价赠送积分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7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填写租务评价赠送积分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填写1次，奖励0.2~0.4元</a:t>
                      </a:r>
                      <a:endParaRPr lang="zh-CN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174542" y="1013461"/>
          <a:ext cx="5733768" cy="5707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527"/>
                <a:gridCol w="530527"/>
                <a:gridCol w="652956"/>
                <a:gridCol w="2132308"/>
                <a:gridCol w="1887450"/>
              </a:tblGrid>
              <a:tr h="313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市场个人长租公寓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填写客户续约赠送积分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填写押金退款评价赠送积分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推荐好友租房成功赠送积分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月平均租金*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3%*40%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预付租金赠送积分（可选）</a:t>
                      </a:r>
                      <a:endParaRPr lang="zh-CN" altLang="en-US" sz="900" b="0" i="0" u="none" strike="noStrike">
                        <a:solidFill>
                          <a:srgbClr val="A6A6A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预付金额*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1.75%*40%/2</a:t>
                      </a:r>
                      <a:endParaRPr lang="zh-CN" altLang="en-US" sz="900" b="0" i="0" u="none" strike="noStrike">
                        <a:solidFill>
                          <a:srgbClr val="A6A6A6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缴纳租金赠送积分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安居城服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填写报修评价赠送积分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填写入住评价赠送积分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填写退租评价赠送积分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建议采纳奖励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建议采纳赠送积分，奖励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填写参与社区活动评价赠送积分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邀请好友参与物业活动赠送积分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预存物业费赠送积分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奖励金额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=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预付金额*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1.75%*40%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0.1~0.2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元，每周上限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商城消费赠送积分，重大活动期间消费获取多倍积分</a:t>
                      </a:r>
                      <a:endParaRPr lang="zh-CN" altLang="en-US" sz="9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元送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积分。重大促销活动期间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倍积分，其中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倍由增值服务承担，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倍由服务商承担</a:t>
                      </a:r>
                      <a:endParaRPr lang="zh-CN" altLang="en-US" sz="9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会员在物业缴纳充电费，赠送积分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会员在物业缴纳停车费，赠送积分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1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会员预缴充电费，赠送积分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1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会员预缴停车费，赠送积分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66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商业运营事业部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商城消费赠送积分，重大活动期间消费获取多倍积分</a:t>
                      </a:r>
                      <a:endParaRPr lang="zh-CN" altLang="en-US" sz="9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消费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元送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积分。重大促销活动期间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倍积分，其中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倍由增值服务承担，</a:t>
                      </a:r>
                      <a:r>
                        <a:rPr lang="en-US" altLang="zh-CN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900" b="1" u="none" strike="noStrike" dirty="0">
                          <a:solidFill>
                            <a:srgbClr val="4472C4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倍由服务商承担</a:t>
                      </a:r>
                      <a:endParaRPr lang="zh-CN" altLang="en-US" sz="9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生日送积分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主动领取，每年奖励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63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节假日送积分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主动领取，每年奖励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0.2~0.4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会员升级送积分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按照梯度进行设置，一次性奖励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0.2~1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4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线下消费评价赠送积分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填写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次，奖励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0.1~0.2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元，每周上限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01" marR="5101" marT="51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积分回收场景及规则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508635" y="1144270"/>
            <a:ext cx="2701925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公共住房租赁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3"/>
            </p:custDataLst>
          </p:nvPr>
        </p:nvSpPr>
        <p:spPr>
          <a:xfrm>
            <a:off x="3385820" y="1134110"/>
            <a:ext cx="268605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公共住房销售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510540" y="2611755"/>
            <a:ext cx="552958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商业服务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508635" y="1138555"/>
            <a:ext cx="2701925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385185" y="1113790"/>
            <a:ext cx="268859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7"/>
            </p:custDataLst>
          </p:nvPr>
        </p:nvSpPr>
        <p:spPr>
          <a:xfrm>
            <a:off x="509905" y="2598420"/>
            <a:ext cx="5532755" cy="268922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8"/>
            </p:custDataLst>
          </p:nvPr>
        </p:nvSpPr>
        <p:spPr>
          <a:xfrm>
            <a:off x="1003300" y="1863090"/>
            <a:ext cx="1797050" cy="321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4020185" y="1877695"/>
            <a:ext cx="137668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文本框 117"/>
          <p:cNvSpPr txBox="1"/>
          <p:nvPr>
            <p:custDataLst>
              <p:tags r:id="rId10"/>
            </p:custDataLst>
          </p:nvPr>
        </p:nvSpPr>
        <p:spPr>
          <a:xfrm>
            <a:off x="986790" y="3268345"/>
            <a:ext cx="2588260" cy="1822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抵扣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消费金额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商家服务券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（剪发体验券、洗衣券）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消费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优惠券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兑换线下礼品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券</a:t>
            </a:r>
            <a:endParaRPr 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lang="zh-CN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线下活动参与资格</a:t>
            </a:r>
            <a:endParaRPr 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11"/>
            </p:custDataLst>
          </p:nvPr>
        </p:nvSpPr>
        <p:spPr>
          <a:xfrm>
            <a:off x="6207760" y="2611755"/>
            <a:ext cx="272415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增值服务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2"/>
            </p:custDataLst>
          </p:nvPr>
        </p:nvSpPr>
        <p:spPr>
          <a:xfrm>
            <a:off x="6207760" y="1118870"/>
            <a:ext cx="2722245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市场企业长租公寓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13"/>
            </p:custDataLst>
          </p:nvPr>
        </p:nvSpPr>
        <p:spPr>
          <a:xfrm>
            <a:off x="9108440" y="1087755"/>
            <a:ext cx="269494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市场个人长租公寓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9108440" y="2598420"/>
            <a:ext cx="2696210" cy="52197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物业服务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15"/>
            </p:custDataLst>
          </p:nvPr>
        </p:nvSpPr>
        <p:spPr>
          <a:xfrm>
            <a:off x="6207760" y="1112520"/>
            <a:ext cx="272415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16"/>
            </p:custDataLst>
          </p:nvPr>
        </p:nvSpPr>
        <p:spPr>
          <a:xfrm>
            <a:off x="9108440" y="1098550"/>
            <a:ext cx="2696210" cy="1332865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9107805" y="2583180"/>
            <a:ext cx="2698115" cy="270256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18"/>
            </p:custDataLst>
          </p:nvPr>
        </p:nvSpPr>
        <p:spPr>
          <a:xfrm>
            <a:off x="6207760" y="2598420"/>
            <a:ext cx="2724785" cy="2688590"/>
          </a:xfrm>
          <a:prstGeom prst="roundRect">
            <a:avLst>
              <a:gd name="adj" fmla="val 5871"/>
            </a:avLst>
          </a:prstGeom>
          <a:noFill/>
          <a:ln>
            <a:solidFill>
              <a:srgbClr val="4472C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338310" y="1803400"/>
            <a:ext cx="2233930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抵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</a:t>
            </a: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租金（可选）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3" name="文本框 132"/>
          <p:cNvSpPr txBox="1"/>
          <p:nvPr>
            <p:custDataLst>
              <p:tags r:id="rId20"/>
            </p:custDataLst>
          </p:nvPr>
        </p:nvSpPr>
        <p:spPr>
          <a:xfrm>
            <a:off x="6684010" y="1816100"/>
            <a:ext cx="179133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21"/>
            </p:custDataLst>
          </p:nvPr>
        </p:nvSpPr>
        <p:spPr>
          <a:xfrm>
            <a:off x="9389745" y="3498215"/>
            <a:ext cx="218313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扣物业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费（可选）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社区活动礼品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2" name="文本框 61"/>
          <p:cNvSpPr txBox="1"/>
          <p:nvPr>
            <p:custDataLst>
              <p:tags r:id="rId22"/>
            </p:custDataLst>
          </p:nvPr>
        </p:nvSpPr>
        <p:spPr>
          <a:xfrm>
            <a:off x="6438265" y="3129915"/>
            <a:ext cx="289433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抵扣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商城消费金额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商城消费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优惠券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3、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</a:t>
            </a:r>
            <a:r>
              <a:rPr sz="13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兑换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商城商品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商城服务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（保洁体验券、搬家体验券）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扣充电费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扣停车费</a:t>
            </a:r>
            <a:endParaRPr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3700780" y="3339465"/>
            <a:ext cx="1813560" cy="1522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、积分兑换</a:t>
            </a:r>
            <a:r>
              <a:rPr lang="zh-CN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</a:t>
            </a:r>
            <a:r>
              <a:rPr 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上互动</a:t>
            </a:r>
            <a:r>
              <a:rPr lang="zh-CN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游戏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的参与次数</a:t>
            </a:r>
            <a:endParaRPr 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（安馨集市抽奖）</a:t>
            </a:r>
            <a:endParaRPr 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扣充电费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、积分抵</a:t>
            </a: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扣停车费</a:t>
            </a:r>
            <a:endParaRPr 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24"/>
            </p:custDataLst>
          </p:nvPr>
        </p:nvSpPr>
        <p:spPr>
          <a:xfrm>
            <a:off x="315474" y="588120"/>
            <a:ext cx="9819928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积分回收场景：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通过对各条业务线的的业务及行业情况进行研究，进行了如下积分回收场景的汇总。</a:t>
            </a:r>
            <a:endParaRPr lang="zh-CN" altLang="en-US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314450" y="5652770"/>
            <a:ext cx="10569575" cy="941070"/>
            <a:chOff x="-800" y="10800"/>
            <a:chExt cx="18050" cy="1482"/>
          </a:xfrm>
        </p:grpSpPr>
        <p:sp>
          <p:nvSpPr>
            <p:cNvPr id="4" name="圆角矩形 3"/>
            <p:cNvSpPr/>
            <p:nvPr>
              <p:custDataLst>
                <p:tags r:id="rId25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26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圆角矩形 5"/>
            <p:cNvSpPr/>
            <p:nvPr>
              <p:custDataLst>
                <p:tags r:id="rId27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28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29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30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圆角矩形 24"/>
            <p:cNvSpPr/>
            <p:nvPr>
              <p:custDataLst>
                <p:tags r:id="rId31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32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33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34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35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36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圆角矩形 31"/>
            <p:cNvSpPr/>
            <p:nvPr>
              <p:custDataLst>
                <p:tags r:id="rId37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38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" name="圆角矩形 34"/>
            <p:cNvSpPr/>
            <p:nvPr>
              <p:custDataLst>
                <p:tags r:id="rId39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圆角矩形 35"/>
            <p:cNvSpPr/>
            <p:nvPr>
              <p:custDataLst>
                <p:tags r:id="rId40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" name="圆角矩形 36"/>
            <p:cNvSpPr/>
            <p:nvPr>
              <p:custDataLst>
                <p:tags r:id="rId41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圆角矩形 38"/>
            <p:cNvSpPr/>
            <p:nvPr>
              <p:custDataLst>
                <p:tags r:id="rId42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43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44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8" name="圆角矩形 77"/>
          <p:cNvSpPr/>
          <p:nvPr>
            <p:custDataLst>
              <p:tags r:id="rId45"/>
            </p:custDataLst>
          </p:nvPr>
        </p:nvSpPr>
        <p:spPr>
          <a:xfrm>
            <a:off x="436245" y="552767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46"/>
            </p:custDataLst>
          </p:nvPr>
        </p:nvGraphicFramePr>
        <p:xfrm>
          <a:off x="548640" y="559498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7"/>
            </p:custDataLst>
          </p:nvPr>
        </p:nvGraphicFramePr>
        <p:xfrm>
          <a:off x="548640" y="613092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48"/>
            </p:custDataLst>
          </p:nvPr>
        </p:nvSpPr>
        <p:spPr>
          <a:xfrm>
            <a:off x="222377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49"/>
            </p:custDataLst>
          </p:nvPr>
        </p:nvSpPr>
        <p:spPr>
          <a:xfrm>
            <a:off x="478790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50"/>
            </p:custDataLst>
          </p:nvPr>
        </p:nvSpPr>
        <p:spPr>
          <a:xfrm>
            <a:off x="735203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51"/>
            </p:custDataLst>
          </p:nvPr>
        </p:nvSpPr>
        <p:spPr>
          <a:xfrm>
            <a:off x="9916160" y="540639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积分回收场景及规则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2"/>
            </p:custDataLst>
          </p:nvPr>
        </p:nvSpPr>
        <p:spPr>
          <a:xfrm>
            <a:off x="337185" y="637540"/>
            <a:ext cx="1077150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积分回收场景及规则预设：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各条线对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积分的回收场景没有预设。经大会员项目组共同探讨，共设计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条积分回收规则。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508000" y="1149985"/>
          <a:ext cx="5781040" cy="5268595"/>
        </p:xfrm>
        <a:graphic>
          <a:graphicData uri="http://schemas.openxmlformats.org/drawingml/2006/table">
            <a:tbl>
              <a:tblPr/>
              <a:tblGrid>
                <a:gridCol w="309880"/>
                <a:gridCol w="679450"/>
                <a:gridCol w="791210"/>
                <a:gridCol w="1136015"/>
                <a:gridCol w="1181100"/>
                <a:gridCol w="1683385"/>
              </a:tblGrid>
              <a:tr h="6235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积分行为名称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公共住房租赁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公共住房销售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市场租赁运营事业部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市场型企业长租公寓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市场型个人长租公寓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</a:t>
                      </a:r>
                      <a:r>
                        <a:rPr 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扣</a:t>
                      </a: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积分抵扣个人长租公寓</a:t>
                      </a:r>
                      <a:r>
                        <a:rPr 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的</a:t>
                      </a: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</a:t>
                      </a:r>
                      <a:r>
                        <a:rPr 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，</a:t>
                      </a:r>
                      <a:r>
                        <a:rPr lang="zh-CN" alt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抵扣上限20%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安居城服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兑换社区活动礼品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积分兑换社区活动礼品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抵扣商城消费金额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积分抵扣商城消费金额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1积分抵扣0.004元，抵扣上限20%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兑换商城消费优惠券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积分兑换商城消费优惠券，金额券或者满减券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兑换商城商品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积分兑换商城商品，商品直接进行快递到家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兑换商城服务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积分兑换商城服务，保洁券、搬家券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抵扣停车费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积分抵扣停车费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积分不抵扣停车费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6435090" y="1153795"/>
          <a:ext cx="5479415" cy="5239385"/>
        </p:xfrm>
        <a:graphic>
          <a:graphicData uri="http://schemas.openxmlformats.org/drawingml/2006/table">
            <a:tbl>
              <a:tblPr/>
              <a:tblGrid>
                <a:gridCol w="293370"/>
                <a:gridCol w="643890"/>
                <a:gridCol w="750570"/>
                <a:gridCol w="1275080"/>
                <a:gridCol w="1290955"/>
                <a:gridCol w="1225550"/>
              </a:tblGrid>
              <a:tr h="554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业务板块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积分行为名称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积分场景内容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积分设置规则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商业运营事业部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抵扣线下消费金额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积分抵扣线下消费金额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1积分抵扣0.004元，抵扣上限20%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兑换服务</a:t>
                      </a:r>
                      <a:r>
                        <a:rPr lang="zh-CN" altLang="en-US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体验</a:t>
                      </a: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券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</a:t>
                      </a: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</a:t>
                      </a:r>
                      <a:r>
                        <a:rPr lang="zh-CN" altLang="en-US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体验</a:t>
                      </a: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服务</a:t>
                      </a: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券（剪发体验券、洗衣券）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兑换消费优惠券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积分兑换消费优惠券，金额券或者满减券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兑换线下</a:t>
                      </a: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礼品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积分兑换线下</a:t>
                      </a:r>
                      <a:r>
                        <a:rPr lang="zh-CN" sz="1000" b="1" dirty="0" smtClean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礼品，</a:t>
                      </a: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会员前往线下商业现场进行兑换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按照积分及奖品价值对奖品进行折算，可设置盈余20%的盈余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2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兑换虚拟票券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爱优腾视频会员等票券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按照积分及奖品价值对</a:t>
                      </a: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票券</a:t>
                      </a:r>
                      <a:r>
                        <a:rPr lang="zh-CN" altLang="zh-CN" sz="10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进行折算，可设置盈余20%的盈余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兑换线下活动参与资格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积分兑换线下活动参与资格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参与线上互动游戏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参与线上互动游戏（大转盘抽奖）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按照活动预算进行核算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抵扣商业充电费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抵扣商业充电费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抵扣商业停车费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抵扣商业停车费</a:t>
                      </a:r>
                      <a:endParaRPr lang="zh-CN" altLang="en-US" sz="1000" b="1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1" dirty="0">
                          <a:solidFill>
                            <a:srgbClr val="205CC6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1积分抵扣0.004元，最多抵扣2~4小时（可按等级设置）</a:t>
                      </a:r>
                      <a:endParaRPr lang="zh-CN" altLang="en-US" sz="1000" b="1" dirty="0">
                        <a:solidFill>
                          <a:srgbClr val="205CC6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会员权益内容设计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770" y="1123120"/>
            <a:ext cx="11558905" cy="4184016"/>
            <a:chOff x="428770" y="2959005"/>
            <a:chExt cx="11558905" cy="2756735"/>
          </a:xfrm>
        </p:grpSpPr>
        <p:sp>
          <p:nvSpPr>
            <p:cNvPr id="71" name="圆角矩形 70"/>
            <p:cNvSpPr/>
            <p:nvPr>
              <p:custDataLst>
                <p:tags r:id="rId2"/>
              </p:custDataLst>
            </p:nvPr>
          </p:nvSpPr>
          <p:spPr>
            <a:xfrm>
              <a:off x="4792490" y="2976159"/>
              <a:ext cx="3898900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增值服务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3"/>
              </p:custDataLst>
            </p:nvPr>
          </p:nvSpPr>
          <p:spPr>
            <a:xfrm>
              <a:off x="4791855" y="2976159"/>
              <a:ext cx="3901440" cy="2739581"/>
            </a:xfrm>
            <a:prstGeom prst="roundRect">
              <a:avLst>
                <a:gd name="adj" fmla="val 2559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27" name="表格 26"/>
            <p:cNvGraphicFramePr/>
            <p:nvPr>
              <p:custDataLst>
                <p:tags r:id="rId4"/>
              </p:custDataLst>
            </p:nvPr>
          </p:nvGraphicFramePr>
          <p:xfrm>
            <a:off x="4942205" y="337105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/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1、搬家服务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（次数券、金额减免券）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2、保洁服务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（次数券、减免券、延时券）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3、汽车充电服务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4、住宅停车服务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（临停券）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5、活动场地使用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6、智能寄存服务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7、充电宝服务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altLang="en-US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48" name="圆角矩形 147"/>
            <p:cNvSpPr/>
            <p:nvPr>
              <p:custDataLst>
                <p:tags r:id="rId5"/>
              </p:custDataLst>
            </p:nvPr>
          </p:nvSpPr>
          <p:spPr>
            <a:xfrm>
              <a:off x="458615" y="2971557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公共住房租赁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9" name="圆角矩形 148"/>
            <p:cNvSpPr/>
            <p:nvPr>
              <p:custDataLst>
                <p:tags r:id="rId6"/>
              </p:custDataLst>
            </p:nvPr>
          </p:nvSpPr>
          <p:spPr>
            <a:xfrm>
              <a:off x="458470" y="2976245"/>
              <a:ext cx="1327150" cy="107569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7"/>
              </p:custDataLst>
            </p:nvPr>
          </p:nvSpPr>
          <p:spPr>
            <a:xfrm>
              <a:off x="1912130" y="2959005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公共住房销售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圆角矩形 31"/>
            <p:cNvSpPr/>
            <p:nvPr>
              <p:custDataLst>
                <p:tags r:id="rId8"/>
              </p:custDataLst>
            </p:nvPr>
          </p:nvSpPr>
          <p:spPr>
            <a:xfrm>
              <a:off x="1907540" y="2974340"/>
              <a:ext cx="1327150" cy="1068705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9"/>
              </p:custDataLst>
            </p:nvPr>
          </p:nvSpPr>
          <p:spPr>
            <a:xfrm>
              <a:off x="3356755" y="2967373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市场企业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长租公寓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" name="圆角矩形 34"/>
            <p:cNvSpPr/>
            <p:nvPr>
              <p:custDataLst>
                <p:tags r:id="rId10"/>
              </p:custDataLst>
            </p:nvPr>
          </p:nvSpPr>
          <p:spPr>
            <a:xfrm>
              <a:off x="3356610" y="2961005"/>
              <a:ext cx="1327150" cy="108458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28770" y="4166870"/>
              <a:ext cx="4175834" cy="1548765"/>
              <a:chOff x="691" y="6562"/>
              <a:chExt cx="4405" cy="2439"/>
            </a:xfrm>
          </p:grpSpPr>
          <p:sp>
            <p:nvSpPr>
              <p:cNvPr id="37" name="圆角矩形 36"/>
              <p:cNvSpPr/>
              <p:nvPr>
                <p:custDataLst>
                  <p:tags r:id="rId11"/>
                </p:custDataLst>
              </p:nvPr>
            </p:nvSpPr>
            <p:spPr>
              <a:xfrm>
                <a:off x="723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市场企业长租公寓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8" name="圆角矩形 37"/>
              <p:cNvSpPr/>
              <p:nvPr>
                <p:custDataLst>
                  <p:tags r:id="rId12"/>
                </p:custDataLst>
              </p:nvPr>
            </p:nvSpPr>
            <p:spPr>
              <a:xfrm>
                <a:off x="723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13"/>
                </p:custDataLst>
              </p:nvPr>
            </p:nvSpPr>
            <p:spPr>
              <a:xfrm>
                <a:off x="3006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城服物业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1" name="圆角矩形 40"/>
              <p:cNvSpPr/>
              <p:nvPr>
                <p:custDataLst>
                  <p:tags r:id="rId14"/>
                </p:custDataLst>
              </p:nvPr>
            </p:nvSpPr>
            <p:spPr>
              <a:xfrm>
                <a:off x="3006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144" y="7200"/>
                <a:ext cx="1807" cy="17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1、物业费服务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2、装修服务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3、报修服务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" y="7193"/>
                <a:ext cx="2137" cy="1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1、押金服务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2、房间换租服务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（永久免费换权益、次数券）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3、租金服务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（金额减免券、减免权益）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aphicFrame>
          <p:nvGraphicFramePr>
            <p:cNvPr id="50" name="表格 49"/>
            <p:cNvGraphicFramePr/>
            <p:nvPr>
              <p:custDataLst>
                <p:tags r:id="rId15"/>
              </p:custDataLst>
            </p:nvPr>
          </p:nvGraphicFramePr>
          <p:xfrm>
            <a:off x="6927215" y="3388200"/>
            <a:ext cx="1858010" cy="2740660"/>
          </p:xfrm>
          <a:graphic>
            <a:graphicData uri="http://schemas.openxmlformats.org/drawingml/2006/table">
              <a:tbl>
                <a:tblPr/>
                <a:tblGrid>
                  <a:gridCol w="1858010"/>
                </a:tblGrid>
                <a:tr h="274066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8、复印打印服务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（减免券）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9、智能纯净水服务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10、智能快递柜服务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11、报修服务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12、兑换商城礼品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13、商城多倍积分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（次数券、活动）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、专属活动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、专属礼品包装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55" name="圆角矩形 54"/>
            <p:cNvSpPr/>
            <p:nvPr>
              <p:custDataLst>
                <p:tags r:id="rId16"/>
              </p:custDataLst>
            </p:nvPr>
          </p:nvSpPr>
          <p:spPr>
            <a:xfrm>
              <a:off x="8801880" y="2976159"/>
              <a:ext cx="318452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商业运营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17"/>
              </p:custDataLst>
            </p:nvPr>
          </p:nvSpPr>
          <p:spPr>
            <a:xfrm>
              <a:off x="8801245" y="2976159"/>
              <a:ext cx="3186430" cy="2739581"/>
            </a:xfrm>
            <a:prstGeom prst="roundRect">
              <a:avLst>
                <a:gd name="adj" fmla="val 1952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57" name="表格 56"/>
            <p:cNvGraphicFramePr/>
            <p:nvPr>
              <p:custDataLst>
                <p:tags r:id="rId18"/>
              </p:custDataLst>
            </p:nvPr>
          </p:nvGraphicFramePr>
          <p:xfrm>
            <a:off x="8933815" y="340452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/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1、品牌商品消费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（金额减免券、折扣券）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2、集中商业停车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3、专属停车时长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4、专属服务权益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5、兑换实物礼品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（次数券、活动）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7、专属活动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8、礼品包装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9</a:t>
                        </a:r>
                        <a:r>
                          <a:rPr lang="zh-CN" altLang="en-US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积分时效延长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58" name="表格 57"/>
            <p:cNvGraphicFramePr/>
            <p:nvPr>
              <p:custDataLst>
                <p:tags r:id="rId19"/>
              </p:custDataLst>
            </p:nvPr>
          </p:nvGraphicFramePr>
          <p:xfrm>
            <a:off x="10878185" y="3594390"/>
            <a:ext cx="1066165" cy="2322830"/>
          </p:xfrm>
          <a:graphic>
            <a:graphicData uri="http://schemas.openxmlformats.org/drawingml/2006/table">
              <a:tbl>
                <a:tblPr/>
                <a:tblGrid>
                  <a:gridCol w="1066165"/>
                </a:tblGrid>
                <a:tr h="232283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10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.生日礼品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.免费充电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2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.配送服务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3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.抽奖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.茶歇服务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6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.专属客服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7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.免费储物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60" name="文本框 59"/>
            <p:cNvSpPr txBox="1"/>
            <p:nvPr>
              <p:custDataLst>
                <p:tags r:id="rId20"/>
              </p:custDataLst>
            </p:nvPr>
          </p:nvSpPr>
          <p:spPr>
            <a:xfrm>
              <a:off x="96266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21"/>
              </p:custDataLst>
            </p:nvPr>
          </p:nvSpPr>
          <p:spPr>
            <a:xfrm>
              <a:off x="23876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22"/>
              </p:custDataLst>
            </p:nvPr>
          </p:nvSpPr>
          <p:spPr>
            <a:xfrm>
              <a:off x="38862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15474" y="640186"/>
            <a:ext cx="1172591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会员权益汇总：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各个业务板块可提供的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及行业的会员权益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统一汇总，形成权益集合。再根据用户旅程、权益类型进行详细权益服务设计。</a:t>
            </a:r>
            <a:endParaRPr 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273810" y="5673090"/>
            <a:ext cx="10569575" cy="941070"/>
            <a:chOff x="-800" y="10800"/>
            <a:chExt cx="18050" cy="1482"/>
          </a:xfrm>
        </p:grpSpPr>
        <p:sp>
          <p:nvSpPr>
            <p:cNvPr id="5" name="圆角矩形 4"/>
            <p:cNvSpPr/>
            <p:nvPr>
              <p:custDataLst>
                <p:tags r:id="rId23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圆角矩形 5"/>
            <p:cNvSpPr/>
            <p:nvPr>
              <p:custDataLst>
                <p:tags r:id="rId24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" name="圆角矩形 7"/>
            <p:cNvSpPr/>
            <p:nvPr>
              <p:custDataLst>
                <p:tags r:id="rId25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26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27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28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圆角矩形 24"/>
            <p:cNvSpPr/>
            <p:nvPr>
              <p:custDataLst>
                <p:tags r:id="rId29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30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31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32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33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34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圆角矩形 10"/>
            <p:cNvSpPr/>
            <p:nvPr>
              <p:custDataLst>
                <p:tags r:id="rId35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圆角矩形 11"/>
            <p:cNvSpPr/>
            <p:nvPr>
              <p:custDataLst>
                <p:tags r:id="rId36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" name="圆角矩形 12"/>
            <p:cNvSpPr/>
            <p:nvPr>
              <p:custDataLst>
                <p:tags r:id="rId37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圆角矩形 35"/>
            <p:cNvSpPr/>
            <p:nvPr>
              <p:custDataLst>
                <p:tags r:id="rId38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9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圆角矩形 38"/>
            <p:cNvSpPr/>
            <p:nvPr>
              <p:custDataLst>
                <p:tags r:id="rId40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41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圆角矩形 14"/>
            <p:cNvSpPr/>
            <p:nvPr>
              <p:custDataLst>
                <p:tags r:id="rId42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8" name="圆角矩形 77"/>
          <p:cNvSpPr/>
          <p:nvPr>
            <p:custDataLst>
              <p:tags r:id="rId43"/>
            </p:custDataLst>
          </p:nvPr>
        </p:nvSpPr>
        <p:spPr>
          <a:xfrm>
            <a:off x="395605" y="554799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44"/>
            </p:custDataLst>
          </p:nvPr>
        </p:nvGraphicFramePr>
        <p:xfrm>
          <a:off x="508000" y="561530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5"/>
            </p:custDataLst>
          </p:nvPr>
        </p:nvGraphicFramePr>
        <p:xfrm>
          <a:off x="508000" y="615124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46"/>
            </p:custDataLst>
          </p:nvPr>
        </p:nvSpPr>
        <p:spPr>
          <a:xfrm>
            <a:off x="218313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47"/>
            </p:custDataLst>
          </p:nvPr>
        </p:nvSpPr>
        <p:spPr>
          <a:xfrm>
            <a:off x="474726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48"/>
            </p:custDataLst>
          </p:nvPr>
        </p:nvSpPr>
        <p:spPr>
          <a:xfrm>
            <a:off x="731139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49"/>
            </p:custDataLst>
          </p:nvPr>
        </p:nvSpPr>
        <p:spPr>
          <a:xfrm>
            <a:off x="987552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407503" y="1610139"/>
            <a:ext cx="11136681" cy="1143000"/>
          </a:xfrm>
          <a:prstGeom prst="rect">
            <a:avLst/>
          </a:prstGeom>
          <a:solidFill>
            <a:srgbClr val="205C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7503" y="2817306"/>
            <a:ext cx="11136681" cy="38350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-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  <a:sym typeface="+mn-ea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>
            <p:custDataLst>
              <p:tags r:id="rId2"/>
            </p:custDataLst>
          </p:nvPr>
        </p:nvSpPr>
        <p:spPr>
          <a:xfrm>
            <a:off x="96520" y="752475"/>
            <a:ext cx="12026900" cy="6076315"/>
          </a:xfrm>
          <a:prstGeom prst="roundRect">
            <a:avLst>
              <a:gd name="adj" fmla="val 119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1001748" y="3121957"/>
          <a:ext cx="5003331" cy="3468812"/>
        </p:xfrm>
        <a:graphic>
          <a:graphicData uri="http://schemas.openxmlformats.org/drawingml/2006/table">
            <a:tbl>
              <a:tblPr/>
              <a:tblGrid>
                <a:gridCol w="506730"/>
                <a:gridCol w="763109"/>
                <a:gridCol w="762478"/>
                <a:gridCol w="896922"/>
                <a:gridCol w="838221"/>
                <a:gridCol w="1235871"/>
              </a:tblGrid>
              <a:tr h="48161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权益类型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权益种类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权益内容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权益形式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权益来源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会员等级权益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特色服务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通用权益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积分兑礼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专属问候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356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会员活动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专属包装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534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升级礼遇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生日特权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生日多倍积分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商业运营&amp;增值业务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生日赠送积分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356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生日专属问候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生日特别贺礼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41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停车优惠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月租停车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住宅通用权益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72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临时停车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项目权益（解释权归具体项目现场）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37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停车充电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</p:nvPr>
        </p:nvGraphicFramePr>
        <p:xfrm>
          <a:off x="6243320" y="3123027"/>
          <a:ext cx="4940430" cy="3247950"/>
        </p:xfrm>
        <a:graphic>
          <a:graphicData uri="http://schemas.openxmlformats.org/drawingml/2006/table">
            <a:tbl>
              <a:tblPr/>
              <a:tblGrid>
                <a:gridCol w="372537"/>
                <a:gridCol w="872670"/>
                <a:gridCol w="879723"/>
                <a:gridCol w="1045153"/>
                <a:gridCol w="686082"/>
                <a:gridCol w="1084265"/>
              </a:tblGrid>
              <a:tr h="46762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权益类型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权益种类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权益内容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权益形式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权益来源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会员等级权益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社群活动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住宅通用权益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城服物业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物业抵扣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036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共享空间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便民服务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公寓</a:t>
                      </a:r>
                      <a:r>
                        <a:rPr lang="zh-CN" altLang="en-US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公寓活动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市场型个人长租公寓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共享空间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服务费用减免（项目可选）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036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21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餐饮美食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餐饮特权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921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22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购物优惠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社区消费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23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购物特权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24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特殊身份权益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社区消费员工价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员工权益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增值服务</a:t>
                      </a:r>
                      <a:endParaRPr lang="zh-CN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97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</a:rPr>
                        <a:t>25</a:t>
                      </a:r>
                      <a:endParaRPr lang="en-US" altLang="en-US" sz="10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商业购物员工价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商业运营</a:t>
                      </a:r>
                      <a:endParaRPr lang="zh-CN" alt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3" name="文本框 82"/>
          <p:cNvSpPr txBox="1"/>
          <p:nvPr>
            <p:custDataLst>
              <p:tags r:id="rId5"/>
            </p:custDataLst>
          </p:nvPr>
        </p:nvSpPr>
        <p:spPr>
          <a:xfrm>
            <a:off x="315595" y="757555"/>
            <a:ext cx="1077150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会员权益内容预设：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分析设计等级权益、身份权益两大权益类型，七大等级权益种类，包括特色服务、生日特权、停车优惠、社区服务、公寓服务、餐饮美食、购物优惠。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725" y="1962530"/>
            <a:ext cx="550024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通用权益：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入会会员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即享受的权益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。要求全场景通用权益服务标准化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12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</a:t>
            </a: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</a:t>
            </a:r>
            <a:r>
              <a:rPr lang="zh-CN" altLang="zh-CN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由</a:t>
            </a:r>
            <a:r>
              <a:rPr lang="zh-CN" altLang="zh-CN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</a:t>
            </a:r>
            <a:r>
              <a:rPr lang="zh-CN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具体的项目提供的</a:t>
            </a:r>
            <a:r>
              <a:rPr lang="zh-CN" altLang="zh-CN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，可存在项目不同的</a:t>
            </a:r>
            <a:r>
              <a:rPr lang="zh-CN" altLang="zh-CN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差异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化服务。</a:t>
            </a:r>
            <a:endParaRPr lang="zh-CN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20758" y="1962530"/>
            <a:ext cx="4012637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员工权益：完成员工认证，且在有效期范围内的权益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503" y="2785262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工作组汇总进一步设计分析各事业部权益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内容及来源如下：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109970" y="1609293"/>
            <a:ext cx="0" cy="11438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318415" y="164790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会员等级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95355" y="165883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特殊身份权益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二、关键设计要素说明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——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cs typeface="MF DianHei" charset="-122"/>
                <a:sym typeface="+mn-ea"/>
              </a:rPr>
              <a:t>会员权益内容设计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3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770" y="1123120"/>
            <a:ext cx="11558905" cy="4184016"/>
            <a:chOff x="428770" y="2959005"/>
            <a:chExt cx="11558905" cy="2756735"/>
          </a:xfrm>
        </p:grpSpPr>
        <p:sp>
          <p:nvSpPr>
            <p:cNvPr id="71" name="圆角矩形 70"/>
            <p:cNvSpPr/>
            <p:nvPr>
              <p:custDataLst>
                <p:tags r:id="rId2"/>
              </p:custDataLst>
            </p:nvPr>
          </p:nvSpPr>
          <p:spPr>
            <a:xfrm>
              <a:off x="4792490" y="2976159"/>
              <a:ext cx="3898900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增值服务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3"/>
              </p:custDataLst>
            </p:nvPr>
          </p:nvSpPr>
          <p:spPr>
            <a:xfrm>
              <a:off x="4791855" y="2976159"/>
              <a:ext cx="3901440" cy="2739581"/>
            </a:xfrm>
            <a:prstGeom prst="roundRect">
              <a:avLst>
                <a:gd name="adj" fmla="val 2559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27" name="表格 26"/>
            <p:cNvGraphicFramePr/>
            <p:nvPr>
              <p:custDataLst>
                <p:tags r:id="rId4"/>
              </p:custDataLst>
            </p:nvPr>
          </p:nvGraphicFramePr>
          <p:xfrm>
            <a:off x="4942205" y="337105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/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1、搬家服务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（次数券、金额减免券）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2、保洁服务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（次数券、减免券、延时券）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3、汽车充电服务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4、住宅停车服务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（临停券）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5、活动场地使用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6、智能寄存服务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7、充电宝服务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（减免券、时长券）</a:t>
                        </a:r>
                        <a:endParaRPr lang="zh-CN" altLang="en-US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48" name="圆角矩形 147"/>
            <p:cNvSpPr/>
            <p:nvPr>
              <p:custDataLst>
                <p:tags r:id="rId5"/>
              </p:custDataLst>
            </p:nvPr>
          </p:nvSpPr>
          <p:spPr>
            <a:xfrm>
              <a:off x="458615" y="2971557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公共住房租赁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9" name="圆角矩形 148"/>
            <p:cNvSpPr/>
            <p:nvPr>
              <p:custDataLst>
                <p:tags r:id="rId6"/>
              </p:custDataLst>
            </p:nvPr>
          </p:nvSpPr>
          <p:spPr>
            <a:xfrm>
              <a:off x="458470" y="2976245"/>
              <a:ext cx="1327150" cy="107569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7"/>
              </p:custDataLst>
            </p:nvPr>
          </p:nvSpPr>
          <p:spPr>
            <a:xfrm>
              <a:off x="1912130" y="2959005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公共住房销售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圆角矩形 31"/>
            <p:cNvSpPr/>
            <p:nvPr>
              <p:custDataLst>
                <p:tags r:id="rId8"/>
              </p:custDataLst>
            </p:nvPr>
          </p:nvSpPr>
          <p:spPr>
            <a:xfrm>
              <a:off x="1907540" y="2974340"/>
              <a:ext cx="1327150" cy="1068705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9"/>
              </p:custDataLst>
            </p:nvPr>
          </p:nvSpPr>
          <p:spPr>
            <a:xfrm>
              <a:off x="3356755" y="2967373"/>
              <a:ext cx="132651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市场企业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长租公寓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" name="圆角矩形 34"/>
            <p:cNvSpPr/>
            <p:nvPr>
              <p:custDataLst>
                <p:tags r:id="rId10"/>
              </p:custDataLst>
            </p:nvPr>
          </p:nvSpPr>
          <p:spPr>
            <a:xfrm>
              <a:off x="3356610" y="2961005"/>
              <a:ext cx="1327150" cy="1084580"/>
            </a:xfrm>
            <a:prstGeom prst="roundRect">
              <a:avLst>
                <a:gd name="adj" fmla="val 4420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28770" y="4166870"/>
              <a:ext cx="4175834" cy="1548765"/>
              <a:chOff x="691" y="6562"/>
              <a:chExt cx="4405" cy="2439"/>
            </a:xfrm>
          </p:grpSpPr>
          <p:sp>
            <p:nvSpPr>
              <p:cNvPr id="37" name="圆角矩形 36"/>
              <p:cNvSpPr/>
              <p:nvPr>
                <p:custDataLst>
                  <p:tags r:id="rId11"/>
                </p:custDataLst>
              </p:nvPr>
            </p:nvSpPr>
            <p:spPr>
              <a:xfrm>
                <a:off x="723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市场企业长租公寓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8" name="圆角矩形 37"/>
              <p:cNvSpPr/>
              <p:nvPr>
                <p:custDataLst>
                  <p:tags r:id="rId12"/>
                </p:custDataLst>
              </p:nvPr>
            </p:nvSpPr>
            <p:spPr>
              <a:xfrm>
                <a:off x="723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13"/>
                </p:custDataLst>
              </p:nvPr>
            </p:nvSpPr>
            <p:spPr>
              <a:xfrm>
                <a:off x="3006" y="6562"/>
                <a:ext cx="2089" cy="546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rgbClr val="4472C4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城服物业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1" name="圆角矩形 40"/>
              <p:cNvSpPr/>
              <p:nvPr>
                <p:custDataLst>
                  <p:tags r:id="rId14"/>
                </p:custDataLst>
              </p:nvPr>
            </p:nvSpPr>
            <p:spPr>
              <a:xfrm>
                <a:off x="3006" y="6569"/>
                <a:ext cx="2090" cy="2432"/>
              </a:xfrm>
              <a:prstGeom prst="roundRect">
                <a:avLst>
                  <a:gd name="adj" fmla="val 4420"/>
                </a:avLst>
              </a:prstGeom>
              <a:noFill/>
              <a:ln>
                <a:solidFill>
                  <a:srgbClr val="4472C4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A608B"/>
                    </a:solidFill>
                  </a14:hiddenFill>
                </a:ext>
              </a:ex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5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144" y="7200"/>
                <a:ext cx="1807" cy="17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1、物业费服务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2、装修服务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3、报修服务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（金额减免券）</a:t>
                </a:r>
                <a:endParaRPr lang="zh-CN" altLang="en-US" sz="13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" y="7193"/>
                <a:ext cx="2137" cy="1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1、押金服务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（押金减免券）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2、房间换租服务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（永久免费换权益、次数券）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3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3、租金服务</a:t>
                </a:r>
                <a:endParaRPr lang="zh-CN" altLang="en-US" sz="13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（金额减免券、减免权益）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aphicFrame>
          <p:nvGraphicFramePr>
            <p:cNvPr id="50" name="表格 49"/>
            <p:cNvGraphicFramePr/>
            <p:nvPr>
              <p:custDataLst>
                <p:tags r:id="rId15"/>
              </p:custDataLst>
            </p:nvPr>
          </p:nvGraphicFramePr>
          <p:xfrm>
            <a:off x="6927215" y="3388200"/>
            <a:ext cx="1858010" cy="2740660"/>
          </p:xfrm>
          <a:graphic>
            <a:graphicData uri="http://schemas.openxmlformats.org/drawingml/2006/table">
              <a:tbl>
                <a:tblPr/>
                <a:tblGrid>
                  <a:gridCol w="1858010"/>
                </a:tblGrid>
                <a:tr h="274066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8、复印打印服务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（减免券）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9、智能纯净水服务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10、智能快递柜服务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11、报修服务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12、兑换商城礼品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13、商城多倍积分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（次数券、活动）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、专属活动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3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、专属礼品包装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55" name="圆角矩形 54"/>
            <p:cNvSpPr/>
            <p:nvPr>
              <p:custDataLst>
                <p:tags r:id="rId16"/>
              </p:custDataLst>
            </p:nvPr>
          </p:nvSpPr>
          <p:spPr>
            <a:xfrm>
              <a:off x="8801880" y="2976159"/>
              <a:ext cx="3184525" cy="346422"/>
            </a:xfrm>
            <a:prstGeom prst="round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商业运营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17"/>
              </p:custDataLst>
            </p:nvPr>
          </p:nvSpPr>
          <p:spPr>
            <a:xfrm>
              <a:off x="8801245" y="2976159"/>
              <a:ext cx="3186430" cy="2739581"/>
            </a:xfrm>
            <a:prstGeom prst="roundRect">
              <a:avLst>
                <a:gd name="adj" fmla="val 1952"/>
              </a:avLst>
            </a:prstGeom>
            <a:noFill/>
            <a:ln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A608B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57" name="表格 56"/>
            <p:cNvGraphicFramePr/>
            <p:nvPr>
              <p:custDataLst>
                <p:tags r:id="rId18"/>
              </p:custDataLst>
            </p:nvPr>
          </p:nvGraphicFramePr>
          <p:xfrm>
            <a:off x="8933815" y="3404525"/>
            <a:ext cx="1979295" cy="2832100"/>
          </p:xfrm>
          <a:graphic>
            <a:graphicData uri="http://schemas.openxmlformats.org/drawingml/2006/table">
              <a:tbl>
                <a:tblPr/>
                <a:tblGrid>
                  <a:gridCol w="1979295"/>
                </a:tblGrid>
                <a:tr h="283210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1、品牌商品消费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（金额减免券、折扣券）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2、集中商业停车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b="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（次数券、减免券、时长券）</a:t>
                        </a:r>
                        <a:endParaRPr lang="zh-CN" sz="12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3、专属停车时长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4、专属服务权益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5、兑换实物礼品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6、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商城多倍积分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（次数券、活动）</a:t>
                        </a:r>
                        <a:endParaRPr lang="zh-CN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7、专属活动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</a:rPr>
                          <a:t>8、礼品包装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  <a:p>
                        <a:pPr indent="0">
                          <a:lnSpc>
                            <a:spcPct val="14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9</a:t>
                        </a:r>
                        <a:r>
                          <a:rPr lang="zh-CN" altLang="en-US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、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积分时效延长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58" name="表格 57"/>
            <p:cNvGraphicFramePr/>
            <p:nvPr>
              <p:custDataLst>
                <p:tags r:id="rId19"/>
              </p:custDataLst>
            </p:nvPr>
          </p:nvGraphicFramePr>
          <p:xfrm>
            <a:off x="10878185" y="3594390"/>
            <a:ext cx="1066165" cy="2322830"/>
          </p:xfrm>
          <a:graphic>
            <a:graphicData uri="http://schemas.openxmlformats.org/drawingml/2006/table">
              <a:tbl>
                <a:tblPr/>
                <a:tblGrid>
                  <a:gridCol w="1066165"/>
                </a:tblGrid>
                <a:tr h="2322830">
                  <a:tc>
                    <a:txBody>
                      <a:bodyPr/>
                      <a:lstStyle/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10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.生日礼品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.免费充电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2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.配送服务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3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.抽奖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4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.茶歇服务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5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.打印服务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6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.专属客服</a:t>
                        </a:r>
                        <a:endParaRPr lang="zh-CN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  <a:p>
                        <a:pPr indent="0">
                          <a:lnSpc>
                            <a:spcPct val="150000"/>
                          </a:lnSpc>
                          <a:buNone/>
                        </a:pP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1</a:t>
                        </a:r>
                        <a:r>
                          <a:rPr lang="en-US" alt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7</a:t>
                        </a:r>
                        <a:r>
                          <a:rPr lang="zh-CN" sz="1300" b="1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 panose="020B0503020204020204" charset="-122"/>
                            <a:sym typeface="+mn-ea"/>
                          </a:rPr>
                          <a:t>.免费储物</a:t>
                        </a:r>
                        <a:endParaRPr lang="zh-CN" alt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cap="flat">
                        <a:noFill/>
                      </a:lnR>
                      <a:lnT cap="flat">
                        <a:noFill/>
                      </a:lnT>
                      <a:lnB cap="flat">
                        <a:noFill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60" name="文本框 59"/>
            <p:cNvSpPr txBox="1"/>
            <p:nvPr>
              <p:custDataLst>
                <p:tags r:id="rId20"/>
              </p:custDataLst>
            </p:nvPr>
          </p:nvSpPr>
          <p:spPr>
            <a:xfrm>
              <a:off x="96266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21"/>
              </p:custDataLst>
            </p:nvPr>
          </p:nvSpPr>
          <p:spPr>
            <a:xfrm>
              <a:off x="23876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22"/>
              </p:custDataLst>
            </p:nvPr>
          </p:nvSpPr>
          <p:spPr>
            <a:xfrm>
              <a:off x="3886200" y="3526155"/>
              <a:ext cx="519430" cy="3683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15474" y="640186"/>
            <a:ext cx="1172591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会员权益汇总：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各个业务板块可提供的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及行业的会员权益</a:t>
            </a:r>
            <a:r>
              <a:rPr lang="zh-CN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统一汇总，形成权益集合。再根据用户旅程、权益类型进行详细权益服务设计。</a:t>
            </a:r>
            <a:endParaRPr 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273810" y="5673090"/>
            <a:ext cx="10569575" cy="941070"/>
            <a:chOff x="-800" y="10800"/>
            <a:chExt cx="18050" cy="1482"/>
          </a:xfrm>
        </p:grpSpPr>
        <p:sp>
          <p:nvSpPr>
            <p:cNvPr id="5" name="圆角矩形 4"/>
            <p:cNvSpPr/>
            <p:nvPr>
              <p:custDataLst>
                <p:tags r:id="rId23"/>
              </p:custDataLst>
            </p:nvPr>
          </p:nvSpPr>
          <p:spPr>
            <a:xfrm>
              <a:off x="102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亚泰集团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圆角矩形 5"/>
            <p:cNvSpPr/>
            <p:nvPr>
              <p:custDataLst>
                <p:tags r:id="rId24"/>
              </p:custDataLst>
            </p:nvPr>
          </p:nvSpPr>
          <p:spPr>
            <a:xfrm>
              <a:off x="2840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越秀集团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" name="圆角矩形 7"/>
            <p:cNvSpPr/>
            <p:nvPr>
              <p:custDataLst>
                <p:tags r:id="rId25"/>
              </p:custDataLst>
            </p:nvPr>
          </p:nvSpPr>
          <p:spPr>
            <a:xfrm>
              <a:off x="465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国信集团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圆角矩形 17"/>
            <p:cNvSpPr/>
            <p:nvPr>
              <p:custDataLst>
                <p:tags r:id="rId26"/>
              </p:custDataLst>
            </p:nvPr>
          </p:nvSpPr>
          <p:spPr>
            <a:xfrm>
              <a:off x="647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27"/>
              </p:custDataLst>
            </p:nvPr>
          </p:nvSpPr>
          <p:spPr>
            <a:xfrm>
              <a:off x="829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绿地集团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28"/>
              </p:custDataLst>
            </p:nvPr>
          </p:nvSpPr>
          <p:spPr>
            <a:xfrm>
              <a:off x="-80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有巢公寓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圆角矩形 24"/>
            <p:cNvSpPr/>
            <p:nvPr>
              <p:custDataLst>
                <p:tags r:id="rId29"/>
              </p:custDataLst>
            </p:nvPr>
          </p:nvSpPr>
          <p:spPr>
            <a:xfrm>
              <a:off x="101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自如公寓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30"/>
              </p:custDataLst>
            </p:nvPr>
          </p:nvSpPr>
          <p:spPr>
            <a:xfrm>
              <a:off x="2833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魔方公寓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31"/>
              </p:custDataLst>
            </p:nvPr>
          </p:nvSpPr>
          <p:spPr>
            <a:xfrm>
              <a:off x="8281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龙湖欢肆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32"/>
              </p:custDataLst>
            </p:nvPr>
          </p:nvSpPr>
          <p:spPr>
            <a:xfrm>
              <a:off x="4649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万象食家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33"/>
              </p:custDataLst>
            </p:nvPr>
          </p:nvSpPr>
          <p:spPr>
            <a:xfrm>
              <a:off x="-800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华润集团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34"/>
              </p:custDataLst>
            </p:nvPr>
          </p:nvSpPr>
          <p:spPr>
            <a:xfrm>
              <a:off x="6465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卓越时光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圆角矩形 10"/>
            <p:cNvSpPr/>
            <p:nvPr>
              <p:custDataLst>
                <p:tags r:id="rId35"/>
              </p:custDataLst>
            </p:nvPr>
          </p:nvSpPr>
          <p:spPr>
            <a:xfrm>
              <a:off x="10119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万科集团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圆角矩形 11"/>
            <p:cNvSpPr/>
            <p:nvPr>
              <p:custDataLst>
                <p:tags r:id="rId36"/>
              </p:custDataLst>
            </p:nvPr>
          </p:nvSpPr>
          <p:spPr>
            <a:xfrm>
              <a:off x="11938" y="10823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招商蛇口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" name="圆角矩形 12"/>
            <p:cNvSpPr/>
            <p:nvPr>
              <p:custDataLst>
                <p:tags r:id="rId37"/>
              </p:custDataLst>
            </p:nvPr>
          </p:nvSpPr>
          <p:spPr>
            <a:xfrm>
              <a:off x="10098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万象物业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圆角矩形 35"/>
            <p:cNvSpPr/>
            <p:nvPr>
              <p:custDataLst>
                <p:tags r:id="rId38"/>
              </p:custDataLst>
            </p:nvPr>
          </p:nvSpPr>
          <p:spPr>
            <a:xfrm>
              <a:off x="11914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润物直选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9"/>
              </p:custDataLst>
            </p:nvPr>
          </p:nvSpPr>
          <p:spPr>
            <a:xfrm>
              <a:off x="1375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卓越集团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圆角矩形 38"/>
            <p:cNvSpPr/>
            <p:nvPr>
              <p:custDataLst>
                <p:tags r:id="rId40"/>
              </p:custDataLst>
            </p:nvPr>
          </p:nvSpPr>
          <p:spPr>
            <a:xfrm>
              <a:off x="13730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懒人装修</a:t>
              </a:r>
              <a:endParaRPr lang="zh-CN" altLang="en-US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41"/>
              </p:custDataLst>
            </p:nvPr>
          </p:nvSpPr>
          <p:spPr>
            <a:xfrm>
              <a:off x="15578" y="10800"/>
              <a:ext cx="1672" cy="643"/>
            </a:xfrm>
            <a:prstGeom prst="roundRect">
              <a:avLst/>
            </a:prstGeom>
            <a:solidFill>
              <a:srgbClr val="4472C4"/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圆角矩形 14"/>
            <p:cNvSpPr/>
            <p:nvPr>
              <p:custDataLst>
                <p:tags r:id="rId42"/>
              </p:custDataLst>
            </p:nvPr>
          </p:nvSpPr>
          <p:spPr>
            <a:xfrm>
              <a:off x="15546" y="11640"/>
              <a:ext cx="1672" cy="643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300" b="1" dirty="0">
                  <a:solidFill>
                    <a:srgbClr val="4472C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en-US" altLang="zh-CN" sz="13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8" name="圆角矩形 77"/>
          <p:cNvSpPr/>
          <p:nvPr>
            <p:custDataLst>
              <p:tags r:id="rId43"/>
            </p:custDataLst>
          </p:nvPr>
        </p:nvSpPr>
        <p:spPr>
          <a:xfrm>
            <a:off x="395605" y="5547995"/>
            <a:ext cx="11569700" cy="1168400"/>
          </a:xfrm>
          <a:prstGeom prst="roundRect">
            <a:avLst>
              <a:gd name="adj" fmla="val 1195"/>
            </a:avLst>
          </a:prstGeom>
          <a:noFill/>
          <a:ln>
            <a:solidFill>
              <a:srgbClr val="99B1DE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2A608B"/>
                </a:solidFill>
              </a14:hiddenFill>
            </a:ext>
          </a:extLst>
        </p:spPr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9" name="表格 78"/>
          <p:cNvGraphicFramePr/>
          <p:nvPr>
            <p:custDataLst>
              <p:tags r:id="rId44"/>
            </p:custDataLst>
          </p:nvPr>
        </p:nvGraphicFramePr>
        <p:xfrm>
          <a:off x="508000" y="561530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对标企业示例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/>
          <p:nvPr>
            <p:custDataLst>
              <p:tags r:id="rId45"/>
            </p:custDataLst>
          </p:nvPr>
        </p:nvGraphicFramePr>
        <p:xfrm>
          <a:off x="508000" y="6151245"/>
          <a:ext cx="625475" cy="527812"/>
        </p:xfrm>
        <a:graphic>
          <a:graphicData uri="http://schemas.openxmlformats.org/drawingml/2006/table">
            <a:tbl>
              <a:tblPr/>
              <a:tblGrid>
                <a:gridCol w="625475"/>
              </a:tblGrid>
              <a:tr h="522605">
                <a:tc>
                  <a:txBody>
                    <a:bodyPr/>
                    <a:lstStyle/>
                    <a:p>
                      <a:pPr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zh-CN" sz="11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对标业务示例</a:t>
                      </a:r>
                      <a:endParaRPr lang="zh-CN" altLang="zh-CN" sz="1100" b="1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" name="上箭头 82"/>
          <p:cNvSpPr/>
          <p:nvPr>
            <p:custDataLst>
              <p:tags r:id="rId46"/>
            </p:custDataLst>
          </p:nvPr>
        </p:nvSpPr>
        <p:spPr>
          <a:xfrm>
            <a:off x="218313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>
            <p:custDataLst>
              <p:tags r:id="rId47"/>
            </p:custDataLst>
          </p:nvPr>
        </p:nvSpPr>
        <p:spPr>
          <a:xfrm>
            <a:off x="474726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>
            <p:custDataLst>
              <p:tags r:id="rId48"/>
            </p:custDataLst>
          </p:nvPr>
        </p:nvSpPr>
        <p:spPr>
          <a:xfrm>
            <a:off x="731139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>
            <p:custDataLst>
              <p:tags r:id="rId49"/>
            </p:custDataLst>
          </p:nvPr>
        </p:nvSpPr>
        <p:spPr>
          <a:xfrm>
            <a:off x="9875520" y="5426710"/>
            <a:ext cx="279400" cy="163830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315474" y="48470"/>
            <a:ext cx="7837926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三、系统定位及关联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295" name="灯片编号占位符 2"/>
          <p:cNvSpPr txBox="1"/>
          <p:nvPr>
            <p:custDataLst>
              <p:tags r:id="rId1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标题 1"/>
          <p:cNvSpPr/>
          <p:nvPr>
            <p:custDataLst>
              <p:tags r:id="rId2"/>
            </p:custDataLst>
          </p:nvPr>
        </p:nvSpPr>
        <p:spPr>
          <a:xfrm>
            <a:off x="315474" y="926028"/>
            <a:ext cx="1107948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1800" dirty="0" smtClean="0"/>
              <a:t>集成关系总览图：</a:t>
            </a:r>
            <a:r>
              <a:rPr lang="zh-CN" altLang="en-US" sz="1800" dirty="0"/>
              <a:t>在租赁公司整体数字化规划中与各内部应用集成对接，与外部三方系统集成对接具备标准接口。</a:t>
            </a:r>
            <a:endParaRPr lang="zh-CN" altLang="en-US" sz="1800" dirty="0"/>
          </a:p>
        </p:txBody>
      </p:sp>
      <p:grpSp>
        <p:nvGrpSpPr>
          <p:cNvPr id="107" name="组合 106"/>
          <p:cNvGrpSpPr/>
          <p:nvPr/>
        </p:nvGrpSpPr>
        <p:grpSpPr>
          <a:xfrm>
            <a:off x="264308" y="1448296"/>
            <a:ext cx="11181812" cy="4815901"/>
            <a:chOff x="315474" y="1151190"/>
            <a:chExt cx="11373565" cy="5199819"/>
          </a:xfrm>
        </p:grpSpPr>
        <p:sp>
          <p:nvSpPr>
            <p:cNvPr id="108" name="矩形 107"/>
            <p:cNvSpPr/>
            <p:nvPr>
              <p:custDataLst>
                <p:tags r:id="rId3"/>
              </p:custDataLst>
            </p:nvPr>
          </p:nvSpPr>
          <p:spPr>
            <a:xfrm>
              <a:off x="10040620" y="2418015"/>
              <a:ext cx="1437005" cy="2369185"/>
            </a:xfrm>
            <a:prstGeom prst="rect">
              <a:avLst/>
            </a:prstGeom>
            <a:solidFill>
              <a:srgbClr val="F0F8F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>
              <p:custDataLst>
                <p:tags r:id="rId4"/>
              </p:custDataLst>
            </p:nvPr>
          </p:nvSpPr>
          <p:spPr>
            <a:xfrm>
              <a:off x="756920" y="1881440"/>
              <a:ext cx="1437005" cy="3830744"/>
            </a:xfrm>
            <a:prstGeom prst="rect">
              <a:avLst/>
            </a:prstGeom>
            <a:solidFill>
              <a:srgbClr val="F0F8F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3303270" y="1151190"/>
              <a:ext cx="5651500" cy="431800"/>
              <a:chOff x="584" y="1930"/>
              <a:chExt cx="8900" cy="680"/>
            </a:xfrm>
          </p:grpSpPr>
          <p:sp>
            <p:nvSpPr>
              <p:cNvPr id="190" name="矩形 189"/>
              <p:cNvSpPr/>
              <p:nvPr>
                <p:custDataLst>
                  <p:tags r:id="rId5"/>
                </p:custDataLst>
              </p:nvPr>
            </p:nvSpPr>
            <p:spPr>
              <a:xfrm>
                <a:off x="584" y="1930"/>
                <a:ext cx="8901" cy="680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文本框 19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64" y="2053"/>
                <a:ext cx="1425" cy="434"/>
              </a:xfrm>
              <a:prstGeom prst="rect">
                <a:avLst/>
              </a:prstGeom>
              <a:noFill/>
              <a:ln>
                <a:solidFill>
                  <a:srgbClr val="00B0F0">
                    <a:alpha val="0"/>
                  </a:srgbClr>
                </a:solidFill>
              </a:ln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zh-CN" altLang="en-US" sz="1200">
                    <a:solidFill>
                      <a:srgbClr val="00449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面客渠道</a:t>
                </a:r>
                <a:endParaRPr lang="zh-CN" altLang="en-US" sz="1200">
                  <a:solidFill>
                    <a:srgbClr val="00449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2" name="圆角矩形 191"/>
              <p:cNvSpPr/>
              <p:nvPr>
                <p:custDataLst>
                  <p:tags r:id="rId7"/>
                </p:custDataLst>
              </p:nvPr>
            </p:nvSpPr>
            <p:spPr>
              <a:xfrm>
                <a:off x="419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微信小程序</a:t>
                </a:r>
                <a:endPara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93" name="圆角矩形 192"/>
              <p:cNvSpPr/>
              <p:nvPr>
                <p:custDataLst>
                  <p:tags r:id="rId8"/>
                </p:custDataLst>
              </p:nvPr>
            </p:nvSpPr>
            <p:spPr>
              <a:xfrm>
                <a:off x="775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线上商城</a:t>
                </a:r>
                <a:endPara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" name="圆角矩形 193"/>
              <p:cNvSpPr/>
              <p:nvPr>
                <p:custDataLst>
                  <p:tags r:id="rId9"/>
                </p:custDataLst>
              </p:nvPr>
            </p:nvSpPr>
            <p:spPr>
              <a:xfrm>
                <a:off x="241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手机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APP</a:t>
                </a:r>
                <a:endPara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" name="圆角矩形 194"/>
              <p:cNvSpPr/>
              <p:nvPr>
                <p:custDataLst>
                  <p:tags r:id="rId10"/>
                </p:custDataLst>
              </p:nvPr>
            </p:nvSpPr>
            <p:spPr>
              <a:xfrm>
                <a:off x="5976" y="2072"/>
                <a:ext cx="1553" cy="39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微信公众号</a:t>
                </a:r>
                <a:endPara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0105" y="2351340"/>
              <a:ext cx="2926080" cy="605790"/>
              <a:chOff x="1323" y="3809"/>
              <a:chExt cx="4608" cy="954"/>
            </a:xfrm>
          </p:grpSpPr>
          <p:sp>
            <p:nvSpPr>
              <p:cNvPr id="185" name="圆角矩形 18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23" y="3809"/>
                <a:ext cx="2000" cy="955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客户数据管理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系统</a:t>
                </a:r>
                <a:endPara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86" name="直接箭头连接符 189"/>
              <p:cNvCxnSpPr/>
              <p:nvPr>
                <p:custDataLst>
                  <p:tags r:id="rId12"/>
                </p:custDataLst>
              </p:nvPr>
            </p:nvCxnSpPr>
            <p:spPr>
              <a:xfrm flipH="1">
                <a:off x="3323" y="4073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7" name="文本框 18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835" y="3809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</a:t>
                </a:r>
                <a:r>
                  <a:rPr lang="zh-CN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、积分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、埋点数据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88" name="直接箭头连接符 189"/>
              <p:cNvCxnSpPr/>
              <p:nvPr>
                <p:custDataLst>
                  <p:tags r:id="rId14"/>
                </p:custDataLst>
              </p:nvPr>
            </p:nvCxnSpPr>
            <p:spPr>
              <a:xfrm flipH="1">
                <a:off x="3323" y="4593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9" name="文本框 18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835" y="4426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用户数据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>
              <a:off x="840105" y="3037140"/>
              <a:ext cx="2926080" cy="251460"/>
              <a:chOff x="1323" y="4915"/>
              <a:chExt cx="4608" cy="396"/>
            </a:xfrm>
          </p:grpSpPr>
          <p:sp>
            <p:nvSpPr>
              <p:cNvPr id="182" name="圆角矩形 181"/>
              <p:cNvSpPr/>
              <p:nvPr>
                <p:custDataLst>
                  <p:tags r:id="rId16"/>
                </p:custDataLst>
              </p:nvPr>
            </p:nvSpPr>
            <p:spPr>
              <a:xfrm>
                <a:off x="1323" y="4915"/>
                <a:ext cx="2000" cy="397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服系统</a:t>
                </a:r>
                <a:endPara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83" name="直接箭头连接符 189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3323" y="5112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4" name="文本框 18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835" y="4945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会员积分数据查询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840105" y="3368610"/>
              <a:ext cx="2926080" cy="504190"/>
              <a:chOff x="1323" y="5454"/>
              <a:chExt cx="4608" cy="794"/>
            </a:xfrm>
          </p:grpSpPr>
          <p:sp>
            <p:nvSpPr>
              <p:cNvPr id="177" name="圆角矩形 17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323" y="5454"/>
                <a:ext cx="2000" cy="794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充电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桩智能管理系统</a:t>
                </a:r>
                <a:endPara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78" name="直接箭头连接符 189"/>
              <p:cNvCxnSpPr/>
              <p:nvPr>
                <p:custDataLst>
                  <p:tags r:id="rId20"/>
                </p:custDataLst>
              </p:nvPr>
            </p:nvCxnSpPr>
            <p:spPr>
              <a:xfrm flipH="1">
                <a:off x="3323" y="571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9" name="文本框 17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3835" y="5454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80" name="直接箭头连接符 189"/>
              <p:cNvCxnSpPr/>
              <p:nvPr>
                <p:custDataLst>
                  <p:tags r:id="rId22"/>
                </p:custDataLst>
              </p:nvPr>
            </p:nvCxnSpPr>
            <p:spPr>
              <a:xfrm flipH="1">
                <a:off x="3323" y="607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1" name="文本框 18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3835" y="5911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>
                    <a:solidFill>
                      <a:schemeClr val="bg1">
                        <a:lumMod val="65000"/>
                      </a:schemeClr>
                    </a:solidFill>
                  </a:rPr>
                  <a:t>积分兑换</a:t>
                </a:r>
                <a:endParaRPr lang="zh-CN" altLang="en-US" sz="80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840105" y="3952810"/>
              <a:ext cx="2926080" cy="504190"/>
              <a:chOff x="1323" y="6381"/>
              <a:chExt cx="4608" cy="794"/>
            </a:xfrm>
          </p:grpSpPr>
          <p:sp>
            <p:nvSpPr>
              <p:cNvPr id="172" name="圆角矩形 171"/>
              <p:cNvSpPr/>
              <p:nvPr>
                <p:custDataLst>
                  <p:tags r:id="rId24"/>
                </p:custDataLst>
              </p:nvPr>
            </p:nvSpPr>
            <p:spPr>
              <a:xfrm>
                <a:off x="1323" y="6381"/>
                <a:ext cx="2000" cy="794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停车场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统一管理系统</a:t>
                </a:r>
                <a:endPara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73" name="直接箭头连接符 189"/>
              <p:cNvCxnSpPr/>
              <p:nvPr>
                <p:custDataLst>
                  <p:tags r:id="rId25"/>
                </p:custDataLst>
              </p:nvPr>
            </p:nvCxnSpPr>
            <p:spPr>
              <a:xfrm flipH="1">
                <a:off x="3323" y="6548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4" name="文本框 17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3835" y="6381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75" name="直接箭头连接符 189"/>
              <p:cNvCxnSpPr/>
              <p:nvPr>
                <p:custDataLst>
                  <p:tags r:id="rId27"/>
                </p:custDataLst>
              </p:nvPr>
            </p:nvCxnSpPr>
            <p:spPr>
              <a:xfrm flipH="1">
                <a:off x="3323" y="7005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6" name="文本框 175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835" y="6838"/>
                <a:ext cx="1583" cy="3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>
                    <a:solidFill>
                      <a:schemeClr val="bg1">
                        <a:lumMod val="65000"/>
                      </a:schemeClr>
                    </a:solidFill>
                  </a:rPr>
                  <a:t>积分兑换</a:t>
                </a:r>
                <a:endParaRPr lang="zh-CN" altLang="en-US" sz="80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840105" y="4508435"/>
              <a:ext cx="2926080" cy="603885"/>
              <a:chOff x="1323" y="7270"/>
              <a:chExt cx="4608" cy="951"/>
            </a:xfrm>
          </p:grpSpPr>
          <p:sp>
            <p:nvSpPr>
              <p:cNvPr id="169" name="圆角矩形 168"/>
              <p:cNvSpPr/>
              <p:nvPr>
                <p:custDataLst>
                  <p:tags r:id="rId29"/>
                </p:custDataLst>
              </p:nvPr>
            </p:nvSpPr>
            <p:spPr>
              <a:xfrm>
                <a:off x="1323" y="7270"/>
                <a:ext cx="2000" cy="951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运营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管理一体化</a:t>
                </a:r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系统</a:t>
                </a:r>
                <a:endParaRPr kumimoji="1" lang="en-US" altLang="zh-CN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ctr"/>
                <a:r>
                  <a:rPr kumimoji="1" lang="zh-CN" altLang="en-US" sz="8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（租赁、物业、商业）</a:t>
                </a:r>
                <a:endParaRPr kumimoji="1"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70" name="直接箭头连接符 189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3323" y="7597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1" name="文本框 170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3835" y="7333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会员数据、积分；支持营销活动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</p:grpSp>
        <p:cxnSp>
          <p:nvCxnSpPr>
            <p:cNvPr id="117" name="直接箭头连接符 189"/>
            <p:cNvCxnSpPr/>
            <p:nvPr>
              <p:custDataLst>
                <p:tags r:id="rId32"/>
              </p:custDataLst>
            </p:nvPr>
          </p:nvCxnSpPr>
          <p:spPr>
            <a:xfrm flipH="1">
              <a:off x="8467725" y="3186636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8" name="文本框 117"/>
            <p:cNvSpPr txBox="1"/>
            <p:nvPr>
              <p:custDataLst>
                <p:tags r:id="rId33"/>
              </p:custDataLst>
            </p:nvPr>
          </p:nvSpPr>
          <p:spPr>
            <a:xfrm>
              <a:off x="1025525" y="1991295"/>
              <a:ext cx="1052520" cy="2800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内部</a:t>
              </a:r>
              <a:r>
                <a:rPr lang="zh-CN" altLang="en-US" sz="1400" dirty="0" smtClean="0">
                  <a:latin typeface="微软雅黑" panose="020B0503020204020204" charset="-122"/>
                  <a:ea typeface="微软雅黑" panose="020B0503020204020204" charset="-122"/>
                </a:rPr>
                <a:t>系统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圆角矩形 118"/>
            <p:cNvSpPr/>
            <p:nvPr>
              <p:custDataLst>
                <p:tags r:id="rId34"/>
              </p:custDataLst>
            </p:nvPr>
          </p:nvSpPr>
          <p:spPr>
            <a:xfrm>
              <a:off x="10123805" y="2887915"/>
              <a:ext cx="1353821" cy="606425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埋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点系统</a:t>
              </a:r>
              <a:endParaRPr kumimoji="1"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0" name="圆角矩形 119"/>
            <p:cNvSpPr/>
            <p:nvPr>
              <p:custDataLst>
                <p:tags r:id="rId35"/>
              </p:custDataLst>
            </p:nvPr>
          </p:nvSpPr>
          <p:spPr>
            <a:xfrm>
              <a:off x="10123805" y="3979076"/>
              <a:ext cx="1364234" cy="440457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短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信运营服务</a:t>
              </a:r>
              <a:endParaRPr kumimoji="1"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1" name="文本框 120"/>
            <p:cNvSpPr txBox="1"/>
            <p:nvPr>
              <p:custDataLst>
                <p:tags r:id="rId36"/>
              </p:custDataLst>
            </p:nvPr>
          </p:nvSpPr>
          <p:spPr>
            <a:xfrm>
              <a:off x="10205598" y="2529478"/>
              <a:ext cx="1483441" cy="1970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 smtClean="0">
                  <a:latin typeface="微软雅黑" panose="020B0503020204020204" charset="-122"/>
                  <a:ea typeface="微软雅黑" panose="020B0503020204020204" charset="-122"/>
                </a:rPr>
                <a:t>外部系统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文本框 121"/>
            <p:cNvSpPr txBox="1"/>
            <p:nvPr>
              <p:custDataLst>
                <p:tags r:id="rId37"/>
              </p:custDataLst>
            </p:nvPr>
          </p:nvSpPr>
          <p:spPr>
            <a:xfrm>
              <a:off x="8753753" y="3079638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埋点行为数据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23" name="直接箭头连接符 189"/>
            <p:cNvCxnSpPr/>
            <p:nvPr>
              <p:custDataLst>
                <p:tags r:id="rId38"/>
              </p:custDataLst>
            </p:nvPr>
          </p:nvCxnSpPr>
          <p:spPr>
            <a:xfrm flipH="1">
              <a:off x="8955325" y="1367996"/>
              <a:ext cx="41275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箭头连接符 189"/>
            <p:cNvCxnSpPr/>
            <p:nvPr>
              <p:custDataLst>
                <p:tags r:id="rId39"/>
              </p:custDataLst>
            </p:nvPr>
          </p:nvCxnSpPr>
          <p:spPr>
            <a:xfrm flipV="1">
              <a:off x="9366805" y="1361861"/>
              <a:ext cx="8890" cy="164973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5" name="文本框 124"/>
            <p:cNvSpPr txBox="1"/>
            <p:nvPr>
              <p:custDataLst>
                <p:tags r:id="rId40"/>
              </p:custDataLst>
            </p:nvPr>
          </p:nvSpPr>
          <p:spPr>
            <a:xfrm>
              <a:off x="8843923" y="2148593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埋点行为数据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26" name="直接箭头连接符 189"/>
            <p:cNvCxnSpPr/>
            <p:nvPr>
              <p:custDataLst>
                <p:tags r:id="rId41"/>
              </p:custDataLst>
            </p:nvPr>
          </p:nvCxnSpPr>
          <p:spPr>
            <a:xfrm flipH="1">
              <a:off x="9368075" y="2996771"/>
              <a:ext cx="770255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7" name="直接箭头连接符 189"/>
            <p:cNvCxnSpPr/>
            <p:nvPr>
              <p:custDataLst>
                <p:tags r:id="rId42"/>
              </p:custDataLst>
            </p:nvPr>
          </p:nvCxnSpPr>
          <p:spPr>
            <a:xfrm flipH="1">
              <a:off x="8468995" y="3473656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none" w="med" len="med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>
              <p:custDataLst>
                <p:tags r:id="rId43"/>
              </p:custDataLst>
            </p:nvPr>
          </p:nvSpPr>
          <p:spPr>
            <a:xfrm>
              <a:off x="8755023" y="3366658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埋点数据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29" name="直接箭头连接符 189"/>
            <p:cNvCxnSpPr/>
            <p:nvPr>
              <p:custDataLst>
                <p:tags r:id="rId44"/>
              </p:custDataLst>
            </p:nvPr>
          </p:nvCxnSpPr>
          <p:spPr>
            <a:xfrm flipH="1">
              <a:off x="8486775" y="4232624"/>
              <a:ext cx="1656000" cy="0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0" name="文本框 129"/>
            <p:cNvSpPr txBox="1"/>
            <p:nvPr>
              <p:custDataLst>
                <p:tags r:id="rId45"/>
              </p:custDataLst>
            </p:nvPr>
          </p:nvSpPr>
          <p:spPr>
            <a:xfrm>
              <a:off x="8772803" y="4125626"/>
              <a:ext cx="1005205" cy="2139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短信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1" name="矩形 130"/>
            <p:cNvSpPr/>
            <p:nvPr>
              <p:custDataLst>
                <p:tags r:id="rId46"/>
              </p:custDataLst>
            </p:nvPr>
          </p:nvSpPr>
          <p:spPr>
            <a:xfrm>
              <a:off x="4323080" y="2795270"/>
              <a:ext cx="3642360" cy="2081530"/>
            </a:xfrm>
            <a:prstGeom prst="rect">
              <a:avLst/>
            </a:prstGeom>
            <a:solidFill>
              <a:srgbClr val="F2F2F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0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2" name="矩形 131"/>
            <p:cNvSpPr/>
            <p:nvPr>
              <p:custDataLst>
                <p:tags r:id="rId47"/>
              </p:custDataLst>
            </p:nvPr>
          </p:nvSpPr>
          <p:spPr>
            <a:xfrm>
              <a:off x="7964805" y="2290380"/>
              <a:ext cx="504190" cy="3084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4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外部接口服务</a:t>
              </a:r>
              <a:endParaRPr lang="zh-CN" sz="14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3" name="文本框 132"/>
            <p:cNvSpPr txBox="1"/>
            <p:nvPr>
              <p:custDataLst>
                <p:tags r:id="rId48"/>
              </p:custDataLst>
            </p:nvPr>
          </p:nvSpPr>
          <p:spPr>
            <a:xfrm>
              <a:off x="4322445" y="3127310"/>
              <a:ext cx="353060" cy="129222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charset="-122"/>
                  <a:ea typeface="微软雅黑" panose="020B0503020204020204" charset="-122"/>
                </a:rPr>
                <a:t>OPENAPI</a:t>
              </a:r>
              <a:r>
                <a:rPr lang="zh-CN" altLang="en-US" sz="1100" b="1" dirty="0">
                  <a:latin typeface="微软雅黑" panose="020B0503020204020204" charset="-122"/>
                  <a:ea typeface="微软雅黑" panose="020B0503020204020204" charset="-122"/>
                </a:rPr>
                <a:t>集成网关</a:t>
              </a: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" name="矩形 133"/>
            <p:cNvSpPr/>
            <p:nvPr>
              <p:custDataLst>
                <p:tags r:id="rId49"/>
              </p:custDataLst>
            </p:nvPr>
          </p:nvSpPr>
          <p:spPr>
            <a:xfrm>
              <a:off x="3793490" y="2290380"/>
              <a:ext cx="504190" cy="308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内</a:t>
              </a:r>
              <a:r>
                <a:rPr kumimoji="0" 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部接口服务</a:t>
              </a:r>
              <a:endParaRPr kumimoji="0" 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5" name="矩形 134"/>
            <p:cNvSpPr/>
            <p:nvPr>
              <p:custDataLst>
                <p:tags r:id="rId50"/>
              </p:custDataLst>
            </p:nvPr>
          </p:nvSpPr>
          <p:spPr>
            <a:xfrm>
              <a:off x="3793490" y="2290380"/>
              <a:ext cx="4674235" cy="504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前端入口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6" name="矩形 135"/>
            <p:cNvSpPr/>
            <p:nvPr>
              <p:custDataLst>
                <p:tags r:id="rId51"/>
              </p:custDataLst>
            </p:nvPr>
          </p:nvSpPr>
          <p:spPr>
            <a:xfrm>
              <a:off x="4194049" y="5024028"/>
              <a:ext cx="3999230" cy="5041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charset="0"/>
                </a:rPr>
                <a:t>储存层：会员数据、积分数据、权益数据、清结算数据</a:t>
              </a:r>
              <a:endParaRPr lang="zh-CN" altLang="en-US" sz="11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37" name="圆角矩形 136"/>
            <p:cNvSpPr/>
            <p:nvPr>
              <p:custDataLst>
                <p:tags r:id="rId52"/>
              </p:custDataLst>
            </p:nvPr>
          </p:nvSpPr>
          <p:spPr>
            <a:xfrm>
              <a:off x="4685030" y="326447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会员中心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8" name="圆角矩形 137"/>
            <p:cNvSpPr/>
            <p:nvPr>
              <p:custDataLst>
                <p:tags r:id="rId53"/>
              </p:custDataLst>
            </p:nvPr>
          </p:nvSpPr>
          <p:spPr>
            <a:xfrm>
              <a:off x="5762880" y="3264470"/>
              <a:ext cx="1007745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积分中心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9" name="圆角矩形 138"/>
            <p:cNvSpPr/>
            <p:nvPr>
              <p:custDataLst>
                <p:tags r:id="rId54"/>
              </p:custDataLst>
            </p:nvPr>
          </p:nvSpPr>
          <p:spPr>
            <a:xfrm>
              <a:off x="5762625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优惠券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0" name="圆角矩形 139"/>
            <p:cNvSpPr/>
            <p:nvPr>
              <p:custDataLst>
                <p:tags r:id="rId55"/>
              </p:custDataLst>
            </p:nvPr>
          </p:nvSpPr>
          <p:spPr>
            <a:xfrm>
              <a:off x="4685030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会员标签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1" name="圆角矩形 140"/>
            <p:cNvSpPr/>
            <p:nvPr>
              <p:custDataLst>
                <p:tags r:id="rId56"/>
              </p:custDataLst>
            </p:nvPr>
          </p:nvSpPr>
          <p:spPr>
            <a:xfrm>
              <a:off x="6849745" y="377179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清结算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2" name="圆角矩形 141"/>
            <p:cNvSpPr/>
            <p:nvPr>
              <p:custDataLst>
                <p:tags r:id="rId57"/>
              </p:custDataLst>
            </p:nvPr>
          </p:nvSpPr>
          <p:spPr>
            <a:xfrm>
              <a:off x="6849745" y="3267600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权益中心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" name="圆角矩形 142"/>
            <p:cNvSpPr/>
            <p:nvPr>
              <p:custDataLst>
                <p:tags r:id="rId58"/>
              </p:custDataLst>
            </p:nvPr>
          </p:nvSpPr>
          <p:spPr>
            <a:xfrm>
              <a:off x="4685030" y="4284235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运营中心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59"/>
              </p:custDataLst>
            </p:nvPr>
          </p:nvSpPr>
          <p:spPr>
            <a:xfrm>
              <a:off x="5762625" y="4284235"/>
              <a:ext cx="1008000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消息中心</a:t>
              </a:r>
              <a:endParaRPr lang="zh-CN" altLang="en-US" sz="100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60"/>
              </p:custDataLst>
            </p:nvPr>
          </p:nvSpPr>
          <p:spPr>
            <a:xfrm>
              <a:off x="315474" y="5843178"/>
              <a:ext cx="530034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数据包含：用户</a:t>
              </a:r>
              <a:r>
                <a:rPr lang="en-US" altLang="zh-CN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、姓名、手机号、生日、实名状态等</a:t>
              </a:r>
              <a:endParaRPr lang="zh-CN" altLang="en-US" sz="9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信息包含：会员</a:t>
              </a:r>
              <a:r>
                <a:rPr lang="en-US" altLang="zh-CN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、等级、成长值、及其他基础信息</a:t>
              </a:r>
              <a:endParaRPr lang="zh-CN" altLang="en-US" sz="9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zh-CN" altLang="en-US" sz="900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</a:t>
              </a:r>
              <a:r>
                <a:rPr lang="zh-CN" altLang="en-US" sz="9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行为包含：前端业务行为、积分兑换、参与活动等</a:t>
              </a:r>
              <a:endParaRPr lang="zh-CN" altLang="en-US" sz="9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6" name="圆角矩形 145"/>
            <p:cNvSpPr/>
            <p:nvPr>
              <p:custDataLst>
                <p:tags r:id="rId61"/>
              </p:custDataLst>
            </p:nvPr>
          </p:nvSpPr>
          <p:spPr>
            <a:xfrm>
              <a:off x="10040620" y="4890135"/>
              <a:ext cx="1437005" cy="513715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业合作平台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47" name="直接箭头连接符 189"/>
            <p:cNvCxnSpPr/>
            <p:nvPr>
              <p:custDataLst>
                <p:tags r:id="rId62"/>
              </p:custDataLst>
            </p:nvPr>
          </p:nvCxnSpPr>
          <p:spPr>
            <a:xfrm flipH="1">
              <a:off x="8384540" y="5121457"/>
              <a:ext cx="1656000" cy="0"/>
            </a:xfrm>
            <a:prstGeom prst="straightConnector1">
              <a:avLst/>
            </a:prstGeom>
            <a:solidFill>
              <a:srgbClr val="D9D9D9"/>
            </a:solidFill>
            <a:ln w="12700" cap="flat" cmpd="sng" algn="ctr">
              <a:solidFill>
                <a:srgbClr val="FBCC9A"/>
              </a:solidFill>
              <a:prstDash val="dash"/>
              <a:miter lim="800000"/>
              <a:headEnd type="triangle" w="med" len="med"/>
              <a:tailEnd type="non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8" name="文本框 147"/>
            <p:cNvSpPr txBox="1"/>
            <p:nvPr>
              <p:custDataLst>
                <p:tags r:id="rId63"/>
              </p:custDataLst>
            </p:nvPr>
          </p:nvSpPr>
          <p:spPr>
            <a:xfrm>
              <a:off x="8772803" y="5014459"/>
              <a:ext cx="1005205" cy="36554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BCC9A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会员、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积分、</a:t>
              </a:r>
              <a:endPara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rPr>
                <a:t>权益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+mj-lt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149" name="组合 148"/>
            <p:cNvGrpSpPr/>
            <p:nvPr/>
          </p:nvGrpSpPr>
          <p:grpSpPr>
            <a:xfrm>
              <a:off x="840105" y="5161115"/>
              <a:ext cx="2926080" cy="454025"/>
              <a:chOff x="1323" y="7333"/>
              <a:chExt cx="4608" cy="715"/>
            </a:xfrm>
          </p:grpSpPr>
          <p:sp>
            <p:nvSpPr>
              <p:cNvPr id="166" name="圆角矩形 165"/>
              <p:cNvSpPr/>
              <p:nvPr>
                <p:custDataLst>
                  <p:tags r:id="rId64"/>
                </p:custDataLst>
              </p:nvPr>
            </p:nvSpPr>
            <p:spPr>
              <a:xfrm>
                <a:off x="1323" y="7362"/>
                <a:ext cx="2000" cy="686"/>
              </a:xfrm>
              <a:prstGeom prst="roundRect">
                <a:avLst>
                  <a:gd name="adj" fmla="val 0"/>
                </a:avLst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安心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住</a:t>
                </a:r>
                <a:r>
                  <a:rPr kumimoji="1" lang="en-US" altLang="zh-CN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-</a:t>
                </a:r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线上商城</a:t>
                </a:r>
                <a:endPara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67" name="直接箭头连接符 189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3323" y="7597"/>
                <a:ext cx="2608" cy="0"/>
              </a:xfrm>
              <a:prstGeom prst="straightConnector1">
                <a:avLst/>
              </a:prstGeom>
              <a:ln w="12700" cap="flat" cmpd="sng" algn="ctr">
                <a:solidFill>
                  <a:srgbClr val="0070C0"/>
                </a:solidFill>
                <a:prstDash val="dash"/>
                <a:miter lim="800000"/>
                <a:headEnd type="triangle" w="med" len="med"/>
                <a:tailEnd type="triangle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8" name="文本框 167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3835" y="7333"/>
                <a:ext cx="1583" cy="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  <a:ea typeface="微软雅黑" panose="020B0503020204020204" charset="-122"/>
                    <a:sym typeface="+mn-ea"/>
                  </a:rPr>
                  <a:t>会员数据、积分；订单数据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50" name="圆角矩形 149"/>
            <p:cNvSpPr/>
            <p:nvPr>
              <p:custDataLst>
                <p:tags r:id="rId67"/>
              </p:custDataLst>
            </p:nvPr>
          </p:nvSpPr>
          <p:spPr>
            <a:xfrm>
              <a:off x="3801110" y="2360929"/>
              <a:ext cx="4667885" cy="3168947"/>
            </a:xfrm>
            <a:prstGeom prst="roundRect">
              <a:avLst>
                <a:gd name="adj" fmla="val 1771"/>
              </a:avLst>
            </a:prstGeom>
            <a:noFill/>
            <a:ln w="25400">
              <a:solidFill>
                <a:srgbClr val="99B1D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圆角矩形 150"/>
            <p:cNvSpPr/>
            <p:nvPr>
              <p:custDataLst>
                <p:tags r:id="rId68"/>
              </p:custDataLst>
            </p:nvPr>
          </p:nvSpPr>
          <p:spPr>
            <a:xfrm>
              <a:off x="4308475" y="2743200"/>
              <a:ext cx="3656965" cy="2185670"/>
            </a:xfrm>
            <a:prstGeom prst="roundRect">
              <a:avLst>
                <a:gd name="adj" fmla="val 1771"/>
              </a:avLst>
            </a:prstGeom>
            <a:noFill/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圆角矩形 151"/>
            <p:cNvSpPr/>
            <p:nvPr>
              <p:custDataLst>
                <p:tags r:id="rId69"/>
              </p:custDataLst>
            </p:nvPr>
          </p:nvSpPr>
          <p:spPr>
            <a:xfrm>
              <a:off x="4675506" y="2811780"/>
              <a:ext cx="3181984" cy="398780"/>
            </a:xfrm>
            <a:prstGeom prst="roundRect">
              <a:avLst>
                <a:gd name="adj" fmla="val 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会员积分管理系统</a:t>
              </a:r>
              <a:endParaRPr kumimoji="1"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153" name="组合 152"/>
            <p:cNvGrpSpPr/>
            <p:nvPr/>
          </p:nvGrpSpPr>
          <p:grpSpPr>
            <a:xfrm>
              <a:off x="3920490" y="1678305"/>
              <a:ext cx="4417695" cy="628650"/>
              <a:chOff x="6174" y="2493"/>
              <a:chExt cx="6957" cy="1474"/>
            </a:xfrm>
          </p:grpSpPr>
          <p:grpSp>
            <p:nvGrpSpPr>
              <p:cNvPr id="157" name="组合 156"/>
              <p:cNvGrpSpPr/>
              <p:nvPr/>
            </p:nvGrpSpPr>
            <p:grpSpPr>
              <a:xfrm>
                <a:off x="6174" y="2493"/>
                <a:ext cx="1304" cy="1474"/>
                <a:chOff x="5894" y="1690"/>
                <a:chExt cx="1304" cy="1474"/>
              </a:xfrm>
            </p:grpSpPr>
            <p:cxnSp>
              <p:nvCxnSpPr>
                <p:cNvPr id="164" name="直接箭头连接符 189"/>
                <p:cNvCxnSpPr/>
                <p:nvPr>
                  <p:custDataLst>
                    <p:tags r:id="rId70"/>
                  </p:custDataLst>
                </p:nvPr>
              </p:nvCxnSpPr>
              <p:spPr>
                <a:xfrm flipV="1">
                  <a:off x="6546" y="1690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chemeClr val="accent3">
                      <a:lumMod val="50000"/>
                    </a:schemeClr>
                  </a:solidFill>
                  <a:prstDash val="dash"/>
                  <a:miter lim="800000"/>
                  <a:tailEnd type="triangl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5" name="文本框 164"/>
                <p:cNvSpPr txBox="1"/>
                <p:nvPr>
                  <p:custDataLst>
                    <p:tags r:id="rId71"/>
                  </p:custDataLst>
                </p:nvPr>
              </p:nvSpPr>
              <p:spPr>
                <a:xfrm>
                  <a:off x="5894" y="2259"/>
                  <a:ext cx="1304" cy="5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50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800">
                      <a:solidFill>
                        <a:schemeClr val="bg1">
                          <a:lumMod val="65000"/>
                        </a:schemeClr>
                      </a:solidFill>
                    </a:rPr>
                    <a:t>嵌入前端应用</a:t>
                  </a:r>
                  <a:endParaRPr lang="zh-CN" altLang="en-US" sz="8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  <p:grpSp>
            <p:nvGrpSpPr>
              <p:cNvPr id="158" name="组合 157"/>
              <p:cNvGrpSpPr/>
              <p:nvPr/>
            </p:nvGrpSpPr>
            <p:grpSpPr>
              <a:xfrm>
                <a:off x="8292" y="2493"/>
                <a:ext cx="2721" cy="1474"/>
                <a:chOff x="9747" y="1891"/>
                <a:chExt cx="2721" cy="1474"/>
              </a:xfrm>
            </p:grpSpPr>
            <p:cxnSp>
              <p:nvCxnSpPr>
                <p:cNvPr id="162" name="直接箭头连接符 189"/>
                <p:cNvCxnSpPr/>
                <p:nvPr>
                  <p:custDataLst>
                    <p:tags r:id="rId72"/>
                  </p:custDataLst>
                </p:nvPr>
              </p:nvCxnSpPr>
              <p:spPr>
                <a:xfrm flipV="1">
                  <a:off x="11108" y="1891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rgbClr val="0070C0"/>
                  </a:solidFill>
                  <a:prstDash val="dash"/>
                  <a:miter lim="800000"/>
                  <a:tailEnd type="triangl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3" name="文本框 162"/>
                <p:cNvSpPr txBox="1"/>
                <p:nvPr>
                  <p:custDataLst>
                    <p:tags r:id="rId73"/>
                  </p:custDataLst>
                </p:nvPr>
              </p:nvSpPr>
              <p:spPr>
                <a:xfrm>
                  <a:off x="9747" y="2363"/>
                  <a:ext cx="2721" cy="7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800" dirty="0">
                      <a:solidFill>
                        <a:schemeClr val="bg1">
                          <a:lumMod val="65000"/>
                        </a:schemeClr>
                      </a:solidFill>
                      <a:sym typeface="+mn-ea"/>
                    </a:rPr>
                    <a:t>同步会员信息、等级、成长值、权益，积分、券、运营活动信息</a:t>
                  </a:r>
                  <a:endParaRPr lang="zh-CN" altLang="en-US" sz="800" dirty="0">
                    <a:solidFill>
                      <a:schemeClr val="bg1">
                        <a:lumMod val="65000"/>
                      </a:schemeClr>
                    </a:solidFill>
                    <a:sym typeface="+mn-ea"/>
                  </a:endParaRPr>
                </a:p>
              </p:txBody>
            </p:sp>
          </p:grpSp>
          <p:grpSp>
            <p:nvGrpSpPr>
              <p:cNvPr id="159" name="组合 158"/>
              <p:cNvGrpSpPr/>
              <p:nvPr/>
            </p:nvGrpSpPr>
            <p:grpSpPr>
              <a:xfrm>
                <a:off x="11827" y="2493"/>
                <a:ext cx="1304" cy="1474"/>
                <a:chOff x="5894" y="1690"/>
                <a:chExt cx="1304" cy="1474"/>
              </a:xfrm>
            </p:grpSpPr>
            <p:cxnSp>
              <p:nvCxnSpPr>
                <p:cNvPr id="160" name="直接箭头连接符 189"/>
                <p:cNvCxnSpPr/>
                <p:nvPr>
                  <p:custDataLst>
                    <p:tags r:id="rId74"/>
                  </p:custDataLst>
                </p:nvPr>
              </p:nvCxnSpPr>
              <p:spPr>
                <a:xfrm flipV="1">
                  <a:off x="6546" y="1690"/>
                  <a:ext cx="0" cy="1474"/>
                </a:xfrm>
                <a:prstGeom prst="straightConnector1">
                  <a:avLst/>
                </a:prstGeom>
                <a:ln w="12700" cap="flat" cmpd="sng" algn="ctr">
                  <a:solidFill>
                    <a:schemeClr val="accent3">
                      <a:lumMod val="50000"/>
                    </a:schemeClr>
                  </a:solidFill>
                  <a:prstDash val="dash"/>
                  <a:miter lim="800000"/>
                  <a:headEnd type="triangl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1" name="文本框 160"/>
                <p:cNvSpPr txBox="1"/>
                <p:nvPr>
                  <p:custDataLst>
                    <p:tags r:id="rId75"/>
                  </p:custDataLst>
                </p:nvPr>
              </p:nvSpPr>
              <p:spPr>
                <a:xfrm>
                  <a:off x="5894" y="2162"/>
                  <a:ext cx="1304" cy="7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50000"/>
                    </a:schemeClr>
                  </a:solidFill>
                  <a:prstDash val="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800">
                      <a:solidFill>
                        <a:schemeClr val="bg1">
                          <a:lumMod val="65000"/>
                        </a:schemeClr>
                      </a:solidFill>
                    </a:rPr>
                    <a:t>同步会员行为信息</a:t>
                  </a:r>
                  <a:endParaRPr lang="zh-CN" altLang="en-US" sz="8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54" name="圆角矩形 153"/>
            <p:cNvSpPr/>
            <p:nvPr>
              <p:custDataLst>
                <p:tags r:id="rId76"/>
              </p:custDataLst>
            </p:nvPr>
          </p:nvSpPr>
          <p:spPr>
            <a:xfrm>
              <a:off x="6856128" y="4290810"/>
              <a:ext cx="1007745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任务管理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3833369" y="5687579"/>
              <a:ext cx="4720590" cy="488841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数据平台和数字化决策系统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56" name="直接箭头连接符 189"/>
            <p:cNvCxnSpPr>
              <a:stCxn id="136" idx="2"/>
              <a:endCxn id="155" idx="0"/>
            </p:cNvCxnSpPr>
            <p:nvPr>
              <p:custDataLst>
                <p:tags r:id="rId77"/>
              </p:custDataLst>
            </p:nvPr>
          </p:nvCxnSpPr>
          <p:spPr>
            <a:xfrm>
              <a:off x="6193664" y="5528218"/>
              <a:ext cx="0" cy="159361"/>
            </a:xfrm>
            <a:prstGeom prst="straightConnector1">
              <a:avLst/>
            </a:prstGeom>
            <a:ln w="12700" cap="flat" cmpd="sng" algn="ctr">
              <a:solidFill>
                <a:srgbClr val="0070C0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0139" y="278"/>
            <a:ext cx="9521150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 smtClean="0">
                <a:cs typeface="微软雅黑" panose="020B0503020204020204" charset="-122"/>
                <a:sym typeface="+mn-ea"/>
              </a:rPr>
              <a:t>三、整体系统架构设计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cs typeface="MF DianHei" charset="-122"/>
            </a:endParaRPr>
          </a:p>
        </p:txBody>
      </p:sp>
      <p:sp>
        <p:nvSpPr>
          <p:cNvPr id="55" name="灯片编号占位符 2"/>
          <p:cNvSpPr txBox="1"/>
          <p:nvPr>
            <p:custDataLst>
              <p:tags r:id="rId2"/>
            </p:custDataLst>
          </p:nvPr>
        </p:nvSpPr>
        <p:spPr>
          <a:xfrm>
            <a:off x="11333164" y="6491288"/>
            <a:ext cx="858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BB5D0-35E4-459D-AEF3-FE4D7C45CC19}" type="slidenum"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 96"/>
          <p:cNvSpPr/>
          <p:nvPr>
            <p:custDataLst>
              <p:tags r:id="rId3"/>
            </p:custDataLst>
          </p:nvPr>
        </p:nvSpPr>
        <p:spPr>
          <a:xfrm>
            <a:off x="8468930" y="1473433"/>
            <a:ext cx="3171190" cy="360000"/>
          </a:xfrm>
          <a:prstGeom prst="rect">
            <a:avLst/>
          </a:prstGeom>
          <a:noFill/>
          <a:ln w="6350" cmpd="sng">
            <a:solidFill>
              <a:srgbClr val="C4E1F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4E1F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>
            <p:custDataLst>
              <p:tags r:id="rId4"/>
            </p:custDataLst>
          </p:nvPr>
        </p:nvSpPr>
        <p:spPr>
          <a:xfrm>
            <a:off x="495870" y="1880870"/>
            <a:ext cx="11156950" cy="4407535"/>
          </a:xfrm>
          <a:prstGeom prst="rect">
            <a:avLst/>
          </a:prstGeom>
          <a:ln>
            <a:solidFill>
              <a:srgbClr val="C4E1F2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99" name="圆角矩形 98"/>
          <p:cNvSpPr/>
          <p:nvPr>
            <p:custDataLst>
              <p:tags r:id="rId5"/>
            </p:custDataLst>
          </p:nvPr>
        </p:nvSpPr>
        <p:spPr>
          <a:xfrm>
            <a:off x="1014665" y="2913380"/>
            <a:ext cx="10224000" cy="2988310"/>
          </a:xfrm>
          <a:prstGeom prst="roundRect">
            <a:avLst>
              <a:gd name="adj" fmla="val 0"/>
            </a:avLst>
          </a:prstGeom>
          <a:noFill/>
          <a:ln w="6350">
            <a:solidFill>
              <a:srgbClr val="C4E1F2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rgbClr val="F0F8FD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矩形 99"/>
          <p:cNvSpPr/>
          <p:nvPr>
            <p:custDataLst>
              <p:tags r:id="rId6"/>
            </p:custDataLst>
          </p:nvPr>
        </p:nvSpPr>
        <p:spPr>
          <a:xfrm>
            <a:off x="1673795" y="2997200"/>
            <a:ext cx="3564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101" name="矩形 100"/>
          <p:cNvSpPr/>
          <p:nvPr>
            <p:custDataLst>
              <p:tags r:id="rId7"/>
            </p:custDataLst>
          </p:nvPr>
        </p:nvSpPr>
        <p:spPr>
          <a:xfrm>
            <a:off x="1014030" y="5879465"/>
            <a:ext cx="10548620" cy="360000"/>
          </a:xfrm>
          <a:prstGeom prst="rect">
            <a:avLst/>
          </a:prstGeom>
          <a:solidFill>
            <a:srgbClr val="C4E1F2"/>
          </a:solidFill>
          <a:ln w="9525">
            <a:solidFill>
              <a:srgbClr val="000000">
                <a:alpha val="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/>
          </a:p>
        </p:txBody>
      </p:sp>
      <p:sp>
        <p:nvSpPr>
          <p:cNvPr id="102" name="文本框 101"/>
          <p:cNvSpPr txBox="1"/>
          <p:nvPr>
            <p:custDataLst>
              <p:tags r:id="rId8"/>
            </p:custDataLst>
          </p:nvPr>
        </p:nvSpPr>
        <p:spPr>
          <a:xfrm>
            <a:off x="1091912" y="5921670"/>
            <a:ext cx="504000" cy="27559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后台</a:t>
            </a:r>
            <a:endParaRPr lang="zh-CN" altLang="en-US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>
            <p:custDataLst>
              <p:tags r:id="rId9"/>
            </p:custDataLst>
          </p:nvPr>
        </p:nvSpPr>
        <p:spPr>
          <a:xfrm>
            <a:off x="1722690" y="3221990"/>
            <a:ext cx="2524125" cy="111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10"/>
            </p:custDataLst>
          </p:nvPr>
        </p:nvSpPr>
        <p:spPr>
          <a:xfrm>
            <a:off x="2903640" y="2997200"/>
            <a:ext cx="125984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圆角矩形 104"/>
          <p:cNvSpPr/>
          <p:nvPr>
            <p:custDataLst>
              <p:tags r:id="rId11"/>
            </p:custDataLst>
          </p:nvPr>
        </p:nvSpPr>
        <p:spPr>
          <a:xfrm>
            <a:off x="175595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圆角矩形 105"/>
          <p:cNvSpPr/>
          <p:nvPr>
            <p:custDataLst>
              <p:tags r:id="rId12"/>
            </p:custDataLst>
          </p:nvPr>
        </p:nvSpPr>
        <p:spPr>
          <a:xfrm>
            <a:off x="175595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会员信息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>
            <p:custDataLst>
              <p:tags r:id="rId13"/>
            </p:custDataLst>
          </p:nvPr>
        </p:nvSpPr>
        <p:spPr>
          <a:xfrm>
            <a:off x="175595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会员认证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14"/>
            </p:custDataLst>
          </p:nvPr>
        </p:nvSpPr>
        <p:spPr>
          <a:xfrm>
            <a:off x="2613278" y="3221990"/>
            <a:ext cx="74295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会员管理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圆角矩形 108"/>
          <p:cNvSpPr/>
          <p:nvPr>
            <p:custDataLst>
              <p:tags r:id="rId15"/>
            </p:custDataLst>
          </p:nvPr>
        </p:nvSpPr>
        <p:spPr>
          <a:xfrm>
            <a:off x="258395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会员注册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圆角矩形 109"/>
          <p:cNvSpPr/>
          <p:nvPr>
            <p:custDataLst>
              <p:tags r:id="rId16"/>
            </p:custDataLst>
          </p:nvPr>
        </p:nvSpPr>
        <p:spPr>
          <a:xfrm>
            <a:off x="258395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黑名单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>
            <p:custDataLst>
              <p:tags r:id="rId17"/>
            </p:custDataLst>
          </p:nvPr>
        </p:nvSpPr>
        <p:spPr>
          <a:xfrm>
            <a:off x="258395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会员冻结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圆角矩形 111"/>
          <p:cNvSpPr/>
          <p:nvPr>
            <p:custDataLst>
              <p:tags r:id="rId18"/>
            </p:custDataLst>
          </p:nvPr>
        </p:nvSpPr>
        <p:spPr>
          <a:xfrm>
            <a:off x="4282375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>
            <p:custDataLst>
              <p:tags r:id="rId19"/>
            </p:custDataLst>
          </p:nvPr>
        </p:nvSpPr>
        <p:spPr>
          <a:xfrm>
            <a:off x="433637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等级管理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>
            <p:custDataLst>
              <p:tags r:id="rId20"/>
            </p:custDataLst>
          </p:nvPr>
        </p:nvSpPr>
        <p:spPr>
          <a:xfrm>
            <a:off x="433637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成长值管理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21"/>
            </p:custDataLst>
          </p:nvPr>
        </p:nvSpPr>
        <p:spPr>
          <a:xfrm>
            <a:off x="4363123" y="3221990"/>
            <a:ext cx="738505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等级管理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6" name="圆角矩形 115"/>
          <p:cNvSpPr/>
          <p:nvPr>
            <p:custDataLst>
              <p:tags r:id="rId22"/>
            </p:custDataLst>
          </p:nvPr>
        </p:nvSpPr>
        <p:spPr>
          <a:xfrm>
            <a:off x="340882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会员注销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>
            <p:custDataLst>
              <p:tags r:id="rId23"/>
            </p:custDataLst>
          </p:nvPr>
        </p:nvSpPr>
        <p:spPr>
          <a:xfrm>
            <a:off x="340882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>
            <p:custDataLst>
              <p:tags r:id="rId24"/>
            </p:custDataLst>
          </p:nvPr>
        </p:nvSpPr>
        <p:spPr>
          <a:xfrm>
            <a:off x="340882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会员解冻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>
            <p:custDataLst>
              <p:tags r:id="rId25"/>
            </p:custDataLst>
          </p:nvPr>
        </p:nvSpPr>
        <p:spPr>
          <a:xfrm>
            <a:off x="5280595" y="2996565"/>
            <a:ext cx="1044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120" name="矩形 119"/>
          <p:cNvSpPr/>
          <p:nvPr>
            <p:custDataLst>
              <p:tags r:id="rId26"/>
            </p:custDataLst>
          </p:nvPr>
        </p:nvSpPr>
        <p:spPr>
          <a:xfrm>
            <a:off x="6366445" y="2997200"/>
            <a:ext cx="2772000" cy="1403985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21" name="文本框 120"/>
          <p:cNvSpPr txBox="1"/>
          <p:nvPr>
            <p:custDataLst>
              <p:tags r:id="rId27"/>
            </p:custDataLst>
          </p:nvPr>
        </p:nvSpPr>
        <p:spPr>
          <a:xfrm>
            <a:off x="7122525" y="2997200"/>
            <a:ext cx="125984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2" name="圆角矩形 121"/>
          <p:cNvSpPr/>
          <p:nvPr>
            <p:custDataLst>
              <p:tags r:id="rId28"/>
            </p:custDataLst>
          </p:nvPr>
        </p:nvSpPr>
        <p:spPr>
          <a:xfrm>
            <a:off x="6411530" y="3221990"/>
            <a:ext cx="1728000" cy="111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圆角矩形 122"/>
          <p:cNvSpPr/>
          <p:nvPr>
            <p:custDataLst>
              <p:tags r:id="rId29"/>
            </p:custDataLst>
          </p:nvPr>
        </p:nvSpPr>
        <p:spPr>
          <a:xfrm>
            <a:off x="6471538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积分账户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>
            <p:custDataLst>
              <p:tags r:id="rId30"/>
            </p:custDataLst>
          </p:nvPr>
        </p:nvSpPr>
        <p:spPr>
          <a:xfrm>
            <a:off x="7304023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积分解冻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31"/>
            </p:custDataLst>
          </p:nvPr>
        </p:nvSpPr>
        <p:spPr>
          <a:xfrm>
            <a:off x="6788167" y="3221990"/>
            <a:ext cx="974725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积分管理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6" name="圆角矩形 125"/>
          <p:cNvSpPr/>
          <p:nvPr>
            <p:custDataLst>
              <p:tags r:id="rId32"/>
            </p:custDataLst>
          </p:nvPr>
        </p:nvSpPr>
        <p:spPr>
          <a:xfrm>
            <a:off x="6471538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积分明细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圆角矩形 126"/>
          <p:cNvSpPr/>
          <p:nvPr>
            <p:custDataLst>
              <p:tags r:id="rId33"/>
            </p:custDataLst>
          </p:nvPr>
        </p:nvSpPr>
        <p:spPr>
          <a:xfrm>
            <a:off x="7304023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积分调整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>
            <p:custDataLst>
              <p:tags r:id="rId34"/>
            </p:custDataLst>
          </p:nvPr>
        </p:nvSpPr>
        <p:spPr>
          <a:xfrm>
            <a:off x="8182360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圆角矩形 128"/>
          <p:cNvSpPr/>
          <p:nvPr>
            <p:custDataLst>
              <p:tags r:id="rId35"/>
            </p:custDataLst>
          </p:nvPr>
        </p:nvSpPr>
        <p:spPr>
          <a:xfrm>
            <a:off x="823636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积分效期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圆角矩形 129"/>
          <p:cNvSpPr/>
          <p:nvPr>
            <p:custDataLst>
              <p:tags r:id="rId36"/>
            </p:custDataLst>
          </p:nvPr>
        </p:nvSpPr>
        <p:spPr>
          <a:xfrm>
            <a:off x="823636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积分抵现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37"/>
            </p:custDataLst>
          </p:nvPr>
        </p:nvSpPr>
        <p:spPr>
          <a:xfrm>
            <a:off x="8270410" y="3221990"/>
            <a:ext cx="72390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积分规则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2" name="圆角矩形 131"/>
          <p:cNvSpPr/>
          <p:nvPr>
            <p:custDataLst>
              <p:tags r:id="rId38"/>
            </p:custDataLst>
          </p:nvPr>
        </p:nvSpPr>
        <p:spPr>
          <a:xfrm>
            <a:off x="823636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先进先出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圆角矩形 132"/>
          <p:cNvSpPr/>
          <p:nvPr>
            <p:custDataLst>
              <p:tags r:id="rId39"/>
            </p:custDataLst>
          </p:nvPr>
        </p:nvSpPr>
        <p:spPr>
          <a:xfrm>
            <a:off x="5352595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33"/>
          <p:cNvSpPr/>
          <p:nvPr>
            <p:custDataLst>
              <p:tags r:id="rId40"/>
            </p:custDataLst>
          </p:nvPr>
        </p:nvSpPr>
        <p:spPr>
          <a:xfrm>
            <a:off x="5406595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等级权益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圆角矩形 134"/>
          <p:cNvSpPr/>
          <p:nvPr>
            <p:custDataLst>
              <p:tags r:id="rId41"/>
            </p:custDataLst>
          </p:nvPr>
        </p:nvSpPr>
        <p:spPr>
          <a:xfrm>
            <a:off x="5406595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身份权益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>
            <p:custDataLst>
              <p:tags r:id="rId42"/>
            </p:custDataLst>
          </p:nvPr>
        </p:nvSpPr>
        <p:spPr>
          <a:xfrm>
            <a:off x="540659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权益履约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43"/>
            </p:custDataLst>
          </p:nvPr>
        </p:nvSpPr>
        <p:spPr>
          <a:xfrm>
            <a:off x="5413340" y="3221990"/>
            <a:ext cx="77851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权益管理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8" name="矩形 137"/>
          <p:cNvSpPr/>
          <p:nvPr>
            <p:custDataLst>
              <p:tags r:id="rId44"/>
            </p:custDataLst>
          </p:nvPr>
        </p:nvSpPr>
        <p:spPr>
          <a:xfrm>
            <a:off x="1014030" y="1473433"/>
            <a:ext cx="7452000" cy="360000"/>
          </a:xfrm>
          <a:prstGeom prst="rect">
            <a:avLst/>
          </a:prstGeom>
          <a:solidFill>
            <a:srgbClr val="C4E1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>
            <p:custDataLst>
              <p:tags r:id="rId45"/>
            </p:custDataLst>
          </p:nvPr>
        </p:nvSpPr>
        <p:spPr>
          <a:xfrm>
            <a:off x="510316" y="1423245"/>
            <a:ext cx="504000" cy="4603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面客渠道</a:t>
            </a:r>
            <a:endParaRPr lang="zh-CN" altLang="en-US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0" name="图片 139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245" y="1529053"/>
            <a:ext cx="252000" cy="24876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</p:pic>
      <p:pic>
        <p:nvPicPr>
          <p:cNvPr id="141" name="图片 140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11181015" y="1527433"/>
            <a:ext cx="252000" cy="25200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10645075" y="1527433"/>
            <a:ext cx="252000" cy="252000"/>
          </a:xfrm>
          <a:prstGeom prst="rect">
            <a:avLst/>
          </a:prstGeom>
        </p:spPr>
      </p:pic>
      <p:sp>
        <p:nvSpPr>
          <p:cNvPr id="143" name="圆角矩形 142"/>
          <p:cNvSpPr/>
          <p:nvPr>
            <p:custDataLst>
              <p:tags r:id="rId52"/>
            </p:custDataLst>
          </p:nvPr>
        </p:nvSpPr>
        <p:spPr>
          <a:xfrm>
            <a:off x="8641650" y="1527432"/>
            <a:ext cx="1260000" cy="252000"/>
          </a:xfrm>
          <a:prstGeom prst="roundRect">
            <a:avLst>
              <a:gd name="adj" fmla="val 0"/>
            </a:avLst>
          </a:prstGeom>
          <a:solidFill>
            <a:srgbClr val="018FD5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三方应用平台</a:t>
            </a:r>
            <a:endParaRPr lang="zh-CN" altLang="en-US" sz="9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/>
          <p:cNvSpPr txBox="1"/>
          <p:nvPr>
            <p:custDataLst>
              <p:tags r:id="rId53"/>
            </p:custDataLst>
          </p:nvPr>
        </p:nvSpPr>
        <p:spPr>
          <a:xfrm>
            <a:off x="590231" y="3221990"/>
            <a:ext cx="344170" cy="2673985"/>
          </a:xfrm>
          <a:prstGeom prst="rect">
            <a:avLst/>
          </a:prstGeom>
          <a:noFill/>
        </p:spPr>
        <p:txBody>
          <a:bodyPr vert="eaVert" wrap="square" rtlCol="0" anchor="t">
            <a:noAutofit/>
          </a:bodyPr>
          <a:lstStyle/>
          <a:p>
            <a:pPr algn="ctr"/>
            <a:r>
              <a:rPr lang="zh-CN" sz="1600" kern="0" spc="90" dirty="0">
                <a:solidFill>
                  <a:srgbClr val="0044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会员（用户）系统</a:t>
            </a:r>
            <a:endParaRPr lang="zh-CN" altLang="en-US" sz="1600" kern="0" spc="90" dirty="0">
              <a:solidFill>
                <a:srgbClr val="00449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5" name="圆角矩形 144"/>
          <p:cNvSpPr/>
          <p:nvPr>
            <p:custDataLst>
              <p:tags r:id="rId54"/>
            </p:custDataLst>
          </p:nvPr>
        </p:nvSpPr>
        <p:spPr>
          <a:xfrm>
            <a:off x="1014030" y="1920240"/>
            <a:ext cx="10547985" cy="936000"/>
          </a:xfrm>
          <a:prstGeom prst="roundRect">
            <a:avLst>
              <a:gd name="adj" fmla="val 0"/>
            </a:avLst>
          </a:prstGeom>
          <a:solidFill>
            <a:srgbClr val="C4E1F2"/>
          </a:solidFill>
          <a:ln w="6350">
            <a:noFill/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ln>
                <a:solidFill>
                  <a:schemeClr val="tx1"/>
                </a:solidFill>
                <a:prstDash val="dash"/>
              </a:ln>
              <a:solidFill>
                <a:srgbClr val="C4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>
            <p:custDataLst>
              <p:tags r:id="rId55"/>
            </p:custDataLst>
          </p:nvPr>
        </p:nvSpPr>
        <p:spPr>
          <a:xfrm>
            <a:off x="1673795" y="1983740"/>
            <a:ext cx="3155315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56"/>
            </p:custDataLst>
          </p:nvPr>
        </p:nvSpPr>
        <p:spPr>
          <a:xfrm>
            <a:off x="2695193" y="1972945"/>
            <a:ext cx="1112520" cy="25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8" name="圆角矩形 147"/>
          <p:cNvSpPr/>
          <p:nvPr>
            <p:custDataLst>
              <p:tags r:id="rId57"/>
            </p:custDataLst>
          </p:nvPr>
        </p:nvSpPr>
        <p:spPr>
          <a:xfrm>
            <a:off x="276472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会员活动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圆角矩形 148"/>
          <p:cNvSpPr/>
          <p:nvPr>
            <p:custDataLst>
              <p:tags r:id="rId58"/>
            </p:custDataLst>
          </p:nvPr>
        </p:nvSpPr>
        <p:spPr>
          <a:xfrm>
            <a:off x="173602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会员认证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圆角矩形 149"/>
          <p:cNvSpPr/>
          <p:nvPr>
            <p:custDataLst>
              <p:tags r:id="rId59"/>
            </p:custDataLst>
          </p:nvPr>
        </p:nvSpPr>
        <p:spPr>
          <a:xfrm>
            <a:off x="379596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会员信息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>
            <p:custDataLst>
              <p:tags r:id="rId60"/>
            </p:custDataLst>
          </p:nvPr>
        </p:nvSpPr>
        <p:spPr>
          <a:xfrm>
            <a:off x="4899595" y="1980565"/>
            <a:ext cx="2124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圆角矩形 151"/>
          <p:cNvSpPr/>
          <p:nvPr>
            <p:custDataLst>
              <p:tags r:id="rId61"/>
            </p:custDataLst>
          </p:nvPr>
        </p:nvSpPr>
        <p:spPr>
          <a:xfrm>
            <a:off x="4963740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积分账户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>
            <p:custDataLst>
              <p:tags r:id="rId62"/>
            </p:custDataLst>
          </p:nvPr>
        </p:nvSpPr>
        <p:spPr>
          <a:xfrm>
            <a:off x="599688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积分效期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/>
          <p:cNvSpPr txBox="1"/>
          <p:nvPr>
            <p:custDataLst>
              <p:tags r:id="rId63"/>
            </p:custDataLst>
          </p:nvPr>
        </p:nvSpPr>
        <p:spPr>
          <a:xfrm>
            <a:off x="5558688" y="1972945"/>
            <a:ext cx="805815" cy="21600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0F8FD"/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积分中心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5" name="圆角矩形 154"/>
          <p:cNvSpPr/>
          <p:nvPr>
            <p:custDataLst>
              <p:tags r:id="rId64"/>
            </p:custDataLst>
          </p:nvPr>
        </p:nvSpPr>
        <p:spPr>
          <a:xfrm>
            <a:off x="7103045" y="1980565"/>
            <a:ext cx="3168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>
            <p:custDataLst>
              <p:tags r:id="rId65"/>
            </p:custDataLst>
          </p:nvPr>
        </p:nvSpPr>
        <p:spPr>
          <a:xfrm>
            <a:off x="496373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积分明细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圆角矩形 156"/>
          <p:cNvSpPr/>
          <p:nvPr>
            <p:custDataLst>
              <p:tags r:id="rId66"/>
            </p:custDataLst>
          </p:nvPr>
        </p:nvSpPr>
        <p:spPr>
          <a:xfrm>
            <a:off x="7167190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会员权益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圆角矩形 157"/>
          <p:cNvSpPr/>
          <p:nvPr>
            <p:custDataLst>
              <p:tags r:id="rId67"/>
            </p:custDataLst>
          </p:nvPr>
        </p:nvSpPr>
        <p:spPr>
          <a:xfrm>
            <a:off x="9241550" y="2212340"/>
            <a:ext cx="97155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身份权益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>
            <p:custDataLst>
              <p:tags r:id="rId68"/>
            </p:custDataLst>
          </p:nvPr>
        </p:nvSpPr>
        <p:spPr>
          <a:xfrm>
            <a:off x="8130785" y="1983740"/>
            <a:ext cx="111252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圆角矩形 159"/>
          <p:cNvSpPr/>
          <p:nvPr>
            <p:custDataLst>
              <p:tags r:id="rId69"/>
            </p:custDataLst>
          </p:nvPr>
        </p:nvSpPr>
        <p:spPr>
          <a:xfrm>
            <a:off x="716719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权益通告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圆角矩形 160"/>
          <p:cNvSpPr/>
          <p:nvPr>
            <p:custDataLst>
              <p:tags r:id="rId70"/>
            </p:custDataLst>
          </p:nvPr>
        </p:nvSpPr>
        <p:spPr>
          <a:xfrm>
            <a:off x="8204595" y="2212340"/>
            <a:ext cx="97155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权益规则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圆角矩形 178"/>
          <p:cNvSpPr/>
          <p:nvPr>
            <p:custDataLst>
              <p:tags r:id="rId71"/>
            </p:custDataLst>
          </p:nvPr>
        </p:nvSpPr>
        <p:spPr>
          <a:xfrm>
            <a:off x="8204780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权益兑换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>
            <p:custDataLst>
              <p:tags r:id="rId72"/>
            </p:custDataLst>
          </p:nvPr>
        </p:nvSpPr>
        <p:spPr>
          <a:xfrm>
            <a:off x="10338870" y="1969770"/>
            <a:ext cx="1116000" cy="82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rgbClr val="EBF4E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圆角矩形 180"/>
          <p:cNvSpPr/>
          <p:nvPr>
            <p:custDataLst>
              <p:tags r:id="rId73"/>
            </p:custDataLst>
          </p:nvPr>
        </p:nvSpPr>
        <p:spPr>
          <a:xfrm>
            <a:off x="924173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三方权益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圆角矩形 251"/>
          <p:cNvSpPr/>
          <p:nvPr>
            <p:custDataLst>
              <p:tags r:id="rId74"/>
            </p:custDataLst>
          </p:nvPr>
        </p:nvSpPr>
        <p:spPr>
          <a:xfrm>
            <a:off x="10410870" y="220027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券领取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/>
          <p:cNvSpPr txBox="1"/>
          <p:nvPr>
            <p:custDataLst>
              <p:tags r:id="rId75"/>
            </p:custDataLst>
          </p:nvPr>
        </p:nvSpPr>
        <p:spPr>
          <a:xfrm>
            <a:off x="10559685" y="1972310"/>
            <a:ext cx="67437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券中心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4" name="圆角矩形 253"/>
          <p:cNvSpPr/>
          <p:nvPr>
            <p:custDataLst>
              <p:tags r:id="rId76"/>
            </p:custDataLst>
          </p:nvPr>
        </p:nvSpPr>
        <p:spPr>
          <a:xfrm>
            <a:off x="10410870" y="249682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券规则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77"/>
            </p:custDataLst>
          </p:nvPr>
        </p:nvSpPr>
        <p:spPr>
          <a:xfrm>
            <a:off x="1014030" y="2176150"/>
            <a:ext cx="659765" cy="42418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endParaRPr lang="zh-CN" altLang="en-US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端应用</a:t>
            </a:r>
            <a:endParaRPr lang="en-US" altLang="zh-CN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/>
          <p:cNvSpPr txBox="1"/>
          <p:nvPr>
            <p:custDataLst>
              <p:tags r:id="rId78"/>
            </p:custDataLst>
          </p:nvPr>
        </p:nvSpPr>
        <p:spPr>
          <a:xfrm>
            <a:off x="1072133" y="3325495"/>
            <a:ext cx="543560" cy="246697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vert="mongolianVert" wrap="square" rtlCol="0">
            <a:noAutofit/>
          </a:bodyPr>
          <a:lstStyle/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中端应用</a:t>
            </a:r>
            <a:endParaRPr lang="zh-CN" altLang="en-US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rgbClr val="00449C"/>
                </a:solidFill>
                <a:latin typeface="微软雅黑" panose="020B0503020204020204" charset="-122"/>
                <a:ea typeface="微软雅黑" panose="020B0503020204020204" charset="-122"/>
              </a:rPr>
              <a:t>（内部运营管理端）</a:t>
            </a:r>
            <a:endParaRPr lang="zh-CN" altLang="en-US" sz="1200">
              <a:solidFill>
                <a:srgbClr val="0044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/>
          <p:cNvSpPr txBox="1"/>
          <p:nvPr>
            <p:custDataLst>
              <p:tags r:id="rId79"/>
            </p:custDataLst>
          </p:nvPr>
        </p:nvSpPr>
        <p:spPr>
          <a:xfrm>
            <a:off x="5391115" y="2997200"/>
            <a:ext cx="82296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权益中心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8" name="圆角矩形 257"/>
          <p:cNvSpPr/>
          <p:nvPr>
            <p:custDataLst>
              <p:tags r:id="rId80"/>
            </p:custDataLst>
          </p:nvPr>
        </p:nvSpPr>
        <p:spPr>
          <a:xfrm>
            <a:off x="4336375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成长值规则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81"/>
            </p:custDataLst>
          </p:nvPr>
        </p:nvSpPr>
        <p:spPr>
          <a:xfrm>
            <a:off x="7304023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积分冻结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圆角矩形 259"/>
          <p:cNvSpPr/>
          <p:nvPr>
            <p:custDataLst>
              <p:tags r:id="rId82"/>
            </p:custDataLst>
          </p:nvPr>
        </p:nvSpPr>
        <p:spPr>
          <a:xfrm>
            <a:off x="6471538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积分查询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>
            <p:custDataLst>
              <p:tags r:id="rId83"/>
            </p:custDataLst>
          </p:nvPr>
        </p:nvSpPr>
        <p:spPr>
          <a:xfrm>
            <a:off x="11276900" y="2913380"/>
            <a:ext cx="323850" cy="2931160"/>
          </a:xfrm>
          <a:prstGeom prst="roundRect">
            <a:avLst>
              <a:gd name="adj" fmla="val 0"/>
            </a:avLst>
          </a:prstGeom>
          <a:solidFill>
            <a:srgbClr val="018FD5"/>
          </a:solidFill>
          <a:ln w="63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三方服务系统集成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2" name="圆角矩形 261"/>
          <p:cNvSpPr/>
          <p:nvPr>
            <p:custDataLst>
              <p:tags r:id="rId84"/>
            </p:custDataLst>
          </p:nvPr>
        </p:nvSpPr>
        <p:spPr>
          <a:xfrm>
            <a:off x="1673795" y="5933465"/>
            <a:ext cx="115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圆角矩形 262"/>
          <p:cNvSpPr/>
          <p:nvPr>
            <p:custDataLst>
              <p:tags r:id="rId85"/>
            </p:custDataLst>
          </p:nvPr>
        </p:nvSpPr>
        <p:spPr>
          <a:xfrm>
            <a:off x="661420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圆角矩形 263"/>
          <p:cNvSpPr/>
          <p:nvPr>
            <p:custDataLst>
              <p:tags r:id="rId86"/>
            </p:custDataLst>
          </p:nvPr>
        </p:nvSpPr>
        <p:spPr>
          <a:xfrm>
            <a:off x="784928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任务引擎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87"/>
            </p:custDataLst>
          </p:nvPr>
        </p:nvSpPr>
        <p:spPr>
          <a:xfrm>
            <a:off x="537913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权限管理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圆角矩形 265"/>
          <p:cNvSpPr/>
          <p:nvPr>
            <p:custDataLst>
              <p:tags r:id="rId88"/>
            </p:custDataLst>
          </p:nvPr>
        </p:nvSpPr>
        <p:spPr>
          <a:xfrm>
            <a:off x="908435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日志管理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>
            <p:custDataLst>
              <p:tags r:id="rId89"/>
            </p:custDataLst>
          </p:nvPr>
        </p:nvSpPr>
        <p:spPr>
          <a:xfrm>
            <a:off x="290898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组织管理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圆角矩形 267"/>
          <p:cNvSpPr/>
          <p:nvPr>
            <p:custDataLst>
              <p:tags r:id="rId90"/>
            </p:custDataLst>
          </p:nvPr>
        </p:nvSpPr>
        <p:spPr>
          <a:xfrm>
            <a:off x="2637725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微信小程序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9" name="圆角矩形 268"/>
          <p:cNvSpPr/>
          <p:nvPr>
            <p:custDataLst>
              <p:tags r:id="rId91"/>
            </p:custDataLst>
          </p:nvPr>
        </p:nvSpPr>
        <p:spPr>
          <a:xfrm>
            <a:off x="5582855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线上商城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圆角矩形 269"/>
          <p:cNvSpPr/>
          <p:nvPr>
            <p:custDataLst>
              <p:tags r:id="rId92"/>
            </p:custDataLst>
          </p:nvPr>
        </p:nvSpPr>
        <p:spPr>
          <a:xfrm>
            <a:off x="705542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H5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圆角矩形 270"/>
          <p:cNvSpPr/>
          <p:nvPr>
            <p:custDataLst>
              <p:tags r:id="rId93"/>
            </p:custDataLst>
          </p:nvPr>
        </p:nvSpPr>
        <p:spPr>
          <a:xfrm>
            <a:off x="116516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手机</a:t>
            </a:r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圆角矩形 271"/>
          <p:cNvSpPr/>
          <p:nvPr>
            <p:custDataLst>
              <p:tags r:id="rId94"/>
            </p:custDataLst>
          </p:nvPr>
        </p:nvSpPr>
        <p:spPr>
          <a:xfrm>
            <a:off x="4110290" y="1527432"/>
            <a:ext cx="125984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微信公众号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圆角矩形 272"/>
          <p:cNvSpPr/>
          <p:nvPr>
            <p:custDataLst>
              <p:tags r:id="rId95"/>
            </p:custDataLst>
          </p:nvPr>
        </p:nvSpPr>
        <p:spPr>
          <a:xfrm>
            <a:off x="5996875" y="2507615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积分规则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矩形 273"/>
          <p:cNvSpPr/>
          <p:nvPr>
            <p:custDataLst>
              <p:tags r:id="rId96"/>
            </p:custDataLst>
          </p:nvPr>
        </p:nvSpPr>
        <p:spPr>
          <a:xfrm>
            <a:off x="9161040" y="2996565"/>
            <a:ext cx="1008000" cy="1404000"/>
          </a:xfrm>
          <a:prstGeom prst="rect">
            <a:avLst/>
          </a:prstGeom>
          <a:solidFill>
            <a:srgbClr val="C4E1F2"/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C4E1F2"/>
              </a:solidFill>
            </a:endParaRPr>
          </a:p>
        </p:txBody>
      </p:sp>
      <p:sp>
        <p:nvSpPr>
          <p:cNvPr id="275" name="圆角矩形 274"/>
          <p:cNvSpPr/>
          <p:nvPr>
            <p:custDataLst>
              <p:tags r:id="rId97"/>
            </p:custDataLst>
          </p:nvPr>
        </p:nvSpPr>
        <p:spPr>
          <a:xfrm>
            <a:off x="9215040" y="3221990"/>
            <a:ext cx="900000" cy="111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>
            <p:custDataLst>
              <p:tags r:id="rId98"/>
            </p:custDataLst>
          </p:nvPr>
        </p:nvSpPr>
        <p:spPr>
          <a:xfrm>
            <a:off x="9269040" y="3437890"/>
            <a:ext cx="79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主动标签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圆角矩形 276"/>
          <p:cNvSpPr/>
          <p:nvPr>
            <p:custDataLst>
              <p:tags r:id="rId99"/>
            </p:custDataLst>
          </p:nvPr>
        </p:nvSpPr>
        <p:spPr>
          <a:xfrm>
            <a:off x="9269040" y="3741325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自动标签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圆角矩形 277"/>
          <p:cNvSpPr/>
          <p:nvPr>
            <p:custDataLst>
              <p:tags r:id="rId100"/>
            </p:custDataLst>
          </p:nvPr>
        </p:nvSpPr>
        <p:spPr>
          <a:xfrm>
            <a:off x="9269040" y="4044220"/>
            <a:ext cx="792000" cy="2514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标签数据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/>
          <p:cNvSpPr txBox="1"/>
          <p:nvPr>
            <p:custDataLst>
              <p:tags r:id="rId101"/>
            </p:custDataLst>
          </p:nvPr>
        </p:nvSpPr>
        <p:spPr>
          <a:xfrm>
            <a:off x="9275785" y="3221990"/>
            <a:ext cx="77851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标签管理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0" name="文本框 279"/>
          <p:cNvSpPr txBox="1"/>
          <p:nvPr>
            <p:custDataLst>
              <p:tags r:id="rId102"/>
            </p:custDataLst>
          </p:nvPr>
        </p:nvSpPr>
        <p:spPr>
          <a:xfrm>
            <a:off x="9305040" y="2997200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会员标签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1" name="圆角矩形 280"/>
          <p:cNvSpPr/>
          <p:nvPr>
            <p:custDataLst>
              <p:tags r:id="rId103"/>
            </p:custDataLst>
          </p:nvPr>
        </p:nvSpPr>
        <p:spPr>
          <a:xfrm>
            <a:off x="173602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会员注册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>
            <p:custDataLst>
              <p:tags r:id="rId104"/>
            </p:custDataLst>
          </p:nvPr>
        </p:nvSpPr>
        <p:spPr>
          <a:xfrm>
            <a:off x="379597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会员等级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>
            <p:custDataLst>
              <p:tags r:id="rId105"/>
            </p:custDataLst>
          </p:nvPr>
        </p:nvSpPr>
        <p:spPr>
          <a:xfrm>
            <a:off x="2764735" y="2212340"/>
            <a:ext cx="97200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会员成长值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1673795" y="4441190"/>
            <a:ext cx="1007110" cy="1403350"/>
            <a:chOff x="2742" y="6130"/>
            <a:chExt cx="1586" cy="2210"/>
          </a:xfrm>
        </p:grpSpPr>
        <p:sp>
          <p:nvSpPr>
            <p:cNvPr id="285" name="矩形 284"/>
            <p:cNvSpPr/>
            <p:nvPr>
              <p:custDataLst>
                <p:tags r:id="rId106"/>
              </p:custDataLst>
            </p:nvPr>
          </p:nvSpPr>
          <p:spPr>
            <a:xfrm>
              <a:off x="2742" y="6130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286" name="圆角矩形 285"/>
            <p:cNvSpPr/>
            <p:nvPr>
              <p:custDataLst>
                <p:tags r:id="rId107"/>
              </p:custDataLst>
            </p:nvPr>
          </p:nvSpPr>
          <p:spPr>
            <a:xfrm>
              <a:off x="2820" y="6485"/>
              <a:ext cx="1432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7" name="圆角矩形 286"/>
            <p:cNvSpPr/>
            <p:nvPr>
              <p:custDataLst>
                <p:tags r:id="rId108"/>
              </p:custDataLst>
            </p:nvPr>
          </p:nvSpPr>
          <p:spPr>
            <a:xfrm>
              <a:off x="2912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积分清结算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8" name="圆角矩形 287"/>
            <p:cNvSpPr/>
            <p:nvPr>
              <p:custDataLst>
                <p:tags r:id="rId109"/>
              </p:custDataLst>
            </p:nvPr>
          </p:nvSpPr>
          <p:spPr>
            <a:xfrm>
              <a:off x="2912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券清结算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9" name="圆角矩形 288"/>
            <p:cNvSpPr/>
            <p:nvPr>
              <p:custDataLst>
                <p:tags r:id="rId110"/>
              </p:custDataLst>
            </p:nvPr>
          </p:nvSpPr>
          <p:spPr>
            <a:xfrm>
              <a:off x="2912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0" name="文本框 289"/>
            <p:cNvSpPr txBox="1"/>
            <p:nvPr>
              <p:custDataLst>
                <p:tags r:id="rId111"/>
              </p:custDataLst>
            </p:nvPr>
          </p:nvSpPr>
          <p:spPr>
            <a:xfrm>
              <a:off x="2923" y="6485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1" name="文本框 290"/>
            <p:cNvSpPr txBox="1"/>
            <p:nvPr>
              <p:custDataLst>
                <p:tags r:id="rId112"/>
              </p:custDataLst>
            </p:nvPr>
          </p:nvSpPr>
          <p:spPr>
            <a:xfrm>
              <a:off x="2888" y="6131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清结算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10205655" y="2995295"/>
            <a:ext cx="1007110" cy="1403350"/>
            <a:chOff x="4374" y="6129"/>
            <a:chExt cx="1586" cy="2210"/>
          </a:xfrm>
        </p:grpSpPr>
        <p:sp>
          <p:nvSpPr>
            <p:cNvPr id="293" name="矩形 292"/>
            <p:cNvSpPr/>
            <p:nvPr>
              <p:custDataLst>
                <p:tags r:id="rId113"/>
              </p:custDataLst>
            </p:nvPr>
          </p:nvSpPr>
          <p:spPr>
            <a:xfrm>
              <a:off x="4374" y="6129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294" name="圆角矩形 293"/>
            <p:cNvSpPr/>
            <p:nvPr>
              <p:custDataLst>
                <p:tags r:id="rId114"/>
              </p:custDataLst>
            </p:nvPr>
          </p:nvSpPr>
          <p:spPr>
            <a:xfrm>
              <a:off x="4459" y="6484"/>
              <a:ext cx="141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5" name="圆角矩形 294"/>
            <p:cNvSpPr/>
            <p:nvPr>
              <p:custDataLst>
                <p:tags r:id="rId115"/>
              </p:custDataLst>
            </p:nvPr>
          </p:nvSpPr>
          <p:spPr>
            <a:xfrm>
              <a:off x="4544" y="6824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积分风控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6" name="圆角矩形 295"/>
            <p:cNvSpPr/>
            <p:nvPr>
              <p:custDataLst>
                <p:tags r:id="rId116"/>
              </p:custDataLst>
            </p:nvPr>
          </p:nvSpPr>
          <p:spPr>
            <a:xfrm>
              <a:off x="4544" y="7302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会员风控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7" name="圆角矩形 296"/>
            <p:cNvSpPr/>
            <p:nvPr>
              <p:custDataLst>
                <p:tags r:id="rId117"/>
              </p:custDataLst>
            </p:nvPr>
          </p:nvSpPr>
          <p:spPr>
            <a:xfrm>
              <a:off x="4544" y="7779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8" name="文本框 297"/>
            <p:cNvSpPr txBox="1"/>
            <p:nvPr>
              <p:custDataLst>
                <p:tags r:id="rId118"/>
              </p:custDataLst>
            </p:nvPr>
          </p:nvSpPr>
          <p:spPr>
            <a:xfrm>
              <a:off x="4555" y="6484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9" name="文本框 298"/>
            <p:cNvSpPr txBox="1"/>
            <p:nvPr>
              <p:custDataLst>
                <p:tags r:id="rId119"/>
              </p:custDataLst>
            </p:nvPr>
          </p:nvSpPr>
          <p:spPr>
            <a:xfrm>
              <a:off x="4520" y="6130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风控管理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00" name="组合 299"/>
          <p:cNvGrpSpPr/>
          <p:nvPr/>
        </p:nvGrpSpPr>
        <p:grpSpPr>
          <a:xfrm>
            <a:off x="3740085" y="4441190"/>
            <a:ext cx="935990" cy="1403350"/>
            <a:chOff x="6016" y="6128"/>
            <a:chExt cx="1474" cy="2210"/>
          </a:xfrm>
        </p:grpSpPr>
        <p:sp>
          <p:nvSpPr>
            <p:cNvPr id="301" name="矩形 300"/>
            <p:cNvSpPr/>
            <p:nvPr>
              <p:custDataLst>
                <p:tags r:id="rId120"/>
              </p:custDataLst>
            </p:nvPr>
          </p:nvSpPr>
          <p:spPr>
            <a:xfrm>
              <a:off x="6016" y="6128"/>
              <a:ext cx="1474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02" name="圆角矩形 301"/>
            <p:cNvSpPr/>
            <p:nvPr>
              <p:custDataLst>
                <p:tags r:id="rId121"/>
              </p:custDataLst>
            </p:nvPr>
          </p:nvSpPr>
          <p:spPr>
            <a:xfrm>
              <a:off x="6073" y="6483"/>
              <a:ext cx="1361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3" name="圆角矩形 302"/>
            <p:cNvSpPr/>
            <p:nvPr>
              <p:custDataLst>
                <p:tags r:id="rId122"/>
              </p:custDataLst>
            </p:nvPr>
          </p:nvSpPr>
          <p:spPr>
            <a:xfrm>
              <a:off x="6130" y="6823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营销消息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4" name="圆角矩形 303"/>
            <p:cNvSpPr/>
            <p:nvPr>
              <p:custDataLst>
                <p:tags r:id="rId123"/>
              </p:custDataLst>
            </p:nvPr>
          </p:nvSpPr>
          <p:spPr>
            <a:xfrm>
              <a:off x="6130" y="7301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消息触达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5" name="圆角矩形 304"/>
            <p:cNvSpPr/>
            <p:nvPr>
              <p:custDataLst>
                <p:tags r:id="rId124"/>
              </p:custDataLst>
            </p:nvPr>
          </p:nvSpPr>
          <p:spPr>
            <a:xfrm>
              <a:off x="6130" y="7778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6" name="文本框 305"/>
            <p:cNvSpPr txBox="1"/>
            <p:nvPr>
              <p:custDataLst>
                <p:tags r:id="rId125"/>
              </p:custDataLst>
            </p:nvPr>
          </p:nvSpPr>
          <p:spPr>
            <a:xfrm>
              <a:off x="6140" y="6483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7" name="文本框 306"/>
            <p:cNvSpPr txBox="1"/>
            <p:nvPr>
              <p:custDataLst>
                <p:tags r:id="rId126"/>
              </p:custDataLst>
            </p:nvPr>
          </p:nvSpPr>
          <p:spPr>
            <a:xfrm>
              <a:off x="6105" y="6129"/>
              <a:ext cx="1296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消息中心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08" name="组合 307"/>
          <p:cNvGrpSpPr/>
          <p:nvPr/>
        </p:nvGrpSpPr>
        <p:grpSpPr>
          <a:xfrm>
            <a:off x="4756085" y="4441190"/>
            <a:ext cx="2686050" cy="1403350"/>
            <a:chOff x="8012" y="6131"/>
            <a:chExt cx="4230" cy="2210"/>
          </a:xfrm>
        </p:grpSpPr>
        <p:sp>
          <p:nvSpPr>
            <p:cNvPr id="309" name="矩形 308"/>
            <p:cNvSpPr/>
            <p:nvPr>
              <p:custDataLst>
                <p:tags r:id="rId127"/>
              </p:custDataLst>
            </p:nvPr>
          </p:nvSpPr>
          <p:spPr>
            <a:xfrm>
              <a:off x="8012" y="6131"/>
              <a:ext cx="4231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10" name="文本框 309"/>
            <p:cNvSpPr txBox="1"/>
            <p:nvPr>
              <p:custDataLst>
                <p:tags r:id="rId128"/>
              </p:custDataLst>
            </p:nvPr>
          </p:nvSpPr>
          <p:spPr>
            <a:xfrm>
              <a:off x="9136" y="6131"/>
              <a:ext cx="198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运营中心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1" name="圆角矩形 310"/>
            <p:cNvSpPr/>
            <p:nvPr>
              <p:custDataLst>
                <p:tags r:id="rId129"/>
              </p:custDataLst>
            </p:nvPr>
          </p:nvSpPr>
          <p:spPr>
            <a:xfrm>
              <a:off x="8083" y="6485"/>
              <a:ext cx="2659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2" name="圆角矩形 311"/>
            <p:cNvSpPr/>
            <p:nvPr>
              <p:custDataLst>
                <p:tags r:id="rId130"/>
              </p:custDataLst>
            </p:nvPr>
          </p:nvSpPr>
          <p:spPr>
            <a:xfrm>
              <a:off x="8150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签到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3" name="圆角矩形 312"/>
            <p:cNvSpPr/>
            <p:nvPr>
              <p:custDataLst>
                <p:tags r:id="rId131"/>
              </p:custDataLst>
            </p:nvPr>
          </p:nvSpPr>
          <p:spPr>
            <a:xfrm>
              <a:off x="9445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拉新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4" name="文本框 313"/>
            <p:cNvSpPr txBox="1"/>
            <p:nvPr>
              <p:custDataLst>
                <p:tags r:id="rId132"/>
              </p:custDataLst>
            </p:nvPr>
          </p:nvSpPr>
          <p:spPr>
            <a:xfrm>
              <a:off x="8645" y="6485"/>
              <a:ext cx="1535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运营活动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5" name="圆角矩形 314"/>
            <p:cNvSpPr/>
            <p:nvPr>
              <p:custDataLst>
                <p:tags r:id="rId133"/>
              </p:custDataLst>
            </p:nvPr>
          </p:nvSpPr>
          <p:spPr>
            <a:xfrm>
              <a:off x="8150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评价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6" name="圆角矩形 315"/>
            <p:cNvSpPr/>
            <p:nvPr>
              <p:custDataLst>
                <p:tags r:id="rId134"/>
              </p:custDataLst>
            </p:nvPr>
          </p:nvSpPr>
          <p:spPr>
            <a:xfrm>
              <a:off x="9445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抽奖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7" name="圆角矩形 316"/>
            <p:cNvSpPr/>
            <p:nvPr>
              <p:custDataLst>
                <p:tags r:id="rId135"/>
              </p:custDataLst>
            </p:nvPr>
          </p:nvSpPr>
          <p:spPr>
            <a:xfrm>
              <a:off x="10815" y="6485"/>
              <a:ext cx="1361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8" name="圆角矩形 317"/>
            <p:cNvSpPr/>
            <p:nvPr>
              <p:custDataLst>
                <p:tags r:id="rId136"/>
              </p:custDataLst>
            </p:nvPr>
          </p:nvSpPr>
          <p:spPr>
            <a:xfrm>
              <a:off x="10871" y="6825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图文库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9" name="圆角矩形 318"/>
            <p:cNvSpPr/>
            <p:nvPr>
              <p:custDataLst>
                <p:tags r:id="rId137"/>
              </p:custDataLst>
            </p:nvPr>
          </p:nvSpPr>
          <p:spPr>
            <a:xfrm>
              <a:off x="10871" y="7303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组件化页面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0" name="文本框 319"/>
            <p:cNvSpPr txBox="1"/>
            <p:nvPr>
              <p:custDataLst>
                <p:tags r:id="rId138"/>
              </p:custDataLst>
            </p:nvPr>
          </p:nvSpPr>
          <p:spPr>
            <a:xfrm>
              <a:off x="10925" y="6485"/>
              <a:ext cx="1140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图文管理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1" name="圆角矩形 320"/>
            <p:cNvSpPr/>
            <p:nvPr>
              <p:custDataLst>
                <p:tags r:id="rId139"/>
              </p:custDataLst>
            </p:nvPr>
          </p:nvSpPr>
          <p:spPr>
            <a:xfrm>
              <a:off x="9445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活动推送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2" name="圆角矩形 321"/>
            <p:cNvSpPr/>
            <p:nvPr>
              <p:custDataLst>
                <p:tags r:id="rId140"/>
              </p:custDataLst>
            </p:nvPr>
          </p:nvSpPr>
          <p:spPr>
            <a:xfrm>
              <a:off x="8150" y="7780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问卷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3" name="组合 322"/>
          <p:cNvGrpSpPr/>
          <p:nvPr/>
        </p:nvGrpSpPr>
        <p:grpSpPr>
          <a:xfrm>
            <a:off x="2760915" y="4441190"/>
            <a:ext cx="899160" cy="1403350"/>
            <a:chOff x="14914" y="6144"/>
            <a:chExt cx="1416" cy="2210"/>
          </a:xfrm>
        </p:grpSpPr>
        <p:sp>
          <p:nvSpPr>
            <p:cNvPr id="324" name="矩形 323"/>
            <p:cNvSpPr/>
            <p:nvPr>
              <p:custDataLst>
                <p:tags r:id="rId141"/>
              </p:custDataLst>
            </p:nvPr>
          </p:nvSpPr>
          <p:spPr>
            <a:xfrm>
              <a:off x="14914" y="6144"/>
              <a:ext cx="141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25" name="圆角矩形 324"/>
            <p:cNvSpPr/>
            <p:nvPr>
              <p:custDataLst>
                <p:tags r:id="rId142"/>
              </p:custDataLst>
            </p:nvPr>
          </p:nvSpPr>
          <p:spPr>
            <a:xfrm>
              <a:off x="14999" y="6499"/>
              <a:ext cx="124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6" name="圆角矩形 325"/>
            <p:cNvSpPr/>
            <p:nvPr>
              <p:custDataLst>
                <p:tags r:id="rId143"/>
              </p:custDataLst>
            </p:nvPr>
          </p:nvSpPr>
          <p:spPr>
            <a:xfrm>
              <a:off x="15084" y="6839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会员报表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7" name="圆角矩形 326"/>
            <p:cNvSpPr/>
            <p:nvPr>
              <p:custDataLst>
                <p:tags r:id="rId144"/>
              </p:custDataLst>
            </p:nvPr>
          </p:nvSpPr>
          <p:spPr>
            <a:xfrm>
              <a:off x="15084" y="731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8" name="圆角矩形 327"/>
            <p:cNvSpPr/>
            <p:nvPr>
              <p:custDataLst>
                <p:tags r:id="rId145"/>
              </p:custDataLst>
            </p:nvPr>
          </p:nvSpPr>
          <p:spPr>
            <a:xfrm>
              <a:off x="15084" y="7794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券报表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9" name="文本框 328"/>
            <p:cNvSpPr txBox="1"/>
            <p:nvPr>
              <p:custDataLst>
                <p:tags r:id="rId146"/>
              </p:custDataLst>
            </p:nvPr>
          </p:nvSpPr>
          <p:spPr>
            <a:xfrm>
              <a:off x="15084" y="6499"/>
              <a:ext cx="1077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报表管理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0" name="文本框 329"/>
            <p:cNvSpPr txBox="1"/>
            <p:nvPr>
              <p:custDataLst>
                <p:tags r:id="rId147"/>
              </p:custDataLst>
            </p:nvPr>
          </p:nvSpPr>
          <p:spPr>
            <a:xfrm>
              <a:off x="15056" y="6145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报表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7522145" y="4441190"/>
            <a:ext cx="1631950" cy="1403350"/>
            <a:chOff x="12296" y="6138"/>
            <a:chExt cx="2570" cy="2210"/>
          </a:xfrm>
        </p:grpSpPr>
        <p:sp>
          <p:nvSpPr>
            <p:cNvPr id="332" name="矩形 331"/>
            <p:cNvSpPr/>
            <p:nvPr>
              <p:custDataLst>
                <p:tags r:id="rId148"/>
              </p:custDataLst>
            </p:nvPr>
          </p:nvSpPr>
          <p:spPr>
            <a:xfrm>
              <a:off x="12296" y="6138"/>
              <a:ext cx="2571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33" name="文本框 332"/>
            <p:cNvSpPr txBox="1"/>
            <p:nvPr>
              <p:custDataLst>
                <p:tags r:id="rId149"/>
              </p:custDataLst>
            </p:nvPr>
          </p:nvSpPr>
          <p:spPr>
            <a:xfrm>
              <a:off x="12590" y="6138"/>
              <a:ext cx="198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优惠券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4" name="圆角矩形 333"/>
            <p:cNvSpPr/>
            <p:nvPr>
              <p:custDataLst>
                <p:tags r:id="rId150"/>
              </p:custDataLst>
            </p:nvPr>
          </p:nvSpPr>
          <p:spPr>
            <a:xfrm>
              <a:off x="12377" y="6492"/>
              <a:ext cx="2410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5" name="圆角矩形 334"/>
            <p:cNvSpPr/>
            <p:nvPr>
              <p:custDataLst>
                <p:tags r:id="rId151"/>
              </p:custDataLst>
            </p:nvPr>
          </p:nvSpPr>
          <p:spPr>
            <a:xfrm>
              <a:off x="12462" y="6832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券批次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6" name="圆角矩形 335"/>
            <p:cNvSpPr/>
            <p:nvPr>
              <p:custDataLst>
                <p:tags r:id="rId152"/>
              </p:custDataLst>
            </p:nvPr>
          </p:nvSpPr>
          <p:spPr>
            <a:xfrm>
              <a:off x="13618" y="6832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券场景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7" name="文本框 336"/>
            <p:cNvSpPr txBox="1"/>
            <p:nvPr>
              <p:custDataLst>
                <p:tags r:id="rId153"/>
              </p:custDataLst>
            </p:nvPr>
          </p:nvSpPr>
          <p:spPr>
            <a:xfrm>
              <a:off x="12814" y="6492"/>
              <a:ext cx="1535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8" name="圆角矩形 337"/>
            <p:cNvSpPr/>
            <p:nvPr>
              <p:custDataLst>
                <p:tags r:id="rId154"/>
              </p:custDataLst>
            </p:nvPr>
          </p:nvSpPr>
          <p:spPr>
            <a:xfrm>
              <a:off x="12462" y="7310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券信息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9" name="圆角矩形 338"/>
            <p:cNvSpPr/>
            <p:nvPr>
              <p:custDataLst>
                <p:tags r:id="rId155"/>
              </p:custDataLst>
            </p:nvPr>
          </p:nvSpPr>
          <p:spPr>
            <a:xfrm>
              <a:off x="13618" y="7310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券效期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0" name="圆角矩形 339"/>
            <p:cNvSpPr/>
            <p:nvPr>
              <p:custDataLst>
                <p:tags r:id="rId156"/>
              </p:custDataLst>
            </p:nvPr>
          </p:nvSpPr>
          <p:spPr>
            <a:xfrm>
              <a:off x="13618" y="778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1" name="圆角矩形 340"/>
            <p:cNvSpPr/>
            <p:nvPr>
              <p:custDataLst>
                <p:tags r:id="rId157"/>
              </p:custDataLst>
            </p:nvPr>
          </p:nvSpPr>
          <p:spPr>
            <a:xfrm>
              <a:off x="12462" y="7787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券核销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42" name="圆角矩形 341"/>
          <p:cNvSpPr/>
          <p:nvPr>
            <p:custDataLst>
              <p:tags r:id="rId158"/>
            </p:custDataLst>
          </p:nvPr>
        </p:nvSpPr>
        <p:spPr>
          <a:xfrm>
            <a:off x="4144055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系统账号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矩形 342"/>
          <p:cNvSpPr/>
          <p:nvPr>
            <p:custDataLst>
              <p:tags r:id="rId159"/>
            </p:custDataLst>
          </p:nvPr>
        </p:nvSpPr>
        <p:spPr>
          <a:xfrm>
            <a:off x="495870" y="6339840"/>
            <a:ext cx="549021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0000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安居内部系统集成</a:t>
            </a:r>
            <a:endParaRPr lang="zh-CN" altLang="en-US" sz="140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>
            <p:custDataLst>
              <p:tags r:id="rId160"/>
            </p:custDataLst>
          </p:nvPr>
        </p:nvSpPr>
        <p:spPr>
          <a:xfrm>
            <a:off x="6162610" y="6339840"/>
            <a:ext cx="5490210" cy="288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异业合作平台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5" name="圆角矩形 344"/>
          <p:cNvSpPr/>
          <p:nvPr>
            <p:custDataLst>
              <p:tags r:id="rId161"/>
            </p:custDataLst>
          </p:nvPr>
        </p:nvSpPr>
        <p:spPr>
          <a:xfrm>
            <a:off x="10319430" y="5933465"/>
            <a:ext cx="1151890" cy="25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商户管理</a:t>
            </a:r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9234105" y="4441190"/>
            <a:ext cx="1007110" cy="1403350"/>
            <a:chOff x="16165" y="3854"/>
            <a:chExt cx="1586" cy="2210"/>
          </a:xfrm>
        </p:grpSpPr>
        <p:sp>
          <p:nvSpPr>
            <p:cNvPr id="347" name="矩形 346"/>
            <p:cNvSpPr/>
            <p:nvPr>
              <p:custDataLst>
                <p:tags r:id="rId162"/>
              </p:custDataLst>
            </p:nvPr>
          </p:nvSpPr>
          <p:spPr>
            <a:xfrm>
              <a:off x="16165" y="3854"/>
              <a:ext cx="158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48" name="圆角矩形 347"/>
            <p:cNvSpPr/>
            <p:nvPr>
              <p:custDataLst>
                <p:tags r:id="rId163"/>
              </p:custDataLst>
            </p:nvPr>
          </p:nvSpPr>
          <p:spPr>
            <a:xfrm>
              <a:off x="16250" y="4209"/>
              <a:ext cx="141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9" name="圆角矩形 348"/>
            <p:cNvSpPr/>
            <p:nvPr>
              <p:custDataLst>
                <p:tags r:id="rId164"/>
              </p:custDataLst>
            </p:nvPr>
          </p:nvSpPr>
          <p:spPr>
            <a:xfrm>
              <a:off x="16335" y="4549"/>
              <a:ext cx="124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券核销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0" name="圆角矩形 349"/>
            <p:cNvSpPr/>
            <p:nvPr>
              <p:custDataLst>
                <p:tags r:id="rId165"/>
              </p:custDataLst>
            </p:nvPr>
          </p:nvSpPr>
          <p:spPr>
            <a:xfrm>
              <a:off x="16335" y="5027"/>
              <a:ext cx="124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商户权限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1" name="文本框 350"/>
            <p:cNvSpPr txBox="1"/>
            <p:nvPr>
              <p:custDataLst>
                <p:tags r:id="rId166"/>
              </p:custDataLst>
            </p:nvPr>
          </p:nvSpPr>
          <p:spPr>
            <a:xfrm>
              <a:off x="16346" y="4209"/>
              <a:ext cx="1226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商户助手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2" name="文本框 351"/>
            <p:cNvSpPr txBox="1"/>
            <p:nvPr>
              <p:custDataLst>
                <p:tags r:id="rId167"/>
              </p:custDataLst>
            </p:nvPr>
          </p:nvSpPr>
          <p:spPr>
            <a:xfrm>
              <a:off x="16392" y="3855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商户助手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53" name="组合 352"/>
          <p:cNvGrpSpPr/>
          <p:nvPr/>
        </p:nvGrpSpPr>
        <p:grpSpPr>
          <a:xfrm>
            <a:off x="10321225" y="4441190"/>
            <a:ext cx="899160" cy="1403350"/>
            <a:chOff x="16359" y="6129"/>
            <a:chExt cx="1416" cy="2210"/>
          </a:xfrm>
        </p:grpSpPr>
        <p:sp>
          <p:nvSpPr>
            <p:cNvPr id="354" name="矩形 353"/>
            <p:cNvSpPr/>
            <p:nvPr>
              <p:custDataLst>
                <p:tags r:id="rId168"/>
              </p:custDataLst>
            </p:nvPr>
          </p:nvSpPr>
          <p:spPr>
            <a:xfrm>
              <a:off x="16359" y="6129"/>
              <a:ext cx="1417" cy="2211"/>
            </a:xfrm>
            <a:prstGeom prst="rect">
              <a:avLst/>
            </a:prstGeom>
            <a:solidFill>
              <a:srgbClr val="C4E1F2"/>
            </a:solidFill>
            <a:ln w="6350">
              <a:solidFill>
                <a:srgbClr val="000000">
                  <a:alpha val="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4E1F2"/>
                </a:solidFill>
              </a:endParaRPr>
            </a:p>
          </p:txBody>
        </p:sp>
        <p:sp>
          <p:nvSpPr>
            <p:cNvPr id="355" name="圆角矩形 354"/>
            <p:cNvSpPr/>
            <p:nvPr>
              <p:custDataLst>
                <p:tags r:id="rId169"/>
              </p:custDataLst>
            </p:nvPr>
          </p:nvSpPr>
          <p:spPr>
            <a:xfrm>
              <a:off x="16444" y="6484"/>
              <a:ext cx="1247" cy="175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6" name="圆角矩形 355"/>
            <p:cNvSpPr/>
            <p:nvPr>
              <p:custDataLst>
                <p:tags r:id="rId170"/>
              </p:custDataLst>
            </p:nvPr>
          </p:nvSpPr>
          <p:spPr>
            <a:xfrm>
              <a:off x="16529" y="6824"/>
              <a:ext cx="1077" cy="397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成长值任务</a:t>
              </a:r>
              <a:endPara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7" name="圆角矩形 356"/>
            <p:cNvSpPr/>
            <p:nvPr>
              <p:custDataLst>
                <p:tags r:id="rId171"/>
              </p:custDataLst>
            </p:nvPr>
          </p:nvSpPr>
          <p:spPr>
            <a:xfrm>
              <a:off x="16529" y="7302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积分任务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8" name="圆角矩形 357"/>
            <p:cNvSpPr/>
            <p:nvPr>
              <p:custDataLst>
                <p:tags r:id="rId172"/>
              </p:custDataLst>
            </p:nvPr>
          </p:nvSpPr>
          <p:spPr>
            <a:xfrm>
              <a:off x="16529" y="7779"/>
              <a:ext cx="1077" cy="39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任务规则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9" name="文本框 358"/>
            <p:cNvSpPr txBox="1"/>
            <p:nvPr>
              <p:custDataLst>
                <p:tags r:id="rId173"/>
              </p:custDataLst>
            </p:nvPr>
          </p:nvSpPr>
          <p:spPr>
            <a:xfrm>
              <a:off x="16529" y="6484"/>
              <a:ext cx="1077" cy="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任何管理</a:t>
              </a:r>
              <a:endPara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0" name="文本框 359"/>
            <p:cNvSpPr txBox="1"/>
            <p:nvPr>
              <p:custDataLst>
                <p:tags r:id="rId174"/>
              </p:custDataLst>
            </p:nvPr>
          </p:nvSpPr>
          <p:spPr>
            <a:xfrm>
              <a:off x="16501" y="6130"/>
              <a:ext cx="1134" cy="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61" name="文本框 360"/>
          <p:cNvSpPr txBox="1"/>
          <p:nvPr/>
        </p:nvSpPr>
        <p:spPr>
          <a:xfrm>
            <a:off x="355600" y="687070"/>
            <a:ext cx="1153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根据会员体系规划的会员通、积分通、权益通、数据通打造会员中心、积分中心、权益中心、会员标签，以及衍生的风控管理、清结算、报表；结合安居数字化整体规划补充：消息中心增加用户触达渠道，运营中心提升会员（用户）运营维护，任务中心提升用户粘性，券中心形成各业务部门优惠券中心；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0139" y="278"/>
            <a:ext cx="9521150" cy="703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 smtClean="0">
                <a:cs typeface="微软雅黑" panose="020B0503020204020204" charset="-122"/>
                <a:sym typeface="+mn-ea"/>
              </a:rPr>
              <a:t>四、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大会员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规划与商业会员系统拉通情况</a:t>
            </a:r>
            <a:endParaRPr kumimoji="1" lang="zh-CN" altLang="en-US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2"/>
            </p:custDataLst>
          </p:nvPr>
        </p:nvSpPr>
        <p:spPr>
          <a:xfrm>
            <a:off x="775335" y="2188845"/>
            <a:ext cx="9281795" cy="4284345"/>
          </a:xfrm>
          <a:prstGeom prst="roundRect">
            <a:avLst>
              <a:gd name="adj" fmla="val 3450"/>
            </a:avLst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会员等级、会员状态、会员唯一性、会员权益符合集团会员规则，支持未来会员合并。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积分规则，会员升降级规则、成长规则遵循集团会员统一规则（成长值）。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积分的有效期、清零规则（滚动清零</a:t>
            </a:r>
            <a:r>
              <a:rPr 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/</a:t>
            </a: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固定清零）符合集团会员相关要求。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积分明细（产生积分</a:t>
            </a:r>
            <a:r>
              <a:rPr 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/</a:t>
            </a:r>
            <a:r>
              <a:rPr lang="zh-CN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使用积分）可通过标准接口同步至集团会员体系用于积分清结算。</a:t>
            </a:r>
            <a:endParaRPr lang="zh-CN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 alt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未来能与集团会员体系及其他各业务系统会员实现会员通、积分通、权益通、数据通</a:t>
            </a:r>
            <a:endParaRPr lang="zh-CN" altLang="en-US" b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zh-CN" altLang="en-US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系统支持各个业务会员接入，提供会员、积分、礼券标准接口。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675" y="788670"/>
            <a:ext cx="101142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与系统开发商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安胜旗的项目负责人针对</a:t>
            </a: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商业会员系统的规则设计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进行了拉通，并达成一致意见</a:t>
            </a:r>
            <a:r>
              <a:rPr 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商业会员体系需符合安居集团大会员规划方向</a:t>
            </a:r>
            <a:endParaRPr lang="zh-CN" altLang="en-US" sz="24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TABLE_ENDDRAG_ORIGIN_RECT" val="371*150"/>
  <p:tag name="TABLE_ENDDRAG_RECT" val="105*306*371*150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TABLE_ENDDRAG_ORIGIN_RECT" val="379*188"/>
  <p:tag name="TABLE_ENDDRAG_RECT" val="282*278*379*188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TABLE_ENDDRAG_ORIGIN_RECT" val="242*227"/>
  <p:tag name="TABLE_ENDDRAG_RECT" val="31*272*242*227"/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TABLE_ENDDRAG_ORIGIN_RECT" val="258*147"/>
  <p:tag name="TABLE_ENDDRAG_RECT" val="320*342*258*147"/>
  <p:tag name="KSO_WM_BEAUTIFY_FLAG" val=""/>
</p:tagLst>
</file>

<file path=ppt/tags/tag174.xml><?xml version="1.0" encoding="utf-8"?>
<p:tagLst xmlns:p="http://schemas.openxmlformats.org/presentationml/2006/main">
  <p:tag name="TABLE_ENDDRAG_ORIGIN_RECT" val="278*172"/>
  <p:tag name="TABLE_ENDDRAG_RECT" val="613*319*278*172"/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TABLE_ENDDRAG_ORIGIN_RECT" val="257*43"/>
  <p:tag name="TABLE_ENDDRAG_RECT" val="303*283*257*43"/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TABLE_ENDDRAG_ORIGIN_RECT" val="111*110"/>
  <p:tag name="TABLE_ENDDRAG_RECT" val="58*255*111*110"/>
</p:tagLst>
</file>

<file path=ppt/tags/tag276.xml><?xml version="1.0" encoding="utf-8"?>
<p:tagLst xmlns:p="http://schemas.openxmlformats.org/presentationml/2006/main">
  <p:tag name="TABLE_ENDDRAG_ORIGIN_RECT" val="78*44"/>
  <p:tag name="TABLE_ENDDRAG_RECT" val="452*348*78*44"/>
</p:tagLst>
</file>

<file path=ppt/tags/tag277.xml><?xml version="1.0" encoding="utf-8"?>
<p:tagLst xmlns:p="http://schemas.openxmlformats.org/presentationml/2006/main">
  <p:tag name="TABLE_ENDDRAG_ORIGIN_RECT" val="130*287"/>
  <p:tag name="TABLE_ENDDRAG_RECT" val="621*139*130*287"/>
</p:tagLst>
</file>

<file path=ppt/tags/tag278.xml><?xml version="1.0" encoding="utf-8"?>
<p:tagLst xmlns:p="http://schemas.openxmlformats.org/presentationml/2006/main">
  <p:tag name="TABLE_ENDDRAG_ORIGIN_RECT" val="103*110"/>
  <p:tag name="TABLE_ENDDRAG_RECT" val="814*282*103*110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TABLE_ENDDRAG_ORIGIN_RECT" val="103*110"/>
  <p:tag name="TABLE_ENDDRAG_RECT" val="814*282*103*110"/>
  <p:tag name="KSO_WM_BEAUTIFY_FLAG" val=""/>
</p:tagLst>
</file>

<file path=ppt/tags/tag284.xml><?xml version="1.0" encoding="utf-8"?>
<p:tagLst xmlns:p="http://schemas.openxmlformats.org/presentationml/2006/main">
  <p:tag name="KSO_WM_BEAUTIFY_FLAG" val=""/>
  <p:tag name="TABLE_ENDDRAG_ORIGIN_RECT" val="124*113"/>
  <p:tag name="TABLE_ENDDRAG_RECT" val="173*296*124*113"/>
</p:tagLst>
</file>

<file path=ppt/tags/tag285.xml><?xml version="1.0" encoding="utf-8"?>
<p:tagLst xmlns:p="http://schemas.openxmlformats.org/presentationml/2006/main">
  <p:tag name="KSO_WM_BEAUTIFY_FLAG" val=""/>
  <p:tag name="TABLE_ENDDRAG_ORIGIN_RECT" val="104*103"/>
  <p:tag name="TABLE_ENDDRAG_RECT" val="183*422*104*103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309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TABLE_ENDDRAG_ORIGIN_RECT" val="447*294"/>
  <p:tag name="TABLE_ENDDRAG_RECT" val="1033*189*447*294"/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363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TABLE_ENDDRAG_ORIGIN_RECT" val="455*401"/>
  <p:tag name="TABLE_ENDDRAG_RECT" val="40*90*455*401"/>
  <p:tag name="KSO_WM_BEAUTIFY_FLAG" val=""/>
</p:tagLst>
</file>

<file path=ppt/tags/tag371.xml><?xml version="1.0" encoding="utf-8"?>
<p:tagLst xmlns:p="http://schemas.openxmlformats.org/presentationml/2006/main">
  <p:tag name="TABLE_ENDDRAG_ORIGIN_RECT" val="431*412"/>
  <p:tag name="TABLE_ENDDRAG_RECT" val="506*90*431*412"/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  <p:tag name="TABLE_ENDDRAG_ORIGIN_RECT" val="155*431"/>
  <p:tag name="TABLE_ENDDRAG_RECT" val="540*254*155*431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  <p:tag name="TABLE_ENDDRAG_ORIGIN_RECT" val="146*215"/>
  <p:tag name="TABLE_ENDDRAG_RECT" val="696*268*146*215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  <p:tag name="TABLE_ENDDRAG_ORIGIN_RECT" val="155*431"/>
  <p:tag name="TABLE_ENDDRAG_RECT" val="540*254*155*431"/>
</p:tagLst>
</file>

<file path=ppt/tags/tag390.xml><?xml version="1.0" encoding="utf-8"?>
<p:tagLst xmlns:p="http://schemas.openxmlformats.org/presentationml/2006/main">
  <p:tag name="KSO_WM_BEAUTIFY_FLAG" val=""/>
  <p:tag name="TABLE_ENDDRAG_ORIGIN_RECT" val="83*182"/>
  <p:tag name="TABLE_ENDDRAG_RECT" val="834*276*83*182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416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TABLE_ENDDRAG_ORIGIN_RECT" val="396*291"/>
  <p:tag name="TABLE_ENDDRAG_RECT" val="64*232*396*291"/>
</p:tagLst>
</file>

<file path=ppt/tags/tag424.xml><?xml version="1.0" encoding="utf-8"?>
<p:tagLst xmlns:p="http://schemas.openxmlformats.org/presentationml/2006/main">
  <p:tag name="TABLE_ENDDRAG_ORIGIN_RECT" val="385*271"/>
  <p:tag name="TABLE_ENDDRAG_RECT" val="514*233*385*271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  <p:tag name="TABLE_ENDDRAG_ORIGIN_RECT" val="155*431"/>
  <p:tag name="TABLE_ENDDRAG_RECT" val="540*254*155*431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  <p:tag name="TABLE_ENDDRAG_ORIGIN_RECT" val="146*215"/>
  <p:tag name="TABLE_ENDDRAG_RECT" val="696*268*146*215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  <p:tag name="TABLE_ENDDRAG_ORIGIN_RECT" val="155*431"/>
  <p:tag name="TABLE_ENDDRAG_RECT" val="540*254*155*431"/>
</p:tagLst>
</file>

<file path=ppt/tags/tag444.xml><?xml version="1.0" encoding="utf-8"?>
<p:tagLst xmlns:p="http://schemas.openxmlformats.org/presentationml/2006/main">
  <p:tag name="KSO_WM_BEAUTIFY_FLAG" val=""/>
  <p:tag name="TABLE_ENDDRAG_ORIGIN_RECT" val="83*182"/>
  <p:tag name="TABLE_ENDDRAG_RECT" val="834*276*83*182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470.xml><?xml version="1.0" encoding="utf-8"?>
<p:tagLst xmlns:p="http://schemas.openxmlformats.org/presentationml/2006/main">
  <p:tag name="TABLE_ENDDRAG_ORIGIN_RECT" val="53*41"/>
  <p:tag name="TABLE_ENDDRAG_RECT" val="-93*541*53*41"/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12859</Words>
  <Application>WPS 演示</Application>
  <PresentationFormat>宽屏</PresentationFormat>
  <Paragraphs>2886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MF DianHei</vt:lpstr>
      <vt:lpstr>Wingdings</vt:lpstr>
      <vt:lpstr>Calibri</vt:lpstr>
      <vt:lpstr>Calibri</vt:lpstr>
      <vt:lpstr>Arial Unicode MS</vt:lpstr>
      <vt:lpstr>思源黑体 CN Regular</vt:lpstr>
      <vt:lpstr>黑体</vt:lpstr>
      <vt:lpstr>华文楷体</vt:lpstr>
      <vt:lpstr>微软雅黑 Light</vt:lpstr>
      <vt:lpstr>Times New Roman</vt:lpstr>
      <vt:lpstr>思源黑体</vt:lpstr>
      <vt:lpstr>Segoe UI Black</vt:lpstr>
      <vt:lpstr>Office 主题</vt:lpstr>
      <vt:lpstr>4.3、整体设计策略</vt:lpstr>
      <vt:lpstr>PowerPoint 演示文稿</vt:lpstr>
      <vt:lpstr>PowerPoint 演示文稿</vt:lpstr>
      <vt:lpstr>4.4、整体设计专题</vt:lpstr>
      <vt:lpstr>PowerPoint 演示文稿</vt:lpstr>
      <vt:lpstr>PowerPoint 演示文稿</vt:lpstr>
      <vt:lpstr>PowerPoint 演示文稿</vt:lpstr>
      <vt:lpstr>4.6、关键设计要素说明——积分价值核算</vt:lpstr>
      <vt:lpstr>4.6、关键设计要素说明——会员等级及升降级规则</vt:lpstr>
      <vt:lpstr>4.6、关键设计要素说明——主力收发分场景汇总</vt:lpstr>
      <vt:lpstr>4.6、关键设计要素说明——积分发放场景及规则</vt:lpstr>
      <vt:lpstr>4.6、关键设计要素说明——积分发放场景及规则</vt:lpstr>
      <vt:lpstr>4.6、关键设计要素说明——积分回收场景及规则</vt:lpstr>
      <vt:lpstr>4.6、关键设计要素说明——积分回收场景及规则</vt:lpstr>
      <vt:lpstr>4.6、关键设计要素说明——会员权益内容设计</vt:lpstr>
      <vt:lpstr>PowerPoint 演示文稿</vt:lpstr>
      <vt:lpstr>4.6、关键设计要素说明——会员权益内容设计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陈修华</cp:lastModifiedBy>
  <cp:revision>7</cp:revision>
  <dcterms:created xsi:type="dcterms:W3CDTF">2025-07-22T08:26:00Z</dcterms:created>
  <dcterms:modified xsi:type="dcterms:W3CDTF">2025-09-19T00:46:21Z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C37EF381F3F94BB48CE5FCBBDA6D91F6</vt:lpwstr>
  </property>
  <property fmtid="{D5CDD505-2E9C-101B-9397-08002B2CF9AE}" pid="3" name="KSOProductBuildVer">
    <vt:lpwstr>2052-11.8.2.12085</vt:lpwstr>
  </property>
</Properties>
</file>