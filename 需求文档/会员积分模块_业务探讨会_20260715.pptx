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dp" ContentType="image/vnd.ms-photo"/>
  <Default Extension="rels" ContentType="application/vnd.openxmlformats-package.relationship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6.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 id="2147483658" r:id="rId4"/>
    <p:sldMasterId id="2147483683" r:id="rId5"/>
    <p:sldMasterId id="2147483694" r:id="rId6"/>
    <p:sldMasterId id="2147483704" r:id="rId7"/>
    <p:sldMasterId id="2147483708" r:id="rId8"/>
    <p:sldMasterId id="2147483715" r:id="rId9"/>
    <p:sldMasterId id="2147483726" r:id="rId10"/>
    <p:sldMasterId id="2147483731" r:id="rId11"/>
  </p:sldMasterIdLst>
  <p:notesMasterIdLst>
    <p:notesMasterId r:id="rId13"/>
  </p:notesMasterIdLst>
  <p:handoutMasterIdLst>
    <p:handoutMasterId r:id="rId34"/>
  </p:handoutMasterIdLst>
  <p:sldIdLst>
    <p:sldId id="16771637" r:id="rId12"/>
    <p:sldId id="16771835" r:id="rId14"/>
    <p:sldId id="16771837" r:id="rId15"/>
    <p:sldId id="16771838" r:id="rId16"/>
    <p:sldId id="16771841" r:id="rId17"/>
    <p:sldId id="16771839" r:id="rId18"/>
    <p:sldId id="16771840" r:id="rId19"/>
    <p:sldId id="16771842" r:id="rId20"/>
    <p:sldId id="16771816" r:id="rId21"/>
    <p:sldId id="16771819" r:id="rId22"/>
    <p:sldId id="16771809" r:id="rId23"/>
    <p:sldId id="16771818" r:id="rId24"/>
    <p:sldId id="16771820" r:id="rId25"/>
    <p:sldId id="16771825" r:id="rId26"/>
    <p:sldId id="16771826" r:id="rId27"/>
    <p:sldId id="16771829" r:id="rId28"/>
    <p:sldId id="16771828" r:id="rId29"/>
    <p:sldId id="16771830" r:id="rId30"/>
    <p:sldId id="16771831" r:id="rId31"/>
    <p:sldId id="16771815" r:id="rId32"/>
    <p:sldId id="16770492" r:id="rId33"/>
  </p:sldIdLst>
  <p:sldSz cx="12192000" cy="6858000"/>
  <p:notesSz cx="9939020" cy="6805295"/>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Rachel S.Q. (GZ/MC)" initials="LR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BF7"/>
    <a:srgbClr val="F76964"/>
    <a:srgbClr val="FFFFFF"/>
    <a:srgbClr val="0070C0"/>
    <a:srgbClr val="005EB8"/>
    <a:srgbClr val="00A3A1"/>
    <a:srgbClr val="00338D"/>
    <a:srgbClr val="AEAEAE"/>
    <a:srgbClr val="0080B7"/>
    <a:srgbClr val="8497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83536" autoAdjust="0"/>
  </p:normalViewPr>
  <p:slideViewPr>
    <p:cSldViewPr snapToGrid="0">
      <p:cViewPr varScale="1">
        <p:scale>
          <a:sx n="55" d="100"/>
          <a:sy n="55" d="100"/>
        </p:scale>
        <p:origin x="776" y="44"/>
      </p:cViewPr>
      <p:guideLst/>
    </p:cSldViewPr>
  </p:slideViewPr>
  <p:outlineViewPr>
    <p:cViewPr>
      <p:scale>
        <a:sx n="33" d="100"/>
        <a:sy n="33" d="100"/>
      </p:scale>
      <p:origin x="0" y="-3344"/>
    </p:cViewPr>
  </p:outlineViewPr>
  <p:notesTextViewPr>
    <p:cViewPr>
      <p:scale>
        <a:sx n="3" d="2"/>
        <a:sy n="3" d="2"/>
      </p:scale>
      <p:origin x="0" y="0"/>
    </p:cViewPr>
  </p:notesTextViewPr>
  <p:sorterViewPr>
    <p:cViewPr>
      <p:scale>
        <a:sx n="80" d="100"/>
        <a:sy n="80" d="100"/>
      </p:scale>
      <p:origin x="0" y="-17216"/>
    </p:cViewPr>
  </p:sorterViewPr>
  <p:notesViewPr>
    <p:cSldViewPr snapToGrid="0">
      <p:cViewPr varScale="1">
        <p:scale>
          <a:sx n="112" d="100"/>
          <a:sy n="112" d="100"/>
        </p:scale>
        <p:origin x="2142"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2" Type="http://schemas.openxmlformats.org/officeDocument/2006/relationships/tags" Target="tags/tag156.xml"/><Relationship Id="rId41" Type="http://schemas.openxmlformats.org/officeDocument/2006/relationships/customXml" Target="../customXml/item3.xml"/><Relationship Id="rId40" Type="http://schemas.openxmlformats.org/officeDocument/2006/relationships/customXml" Target="../customXml/item2.xml"/><Relationship Id="rId4" Type="http://schemas.openxmlformats.org/officeDocument/2006/relationships/slideMaster" Target="slideMasters/slideMaster3.xml"/><Relationship Id="rId39" Type="http://schemas.openxmlformats.org/officeDocument/2006/relationships/customXml" Target="../customXml/item1.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3" name="Date Placeholder 2"/>
          <p:cNvSpPr>
            <a:spLocks noGrp="1"/>
          </p:cNvSpPr>
          <p:nvPr>
            <p:ph type="dt" sz="quarter" idx="1"/>
          </p:nvPr>
        </p:nvSpPr>
        <p:spPr>
          <a:xfrm>
            <a:off x="5629992" y="0"/>
            <a:ext cx="4307047" cy="341463"/>
          </a:xfrm>
          <a:prstGeom prst="rect">
            <a:avLst/>
          </a:prstGeom>
        </p:spPr>
        <p:txBody>
          <a:bodyPr vert="horz" lIns="91440" tIns="45720" rIns="91440" bIns="45720" rtlCol="0"/>
          <a:lstStyle>
            <a:lvl1pPr algn="r">
              <a:defRPr sz="1200"/>
            </a:lvl1pPr>
          </a:lstStyle>
          <a:p>
            <a:fld id="{AA2CA457-A97C-4AEC-9838-EDE6684F8094}" type="datetimeFigureOut">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
        <p:nvSpPr>
          <p:cNvPr id="4" name="Footer Placeholder 3"/>
          <p:cNvSpPr>
            <a:spLocks noGrp="1"/>
          </p:cNvSpPr>
          <p:nvPr>
            <p:ph type="ftr" sz="quarter" idx="2"/>
          </p:nvPr>
        </p:nvSpPr>
        <p:spPr>
          <a:xfrm>
            <a:off x="0" y="6464152"/>
            <a:ext cx="4307047" cy="341462"/>
          </a:xfrm>
          <a:prstGeom prst="rect">
            <a:avLst/>
          </a:prstGeom>
        </p:spPr>
        <p:txBody>
          <a:bodyPr vert="horz" lIns="91440" tIns="45720" rIns="91440" bIns="45720" rtlCol="0" anchor="b"/>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5" name="Slide Number Placeholder 4"/>
          <p:cNvSpPr>
            <a:spLocks noGrp="1"/>
          </p:cNvSpPr>
          <p:nvPr>
            <p:ph type="sldNum" sz="quarter" idx="3"/>
          </p:nvPr>
        </p:nvSpPr>
        <p:spPr>
          <a:xfrm>
            <a:off x="5629992" y="6464152"/>
            <a:ext cx="4307047" cy="341462"/>
          </a:xfrm>
          <a:prstGeom prst="rect">
            <a:avLst/>
          </a:prstGeom>
        </p:spPr>
        <p:txBody>
          <a:bodyPr vert="horz" lIns="91440" tIns="45720" rIns="91440" bIns="45720" rtlCol="0" anchor="b"/>
          <a:lstStyle>
            <a:lvl1pPr algn="r">
              <a:defRPr sz="1200"/>
            </a:lvl1pPr>
          </a:lstStyle>
          <a:p>
            <a:fld id="{36755459-8ECF-4672-B953-790FA88AF0B2}" type="slidenum">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3" name="Date Placeholder 2"/>
          <p:cNvSpPr>
            <a:spLocks noGrp="1"/>
          </p:cNvSpPr>
          <p:nvPr>
            <p:ph type="dt" idx="1"/>
          </p:nvPr>
        </p:nvSpPr>
        <p:spPr>
          <a:xfrm>
            <a:off x="5629992" y="0"/>
            <a:ext cx="4307047" cy="341463"/>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8B2BE96-1D28-4B89-B604-10F88B5BAAE5}" type="datetimeFigureOut">
              <a:rPr lang="en-GB" smtClean="0"/>
            </a:fld>
            <a:endParaRPr lang="en-GB"/>
          </a:p>
        </p:txBody>
      </p:sp>
      <p:sp>
        <p:nvSpPr>
          <p:cNvPr id="4" name="Slide Image Placeholder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3935" y="3275202"/>
            <a:ext cx="7951470" cy="267971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6" name="Footer Placeholder 5"/>
          <p:cNvSpPr>
            <a:spLocks noGrp="1"/>
          </p:cNvSpPr>
          <p:nvPr>
            <p:ph type="ftr" sz="quarter" idx="4"/>
          </p:nvPr>
        </p:nvSpPr>
        <p:spPr>
          <a:xfrm>
            <a:off x="0" y="6464152"/>
            <a:ext cx="4307047" cy="341462"/>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7" name="Slide Number Placeholder 6"/>
          <p:cNvSpPr>
            <a:spLocks noGrp="1"/>
          </p:cNvSpPr>
          <p:nvPr>
            <p:ph type="sldNum" sz="quarter" idx="5"/>
          </p:nvPr>
        </p:nvSpPr>
        <p:spPr>
          <a:xfrm>
            <a:off x="5629992" y="6464152"/>
            <a:ext cx="4307047" cy="341462"/>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CC3EC957-2CB0-4E14-8A5D-A0E8A71794B0}"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81338" y="363538"/>
            <a:ext cx="4205287" cy="23669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639684-96F0-4827-9920-599061BA5E99}"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fld>
            <a:endParaRPr kumimoji="0" lang="en-US" sz="1200" b="0" i="0" u="none" strike="noStrike" kern="1200" cap="none" spc="0" normalizeH="0" baseline="0" noProof="0" dirty="0">
              <a:ln>
                <a:noFill/>
              </a:ln>
              <a:solidFill>
                <a:prstClr val="black"/>
              </a:solidFill>
              <a:effectLst/>
              <a:uLnTx/>
              <a:uFillTx/>
              <a:latin typeface="等线"/>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tags" Target="../tags/tag5.xml"/><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tags" Target="../tags/tag8.xml"/><Relationship Id="rId4" Type="http://schemas.openxmlformats.org/officeDocument/2006/relationships/image" Target="../media/image4.emf"/><Relationship Id="rId3" Type="http://schemas.openxmlformats.org/officeDocument/2006/relationships/oleObject" Target="../embeddings/oleObject3.bin"/><Relationship Id="rId2" Type="http://schemas.openxmlformats.org/officeDocument/2006/relationships/tags" Target="../tags/tag7.xml"/><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tags" Target="../tags/tag11.xml"/><Relationship Id="rId4" Type="http://schemas.openxmlformats.org/officeDocument/2006/relationships/image" Target="../media/image1.emf"/><Relationship Id="rId3" Type="http://schemas.openxmlformats.org/officeDocument/2006/relationships/oleObject" Target="../embeddings/oleObject4.bin"/><Relationship Id="rId2" Type="http://schemas.openxmlformats.org/officeDocument/2006/relationships/tags" Target="../tags/tag10.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14.xml"/><Relationship Id="rId4" Type="http://schemas.openxmlformats.org/officeDocument/2006/relationships/image" Target="../media/image4.emf"/><Relationship Id="rId3" Type="http://schemas.openxmlformats.org/officeDocument/2006/relationships/oleObject" Target="../embeddings/oleObject5.bin"/><Relationship Id="rId2" Type="http://schemas.openxmlformats.org/officeDocument/2006/relationships/tags" Target="../tags/tag13.xml"/><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5" Type="http://schemas.openxmlformats.org/officeDocument/2006/relationships/image" Target="../media/image21.png"/><Relationship Id="rId4" Type="http://schemas.openxmlformats.org/officeDocument/2006/relationships/image" Target="../media/image20.png"/><Relationship Id="rId3" Type="http://schemas.microsoft.com/office/2007/relationships/hdphoto" Target="../media/image19.wdp"/><Relationship Id="rId2" Type="http://schemas.openxmlformats.org/officeDocument/2006/relationships/image" Target="../media/image1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image" Target="../media/image22.emf"/><Relationship Id="rId3" Type="http://schemas.openxmlformats.org/officeDocument/2006/relationships/oleObject" Target="../embeddings/oleObject6.bin"/><Relationship Id="rId2" Type="http://schemas.openxmlformats.org/officeDocument/2006/relationships/tags" Target="../tags/tag16.xml"/><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image" Target="../media/image24.jpeg"/><Relationship Id="rId4" Type="http://schemas.openxmlformats.org/officeDocument/2006/relationships/image" Target="../media/image23.emf"/><Relationship Id="rId3" Type="http://schemas.openxmlformats.org/officeDocument/2006/relationships/oleObject" Target="../embeddings/oleObject7.bin"/><Relationship Id="rId2" Type="http://schemas.openxmlformats.org/officeDocument/2006/relationships/tags" Target="../tags/tag20.xml"/><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tags" Target="../tags/tag22.xml"/><Relationship Id="rId4" Type="http://schemas.openxmlformats.org/officeDocument/2006/relationships/image" Target="../media/image1.emf"/><Relationship Id="rId3" Type="http://schemas.openxmlformats.org/officeDocument/2006/relationships/oleObject" Target="../embeddings/oleObject8.bin"/><Relationship Id="rId2" Type="http://schemas.openxmlformats.org/officeDocument/2006/relationships/tags" Target="../tags/tag21.xml"/><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0.png"/><Relationship Id="rId3" Type="http://schemas.microsoft.com/office/2007/relationships/hdphoto" Target="../media/image19.wdp"/><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image" Target="../media/image22.emf"/><Relationship Id="rId3" Type="http://schemas.openxmlformats.org/officeDocument/2006/relationships/oleObject" Target="../embeddings/oleObject10.bin"/><Relationship Id="rId2" Type="http://schemas.openxmlformats.org/officeDocument/2006/relationships/tags" Target="../tags/tag24.xml"/><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image" Target="../media/image24.jpeg"/><Relationship Id="rId4" Type="http://schemas.openxmlformats.org/officeDocument/2006/relationships/image" Target="../media/image23.emf"/><Relationship Id="rId3" Type="http://schemas.openxmlformats.org/officeDocument/2006/relationships/oleObject" Target="../embeddings/oleObject11.bin"/><Relationship Id="rId2" Type="http://schemas.openxmlformats.org/officeDocument/2006/relationships/tags" Target="../tags/tag28.xml"/><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tags" Target="../tags/tag30.xml"/><Relationship Id="rId4" Type="http://schemas.openxmlformats.org/officeDocument/2006/relationships/image" Target="../media/image1.emf"/><Relationship Id="rId3" Type="http://schemas.openxmlformats.org/officeDocument/2006/relationships/oleObject" Target="../embeddings/oleObject12.bin"/><Relationship Id="rId2" Type="http://schemas.openxmlformats.org/officeDocument/2006/relationships/tags" Target="../tags/tag29.xml"/><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5" Type="http://schemas.openxmlformats.org/officeDocument/2006/relationships/image" Target="../media/image21.png"/><Relationship Id="rId4" Type="http://schemas.openxmlformats.org/officeDocument/2006/relationships/image" Target="../media/image20.png"/><Relationship Id="rId3" Type="http://schemas.microsoft.com/office/2007/relationships/hdphoto" Target="../media/image19.wdp"/><Relationship Id="rId2" Type="http://schemas.openxmlformats.org/officeDocument/2006/relationships/image" Target="../media/image18.png"/><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668338" y="302475"/>
            <a:ext cx="10692000" cy="186475"/>
          </a:xfrm>
          <a:ln>
            <a:noFill/>
          </a:ln>
        </p:spPr>
        <p:txBody>
          <a:bodyPr anchor="t"/>
          <a:lstStyle>
            <a:lvl1pPr>
              <a:defRPr sz="1400">
                <a:ln>
                  <a:noFill/>
                </a:ln>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US" dirty="0"/>
          </a:p>
        </p:txBody>
      </p:sp>
      <p:sp>
        <p:nvSpPr>
          <p:cNvPr id="6" name="Title 1"/>
          <p:cNvSpPr>
            <a:spLocks noGrp="1"/>
          </p:cNvSpPr>
          <p:nvPr>
            <p:ph type="title"/>
          </p:nvPr>
        </p:nvSpPr>
        <p:spPr>
          <a:xfrm>
            <a:off x="677008" y="508200"/>
            <a:ext cx="10683330" cy="587760"/>
          </a:xfrm>
        </p:spPr>
        <p:txBody>
          <a:bodyPr anchor="t"/>
          <a:lstStyle>
            <a:lvl1pPr>
              <a:lnSpc>
                <a:spcPct val="100000"/>
              </a:lnSpc>
              <a:defRPr sz="2400"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7178AC7-40C1-46AE-BBCE-A076CC2B34C7}" type="datetimeFigureOut">
              <a:rPr lang="en-GB" smtClean="0"/>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A9D9C215-A6BC-4D45-9CED-BF161D6DE604}" type="slidenum">
              <a:rPr lang="en-GB" smtClean="0"/>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目录页1">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cstate="email"/>
          <a:srcRect/>
          <a:stretch>
            <a:fillRect/>
          </a:stretch>
        </p:blipFill>
        <p:spPr>
          <a:xfrm>
            <a:off x="0" y="0"/>
            <a:ext cx="5511800" cy="6858000"/>
          </a:xfrm>
          <a:prstGeom prst="rect">
            <a:avLst/>
          </a:prstGeom>
        </p:spPr>
      </p:pic>
      <p:sp>
        <p:nvSpPr>
          <p:cNvPr id="13" name="Rectangle 5"/>
          <p:cNvSpPr/>
          <p:nvPr userDrawn="1"/>
        </p:nvSpPr>
        <p:spPr>
          <a:xfrm>
            <a:off x="5511800" y="0"/>
            <a:ext cx="670133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8" name="Rectangle 20"/>
          <p:cNvSpPr/>
          <p:nvPr userDrawn="1"/>
        </p:nvSpPr>
        <p:spPr>
          <a:xfrm>
            <a:off x="6042708" y="1"/>
            <a:ext cx="543024" cy="6858001"/>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9" name="Rectangle 6"/>
          <p:cNvSpPr/>
          <p:nvPr userDrawn="1"/>
        </p:nvSpPr>
        <p:spPr>
          <a:xfrm>
            <a:off x="6552160" y="1"/>
            <a:ext cx="224027" cy="685800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5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12" name="文本框 11"/>
          <p:cNvSpPr txBox="1"/>
          <p:nvPr userDrawn="1"/>
        </p:nvSpPr>
        <p:spPr>
          <a:xfrm>
            <a:off x="8184911" y="497150"/>
            <a:ext cx="2081724" cy="76944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4564" y="164635"/>
            <a:ext cx="10515600" cy="533401"/>
          </a:xfrm>
        </p:spPr>
        <p:txBody>
          <a:bodyPr anchor="t">
            <a:noAutofit/>
          </a:bodyPr>
          <a:lstStyle>
            <a:lvl1pPr>
              <a:lnSpc>
                <a:spcPct val="120000"/>
              </a:lnSpc>
              <a:defRPr sz="2400" b="1">
                <a:latin typeface="微软雅黑" panose="020B0503020204020204" pitchFamily="34" charset="-122"/>
                <a:ea typeface="微软雅黑" panose="020B0503020204020204" pitchFamily="34" charset="-122"/>
              </a:defRPr>
            </a:lvl1pPr>
          </a:lstStyle>
          <a:p>
            <a:r>
              <a:rPr lang="en-GB" altLang="zh-CN" dirty="0"/>
              <a:t>XXXX</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4AE71DD-B3F9-4283-A217-4A3EC9512DDC}" type="datetimeFigureOut">
              <a:rPr lang="en-US" smtClean="0"/>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C655258-56D8-4934-BD39-516EE5061D2F}" type="slidenum">
              <a:rPr lang="en-US" smtClean="0"/>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2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_TITLE SLIDE 5 - Singular image">
    <p:spTree>
      <p:nvGrpSpPr>
        <p:cNvPr id="1" name=""/>
        <p:cNvGrpSpPr/>
        <p:nvPr/>
      </p:nvGrpSpPr>
      <p:grpSpPr>
        <a:xfrm>
          <a:off x="0" y="0"/>
          <a:ext cx="0" cy="0"/>
          <a:chOff x="0" y="0"/>
          <a:chExt cx="0" cy="0"/>
        </a:xfrm>
      </p:grpSpPr>
      <p:sp>
        <p:nvSpPr>
          <p:cNvPr id="3" name="Title 2"/>
          <p:cNvSpPr>
            <a:spLocks noGrp="1"/>
          </p:cNvSpPr>
          <p:nvPr>
            <p:ph type="title"/>
          </p:nvPr>
        </p:nvSpPr>
        <p:spPr>
          <a:xfrm>
            <a:off x="4201551" y="451575"/>
            <a:ext cx="6974326" cy="723600"/>
          </a:xfrm>
        </p:spPr>
        <p:txBody>
          <a:bodyPr/>
          <a:lstStyle/>
          <a:p>
            <a:r>
              <a:rPr lang="en-US" dirty="0"/>
              <a:t>Click to edit Master title style</a:t>
            </a:r>
            <a:endParaRPr lang="en-GB" dirty="0"/>
          </a:p>
        </p:txBody>
      </p:sp>
      <p:pic>
        <p:nvPicPr>
          <p:cNvPr id="4" name="Picture 3"/>
          <p:cNvPicPr>
            <a:picLocks noChangeAspect="1"/>
          </p:cNvPicPr>
          <p:nvPr userDrawn="1"/>
        </p:nvPicPr>
        <p:blipFill rotWithShape="1">
          <a:blip r:embed="rId2" cstate="email"/>
          <a:srcRect/>
          <a:stretch>
            <a:fillRect/>
          </a:stretch>
        </p:blipFill>
        <p:spPr>
          <a:xfrm>
            <a:off x="0" y="0"/>
            <a:ext cx="3598985" cy="6858000"/>
          </a:xfrm>
          <a:prstGeom prst="rect">
            <a:avLst/>
          </a:prstGeom>
        </p:spPr>
      </p:pic>
      <p:sp>
        <p:nvSpPr>
          <p:cNvPr id="2" name="Rectangle 1"/>
          <p:cNvSpPr/>
          <p:nvPr userDrawn="1"/>
        </p:nvSpPr>
        <p:spPr>
          <a:xfrm>
            <a:off x="-93785" y="0"/>
            <a:ext cx="3692770" cy="6858000"/>
          </a:xfrm>
          <a:prstGeom prst="rect">
            <a:avLst/>
          </a:prstGeom>
          <a:solidFill>
            <a:schemeClr val="bg1">
              <a:lumMod val="9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pic>
        <p:nvPicPr>
          <p:cNvPr id="1026" name="Picture 2" descr="中海建筑有限公司"/>
          <p:cNvPicPr>
            <a:picLocks noChangeAspect="1" noChangeArrowheads="1"/>
          </p:cNvPicPr>
          <p:nvPr userDrawn="1"/>
        </p:nvPicPr>
        <p:blipFill rotWithShape="1">
          <a:blip r:embed="rId2" cstate="email"/>
          <a:srcRect/>
          <a:stretch>
            <a:fillRect/>
          </a:stretch>
        </p:blipFill>
        <p:spPr bwMode="auto">
          <a:xfrm>
            <a:off x="2684586" y="0"/>
            <a:ext cx="9507414"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0" y="0"/>
            <a:ext cx="8546123"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3" name="Freeform 19"/>
          <p:cNvSpPr>
            <a:spLocks noEditPoints="1"/>
          </p:cNvSpPr>
          <p:nvPr userDrawn="1"/>
        </p:nvSpPr>
        <p:spPr bwMode="auto">
          <a:xfrm>
            <a:off x="381000" y="496146"/>
            <a:ext cx="1060938" cy="45720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975" b="0" i="0">
                <a:solidFill>
                  <a:srgbClr val="7E7E7E"/>
                </a:solidFill>
                <a:latin typeface="微软雅黑"/>
                <a:cs typeface="微软雅黑"/>
              </a:defRPr>
            </a:lvl1pPr>
          </a:lstStyle>
          <a:p>
            <a:pPr marL="29210">
              <a:spcBef>
                <a:spcPts val="180"/>
              </a:spcBef>
            </a:pPr>
            <a:fld id="{81D60167-4931-47E6-BA6A-407CBD079E47}" type="slidenum">
              <a:rPr lang="en-GB" smtClean="0"/>
            </a:fld>
            <a:endParaRPr lang="en-GB"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a:xfrm>
            <a:off x="648000" y="288000"/>
            <a:ext cx="9291600" cy="608400"/>
          </a:xfrm>
        </p:spPr>
        <p:txBody>
          <a:bodyPr vert="horz" lIns="0" tIns="0" rIns="0" bIns="0" rtlCol="0" anchor="ctr" anchorCtr="0">
            <a:noAutofit/>
          </a:bodyPr>
          <a:lstStyle>
            <a:lvl1pPr>
              <a:defRPr lang="en-GB" sz="2800"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email"/>
          <a:stretch>
            <a:fillRect/>
          </a:stretch>
        </p:blipFill>
        <p:spPr>
          <a:xfrm>
            <a:off x="0" y="0"/>
            <a:ext cx="12192000" cy="6858000"/>
          </a:xfrm>
          <a:prstGeom prst="rect">
            <a:avLst/>
          </a:prstGeom>
        </p:spPr>
      </p:pic>
      <p:sp>
        <p:nvSpPr>
          <p:cNvPr id="7" name="矩形 6"/>
          <p:cNvSpPr/>
          <p:nvPr userDrawn="1"/>
        </p:nvSpPr>
        <p:spPr>
          <a:xfrm>
            <a:off x="12557760" y="2090058"/>
            <a:ext cx="383177" cy="383177"/>
          </a:xfrm>
          <a:prstGeom prst="rect">
            <a:avLst/>
          </a:prstGeom>
          <a:solidFill>
            <a:srgbClr val="BB1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email"/>
          <a:stretch>
            <a:fillRect/>
          </a:stretch>
        </p:blipFill>
        <p:spPr>
          <a:xfrm>
            <a:off x="10198249" y="217354"/>
            <a:ext cx="1864659" cy="468219"/>
          </a:xfrm>
          <a:prstGeom prst="rect">
            <a:avLst/>
          </a:prstGeom>
        </p:spPr>
      </p:pic>
      <p:sp>
        <p:nvSpPr>
          <p:cNvPr id="12" name="Slide Number Placeholder 8"/>
          <p:cNvSpPr txBox="1"/>
          <p:nvPr userDrawn="1"/>
        </p:nvSpPr>
        <p:spPr>
          <a:xfrm>
            <a:off x="10033000" y="647424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9F959E6-E528-4584-B6E6-E7C31719E4E2}" type="slidenum">
              <a:rPr lang="zh-CN" altLang="en-US" sz="1200" smtClean="0">
                <a:solidFill>
                  <a:schemeClr val="bg2">
                    <a:lumMod val="50000"/>
                  </a:schemeClr>
                </a:solidFill>
                <a:latin typeface="微软雅黑" panose="020B0503020204020204" pitchFamily="34" charset="-122"/>
                <a:ea typeface="微软雅黑" panose="020B0503020204020204" pitchFamily="34" charset="-122"/>
              </a:rPr>
            </a:fld>
            <a:endParaRPr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11" name="组合 46"/>
          <p:cNvGrpSpPr/>
          <p:nvPr userDrawn="1"/>
        </p:nvGrpSpPr>
        <p:grpSpPr>
          <a:xfrm>
            <a:off x="-1309" y="388156"/>
            <a:ext cx="7566435" cy="87923"/>
            <a:chOff x="-1309" y="474247"/>
            <a:chExt cx="7566435" cy="87923"/>
          </a:xfrm>
        </p:grpSpPr>
        <p:cxnSp>
          <p:nvCxnSpPr>
            <p:cNvPr id="13" name="直接连接符 47"/>
            <p:cNvCxnSpPr/>
            <p:nvPr/>
          </p:nvCxnSpPr>
          <p:spPr>
            <a:xfrm>
              <a:off x="365535" y="553915"/>
              <a:ext cx="7199591"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平行四边形 48"/>
            <p:cNvSpPr/>
            <p:nvPr userDrawn="1"/>
          </p:nvSpPr>
          <p:spPr>
            <a:xfrm>
              <a:off x="-1309" y="474247"/>
              <a:ext cx="451426" cy="87923"/>
            </a:xfrm>
            <a:prstGeom prst="parallelogram">
              <a:avLst>
                <a:gd name="adj" fmla="val 59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Picture 9" descr="C:\Users\blueWFJ\Desktop\005.png"/>
          <p:cNvPicPr>
            <a:picLocks noChangeAspect="1" noChangeArrowheads="1"/>
          </p:cNvPicPr>
          <p:nvPr userDrawn="1"/>
        </p:nvPicPr>
        <p:blipFill>
          <a:blip r:embed="rId2" cstate="email"/>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userDrawn="1"/>
        </p:nvSpPr>
        <p:spPr>
          <a:xfrm>
            <a:off x="10817226" y="6537961"/>
            <a:ext cx="1374776" cy="320041"/>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 name="标题 1"/>
          <p:cNvSpPr>
            <a:spLocks noGrp="1"/>
          </p:cNvSpPr>
          <p:nvPr>
            <p:ph type="title"/>
          </p:nvPr>
        </p:nvSpPr>
        <p:spPr>
          <a:xfrm>
            <a:off x="301624" y="218554"/>
            <a:ext cx="10515600" cy="516618"/>
          </a:xfrm>
          <a:prstGeom prst="rect">
            <a:avLst/>
          </a:prstGeom>
        </p:spPr>
        <p:txBody>
          <a:bodyPr>
            <a:normAutofit/>
          </a:bodyPr>
          <a:lstStyle>
            <a:lvl1pPr>
              <a:defRPr lang="zh-CN" altLang="en-US" sz="2800" b="1" kern="1200" dirty="0" smtClean="0">
                <a:solidFill>
                  <a:srgbClr val="0052D9"/>
                </a:solidFill>
                <a:latin typeface="+mj-lt"/>
                <a:ea typeface="微软雅黑" panose="020B0503020204020204" pitchFamily="34" charset="-122"/>
                <a:cs typeface="+mj-cs"/>
              </a:defRPr>
            </a:lvl1pPr>
          </a:lstStyle>
          <a:p>
            <a:pPr marL="0" lvl="0" indent="0" algn="l" rtl="0" eaLnBrk="0" fontAlgn="base" hangingPunct="0">
              <a:spcBef>
                <a:spcPct val="0"/>
              </a:spcBef>
              <a:spcAft>
                <a:spcPct val="0"/>
              </a:spcAft>
              <a:buNone/>
            </a:pPr>
            <a:r>
              <a:rPr lang="zh-CN" altLang="en-US" dirty="0"/>
              <a:t>单击此处编辑母版标题样式</a:t>
            </a:r>
            <a:endParaRPr lang="zh-CN" altLang="en-US" dirty="0"/>
          </a:p>
        </p:txBody>
      </p:sp>
      <p:sp>
        <p:nvSpPr>
          <p:cNvPr id="8" name="Rectangle 3"/>
          <p:cNvSpPr>
            <a:spLocks noChangeArrowheads="1"/>
          </p:cNvSpPr>
          <p:nvPr userDrawn="1"/>
        </p:nvSpPr>
        <p:spPr bwMode="auto">
          <a:xfrm>
            <a:off x="2" y="218556"/>
            <a:ext cx="152401"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9" name="Rectangle 4"/>
          <p:cNvSpPr>
            <a:spLocks noChangeArrowheads="1"/>
          </p:cNvSpPr>
          <p:nvPr userDrawn="1"/>
        </p:nvSpPr>
        <p:spPr bwMode="auto">
          <a:xfrm>
            <a:off x="198758" y="218556"/>
            <a:ext cx="45719"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14" name="梯形 13"/>
          <p:cNvSpPr/>
          <p:nvPr userDrawn="1"/>
        </p:nvSpPr>
        <p:spPr>
          <a:xfrm>
            <a:off x="10432916" y="6537963"/>
            <a:ext cx="1594490" cy="320041"/>
          </a:xfrm>
          <a:prstGeom prst="trapezoid">
            <a:avLst>
              <a:gd name="adj" fmla="val 72091"/>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5" name="矩形 14"/>
          <p:cNvSpPr/>
          <p:nvPr userDrawn="1"/>
        </p:nvSpPr>
        <p:spPr>
          <a:xfrm>
            <a:off x="0" y="6770544"/>
            <a:ext cx="12192000" cy="95074"/>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6" name="图片 15"/>
          <p:cNvPicPr>
            <a:picLocks noChangeAspect="1"/>
          </p:cNvPicPr>
          <p:nvPr userDrawn="1"/>
        </p:nvPicPr>
        <p:blipFill>
          <a:blip r:embed="rId3" cstate="email"/>
          <a:stretch>
            <a:fillRect/>
          </a:stretch>
        </p:blipFill>
        <p:spPr>
          <a:xfrm>
            <a:off x="10836275" y="6518518"/>
            <a:ext cx="1127126" cy="339485"/>
          </a:xfrm>
          <a:prstGeom prst="rect">
            <a:avLst/>
          </a:prstGeom>
          <a:noFill/>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pic>
        <p:nvPicPr>
          <p:cNvPr id="9" name="Picture 3"/>
          <p:cNvPicPr>
            <a:picLocks noChangeAspect="1"/>
          </p:cNvPicPr>
          <p:nvPr userDrawn="1"/>
        </p:nvPicPr>
        <p:blipFill>
          <a:blip r:embed="rId2"/>
          <a:stretch>
            <a:fillRect/>
          </a:stretch>
        </p:blipFill>
        <p:spPr>
          <a:xfrm>
            <a:off x="1782827" y="-1"/>
            <a:ext cx="10409173" cy="6858000"/>
          </a:xfrm>
          <a:prstGeom prst="rect">
            <a:avLst/>
          </a:prstGeom>
        </p:spPr>
      </p:pic>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marL="0" marR="0" lvl="0" indent="0" algn="ctr" defTabSz="410210" rtl="0" eaLnBrk="1" fontAlgn="auto" latinLnBrk="0" hangingPunct="1">
              <a:lnSpc>
                <a:spcPct val="100000"/>
              </a:lnSpc>
              <a:spcBef>
                <a:spcPts val="0"/>
              </a:spcBef>
              <a:spcAft>
                <a:spcPts val="0"/>
              </a:spcAft>
              <a:buClrTx/>
              <a:buSzTx/>
              <a:buFontTx/>
              <a:buNone/>
              <a:defRPr/>
            </a:pP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文档分类</a:t>
            </a:r>
            <a:r>
              <a:rPr kumimoji="0" lang="en-US" altLang="zh-CN"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 </a:t>
            </a: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保密</a:t>
            </a:r>
            <a:endPar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86CB4B4D-7CA3-9044-876B-883B54F8677D}" type="slidenum">
              <a:rPr kumimoji="0" lang="en-US" sz="12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标题 11"/>
          <p:cNvSpPr>
            <a:spLocks noGrp="1"/>
          </p:cNvSpPr>
          <p:nvPr>
            <p:ph type="title"/>
          </p:nvPr>
        </p:nvSpPr>
        <p:spPr>
          <a:xfrm>
            <a:off x="334860" y="163789"/>
            <a:ext cx="10528883" cy="591220"/>
          </a:xfrm>
          <a:prstGeom prst="rect">
            <a:avLst/>
          </a:prstGeom>
        </p:spPr>
        <p:txBody>
          <a:bodyPr anchor="ctr"/>
          <a:lstStyle>
            <a:lvl1pPr algn="l">
              <a:defRPr sz="2600" b="1">
                <a:solidFill>
                  <a:schemeClr val="tx1">
                    <a:lumMod val="95000"/>
                    <a:lumOff val="5000"/>
                  </a:schemeClr>
                </a:solidFill>
                <a:latin typeface="+mj-ea"/>
                <a:ea typeface="+mj-ea"/>
              </a:defRPr>
            </a:lvl1pPr>
          </a:lstStyle>
          <a:p>
            <a:r>
              <a:rPr lang="zh-CN" altLang="en-US"/>
              <a:t>单击此处编辑母版标题样式</a:t>
            </a:r>
            <a:endParaRPr lang="zh-CN" altLang="en-US" dirty="0"/>
          </a:p>
        </p:txBody>
      </p:sp>
      <p:sp>
        <p:nvSpPr>
          <p:cNvPr id="12" name="文本框 11"/>
          <p:cNvSpPr txBox="1"/>
          <p:nvPr userDrawn="1"/>
        </p:nvSpPr>
        <p:spPr>
          <a:xfrm>
            <a:off x="5055380" y="5142081"/>
            <a:ext cx="2096218" cy="456445"/>
          </a:xfrm>
          <a:prstGeom prst="rect">
            <a:avLst/>
          </a:prstGeom>
          <a:noFill/>
        </p:spPr>
        <p:txBody>
          <a:bodyPr wrap="square" rtlCol="0" anchor="ctr">
            <a:noAutofit/>
          </a:bodyPr>
          <a:lstStyle/>
          <a:p>
            <a:pPr marR="0" algn="ctr" defTabSz="914400" rtl="0" eaLnBrk="0" fontAlgn="base" latinLnBrk="0" hangingPunct="0">
              <a:lnSpc>
                <a:spcPct val="100000"/>
              </a:lnSpc>
              <a:spcBef>
                <a:spcPct val="20000"/>
              </a:spcBef>
              <a:buClrTx/>
              <a:buSzTx/>
              <a:buFontTx/>
            </a:pPr>
            <a:endParaRPr kumimoji="1" lang="zh-CN" altLang="en-US" sz="1400" b="0" i="0" baseline="0" dirty="0">
              <a:solidFill>
                <a:srgbClr val="1F56C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直接连接符 15"/>
          <p:cNvCxnSpPr/>
          <p:nvPr userDrawn="1"/>
        </p:nvCxnSpPr>
        <p:spPr>
          <a:xfrm flipV="1">
            <a:off x="702310" y="755009"/>
            <a:ext cx="10787380" cy="6"/>
          </a:xfrm>
          <a:prstGeom prst="line">
            <a:avLst/>
          </a:prstGeom>
          <a:ln w="28575">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灯片编号占位符 1"/>
          <p:cNvSpPr txBox="1"/>
          <p:nvPr userDrawn="1"/>
        </p:nvSpPr>
        <p:spPr>
          <a:xfrm>
            <a:off x="11693525" y="6473825"/>
            <a:ext cx="497840" cy="337185"/>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pPr fontAlgn="base">
              <a:spcBef>
                <a:spcPct val="0"/>
              </a:spcBef>
              <a:spcAft>
                <a:spcPct val="0"/>
              </a:spcAft>
            </a:pPr>
            <a:fld id="{D5DDBE9D-0EAE-4BF9-9976-992BCF72F40A}" type="slidenum">
              <a:rPr lang="zh-CN" altLang="en-US" sz="1200" smtClean="0">
                <a:solidFill>
                  <a:schemeClr val="bg1">
                    <a:lumMod val="50000"/>
                  </a:schemeClr>
                </a:solidFill>
              </a:rPr>
            </a:fld>
            <a:endParaRPr lang="zh-CN" altLang="en-US" sz="1200" dirty="0">
              <a:solidFill>
                <a:schemeClr val="bg1">
                  <a:lumMod val="50000"/>
                </a:schemeClr>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pic>
        <p:nvPicPr>
          <p:cNvPr id="7"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13877" t="1439" r="19746" b="27477"/>
          <a:stretch>
            <a:fillRect/>
          </a:stretch>
        </p:blipFill>
        <p:spPr>
          <a:xfrm>
            <a:off x="2724150" y="-1"/>
            <a:ext cx="9467850" cy="6857999"/>
          </a:xfrm>
          <a:custGeom>
            <a:avLst/>
            <a:gdLst>
              <a:gd name="connsiteX0" fmla="*/ 0 w 3685065"/>
              <a:gd name="connsiteY0" fmla="*/ 0 h 5264375"/>
              <a:gd name="connsiteX1" fmla="*/ 3685065 w 3685065"/>
              <a:gd name="connsiteY1" fmla="*/ 0 h 5264375"/>
              <a:gd name="connsiteX2" fmla="*/ 3685065 w 3685065"/>
              <a:gd name="connsiteY2" fmla="*/ 5264375 h 5264375"/>
              <a:gd name="connsiteX3" fmla="*/ 0 w 3685065"/>
              <a:gd name="connsiteY3" fmla="*/ 5264375 h 5264375"/>
            </a:gdLst>
            <a:ahLst/>
            <a:cxnLst>
              <a:cxn ang="0">
                <a:pos x="connsiteX0" y="connsiteY0"/>
              </a:cxn>
              <a:cxn ang="0">
                <a:pos x="connsiteX1" y="connsiteY1"/>
              </a:cxn>
              <a:cxn ang="0">
                <a:pos x="connsiteX2" y="connsiteY2"/>
              </a:cxn>
              <a:cxn ang="0">
                <a:pos x="connsiteX3" y="connsiteY3"/>
              </a:cxn>
            </a:cxnLst>
            <a:rect l="l" t="t" r="r" b="b"/>
            <a:pathLst>
              <a:path w="3685065" h="5264375">
                <a:moveTo>
                  <a:pt x="0" y="0"/>
                </a:moveTo>
                <a:lnTo>
                  <a:pt x="3685065" y="0"/>
                </a:lnTo>
                <a:lnTo>
                  <a:pt x="3685065" y="5264375"/>
                </a:lnTo>
                <a:lnTo>
                  <a:pt x="0" y="5264375"/>
                </a:lnTo>
                <a:close/>
              </a:path>
            </a:pathLst>
          </a:custGeom>
        </p:spPr>
      </p:pic>
      <p:sp>
        <p:nvSpPr>
          <p:cNvPr id="9"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grpSp>
        <p:nvGrpSpPr>
          <p:cNvPr id="8" name="Group 7"/>
          <p:cNvGrpSpPr/>
          <p:nvPr userDrawn="1"/>
        </p:nvGrpSpPr>
        <p:grpSpPr>
          <a:xfrm>
            <a:off x="0" y="0"/>
            <a:ext cx="12196613" cy="6858709"/>
            <a:chOff x="0" y="0"/>
            <a:chExt cx="10907713" cy="7782059"/>
          </a:xfrm>
        </p:grpSpPr>
        <p:pic>
          <p:nvPicPr>
            <p:cNvPr id="11" name="Picture 10"/>
            <p:cNvPicPr>
              <a:picLocks noChangeAspect="1"/>
            </p:cNvPicPr>
            <p:nvPr/>
          </p:nvPicPr>
          <p:blipFill rotWithShape="1">
            <a:blip r:embed="rId2" cstate="email"/>
            <a:srcRect t="-10032"/>
            <a:stretch>
              <a:fillRect/>
            </a:stretch>
          </p:blipFill>
          <p:spPr>
            <a:xfrm>
              <a:off x="0" y="151357"/>
              <a:ext cx="10907713" cy="6916121"/>
            </a:xfrm>
            <a:prstGeom prst="rect">
              <a:avLst/>
            </a:prstGeom>
          </p:spPr>
        </p:pic>
        <p:pic>
          <p:nvPicPr>
            <p:cNvPr id="12" name="Picture 11"/>
            <p:cNvPicPr>
              <a:picLocks noChangeAspect="1"/>
            </p:cNvPicPr>
            <p:nvPr/>
          </p:nvPicPr>
          <p:blipFill rotWithShape="1">
            <a:blip r:embed="rId3" cstate="email"/>
            <a:srcRect/>
            <a:stretch>
              <a:fillRect/>
            </a:stretch>
          </p:blipFill>
          <p:spPr>
            <a:xfrm>
              <a:off x="0" y="0"/>
              <a:ext cx="10907713" cy="886397"/>
            </a:xfrm>
            <a:prstGeom prst="rect">
              <a:avLst/>
            </a:prstGeom>
          </p:spPr>
        </p:pic>
        <p:pic>
          <p:nvPicPr>
            <p:cNvPr id="14" name="Picture 13"/>
            <p:cNvPicPr>
              <a:picLocks noChangeAspect="1"/>
            </p:cNvPicPr>
            <p:nvPr userDrawn="1"/>
          </p:nvPicPr>
          <p:blipFill rotWithShape="1">
            <a:blip r:embed="rId3" cstate="email"/>
            <a:srcRect/>
            <a:stretch>
              <a:fillRect/>
            </a:stretch>
          </p:blipFill>
          <p:spPr>
            <a:xfrm>
              <a:off x="0" y="6895662"/>
              <a:ext cx="10907713" cy="886397"/>
            </a:xfrm>
            <a:prstGeom prst="rect">
              <a:avLst/>
            </a:prstGeom>
          </p:spPr>
        </p:pic>
      </p:grpSp>
    </p:spTree>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lnSpc>
                <a:spcPct val="80000"/>
              </a:lnSpc>
              <a:defRPr sz="6600" baseline="0">
                <a:solidFill>
                  <a:schemeClr val="bg1"/>
                </a:solidFill>
              </a:defRPr>
            </a:lvl1pPr>
          </a:lstStyle>
          <a:p>
            <a:r>
              <a:rPr lang="en-GB" dirty="0"/>
              <a:t>Title slide text only</a:t>
            </a:r>
            <a:endParaRPr lang="en-US" dirty="0"/>
          </a:p>
        </p:txBody>
      </p:sp>
      <p:sp>
        <p:nvSpPr>
          <p:cNvPr id="5" name="Freeform 19"/>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8" name="Freeform 19"/>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
        <p:nvSpPr>
          <p:cNvPr id="28" name="Picture Placeholder 3"/>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53" name="Text Placeholder 2"/>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zh-CN" altLang="en-US" dirty="0"/>
              <a:t>单击此处编辑母版文本样式</a:t>
            </a:r>
            <a:endParaRPr lang="zh-CN" altLang="en-US" dirty="0"/>
          </a:p>
          <a:p>
            <a:pPr lvl="1"/>
            <a:r>
              <a:rPr lang="zh-CN" altLang="en-US" dirty="0"/>
              <a:t>二级</a:t>
            </a:r>
            <a:endParaRPr lang="zh-CN" altLang="en-US" dirty="0"/>
          </a:p>
        </p:txBody>
      </p:sp>
      <p:grpSp>
        <p:nvGrpSpPr>
          <p:cNvPr id="50" name="Group 49"/>
          <p:cNvGrpSpPr/>
          <p:nvPr userDrawn="1"/>
        </p:nvGrpSpPr>
        <p:grpSpPr>
          <a:xfrm>
            <a:off x="989012" y="2833963"/>
            <a:ext cx="2531496" cy="402492"/>
            <a:chOff x="3127375" y="2960688"/>
            <a:chExt cx="5930900" cy="942975"/>
          </a:xfrm>
        </p:grpSpPr>
        <p:grpSp>
          <p:nvGrpSpPr>
            <p:cNvPr id="51" name="Group 50"/>
            <p:cNvGrpSpPr/>
            <p:nvPr/>
          </p:nvGrpSpPr>
          <p:grpSpPr>
            <a:xfrm>
              <a:off x="8115300" y="2960688"/>
              <a:ext cx="942975" cy="942975"/>
              <a:chOff x="8115300" y="2960688"/>
              <a:chExt cx="942975" cy="942975"/>
            </a:xfrm>
          </p:grpSpPr>
          <p:pic>
            <p:nvPicPr>
              <p:cNvPr id="72" name="Picture 5"/>
              <p:cNvPicPr>
                <a:picLocks noChangeAspect="1" noChangeArrowheads="1"/>
              </p:cNvPicPr>
              <p:nvPr/>
            </p:nvPicPr>
            <p:blipFill>
              <a:blip r:embed="rId2" cstate="screen">
                <a:clrChange>
                  <a:clrFrom>
                    <a:srgbClr val="FFFFFF"/>
                  </a:clrFrom>
                  <a:clrTo>
                    <a:srgbClr val="FFFFFF">
                      <a:alpha val="0"/>
                    </a:srgbClr>
                  </a:clrTo>
                </a:clrChange>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40"/>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2" name="Group 51"/>
            <p:cNvGrpSpPr/>
            <p:nvPr/>
          </p:nvGrpSpPr>
          <p:grpSpPr>
            <a:xfrm>
              <a:off x="7127875" y="2970213"/>
              <a:ext cx="914400" cy="914400"/>
              <a:chOff x="7127875" y="2970213"/>
              <a:chExt cx="914400" cy="914400"/>
            </a:xfrm>
          </p:grpSpPr>
          <p:sp>
            <p:nvSpPr>
              <p:cNvPr id="70" name="Freeform 37"/>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1" name="Freeform 38"/>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5" name="Group 54"/>
            <p:cNvGrpSpPr/>
            <p:nvPr/>
          </p:nvGrpSpPr>
          <p:grpSpPr>
            <a:xfrm>
              <a:off x="6127750" y="2970213"/>
              <a:ext cx="914400" cy="914400"/>
              <a:chOff x="6127750" y="2970213"/>
              <a:chExt cx="914400" cy="914400"/>
            </a:xfrm>
          </p:grpSpPr>
          <p:sp>
            <p:nvSpPr>
              <p:cNvPr id="68" name="Freeform 35"/>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9" name="Freeform 36"/>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6" name="Group 55"/>
            <p:cNvGrpSpPr/>
            <p:nvPr/>
          </p:nvGrpSpPr>
          <p:grpSpPr>
            <a:xfrm>
              <a:off x="4127500" y="2970213"/>
              <a:ext cx="914400" cy="914400"/>
              <a:chOff x="4127500" y="2970213"/>
              <a:chExt cx="914400" cy="914400"/>
            </a:xfrm>
          </p:grpSpPr>
          <p:sp>
            <p:nvSpPr>
              <p:cNvPr id="66" name="Freeform 33"/>
              <p:cNvSpPr/>
              <p:nvPr/>
            </p:nvSpPr>
            <p:spPr bwMode="auto">
              <a:xfrm>
                <a:off x="4127500"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28 w 576"/>
                  <a:gd name="T25" fmla="*/ 576 h 576"/>
                  <a:gd name="T26" fmla="*/ 22 w 576"/>
                  <a:gd name="T27" fmla="*/ 574 h 576"/>
                  <a:gd name="T28" fmla="*/ 16 w 576"/>
                  <a:gd name="T29" fmla="*/ 570 h 576"/>
                  <a:gd name="T30" fmla="*/ 10 w 576"/>
                  <a:gd name="T31" fmla="*/ 566 h 576"/>
                  <a:gd name="T32" fmla="*/ 6 w 576"/>
                  <a:gd name="T33" fmla="*/ 560 h 576"/>
                  <a:gd name="T34" fmla="*/ 2 w 576"/>
                  <a:gd name="T35" fmla="*/ 554 h 576"/>
                  <a:gd name="T36" fmla="*/ 0 w 576"/>
                  <a:gd name="T37" fmla="*/ 548 h 576"/>
                  <a:gd name="T38" fmla="*/ 0 w 576"/>
                  <a:gd name="T39" fmla="*/ 540 h 576"/>
                  <a:gd name="T40" fmla="*/ 0 w 576"/>
                  <a:gd name="T41" fmla="*/ 36 h 576"/>
                  <a:gd name="T42" fmla="*/ 0 w 576"/>
                  <a:gd name="T43" fmla="*/ 36 h 576"/>
                  <a:gd name="T44" fmla="*/ 0 w 576"/>
                  <a:gd name="T45" fmla="*/ 30 h 576"/>
                  <a:gd name="T46" fmla="*/ 2 w 576"/>
                  <a:gd name="T47" fmla="*/ 22 h 576"/>
                  <a:gd name="T48" fmla="*/ 6 w 576"/>
                  <a:gd name="T49" fmla="*/ 16 h 576"/>
                  <a:gd name="T50" fmla="*/ 10 w 576"/>
                  <a:gd name="T51" fmla="*/ 12 h 576"/>
                  <a:gd name="T52" fmla="*/ 16 w 576"/>
                  <a:gd name="T53" fmla="*/ 6 h 576"/>
                  <a:gd name="T54" fmla="*/ 22 w 576"/>
                  <a:gd name="T55" fmla="*/ 4 h 576"/>
                  <a:gd name="T56" fmla="*/ 28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28" y="576"/>
                    </a:lnTo>
                    <a:lnTo>
                      <a:pt x="22" y="574"/>
                    </a:lnTo>
                    <a:lnTo>
                      <a:pt x="16" y="570"/>
                    </a:lnTo>
                    <a:lnTo>
                      <a:pt x="10" y="566"/>
                    </a:lnTo>
                    <a:lnTo>
                      <a:pt x="6" y="560"/>
                    </a:lnTo>
                    <a:lnTo>
                      <a:pt x="2" y="554"/>
                    </a:lnTo>
                    <a:lnTo>
                      <a:pt x="0" y="548"/>
                    </a:lnTo>
                    <a:lnTo>
                      <a:pt x="0" y="540"/>
                    </a:lnTo>
                    <a:lnTo>
                      <a:pt x="0" y="36"/>
                    </a:lnTo>
                    <a:lnTo>
                      <a:pt x="0" y="36"/>
                    </a:lnTo>
                    <a:lnTo>
                      <a:pt x="0" y="30"/>
                    </a:lnTo>
                    <a:lnTo>
                      <a:pt x="2" y="22"/>
                    </a:lnTo>
                    <a:lnTo>
                      <a:pt x="6" y="16"/>
                    </a:lnTo>
                    <a:lnTo>
                      <a:pt x="10" y="12"/>
                    </a:lnTo>
                    <a:lnTo>
                      <a:pt x="16" y="6"/>
                    </a:lnTo>
                    <a:lnTo>
                      <a:pt x="22" y="4"/>
                    </a:lnTo>
                    <a:lnTo>
                      <a:pt x="28"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EBC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7" name="Freeform 34"/>
              <p:cNvSpPr/>
              <p:nvPr/>
            </p:nvSpPr>
            <p:spPr bwMode="auto">
              <a:xfrm>
                <a:off x="4244975" y="3128963"/>
                <a:ext cx="723900" cy="596900"/>
              </a:xfrm>
              <a:custGeom>
                <a:avLst/>
                <a:gdLst>
                  <a:gd name="T0" fmla="*/ 456 w 456"/>
                  <a:gd name="T1" fmla="*/ 46 h 376"/>
                  <a:gd name="T2" fmla="*/ 438 w 456"/>
                  <a:gd name="T3" fmla="*/ 70 h 376"/>
                  <a:gd name="T4" fmla="*/ 416 w 456"/>
                  <a:gd name="T5" fmla="*/ 90 h 376"/>
                  <a:gd name="T6" fmla="*/ 412 w 456"/>
                  <a:gd name="T7" fmla="*/ 94 h 376"/>
                  <a:gd name="T8" fmla="*/ 410 w 456"/>
                  <a:gd name="T9" fmla="*/ 100 h 376"/>
                  <a:gd name="T10" fmla="*/ 404 w 456"/>
                  <a:gd name="T11" fmla="*/ 166 h 376"/>
                  <a:gd name="T12" fmla="*/ 384 w 456"/>
                  <a:gd name="T13" fmla="*/ 224 h 376"/>
                  <a:gd name="T14" fmla="*/ 352 w 456"/>
                  <a:gd name="T15" fmla="*/ 276 h 376"/>
                  <a:gd name="T16" fmla="*/ 306 w 456"/>
                  <a:gd name="T17" fmla="*/ 322 h 376"/>
                  <a:gd name="T18" fmla="*/ 292 w 456"/>
                  <a:gd name="T19" fmla="*/ 332 h 376"/>
                  <a:gd name="T20" fmla="*/ 262 w 456"/>
                  <a:gd name="T21" fmla="*/ 350 h 376"/>
                  <a:gd name="T22" fmla="*/ 214 w 456"/>
                  <a:gd name="T23" fmla="*/ 366 h 376"/>
                  <a:gd name="T24" fmla="*/ 180 w 456"/>
                  <a:gd name="T25" fmla="*/ 372 h 376"/>
                  <a:gd name="T26" fmla="*/ 136 w 456"/>
                  <a:gd name="T27" fmla="*/ 376 h 376"/>
                  <a:gd name="T28" fmla="*/ 94 w 456"/>
                  <a:gd name="T29" fmla="*/ 370 h 376"/>
                  <a:gd name="T30" fmla="*/ 52 w 456"/>
                  <a:gd name="T31" fmla="*/ 358 h 376"/>
                  <a:gd name="T32" fmla="*/ 12 w 456"/>
                  <a:gd name="T33" fmla="*/ 340 h 376"/>
                  <a:gd name="T34" fmla="*/ 0 w 456"/>
                  <a:gd name="T35" fmla="*/ 334 h 376"/>
                  <a:gd name="T36" fmla="*/ 20 w 456"/>
                  <a:gd name="T37" fmla="*/ 334 h 376"/>
                  <a:gd name="T38" fmla="*/ 56 w 456"/>
                  <a:gd name="T39" fmla="*/ 332 h 376"/>
                  <a:gd name="T40" fmla="*/ 90 w 456"/>
                  <a:gd name="T41" fmla="*/ 322 h 376"/>
                  <a:gd name="T42" fmla="*/ 122 w 456"/>
                  <a:gd name="T43" fmla="*/ 304 h 376"/>
                  <a:gd name="T44" fmla="*/ 138 w 456"/>
                  <a:gd name="T45" fmla="*/ 294 h 376"/>
                  <a:gd name="T46" fmla="*/ 108 w 456"/>
                  <a:gd name="T47" fmla="*/ 288 h 376"/>
                  <a:gd name="T48" fmla="*/ 84 w 456"/>
                  <a:gd name="T49" fmla="*/ 274 h 376"/>
                  <a:gd name="T50" fmla="*/ 74 w 456"/>
                  <a:gd name="T51" fmla="*/ 264 h 376"/>
                  <a:gd name="T52" fmla="*/ 58 w 456"/>
                  <a:gd name="T53" fmla="*/ 242 h 376"/>
                  <a:gd name="T54" fmla="*/ 52 w 456"/>
                  <a:gd name="T55" fmla="*/ 228 h 376"/>
                  <a:gd name="T56" fmla="*/ 90 w 456"/>
                  <a:gd name="T57" fmla="*/ 228 h 376"/>
                  <a:gd name="T58" fmla="*/ 60 w 456"/>
                  <a:gd name="T59" fmla="*/ 212 h 376"/>
                  <a:gd name="T60" fmla="*/ 40 w 456"/>
                  <a:gd name="T61" fmla="*/ 192 h 376"/>
                  <a:gd name="T62" fmla="*/ 26 w 456"/>
                  <a:gd name="T63" fmla="*/ 166 h 376"/>
                  <a:gd name="T64" fmla="*/ 18 w 456"/>
                  <a:gd name="T65" fmla="*/ 134 h 376"/>
                  <a:gd name="T66" fmla="*/ 56 w 456"/>
                  <a:gd name="T67" fmla="*/ 146 h 376"/>
                  <a:gd name="T68" fmla="*/ 58 w 456"/>
                  <a:gd name="T69" fmla="*/ 142 h 376"/>
                  <a:gd name="T70" fmla="*/ 42 w 456"/>
                  <a:gd name="T71" fmla="*/ 128 h 376"/>
                  <a:gd name="T72" fmla="*/ 24 w 456"/>
                  <a:gd name="T73" fmla="*/ 92 h 376"/>
                  <a:gd name="T74" fmla="*/ 20 w 456"/>
                  <a:gd name="T75" fmla="*/ 70 h 376"/>
                  <a:gd name="T76" fmla="*/ 22 w 456"/>
                  <a:gd name="T77" fmla="*/ 44 h 376"/>
                  <a:gd name="T78" fmla="*/ 34 w 456"/>
                  <a:gd name="T79" fmla="*/ 18 h 376"/>
                  <a:gd name="T80" fmla="*/ 52 w 456"/>
                  <a:gd name="T81" fmla="*/ 40 h 376"/>
                  <a:gd name="T82" fmla="*/ 96 w 456"/>
                  <a:gd name="T83" fmla="*/ 74 h 376"/>
                  <a:gd name="T84" fmla="*/ 144 w 456"/>
                  <a:gd name="T85" fmla="*/ 98 h 376"/>
                  <a:gd name="T86" fmla="*/ 196 w 456"/>
                  <a:gd name="T87" fmla="*/ 114 h 376"/>
                  <a:gd name="T88" fmla="*/ 224 w 456"/>
                  <a:gd name="T89" fmla="*/ 116 h 376"/>
                  <a:gd name="T90" fmla="*/ 226 w 456"/>
                  <a:gd name="T91" fmla="*/ 82 h 376"/>
                  <a:gd name="T92" fmla="*/ 228 w 456"/>
                  <a:gd name="T93" fmla="*/ 68 h 376"/>
                  <a:gd name="T94" fmla="*/ 238 w 456"/>
                  <a:gd name="T95" fmla="*/ 44 h 376"/>
                  <a:gd name="T96" fmla="*/ 254 w 456"/>
                  <a:gd name="T97" fmla="*/ 26 h 376"/>
                  <a:gd name="T98" fmla="*/ 274 w 456"/>
                  <a:gd name="T99" fmla="*/ 10 h 376"/>
                  <a:gd name="T100" fmla="*/ 288 w 456"/>
                  <a:gd name="T101" fmla="*/ 6 h 376"/>
                  <a:gd name="T102" fmla="*/ 312 w 456"/>
                  <a:gd name="T103" fmla="*/ 0 h 376"/>
                  <a:gd name="T104" fmla="*/ 338 w 456"/>
                  <a:gd name="T105" fmla="*/ 2 h 376"/>
                  <a:gd name="T106" fmla="*/ 360 w 456"/>
                  <a:gd name="T107" fmla="*/ 10 h 376"/>
                  <a:gd name="T108" fmla="*/ 382 w 456"/>
                  <a:gd name="T109" fmla="*/ 26 h 376"/>
                  <a:gd name="T110" fmla="*/ 386 w 456"/>
                  <a:gd name="T111" fmla="*/ 30 h 376"/>
                  <a:gd name="T112" fmla="*/ 392 w 456"/>
                  <a:gd name="T113" fmla="*/ 28 h 376"/>
                  <a:gd name="T114" fmla="*/ 444 w 456"/>
                  <a:gd name="T115" fmla="*/ 10 h 376"/>
                  <a:gd name="T116" fmla="*/ 430 w 456"/>
                  <a:gd name="T117" fmla="*/ 36 h 376"/>
                  <a:gd name="T118" fmla="*/ 408 w 456"/>
                  <a:gd name="T119" fmla="*/ 58 h 376"/>
                  <a:gd name="T120" fmla="*/ 408 w 456"/>
                  <a:gd name="T121" fmla="*/ 60 h 376"/>
                  <a:gd name="T122" fmla="*/ 456 w 456"/>
                  <a:gd name="T123" fmla="*/ 4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6" h="376">
                    <a:moveTo>
                      <a:pt x="456" y="46"/>
                    </a:moveTo>
                    <a:lnTo>
                      <a:pt x="456" y="46"/>
                    </a:lnTo>
                    <a:lnTo>
                      <a:pt x="448" y="60"/>
                    </a:lnTo>
                    <a:lnTo>
                      <a:pt x="438" y="70"/>
                    </a:lnTo>
                    <a:lnTo>
                      <a:pt x="428" y="80"/>
                    </a:lnTo>
                    <a:lnTo>
                      <a:pt x="416" y="90"/>
                    </a:lnTo>
                    <a:lnTo>
                      <a:pt x="416" y="90"/>
                    </a:lnTo>
                    <a:lnTo>
                      <a:pt x="412" y="94"/>
                    </a:lnTo>
                    <a:lnTo>
                      <a:pt x="410" y="100"/>
                    </a:lnTo>
                    <a:lnTo>
                      <a:pt x="410" y="100"/>
                    </a:lnTo>
                    <a:lnTo>
                      <a:pt x="408" y="134"/>
                    </a:lnTo>
                    <a:lnTo>
                      <a:pt x="404" y="166"/>
                    </a:lnTo>
                    <a:lnTo>
                      <a:pt x="396" y="196"/>
                    </a:lnTo>
                    <a:lnTo>
                      <a:pt x="384" y="224"/>
                    </a:lnTo>
                    <a:lnTo>
                      <a:pt x="370" y="250"/>
                    </a:lnTo>
                    <a:lnTo>
                      <a:pt x="352" y="276"/>
                    </a:lnTo>
                    <a:lnTo>
                      <a:pt x="330" y="300"/>
                    </a:lnTo>
                    <a:lnTo>
                      <a:pt x="306" y="322"/>
                    </a:lnTo>
                    <a:lnTo>
                      <a:pt x="306" y="322"/>
                    </a:lnTo>
                    <a:lnTo>
                      <a:pt x="292" y="332"/>
                    </a:lnTo>
                    <a:lnTo>
                      <a:pt x="278" y="342"/>
                    </a:lnTo>
                    <a:lnTo>
                      <a:pt x="262" y="350"/>
                    </a:lnTo>
                    <a:lnTo>
                      <a:pt x="246" y="356"/>
                    </a:lnTo>
                    <a:lnTo>
                      <a:pt x="214" y="366"/>
                    </a:lnTo>
                    <a:lnTo>
                      <a:pt x="180" y="372"/>
                    </a:lnTo>
                    <a:lnTo>
                      <a:pt x="180" y="372"/>
                    </a:lnTo>
                    <a:lnTo>
                      <a:pt x="158" y="374"/>
                    </a:lnTo>
                    <a:lnTo>
                      <a:pt x="136" y="376"/>
                    </a:lnTo>
                    <a:lnTo>
                      <a:pt x="114" y="374"/>
                    </a:lnTo>
                    <a:lnTo>
                      <a:pt x="94" y="370"/>
                    </a:lnTo>
                    <a:lnTo>
                      <a:pt x="72" y="366"/>
                    </a:lnTo>
                    <a:lnTo>
                      <a:pt x="52" y="358"/>
                    </a:lnTo>
                    <a:lnTo>
                      <a:pt x="32" y="350"/>
                    </a:lnTo>
                    <a:lnTo>
                      <a:pt x="12" y="340"/>
                    </a:lnTo>
                    <a:lnTo>
                      <a:pt x="12" y="340"/>
                    </a:lnTo>
                    <a:lnTo>
                      <a:pt x="0" y="334"/>
                    </a:lnTo>
                    <a:lnTo>
                      <a:pt x="0" y="334"/>
                    </a:lnTo>
                    <a:lnTo>
                      <a:pt x="20" y="334"/>
                    </a:lnTo>
                    <a:lnTo>
                      <a:pt x="38" y="334"/>
                    </a:lnTo>
                    <a:lnTo>
                      <a:pt x="56" y="332"/>
                    </a:lnTo>
                    <a:lnTo>
                      <a:pt x="74" y="328"/>
                    </a:lnTo>
                    <a:lnTo>
                      <a:pt x="90" y="322"/>
                    </a:lnTo>
                    <a:lnTo>
                      <a:pt x="106" y="314"/>
                    </a:lnTo>
                    <a:lnTo>
                      <a:pt x="122" y="304"/>
                    </a:lnTo>
                    <a:lnTo>
                      <a:pt x="138" y="294"/>
                    </a:lnTo>
                    <a:lnTo>
                      <a:pt x="138" y="294"/>
                    </a:lnTo>
                    <a:lnTo>
                      <a:pt x="122" y="292"/>
                    </a:lnTo>
                    <a:lnTo>
                      <a:pt x="108" y="288"/>
                    </a:lnTo>
                    <a:lnTo>
                      <a:pt x="96" y="282"/>
                    </a:lnTo>
                    <a:lnTo>
                      <a:pt x="84" y="274"/>
                    </a:lnTo>
                    <a:lnTo>
                      <a:pt x="84" y="274"/>
                    </a:lnTo>
                    <a:lnTo>
                      <a:pt x="74" y="264"/>
                    </a:lnTo>
                    <a:lnTo>
                      <a:pt x="64" y="254"/>
                    </a:lnTo>
                    <a:lnTo>
                      <a:pt x="58" y="242"/>
                    </a:lnTo>
                    <a:lnTo>
                      <a:pt x="52" y="228"/>
                    </a:lnTo>
                    <a:lnTo>
                      <a:pt x="52" y="228"/>
                    </a:lnTo>
                    <a:lnTo>
                      <a:pt x="90" y="228"/>
                    </a:lnTo>
                    <a:lnTo>
                      <a:pt x="90" y="228"/>
                    </a:lnTo>
                    <a:lnTo>
                      <a:pt x="74" y="220"/>
                    </a:lnTo>
                    <a:lnTo>
                      <a:pt x="60" y="212"/>
                    </a:lnTo>
                    <a:lnTo>
                      <a:pt x="48" y="202"/>
                    </a:lnTo>
                    <a:lnTo>
                      <a:pt x="40" y="192"/>
                    </a:lnTo>
                    <a:lnTo>
                      <a:pt x="32" y="180"/>
                    </a:lnTo>
                    <a:lnTo>
                      <a:pt x="26" y="166"/>
                    </a:lnTo>
                    <a:lnTo>
                      <a:pt x="20" y="150"/>
                    </a:lnTo>
                    <a:lnTo>
                      <a:pt x="18" y="134"/>
                    </a:lnTo>
                    <a:lnTo>
                      <a:pt x="18" y="134"/>
                    </a:lnTo>
                    <a:lnTo>
                      <a:pt x="56" y="146"/>
                    </a:lnTo>
                    <a:lnTo>
                      <a:pt x="56" y="146"/>
                    </a:lnTo>
                    <a:lnTo>
                      <a:pt x="58" y="142"/>
                    </a:lnTo>
                    <a:lnTo>
                      <a:pt x="58" y="142"/>
                    </a:lnTo>
                    <a:lnTo>
                      <a:pt x="42" y="128"/>
                    </a:lnTo>
                    <a:lnTo>
                      <a:pt x="32" y="110"/>
                    </a:lnTo>
                    <a:lnTo>
                      <a:pt x="24" y="92"/>
                    </a:lnTo>
                    <a:lnTo>
                      <a:pt x="20" y="70"/>
                    </a:lnTo>
                    <a:lnTo>
                      <a:pt x="20" y="70"/>
                    </a:lnTo>
                    <a:lnTo>
                      <a:pt x="20" y="58"/>
                    </a:lnTo>
                    <a:lnTo>
                      <a:pt x="22" y="44"/>
                    </a:lnTo>
                    <a:lnTo>
                      <a:pt x="26" y="32"/>
                    </a:lnTo>
                    <a:lnTo>
                      <a:pt x="34" y="18"/>
                    </a:lnTo>
                    <a:lnTo>
                      <a:pt x="34" y="18"/>
                    </a:lnTo>
                    <a:lnTo>
                      <a:pt x="52" y="40"/>
                    </a:lnTo>
                    <a:lnTo>
                      <a:pt x="74" y="58"/>
                    </a:lnTo>
                    <a:lnTo>
                      <a:pt x="96" y="74"/>
                    </a:lnTo>
                    <a:lnTo>
                      <a:pt x="118" y="88"/>
                    </a:lnTo>
                    <a:lnTo>
                      <a:pt x="144" y="98"/>
                    </a:lnTo>
                    <a:lnTo>
                      <a:pt x="170" y="108"/>
                    </a:lnTo>
                    <a:lnTo>
                      <a:pt x="196" y="114"/>
                    </a:lnTo>
                    <a:lnTo>
                      <a:pt x="224" y="116"/>
                    </a:lnTo>
                    <a:lnTo>
                      <a:pt x="224" y="116"/>
                    </a:lnTo>
                    <a:lnTo>
                      <a:pt x="224" y="98"/>
                    </a:lnTo>
                    <a:lnTo>
                      <a:pt x="226" y="82"/>
                    </a:lnTo>
                    <a:lnTo>
                      <a:pt x="226" y="82"/>
                    </a:lnTo>
                    <a:lnTo>
                      <a:pt x="228" y="68"/>
                    </a:lnTo>
                    <a:lnTo>
                      <a:pt x="232" y="56"/>
                    </a:lnTo>
                    <a:lnTo>
                      <a:pt x="238" y="44"/>
                    </a:lnTo>
                    <a:lnTo>
                      <a:pt x="244" y="34"/>
                    </a:lnTo>
                    <a:lnTo>
                      <a:pt x="254" y="26"/>
                    </a:lnTo>
                    <a:lnTo>
                      <a:pt x="264" y="18"/>
                    </a:lnTo>
                    <a:lnTo>
                      <a:pt x="274" y="10"/>
                    </a:lnTo>
                    <a:lnTo>
                      <a:pt x="288" y="6"/>
                    </a:lnTo>
                    <a:lnTo>
                      <a:pt x="288" y="6"/>
                    </a:lnTo>
                    <a:lnTo>
                      <a:pt x="300" y="2"/>
                    </a:lnTo>
                    <a:lnTo>
                      <a:pt x="312" y="0"/>
                    </a:lnTo>
                    <a:lnTo>
                      <a:pt x="326" y="0"/>
                    </a:lnTo>
                    <a:lnTo>
                      <a:pt x="338" y="2"/>
                    </a:lnTo>
                    <a:lnTo>
                      <a:pt x="348" y="6"/>
                    </a:lnTo>
                    <a:lnTo>
                      <a:pt x="360" y="10"/>
                    </a:lnTo>
                    <a:lnTo>
                      <a:pt x="370" y="18"/>
                    </a:lnTo>
                    <a:lnTo>
                      <a:pt x="382" y="26"/>
                    </a:lnTo>
                    <a:lnTo>
                      <a:pt x="382" y="26"/>
                    </a:lnTo>
                    <a:lnTo>
                      <a:pt x="386" y="30"/>
                    </a:lnTo>
                    <a:lnTo>
                      <a:pt x="392" y="28"/>
                    </a:lnTo>
                    <a:lnTo>
                      <a:pt x="392" y="28"/>
                    </a:lnTo>
                    <a:lnTo>
                      <a:pt x="444" y="10"/>
                    </a:lnTo>
                    <a:lnTo>
                      <a:pt x="444" y="10"/>
                    </a:lnTo>
                    <a:lnTo>
                      <a:pt x="438" y="24"/>
                    </a:lnTo>
                    <a:lnTo>
                      <a:pt x="430" y="36"/>
                    </a:lnTo>
                    <a:lnTo>
                      <a:pt x="420" y="48"/>
                    </a:lnTo>
                    <a:lnTo>
                      <a:pt x="408" y="58"/>
                    </a:lnTo>
                    <a:lnTo>
                      <a:pt x="408" y="58"/>
                    </a:lnTo>
                    <a:lnTo>
                      <a:pt x="408" y="60"/>
                    </a:lnTo>
                    <a:lnTo>
                      <a:pt x="408" y="60"/>
                    </a:lnTo>
                    <a:lnTo>
                      <a:pt x="456" y="46"/>
                    </a:lnTo>
                    <a:lnTo>
                      <a:pt x="456" y="4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7" name="Group 56"/>
            <p:cNvGrpSpPr/>
            <p:nvPr/>
          </p:nvGrpSpPr>
          <p:grpSpPr>
            <a:xfrm>
              <a:off x="5127625" y="2970213"/>
              <a:ext cx="914400" cy="914400"/>
              <a:chOff x="5127625" y="2970213"/>
              <a:chExt cx="914400" cy="914400"/>
            </a:xfrm>
          </p:grpSpPr>
          <p:sp>
            <p:nvSpPr>
              <p:cNvPr id="64" name="Freeform 3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5" name="Freeform 32"/>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8" name="Group 57"/>
            <p:cNvGrpSpPr/>
            <p:nvPr/>
          </p:nvGrpSpPr>
          <p:grpSpPr>
            <a:xfrm>
              <a:off x="3127375" y="2970213"/>
              <a:ext cx="914400" cy="914400"/>
              <a:chOff x="3127375" y="2970213"/>
              <a:chExt cx="914400" cy="914400"/>
            </a:xfrm>
          </p:grpSpPr>
          <p:sp>
            <p:nvSpPr>
              <p:cNvPr id="59" name="Freeform 26"/>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0" name="Freeform 27"/>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1" name="Freeform 28"/>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2" name="Freeform 29"/>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3" name="Freeform 30"/>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dirty="0"/>
              <a:t>Click to edit Master title style</a:t>
            </a:r>
            <a:endParaRPr lang="en-US" dirty="0"/>
          </a:p>
        </p:txBody>
      </p:sp>
      <p:sp>
        <p:nvSpPr>
          <p:cNvPr id="5"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微软雅黑" panose="020B0503020204020204" pitchFamily="34" charset="-122"/>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spcAft>
                <a:spcPts val="1200"/>
              </a:spcAft>
              <a:defRPr sz="6600" baseline="0">
                <a:solidFill>
                  <a:schemeClr val="bg1"/>
                </a:solidFill>
              </a:defRPr>
            </a:lvl1pPr>
          </a:lstStyle>
          <a:p>
            <a:r>
              <a:rPr lang="en-GB" dirty="0"/>
              <a:t>Title slide text only</a:t>
            </a:r>
            <a:endParaRPr lang="en-US" dirty="0"/>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a:xfrm>
            <a:off x="838200" y="6356352"/>
            <a:ext cx="2743200" cy="365125"/>
          </a:xfrm>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a:xfrm>
            <a:off x="4038600" y="6356352"/>
            <a:ext cx="4114800" cy="365125"/>
          </a:xfrm>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a:xfrm>
            <a:off x="8610600" y="6356352"/>
            <a:ext cx="2743200" cy="365125"/>
          </a:xfrm>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p:cNvSpPr>
            <a:spLocks noGrp="1"/>
          </p:cNvSpPr>
          <p:nvPr>
            <p:ph type="title" hasCustomPrompt="1"/>
          </p:nvPr>
        </p:nvSpPr>
        <p:spPr>
          <a:xfrm>
            <a:off x="579967" y="58640"/>
            <a:ext cx="10941050" cy="286232"/>
          </a:xfrm>
          <a:prstGeom prst="rect">
            <a:avLst/>
          </a:prstGeom>
          <a:noFill/>
        </p:spPr>
        <p:txBody>
          <a:bodyPr vert="horz" wrap="square" rtlCol="0">
            <a:spAutoFit/>
          </a:bodyPr>
          <a:lstStyle>
            <a:lvl1pPr>
              <a:defRPr lang="en-US" sz="1400" b="1" dirty="0">
                <a:solidFill>
                  <a:srgbClr val="00338D"/>
                </a:solidFill>
                <a:cs typeface="+mn-cs"/>
              </a:defRPr>
            </a:lvl1pPr>
          </a:lstStyle>
          <a:p>
            <a:pPr marL="0" lvl="0" algn="just" defTabSz="457200">
              <a:lnSpc>
                <a:spcPct val="90000"/>
              </a:lnSpc>
            </a:pPr>
            <a:r>
              <a:rPr lang="zh-CN" altLang="en-US" dirty="0"/>
              <a:t>输入副标题</a:t>
            </a:r>
            <a:endParaRPr lang="en-US" dirty="0"/>
          </a:p>
        </p:txBody>
      </p:sp>
      <p:sp>
        <p:nvSpPr>
          <p:cNvPr id="5" name="Text Placeholder 4"/>
          <p:cNvSpPr>
            <a:spLocks noGrp="1"/>
          </p:cNvSpPr>
          <p:nvPr>
            <p:ph type="body" sz="quarter" idx="11" hasCustomPrompt="1"/>
          </p:nvPr>
        </p:nvSpPr>
        <p:spPr>
          <a:xfrm>
            <a:off x="579966" y="307163"/>
            <a:ext cx="10941052" cy="681881"/>
          </a:xfrm>
          <a:prstGeom prst="rect">
            <a:avLst/>
          </a:prstGeom>
          <a:noFill/>
        </p:spPr>
        <p:txBody>
          <a:bodyPr wrap="square" rtlCol="0" anchor="ctr">
            <a:noAutofit/>
          </a:bodyPr>
          <a:lstStyle>
            <a:lvl1pPr>
              <a:defRPr lang="en-US" sz="2000" b="1" dirty="0">
                <a:solidFill>
                  <a:srgbClr val="00338D"/>
                </a:solidFill>
              </a:defRPr>
            </a:lvl1pPr>
          </a:lstStyle>
          <a:p>
            <a:pPr lvl="0" algn="just" defTabSz="457200">
              <a:lnSpc>
                <a:spcPct val="90000"/>
              </a:lnSpc>
              <a:spcBef>
                <a:spcPts val="1000"/>
              </a:spcBef>
            </a:pPr>
            <a:r>
              <a:rPr lang="zh-CN" altLang="en-US" dirty="0"/>
              <a:t>输入主标题</a:t>
            </a:r>
            <a:endParaRPr 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a:xfrm>
            <a:off x="995364" y="431800"/>
            <a:ext cx="10204450" cy="533400"/>
          </a:xfrm>
        </p:spPr>
        <p:txBody>
          <a:bodyPr/>
          <a:lstStyle/>
          <a:p>
            <a:r>
              <a:rPr lang="en-US"/>
              <a:t>Click to edit Master title style</a:t>
            </a:r>
            <a:endParaRPr lang="en-GB"/>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标题 11"/>
          <p:cNvSpPr>
            <a:spLocks noGrp="1"/>
          </p:cNvSpPr>
          <p:nvPr>
            <p:ph type="title"/>
          </p:nvPr>
        </p:nvSpPr>
        <p:spPr>
          <a:xfrm>
            <a:off x="334860" y="163789"/>
            <a:ext cx="10528883" cy="591220"/>
          </a:xfrm>
          <a:prstGeom prst="rect">
            <a:avLst/>
          </a:prstGeom>
        </p:spPr>
        <p:txBody>
          <a:bodyPr anchor="ctr"/>
          <a:lstStyle>
            <a:lvl1pPr algn="l">
              <a:defRPr sz="2600" b="1">
                <a:solidFill>
                  <a:schemeClr val="tx1">
                    <a:lumMod val="95000"/>
                    <a:lumOff val="5000"/>
                  </a:schemeClr>
                </a:solidFill>
                <a:latin typeface="+mj-ea"/>
                <a:ea typeface="+mj-ea"/>
              </a:defRPr>
            </a:lvl1pPr>
          </a:lstStyle>
          <a:p>
            <a:r>
              <a:rPr lang="zh-CN" altLang="en-US"/>
              <a:t>单击此处编辑母版标题样式</a:t>
            </a:r>
            <a:endParaRPr lang="zh-CN" altLang="en-US" dirty="0"/>
          </a:p>
        </p:txBody>
      </p:sp>
      <p:sp>
        <p:nvSpPr>
          <p:cNvPr id="12" name="文本框 11"/>
          <p:cNvSpPr txBox="1"/>
          <p:nvPr userDrawn="1"/>
        </p:nvSpPr>
        <p:spPr>
          <a:xfrm>
            <a:off x="5055380" y="5142081"/>
            <a:ext cx="2096218" cy="456445"/>
          </a:xfrm>
          <a:prstGeom prst="rect">
            <a:avLst/>
          </a:prstGeom>
          <a:noFill/>
        </p:spPr>
        <p:txBody>
          <a:bodyPr wrap="square" rtlCol="0" anchor="ctr">
            <a:noAutofit/>
          </a:bodyPr>
          <a:lstStyle/>
          <a:p>
            <a:pPr marR="0" algn="ctr" defTabSz="914400" rtl="0" eaLnBrk="0" fontAlgn="base" latinLnBrk="0" hangingPunct="0">
              <a:lnSpc>
                <a:spcPct val="100000"/>
              </a:lnSpc>
              <a:spcBef>
                <a:spcPct val="20000"/>
              </a:spcBef>
              <a:buClrTx/>
              <a:buSzTx/>
              <a:buFontTx/>
            </a:pPr>
            <a:endParaRPr kumimoji="1" lang="zh-CN" altLang="en-US" sz="1400" b="0" i="0" baseline="0" dirty="0">
              <a:solidFill>
                <a:srgbClr val="1F56C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直接连接符 15"/>
          <p:cNvCxnSpPr/>
          <p:nvPr userDrawn="1"/>
        </p:nvCxnSpPr>
        <p:spPr>
          <a:xfrm flipV="1">
            <a:off x="702310" y="755009"/>
            <a:ext cx="10787380" cy="6"/>
          </a:xfrm>
          <a:prstGeom prst="line">
            <a:avLst/>
          </a:prstGeom>
          <a:ln w="28575">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灯片编号占位符 1"/>
          <p:cNvSpPr txBox="1"/>
          <p:nvPr userDrawn="1"/>
        </p:nvSpPr>
        <p:spPr>
          <a:xfrm>
            <a:off x="11693525" y="6473825"/>
            <a:ext cx="497840" cy="337185"/>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pPr fontAlgn="base">
              <a:spcBef>
                <a:spcPct val="0"/>
              </a:spcBef>
              <a:spcAft>
                <a:spcPct val="0"/>
              </a:spcAft>
            </a:pPr>
            <a:fld id="{D5DDBE9D-0EAE-4BF9-9976-992BCF72F40A}" type="slidenum">
              <a:rPr lang="zh-CN" altLang="en-US" sz="1200" smtClean="0">
                <a:solidFill>
                  <a:schemeClr val="bg1">
                    <a:lumMod val="50000"/>
                  </a:schemeClr>
                </a:solidFill>
              </a:rPr>
            </a:fld>
            <a:endParaRPr lang="zh-CN" altLang="en-US" sz="1200" dirty="0">
              <a:solidFill>
                <a:schemeClr val="bg1">
                  <a:lumMod val="50000"/>
                </a:schemeClr>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pic>
        <p:nvPicPr>
          <p:cNvPr id="7"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13877" t="1439" r="19746" b="27477"/>
          <a:stretch>
            <a:fillRect/>
          </a:stretch>
        </p:blipFill>
        <p:spPr>
          <a:xfrm>
            <a:off x="2724150" y="-1"/>
            <a:ext cx="9467850" cy="6857999"/>
          </a:xfrm>
          <a:custGeom>
            <a:avLst/>
            <a:gdLst>
              <a:gd name="connsiteX0" fmla="*/ 0 w 3685065"/>
              <a:gd name="connsiteY0" fmla="*/ 0 h 5264375"/>
              <a:gd name="connsiteX1" fmla="*/ 3685065 w 3685065"/>
              <a:gd name="connsiteY1" fmla="*/ 0 h 5264375"/>
              <a:gd name="connsiteX2" fmla="*/ 3685065 w 3685065"/>
              <a:gd name="connsiteY2" fmla="*/ 5264375 h 5264375"/>
              <a:gd name="connsiteX3" fmla="*/ 0 w 3685065"/>
              <a:gd name="connsiteY3" fmla="*/ 5264375 h 5264375"/>
            </a:gdLst>
            <a:ahLst/>
            <a:cxnLst>
              <a:cxn ang="0">
                <a:pos x="connsiteX0" y="connsiteY0"/>
              </a:cxn>
              <a:cxn ang="0">
                <a:pos x="connsiteX1" y="connsiteY1"/>
              </a:cxn>
              <a:cxn ang="0">
                <a:pos x="connsiteX2" y="connsiteY2"/>
              </a:cxn>
              <a:cxn ang="0">
                <a:pos x="connsiteX3" y="connsiteY3"/>
              </a:cxn>
            </a:cxnLst>
            <a:rect l="l" t="t" r="r" b="b"/>
            <a:pathLst>
              <a:path w="3685065" h="5264375">
                <a:moveTo>
                  <a:pt x="0" y="0"/>
                </a:moveTo>
                <a:lnTo>
                  <a:pt x="3685065" y="0"/>
                </a:lnTo>
                <a:lnTo>
                  <a:pt x="3685065" y="5264375"/>
                </a:lnTo>
                <a:lnTo>
                  <a:pt x="0" y="5264375"/>
                </a:lnTo>
                <a:close/>
              </a:path>
            </a:pathLst>
          </a:custGeom>
        </p:spPr>
      </p:pic>
      <p:sp>
        <p:nvSpPr>
          <p:cNvPr id="9"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pic>
        <p:nvPicPr>
          <p:cNvPr id="8"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590290" y="-20852"/>
            <a:ext cx="2630327" cy="1131199"/>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p:cNvSpPr>
            <a:spLocks noGrp="1"/>
          </p:cNvSpPr>
          <p:nvPr>
            <p:ph type="title" hasCustomPrompt="1"/>
          </p:nvPr>
        </p:nvSpPr>
        <p:spPr>
          <a:xfrm>
            <a:off x="579967" y="58640"/>
            <a:ext cx="10941050" cy="286232"/>
          </a:xfrm>
          <a:prstGeom prst="rect">
            <a:avLst/>
          </a:prstGeom>
          <a:noFill/>
        </p:spPr>
        <p:txBody>
          <a:bodyPr vert="horz" wrap="square" rtlCol="0">
            <a:spAutoFit/>
          </a:bodyPr>
          <a:lstStyle>
            <a:lvl1pPr>
              <a:defRPr lang="en-US" sz="1400" b="1" dirty="0">
                <a:solidFill>
                  <a:srgbClr val="00338D"/>
                </a:solidFill>
                <a:cs typeface="+mn-cs"/>
              </a:defRPr>
            </a:lvl1pPr>
          </a:lstStyle>
          <a:p>
            <a:pPr marL="0" lvl="0" algn="just" defTabSz="457200">
              <a:lnSpc>
                <a:spcPct val="90000"/>
              </a:lnSpc>
            </a:pPr>
            <a:r>
              <a:rPr lang="zh-CN" altLang="en-US" dirty="0"/>
              <a:t>输入副标题</a:t>
            </a:r>
            <a:endParaRPr lang="en-US" dirty="0"/>
          </a:p>
        </p:txBody>
      </p:sp>
      <p:sp>
        <p:nvSpPr>
          <p:cNvPr id="5" name="Text Placeholder 4"/>
          <p:cNvSpPr>
            <a:spLocks noGrp="1"/>
          </p:cNvSpPr>
          <p:nvPr>
            <p:ph type="body" sz="quarter" idx="11" hasCustomPrompt="1"/>
          </p:nvPr>
        </p:nvSpPr>
        <p:spPr>
          <a:xfrm>
            <a:off x="579966" y="307163"/>
            <a:ext cx="10941052" cy="681881"/>
          </a:xfrm>
          <a:prstGeom prst="rect">
            <a:avLst/>
          </a:prstGeom>
          <a:noFill/>
        </p:spPr>
        <p:txBody>
          <a:bodyPr wrap="square" rtlCol="0" anchor="ctr">
            <a:noAutofit/>
          </a:bodyPr>
          <a:lstStyle>
            <a:lvl1pPr>
              <a:defRPr lang="en-US" sz="2000" b="1" dirty="0">
                <a:solidFill>
                  <a:srgbClr val="00338D"/>
                </a:solidFill>
              </a:defRPr>
            </a:lvl1pPr>
          </a:lstStyle>
          <a:p>
            <a:pPr lvl="0" algn="just" defTabSz="457200">
              <a:lnSpc>
                <a:spcPct val="90000"/>
              </a:lnSpc>
              <a:spcBef>
                <a:spcPts val="1000"/>
              </a:spcBef>
            </a:pPr>
            <a:r>
              <a:rPr lang="zh-CN" altLang="en-US" dirty="0"/>
              <a:t>输入主标题</a:t>
            </a:r>
            <a:endParaRPr 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a:xfrm>
            <a:off x="995364" y="431800"/>
            <a:ext cx="10204450" cy="533400"/>
          </a:xfrm>
        </p:spPr>
        <p:txBody>
          <a:bodyPr/>
          <a:lstStyle/>
          <a:p>
            <a:r>
              <a:rPr lang="en-US"/>
              <a:t>Click to edit Master title style</a:t>
            </a:r>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oleObject" Target="../embeddings/oleObject2.bin"/><Relationship Id="rId8" Type="http://schemas.openxmlformats.org/officeDocument/2006/relationships/tags" Target="../tags/tag6.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vmlDrawing" Target="../drawings/vmlDrawing2.vml"/><Relationship Id="rId10" Type="http://schemas.openxmlformats.org/officeDocument/2006/relationships/image" Target="../media/image2.emf"/><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6" Type="http://schemas.openxmlformats.org/officeDocument/2006/relationships/theme" Target="../theme/theme3.xml"/><Relationship Id="rId25" Type="http://schemas.openxmlformats.org/officeDocument/2006/relationships/tags" Target="../tags/tag9.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1.xml"/><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2" Type="http://schemas.openxmlformats.org/officeDocument/2006/relationships/theme" Target="../theme/theme4.xml"/><Relationship Id="rId11" Type="http://schemas.openxmlformats.org/officeDocument/2006/relationships/tags" Target="../tags/tag12.xml"/><Relationship Id="rId10" Type="http://schemas.openxmlformats.org/officeDocument/2006/relationships/slideLayout" Target="../slideLayouts/slideLayout42.xml"/><Relationship Id="rId1"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1" Type="http://schemas.openxmlformats.org/officeDocument/2006/relationships/theme" Target="../theme/theme5.xml"/><Relationship Id="rId10" Type="http://schemas.openxmlformats.org/officeDocument/2006/relationships/tags" Target="../tags/tag15.xml"/><Relationship Id="rId1"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4" Type="http://schemas.openxmlformats.org/officeDocument/2006/relationships/theme" Target="../theme/theme6.xml"/><Relationship Id="rId3" Type="http://schemas.openxmlformats.org/officeDocument/2006/relationships/slideLayout" Target="../slideLayouts/slideLayout54.xml"/><Relationship Id="rId2" Type="http://schemas.openxmlformats.org/officeDocument/2006/relationships/slideLayout" Target="../slideLayouts/slideLayout53.xml"/><Relationship Id="rId1" Type="http://schemas.openxmlformats.org/officeDocument/2006/relationships/slideLayout" Target="../slideLayouts/slideLayout52.xml"/></Relationships>
</file>

<file path=ppt/slideMasters/_rels/slideMaster7.xml.rels><?xml version="1.0" encoding="UTF-8" standalone="yes"?>
<Relationships xmlns="http://schemas.openxmlformats.org/package/2006/relationships"><Relationship Id="rId7" Type="http://schemas.openxmlformats.org/officeDocument/2006/relationships/theme" Target="../theme/theme7.xml"/><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 Type="http://schemas.openxmlformats.org/officeDocument/2006/relationships/slideLayout" Target="../slideLayouts/slideLayout5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5" Type="http://schemas.openxmlformats.org/officeDocument/2006/relationships/theme" Target="../theme/theme8.xml"/><Relationship Id="rId14" Type="http://schemas.openxmlformats.org/officeDocument/2006/relationships/vmlDrawing" Target="../drawings/vmlDrawing9.vml"/><Relationship Id="rId13" Type="http://schemas.openxmlformats.org/officeDocument/2006/relationships/image" Target="../media/image2.emf"/><Relationship Id="rId12" Type="http://schemas.openxmlformats.org/officeDocument/2006/relationships/oleObject" Target="../embeddings/oleObject9.bin"/><Relationship Id="rId11" Type="http://schemas.openxmlformats.org/officeDocument/2006/relationships/tags" Target="../tags/tag23.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9.xml.rels><?xml version="1.0" encoding="UTF-8" standalone="yes"?>
<Relationships xmlns="http://schemas.openxmlformats.org/package/2006/relationships"><Relationship Id="rId5" Type="http://schemas.openxmlformats.org/officeDocument/2006/relationships/theme" Target="../theme/theme9.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 Type="http://schemas.openxmlformats.org/officeDocument/2006/relationships/slideLayout" Target="../slideLayouts/slideLayout72.xml"/><Relationship Id="rId1" Type="http://schemas.openxmlformats.org/officeDocument/2006/relationships/slideLayout" Target="../slideLayouts/slideLayout71.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6" Type="http://schemas.openxmlformats.org/officeDocument/2006/relationships/theme" Target="../theme/theme10.xml"/><Relationship Id="rId15" Type="http://schemas.openxmlformats.org/officeDocument/2006/relationships/vmlDrawing" Target="../drawings/vmlDrawing13.vml"/><Relationship Id="rId14" Type="http://schemas.openxmlformats.org/officeDocument/2006/relationships/image" Target="../media/image2.emf"/><Relationship Id="rId13" Type="http://schemas.openxmlformats.org/officeDocument/2006/relationships/oleObject" Target="../embeddings/oleObject13.bin"/><Relationship Id="rId12" Type="http://schemas.openxmlformats.org/officeDocument/2006/relationships/tags" Target="../tags/tag31.xml"/><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9" imgW="0" imgH="0" progId="TCLayout.ActiveDocument.1">
                  <p:embed/>
                </p:oleObj>
              </mc:Choice>
              <mc:Fallback>
                <p:oleObj name="think-cell 幻灯片" r:id="rId9" imgW="0" imgH="0" progId="TCLayout.ActiveDocument.1">
                  <p:embed/>
                  <p:pic>
                    <p:nvPicPr>
                      <p:cNvPr id="0" name="对象 2"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25"/>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2025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1"/>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©2024</a:t>
              </a:r>
              <a:r>
                <a:rPr lang="zh-CN" altLang="en-US" sz="1000" kern="1200" noProof="0" dirty="0">
                  <a:solidFill>
                    <a:schemeClr val="bg1">
                      <a:lumMod val="65000"/>
                    </a:schemeClr>
                  </a:solidFill>
                  <a:latin typeface="微软雅黑" panose="020B0503020204020204" pitchFamily="34" charset="-122"/>
                  <a:ea typeface="+mn-ea"/>
                  <a:cs typeface="+mn-cs"/>
                </a:rPr>
                <a:t>毕马威企业咨询</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0"/>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2023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Lst>
  <p:hf hdr="0" ftr="0" dt="0"/>
  <p:txStyles>
    <p:titleStyle>
      <a:lvl1pPr marL="1219200" indent="-1219200" algn="ctr" rtl="0" eaLnBrk="1" fontAlgn="base" hangingPunct="1">
        <a:spcBef>
          <a:spcPct val="0"/>
        </a:spcBef>
        <a:spcAft>
          <a:spcPct val="0"/>
        </a:spcAft>
        <a:defRPr kumimoji="1" sz="5865" kern="1200">
          <a:solidFill>
            <a:schemeClr val="tx1"/>
          </a:solidFill>
          <a:latin typeface="+mj-lt"/>
          <a:ea typeface="+mj-ea"/>
          <a:cs typeface="微软雅黑" panose="020B0503020204020204" pitchFamily="34" charset="-122"/>
          <a:sym typeface="Calibri" panose="020F0502020204030204" pitchFamily="34" charset="0"/>
        </a:defRPr>
      </a:lvl1pPr>
      <a:lvl2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2pPr>
      <a:lvl3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3pPr>
      <a:lvl4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4pPr>
      <a:lvl5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5pPr>
      <a:lvl6pPr marL="18288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437765"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0480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6576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457200" indent="-457200" algn="l" rtl="0" eaLnBrk="1" fontAlgn="base" hangingPunct="1">
        <a:spcBef>
          <a:spcPct val="20000"/>
        </a:spcBef>
        <a:spcAft>
          <a:spcPct val="0"/>
        </a:spcAft>
        <a:buFont typeface="Arial" panose="020B0604020202090204" pitchFamily="34" charset="0"/>
        <a:buChar char="•"/>
        <a:defRPr kumimoji="1" sz="4265" kern="1200">
          <a:solidFill>
            <a:schemeClr val="tx1"/>
          </a:solidFill>
          <a:latin typeface="+mn-lt"/>
          <a:ea typeface="+mn-ea"/>
          <a:cs typeface="微软雅黑" panose="020B0503020204020204" pitchFamily="34" charset="-122"/>
          <a:sym typeface="Calibri" panose="020F0502020204030204" pitchFamily="34" charset="0"/>
        </a:defRPr>
      </a:lvl1pPr>
      <a:lvl2pPr marL="990600" indent="-381000" algn="l" rtl="0" eaLnBrk="1" fontAlgn="base" hangingPunct="1">
        <a:spcBef>
          <a:spcPct val="20000"/>
        </a:spcBef>
        <a:spcAft>
          <a:spcPct val="0"/>
        </a:spcAft>
        <a:buFont typeface="Arial" panose="020B0604020202090204" pitchFamily="34" charset="0"/>
        <a:buChar char="–"/>
        <a:defRPr kumimoji="1" sz="3735" kern="1200">
          <a:solidFill>
            <a:schemeClr val="tx1"/>
          </a:solidFill>
          <a:latin typeface="+mn-lt"/>
          <a:ea typeface="+mn-ea"/>
          <a:cs typeface="微软雅黑" panose="020B0503020204020204" pitchFamily="34" charset="-122"/>
          <a:sym typeface="Calibri" panose="020F0502020204030204" pitchFamily="34" charset="0"/>
        </a:defRPr>
      </a:lvl2pPr>
      <a:lvl3pPr marL="1523365" indent="-304800" algn="l" rtl="0" eaLnBrk="1" fontAlgn="base" hangingPunct="1">
        <a:spcBef>
          <a:spcPct val="20000"/>
        </a:spcBef>
        <a:spcAft>
          <a:spcPct val="0"/>
        </a:spcAft>
        <a:buFont typeface="Arial" panose="020B0604020202090204" pitchFamily="34" charset="0"/>
        <a:buChar char="•"/>
        <a:defRPr kumimoji="1" sz="3200" kern="1200">
          <a:solidFill>
            <a:schemeClr val="tx1"/>
          </a:solidFill>
          <a:latin typeface="+mn-lt"/>
          <a:ea typeface="+mn-ea"/>
          <a:cs typeface="微软雅黑" panose="020B0503020204020204" pitchFamily="34" charset="-122"/>
          <a:sym typeface="Calibri" panose="020F0502020204030204" pitchFamily="34" charset="0"/>
        </a:defRPr>
      </a:lvl3pPr>
      <a:lvl4pPr marL="21336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4pPr>
      <a:lvl5pPr marL="27432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5pPr>
      <a:lvl6pPr marL="33521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17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13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09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9"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accent2"/>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7" name="Straight Connector 16"/>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Lst>
  <p:txStyles>
    <p:titleStyle>
      <a:lvl1pPr algn="l" defTabSz="914400" rtl="0" eaLnBrk="1" latinLnBrk="0" hangingPunct="1">
        <a:lnSpc>
          <a:spcPct val="70000"/>
        </a:lnSpc>
        <a:spcBef>
          <a:spcPct val="0"/>
        </a:spcBef>
        <a:buNone/>
        <a:defRPr sz="4400" b="1" kern="1200">
          <a:solidFill>
            <a:schemeClr val="accent2"/>
          </a:solidFill>
          <a:latin typeface="微软雅黑" panose="020B0503020204020204" pitchFamily="34" charset="-122"/>
          <a:ea typeface="微软雅黑" panose="020B0503020204020204" pitchFamily="34" charset="-122"/>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微软雅黑" panose="020B0503020204020204" pitchFamily="34" charset="-122"/>
          <a:ea typeface="微软雅黑" panose="020B0503020204020204" pitchFamily="34" charset="-122"/>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微软雅黑" panose="020B0503020204020204" pitchFamily="34" charset="-122"/>
          <a:ea typeface="微软雅黑" panose="020B0503020204020204" pitchFamily="34" charset="-122"/>
          <a:cs typeface="+mn-cs"/>
        </a:defRPr>
      </a:lvl2pPr>
      <a:lvl3pPr marL="18097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3pPr>
      <a:lvl4pPr marL="361950"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4pPr>
      <a:lvl5pPr marL="54292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baseline="0">
          <a:solidFill>
            <a:schemeClr val="accent2"/>
          </a:solidFill>
          <a:latin typeface="微软雅黑" panose="020B0503020204020204" pitchFamily="34" charset="-122"/>
          <a:ea typeface="微软雅黑" panose="020B0503020204020204" pitchFamily="34" charset="-122"/>
          <a:cs typeface="+mn-cs"/>
        </a:defRPr>
      </a:lvl5pPr>
      <a:lvl6pPr marL="719455" indent="-18097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8972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0750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1257300" indent="-182880" algn="l" defTabSz="914400" rtl="0" eaLnBrk="1" latinLnBrk="0" hangingPunct="1">
        <a:lnSpc>
          <a:spcPct val="90000"/>
        </a:lnSpc>
        <a:spcBef>
          <a:spcPts val="500"/>
        </a:spcBef>
        <a:buFont typeface="Arial" panose="020B060402020209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1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2" imgW="0" imgH="0" progId="TCLayout.ActiveDocument.1">
                  <p:embed/>
                </p:oleObj>
              </mc:Choice>
              <mc:Fallback>
                <p:oleObj name="think-cell 幻灯片" r:id="rId12" imgW="0" imgH="0" progId="TCLayout.ActiveDocument.1">
                  <p:embed/>
                  <p:pic>
                    <p:nvPicPr>
                      <p:cNvPr id="0" name="对象 2" hidden="1"/>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Lst>
  <p:hf hdr="0" ftr="0" dt="0"/>
  <p:txStyles>
    <p:titleStyle>
      <a:lvl1pPr marL="1219200" indent="-1219200" algn="ctr" rtl="0" eaLnBrk="1" fontAlgn="base" hangingPunct="1">
        <a:spcBef>
          <a:spcPct val="0"/>
        </a:spcBef>
        <a:spcAft>
          <a:spcPct val="0"/>
        </a:spcAft>
        <a:defRPr kumimoji="1" sz="5865" kern="1200">
          <a:solidFill>
            <a:schemeClr val="tx1"/>
          </a:solidFill>
          <a:latin typeface="+mj-lt"/>
          <a:ea typeface="+mj-ea"/>
          <a:cs typeface="微软雅黑" panose="020B0503020204020204" pitchFamily="34" charset="-122"/>
          <a:sym typeface="Calibri" panose="020F0502020204030204" pitchFamily="34" charset="0"/>
        </a:defRPr>
      </a:lvl1pPr>
      <a:lvl2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2pPr>
      <a:lvl3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3pPr>
      <a:lvl4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4pPr>
      <a:lvl5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5pPr>
      <a:lvl6pPr marL="18288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437765"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0480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6576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457200" indent="-457200" algn="l" rtl="0" eaLnBrk="1" fontAlgn="base" hangingPunct="1">
        <a:spcBef>
          <a:spcPct val="20000"/>
        </a:spcBef>
        <a:spcAft>
          <a:spcPct val="0"/>
        </a:spcAft>
        <a:buFont typeface="Arial" panose="020B0604020202090204" pitchFamily="34" charset="0"/>
        <a:buChar char="•"/>
        <a:defRPr kumimoji="1" sz="4265" kern="1200">
          <a:solidFill>
            <a:schemeClr val="tx1"/>
          </a:solidFill>
          <a:latin typeface="+mn-lt"/>
          <a:ea typeface="+mn-ea"/>
          <a:cs typeface="微软雅黑" panose="020B0503020204020204" pitchFamily="34" charset="-122"/>
          <a:sym typeface="Calibri" panose="020F0502020204030204" pitchFamily="34" charset="0"/>
        </a:defRPr>
      </a:lvl1pPr>
      <a:lvl2pPr marL="990600" indent="-381000" algn="l" rtl="0" eaLnBrk="1" fontAlgn="base" hangingPunct="1">
        <a:spcBef>
          <a:spcPct val="20000"/>
        </a:spcBef>
        <a:spcAft>
          <a:spcPct val="0"/>
        </a:spcAft>
        <a:buFont typeface="Arial" panose="020B0604020202090204" pitchFamily="34" charset="0"/>
        <a:buChar char="–"/>
        <a:defRPr kumimoji="1" sz="3735" kern="1200">
          <a:solidFill>
            <a:schemeClr val="tx1"/>
          </a:solidFill>
          <a:latin typeface="+mn-lt"/>
          <a:ea typeface="+mn-ea"/>
          <a:cs typeface="微软雅黑" panose="020B0503020204020204" pitchFamily="34" charset="-122"/>
          <a:sym typeface="Calibri" panose="020F0502020204030204" pitchFamily="34" charset="0"/>
        </a:defRPr>
      </a:lvl2pPr>
      <a:lvl3pPr marL="1523365" indent="-304800" algn="l" rtl="0" eaLnBrk="1" fontAlgn="base" hangingPunct="1">
        <a:spcBef>
          <a:spcPct val="20000"/>
        </a:spcBef>
        <a:spcAft>
          <a:spcPct val="0"/>
        </a:spcAft>
        <a:buFont typeface="Arial" panose="020B0604020202090204" pitchFamily="34" charset="0"/>
        <a:buChar char="•"/>
        <a:defRPr kumimoji="1" sz="3200" kern="1200">
          <a:solidFill>
            <a:schemeClr val="tx1"/>
          </a:solidFill>
          <a:latin typeface="+mn-lt"/>
          <a:ea typeface="+mn-ea"/>
          <a:cs typeface="微软雅黑" panose="020B0503020204020204" pitchFamily="34" charset="-122"/>
          <a:sym typeface="Calibri" panose="020F0502020204030204" pitchFamily="34" charset="0"/>
        </a:defRPr>
      </a:lvl3pPr>
      <a:lvl4pPr marL="21336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4pPr>
      <a:lvl5pPr marL="27432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5pPr>
      <a:lvl6pPr marL="33521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17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13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09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1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3" imgW="0" imgH="0" progId="TCLayout.ActiveDocument.1">
                  <p:embed/>
                </p:oleObj>
              </mc:Choice>
              <mc:Fallback>
                <p:oleObj name="think-cell 幻灯片" r:id="rId13" imgW="0" imgH="0" progId="TCLayout.ActiveDocument.1">
                  <p:embed/>
                  <p:pic>
                    <p:nvPicPr>
                      <p:cNvPr id="0" name="对象 2" hidden="1"/>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3.xml"/><Relationship Id="rId1" Type="http://schemas.openxmlformats.org/officeDocument/2006/relationships/image" Target="../media/image26.png"/></Relationships>
</file>

<file path=ppt/slides/_rels/slide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7" Type="http://schemas.openxmlformats.org/officeDocument/2006/relationships/notesSlide" Target="../notesSlides/notesSlide2.xml"/><Relationship Id="rId36" Type="http://schemas.openxmlformats.org/officeDocument/2006/relationships/slideLayout" Target="../slideLayouts/slideLayout60.xml"/><Relationship Id="rId35" Type="http://schemas.openxmlformats.org/officeDocument/2006/relationships/tags" Target="../tags/tag66.xml"/><Relationship Id="rId34" Type="http://schemas.openxmlformats.org/officeDocument/2006/relationships/tags" Target="../tags/tag65.xml"/><Relationship Id="rId33" Type="http://schemas.openxmlformats.org/officeDocument/2006/relationships/tags" Target="../tags/tag64.xml"/><Relationship Id="rId32" Type="http://schemas.openxmlformats.org/officeDocument/2006/relationships/tags" Target="../tags/tag63.xml"/><Relationship Id="rId31" Type="http://schemas.openxmlformats.org/officeDocument/2006/relationships/tags" Target="../tags/tag62.xml"/><Relationship Id="rId30" Type="http://schemas.openxmlformats.org/officeDocument/2006/relationships/tags" Target="../tags/tag61.xml"/><Relationship Id="rId3" Type="http://schemas.openxmlformats.org/officeDocument/2006/relationships/tags" Target="../tags/tag34.xml"/><Relationship Id="rId29" Type="http://schemas.openxmlformats.org/officeDocument/2006/relationships/tags" Target="../tags/tag60.xml"/><Relationship Id="rId28" Type="http://schemas.openxmlformats.org/officeDocument/2006/relationships/tags" Target="../tags/tag59.xml"/><Relationship Id="rId27" Type="http://schemas.openxmlformats.org/officeDocument/2006/relationships/tags" Target="../tags/tag58.xml"/><Relationship Id="rId26" Type="http://schemas.openxmlformats.org/officeDocument/2006/relationships/tags" Target="../tags/tag57.xml"/><Relationship Id="rId25" Type="http://schemas.openxmlformats.org/officeDocument/2006/relationships/tags" Target="../tags/tag56.xml"/><Relationship Id="rId24" Type="http://schemas.openxmlformats.org/officeDocument/2006/relationships/tags" Target="../tags/tag55.xml"/><Relationship Id="rId23" Type="http://schemas.openxmlformats.org/officeDocument/2006/relationships/tags" Target="../tags/tag54.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7" Type="http://schemas.openxmlformats.org/officeDocument/2006/relationships/notesSlide" Target="../notesSlides/notesSlide3.xml"/><Relationship Id="rId16" Type="http://schemas.openxmlformats.org/officeDocument/2006/relationships/slideLayout" Target="../slideLayouts/slideLayout84.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84.xml"/><Relationship Id="rId2" Type="http://schemas.openxmlformats.org/officeDocument/2006/relationships/tags" Target="../tags/tag83.xml"/><Relationship Id="rId1" Type="http://schemas.openxmlformats.org/officeDocument/2006/relationships/tags" Target="../tags/tag82.xml"/></Relationships>
</file>

<file path=ppt/slides/_rels/slide5.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3" Type="http://schemas.openxmlformats.org/officeDocument/2006/relationships/notesSlide" Target="../notesSlides/notesSlide5.xml"/><Relationship Id="rId52" Type="http://schemas.openxmlformats.org/officeDocument/2006/relationships/slideLayout" Target="../slideLayouts/slideLayout84.xml"/><Relationship Id="rId51" Type="http://schemas.openxmlformats.org/officeDocument/2006/relationships/tags" Target="../tags/tag134.xml"/><Relationship Id="rId50" Type="http://schemas.openxmlformats.org/officeDocument/2006/relationships/tags" Target="../tags/tag133.xml"/><Relationship Id="rId5" Type="http://schemas.openxmlformats.org/officeDocument/2006/relationships/tags" Target="../tags/tag88.xml"/><Relationship Id="rId49" Type="http://schemas.openxmlformats.org/officeDocument/2006/relationships/tags" Target="../tags/tag132.xml"/><Relationship Id="rId48" Type="http://schemas.openxmlformats.org/officeDocument/2006/relationships/tags" Target="../tags/tag131.xml"/><Relationship Id="rId47" Type="http://schemas.openxmlformats.org/officeDocument/2006/relationships/tags" Target="../tags/tag130.xml"/><Relationship Id="rId46" Type="http://schemas.openxmlformats.org/officeDocument/2006/relationships/tags" Target="../tags/tag129.xml"/><Relationship Id="rId45" Type="http://schemas.openxmlformats.org/officeDocument/2006/relationships/tags" Target="../tags/tag128.xml"/><Relationship Id="rId44" Type="http://schemas.openxmlformats.org/officeDocument/2006/relationships/tags" Target="../tags/tag127.xml"/><Relationship Id="rId43" Type="http://schemas.openxmlformats.org/officeDocument/2006/relationships/tags" Target="../tags/tag126.xml"/><Relationship Id="rId42" Type="http://schemas.openxmlformats.org/officeDocument/2006/relationships/tags" Target="../tags/tag125.xml"/><Relationship Id="rId41" Type="http://schemas.openxmlformats.org/officeDocument/2006/relationships/tags" Target="../tags/tag124.xml"/><Relationship Id="rId40" Type="http://schemas.openxmlformats.org/officeDocument/2006/relationships/tags" Target="../tags/tag123.xml"/><Relationship Id="rId4" Type="http://schemas.openxmlformats.org/officeDocument/2006/relationships/tags" Target="../tags/tag87.xml"/><Relationship Id="rId39" Type="http://schemas.openxmlformats.org/officeDocument/2006/relationships/tags" Target="../tags/tag122.xml"/><Relationship Id="rId38" Type="http://schemas.openxmlformats.org/officeDocument/2006/relationships/tags" Target="../tags/tag121.xml"/><Relationship Id="rId37" Type="http://schemas.openxmlformats.org/officeDocument/2006/relationships/tags" Target="../tags/tag120.xml"/><Relationship Id="rId36" Type="http://schemas.openxmlformats.org/officeDocument/2006/relationships/tags" Target="../tags/tag119.xml"/><Relationship Id="rId35" Type="http://schemas.openxmlformats.org/officeDocument/2006/relationships/tags" Target="../tags/tag118.xml"/><Relationship Id="rId34" Type="http://schemas.openxmlformats.org/officeDocument/2006/relationships/tags" Target="../tags/tag117.xml"/><Relationship Id="rId33" Type="http://schemas.openxmlformats.org/officeDocument/2006/relationships/tags" Target="../tags/tag116.xml"/><Relationship Id="rId32" Type="http://schemas.openxmlformats.org/officeDocument/2006/relationships/tags" Target="../tags/tag115.xml"/><Relationship Id="rId31" Type="http://schemas.openxmlformats.org/officeDocument/2006/relationships/tags" Target="../tags/tag114.xml"/><Relationship Id="rId30" Type="http://schemas.openxmlformats.org/officeDocument/2006/relationships/tags" Target="../tags/tag113.xml"/><Relationship Id="rId3" Type="http://schemas.openxmlformats.org/officeDocument/2006/relationships/tags" Target="../tags/tag86.xml"/><Relationship Id="rId29" Type="http://schemas.openxmlformats.org/officeDocument/2006/relationships/tags" Target="../tags/tag112.xml"/><Relationship Id="rId28" Type="http://schemas.openxmlformats.org/officeDocument/2006/relationships/tags" Target="../tags/tag111.xml"/><Relationship Id="rId27" Type="http://schemas.openxmlformats.org/officeDocument/2006/relationships/tags" Target="../tags/tag110.xml"/><Relationship Id="rId26" Type="http://schemas.openxmlformats.org/officeDocument/2006/relationships/tags" Target="../tags/tag109.xml"/><Relationship Id="rId25" Type="http://schemas.openxmlformats.org/officeDocument/2006/relationships/tags" Target="../tags/tag108.xml"/><Relationship Id="rId24" Type="http://schemas.openxmlformats.org/officeDocument/2006/relationships/tags" Target="../tags/tag107.xml"/><Relationship Id="rId23" Type="http://schemas.openxmlformats.org/officeDocument/2006/relationships/tags" Target="../tags/tag106.xml"/><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84.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4.xml"/><Relationship Id="rId1"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4.xml"/><Relationship Id="rId1"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55.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5.xml"/></Relationships>
</file>

<file path=ppt/slides/_rels/slide20.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4" Type="http://schemas.openxmlformats.org/officeDocument/2006/relationships/notesSlide" Target="../notesSlides/notesSlide20.xml"/><Relationship Id="rId13" Type="http://schemas.openxmlformats.org/officeDocument/2006/relationships/slideLayout" Target="../slideLayouts/slideLayout55.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p:cNvSpPr/>
          <p:nvPr/>
        </p:nvSpPr>
        <p:spPr>
          <a:xfrm>
            <a:off x="950172" y="2125694"/>
            <a:ext cx="6334480" cy="2606611"/>
          </a:xfrm>
          <a:prstGeom prst="rect">
            <a:avLst/>
          </a:prstGeom>
        </p:spPr>
        <p:txBody>
          <a:bodyPr wrap="square">
            <a:spAutoFit/>
          </a:bodyPr>
          <a:lstStyle/>
          <a:p>
            <a:pPr marL="0" marR="0" lvl="0" indent="0" algn="l" defTabSz="914400" rtl="0" eaLnBrk="1" fontAlgn="auto" latinLnBrk="0" hangingPunct="1">
              <a:lnSpc>
                <a:spcPct val="130000"/>
              </a:lnSpc>
              <a:spcBef>
                <a:spcPct val="0"/>
              </a:spcBef>
              <a:spcAft>
                <a:spcPts val="1200"/>
              </a:spcAft>
              <a:buClrTx/>
              <a:buSzTx/>
              <a:buFontTx/>
              <a:buNone/>
              <a:defRPr/>
            </a:pPr>
            <a:r>
              <a:rPr kumimoji="0" lang="zh-CN" altLang="en-US" sz="3800" b="1" i="0" u="none" strike="noStrike" kern="1200" cap="none" spc="0" normalizeH="0" baseline="0" noProof="0" dirty="0">
                <a:ln>
                  <a:noFill/>
                </a:ln>
                <a:solidFill>
                  <a:srgbClr val="0070C0"/>
                </a:solidFill>
                <a:effectLst/>
                <a:uLnTx/>
                <a:uFillTx/>
                <a:latin typeface="微软雅黑"/>
                <a:ea typeface="微软雅黑"/>
                <a:cs typeface="+mn-cs"/>
                <a:sym typeface="+mn-lt"/>
              </a:rPr>
              <a:t>深圳市安居集团</a:t>
            </a:r>
            <a:endParaRPr kumimoji="0" lang="zh-CN" altLang="en-US" sz="3800" b="1" i="0" u="none" strike="noStrike" kern="1200" cap="none" spc="0" normalizeH="0" baseline="0" noProof="0" dirty="0">
              <a:ln>
                <a:noFill/>
              </a:ln>
              <a:solidFill>
                <a:srgbClr val="0070C0"/>
              </a:solidFill>
              <a:effectLst/>
              <a:uLnTx/>
              <a:uFillTx/>
              <a:latin typeface="微软雅黑"/>
              <a:ea typeface="微软雅黑"/>
              <a:cs typeface="+mn-cs"/>
              <a:sym typeface="+mn-lt"/>
            </a:endParaRPr>
          </a:p>
          <a:p>
            <a:pPr marL="0" marR="0" lvl="0" indent="0" algn="l" defTabSz="914400" rtl="0" eaLnBrk="1" fontAlgn="auto" latinLnBrk="0" hangingPunct="1">
              <a:lnSpc>
                <a:spcPct val="130000"/>
              </a:lnSpc>
              <a:spcBef>
                <a:spcPct val="0"/>
              </a:spcBef>
              <a:spcAft>
                <a:spcPts val="1200"/>
              </a:spcAft>
              <a:buClrTx/>
              <a:buSzTx/>
              <a:buFontTx/>
              <a:buNone/>
              <a:defRPr/>
            </a:pPr>
            <a:r>
              <a:rPr kumimoji="0" lang="zh-CN" altLang="en-US" sz="3800" b="1" i="0" u="none" strike="noStrike" kern="1200" cap="none" spc="0" normalizeH="0" baseline="0" noProof="0">
                <a:ln>
                  <a:noFill/>
                </a:ln>
                <a:solidFill>
                  <a:srgbClr val="0070C0"/>
                </a:solidFill>
                <a:effectLst/>
                <a:uLnTx/>
                <a:uFillTx/>
                <a:latin typeface="微软雅黑"/>
                <a:ea typeface="微软雅黑"/>
                <a:cs typeface="+mn-cs"/>
                <a:sym typeface="+mn-lt"/>
              </a:rPr>
              <a:t>智能客服项目</a:t>
            </a:r>
            <a:endParaRPr kumimoji="0" lang="en-GB" altLang="zh-CN" sz="3800" b="1" i="0" u="none" strike="noStrike" kern="1200" cap="none" spc="0" normalizeH="0" baseline="0" noProof="0" dirty="0">
              <a:ln>
                <a:noFill/>
              </a:ln>
              <a:solidFill>
                <a:srgbClr val="0070C0"/>
              </a:solidFill>
              <a:effectLst/>
              <a:uLnTx/>
              <a:uFillTx/>
              <a:latin typeface="微软雅黑"/>
              <a:ea typeface="微软雅黑"/>
              <a:cs typeface="+mn-cs"/>
              <a:sym typeface="+mn-lt"/>
            </a:endParaRPr>
          </a:p>
          <a:p>
            <a:pPr marL="0" marR="0" lvl="0" indent="0" algn="l" defTabSz="914400" rtl="0" eaLnBrk="1" fontAlgn="auto" latinLnBrk="0" hangingPunct="1">
              <a:lnSpc>
                <a:spcPct val="130000"/>
              </a:lnSpc>
              <a:spcBef>
                <a:spcPct val="0"/>
              </a:spcBef>
              <a:spcAft>
                <a:spcPts val="1200"/>
              </a:spcAft>
              <a:buClrTx/>
              <a:buSzTx/>
              <a:buFontTx/>
              <a:buNone/>
              <a:defRPr/>
            </a:pPr>
            <a:r>
              <a:rPr kumimoji="0" lang="zh-CN" altLang="en-US" sz="3800" b="1" i="0" u="none" strike="noStrike" kern="1200" cap="none" spc="0" normalizeH="0" baseline="0" noProof="0">
                <a:ln>
                  <a:noFill/>
                </a:ln>
                <a:solidFill>
                  <a:srgbClr val="0070C0"/>
                </a:solidFill>
                <a:effectLst/>
                <a:uLnTx/>
                <a:uFillTx/>
                <a:latin typeface="微软雅黑"/>
                <a:ea typeface="微软雅黑"/>
                <a:cs typeface="+mn-cs"/>
                <a:sym typeface="+mn-lt"/>
              </a:rPr>
              <a:t>业务专项沟通会</a:t>
            </a:r>
            <a:endParaRPr kumimoji="0" lang="en-US" altLang="zh-CN" sz="3800" b="1" i="0" u="none" strike="noStrike" kern="1200" cap="none" spc="0" normalizeH="0" baseline="0" noProof="0" dirty="0">
              <a:ln>
                <a:noFill/>
              </a:ln>
              <a:solidFill>
                <a:srgbClr val="0070C0"/>
              </a:solidFill>
              <a:effectLst/>
              <a:uLnTx/>
              <a:uFillTx/>
              <a:latin typeface="微软雅黑"/>
              <a:ea typeface="微软雅黑"/>
              <a:cs typeface="+mn-cs"/>
              <a:sym typeface="+mn-lt"/>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0172" y="871409"/>
            <a:ext cx="4206831" cy="49827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950172" y="5297690"/>
            <a:ext cx="6334480" cy="885190"/>
          </a:xfrm>
          <a:prstGeom prst="rect">
            <a:avLst/>
          </a:prstGeom>
        </p:spPr>
        <p:txBody>
          <a:bodyPr wrap="square">
            <a:spAutoFit/>
          </a:bodyPr>
          <a:lstStyle/>
          <a:p>
            <a:pPr marL="0" marR="0" lvl="0" indent="0" algn="l" defTabSz="914400" rtl="0" eaLnBrk="1" fontAlgn="auto" latinLnBrk="0" hangingPunct="1">
              <a:lnSpc>
                <a:spcPct val="130000"/>
              </a:lnSpc>
              <a:spcBef>
                <a:spcPct val="0"/>
              </a:spcBef>
              <a:spcAft>
                <a:spcPts val="1200"/>
              </a:spcAft>
              <a:buClrTx/>
              <a:buSzTx/>
              <a:buFontTx/>
              <a:buNone/>
              <a:defRPr/>
            </a:pPr>
            <a:r>
              <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mn-lt"/>
              </a:rPr>
              <a:t>项目群管理办公室</a:t>
            </a:r>
            <a:endParaRPr kumimoji="0" lang="en-GB" altLang="zh-CN"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mn-lt"/>
            </a:endParaRPr>
          </a:p>
          <a:p>
            <a:pPr marL="0" marR="0" lvl="0" indent="0" algn="l" defTabSz="914400" rtl="0" eaLnBrk="1" fontAlgn="auto" latinLnBrk="0" hangingPunct="1">
              <a:lnSpc>
                <a:spcPct val="130000"/>
              </a:lnSpc>
              <a:spcBef>
                <a:spcPct val="0"/>
              </a:spcBef>
              <a:spcAft>
                <a:spcPts val="1200"/>
              </a:spcAft>
              <a:buClrTx/>
              <a:buSzTx/>
              <a:buFontTx/>
              <a:buNone/>
              <a:defRPr/>
            </a:pPr>
            <a:r>
              <a:rPr kumimoji="0" lang="en-US" altLang="zh-CN" sz="16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lt"/>
              </a:rPr>
              <a:t>2026</a:t>
            </a:r>
            <a:r>
              <a:rPr kumimoji="0" lang="zh-CN" altLang="en-US" sz="16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lt"/>
              </a:rPr>
              <a:t>年</a:t>
            </a:r>
            <a:r>
              <a:rPr lang="en-US" altLang="zh-CN" sz="1600" b="1" dirty="0">
                <a:solidFill>
                  <a:srgbClr val="0070C0"/>
                </a:solidFill>
                <a:latin typeface="微软雅黑" panose="020B0503020204020204" pitchFamily="34" charset="-122"/>
                <a:ea typeface="微软雅黑" panose="020B0503020204020204" pitchFamily="34" charset="-122"/>
                <a:sym typeface="+mn-lt"/>
              </a:rPr>
              <a:t>7</a:t>
            </a:r>
            <a:r>
              <a:rPr kumimoji="0" lang="zh-CN" altLang="en-US" sz="16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sym typeface="+mn-lt"/>
              </a:rPr>
              <a:t>月</a:t>
            </a:r>
            <a:endParaRPr kumimoji="0" lang="zh-CN" altLang="en-US" sz="16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4" y="347980"/>
            <a:ext cx="7306311" cy="571500"/>
          </a:xfrm>
          <a:prstGeom prst="rect">
            <a:avLst/>
          </a:prstGeom>
          <a:noFill/>
        </p:spPr>
        <p:txBody>
          <a:bodyPr wrap="square" rtlCol="0">
            <a:noAutofit/>
          </a:bodyPr>
          <a:lstStyle>
            <a:defPPr>
              <a:defRPr lang="en-US"/>
            </a:defPPr>
            <a:lvl1pPr>
              <a:defRPr kumimoji="0" sz="2800" b="1" i="0" u="none" strike="noStrike" cap="none" spc="0" normalizeH="0" baseline="0">
                <a:ln>
                  <a:noFill/>
                </a:ln>
                <a:effectLst/>
                <a:uLnTx/>
                <a:uFillTx/>
                <a:latin typeface="微软雅黑" panose="020B0503020204020204" pitchFamily="34" charset="-122"/>
                <a:ea typeface="+mj-ea"/>
                <a:cs typeface="+mj-cs"/>
              </a:defRPr>
            </a:lvl1pPr>
          </a:lstStyle>
          <a:p>
            <a:r>
              <a:rPr lang="zh-CN" altLang="en-US" dirty="0">
                <a:sym typeface="+mn-ea"/>
              </a:rPr>
              <a:t>会员积分</a:t>
            </a:r>
            <a:r>
              <a:rPr lang="zh-CN" altLang="en-US">
                <a:sym typeface="+mn-ea"/>
              </a:rPr>
              <a:t>模块整体设计要素</a:t>
            </a:r>
            <a:r>
              <a:rPr lang="en-US" altLang="zh-CN">
                <a:sym typeface="+mn-ea"/>
              </a:rPr>
              <a:t>_</a:t>
            </a:r>
            <a:r>
              <a:rPr lang="zh-CN" altLang="en-US">
                <a:sym typeface="+mn-ea"/>
              </a:rPr>
              <a:t>华润规划内容</a:t>
            </a:r>
            <a:endParaRPr lang="en-GB" dirty="0"/>
          </a:p>
          <a:p>
            <a:endParaRPr lang="zh-CN" altLang="en-US" dirty="0"/>
          </a:p>
          <a:p>
            <a:r>
              <a:rPr lang="en-US" altLang="zh-CN">
                <a:sym typeface="+mn-ea"/>
              </a:rPr>
              <a:t> </a:t>
            </a:r>
            <a:endParaRPr lang="zh-CN" altLang="en-US" dirty="0"/>
          </a:p>
        </p:txBody>
      </p:sp>
      <p:sp>
        <p:nvSpPr>
          <p:cNvPr id="165" name="圆角矩形 164"/>
          <p:cNvSpPr/>
          <p:nvPr>
            <p:custDataLst>
              <p:tags r:id="rId1"/>
            </p:custDataLst>
          </p:nvPr>
        </p:nvSpPr>
        <p:spPr>
          <a:xfrm>
            <a:off x="242570" y="1048385"/>
            <a:ext cx="5934075" cy="1849755"/>
          </a:xfrm>
          <a:prstGeom prst="roundRect">
            <a:avLst>
              <a:gd name="adj" fmla="val 118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chemeClr val="tx1"/>
              </a:solidFill>
              <a:latin typeface="微软雅黑" charset="0"/>
              <a:ea typeface="微软雅黑" charset="0"/>
            </a:endParaRPr>
          </a:p>
        </p:txBody>
      </p:sp>
      <p:sp>
        <p:nvSpPr>
          <p:cNvPr id="166" name="文本框 165"/>
          <p:cNvSpPr txBox="1"/>
          <p:nvPr>
            <p:custDataLst>
              <p:tags r:id="rId2"/>
            </p:custDataLst>
          </p:nvPr>
        </p:nvSpPr>
        <p:spPr>
          <a:xfrm>
            <a:off x="311784" y="1002665"/>
            <a:ext cx="5637531" cy="460375"/>
          </a:xfrm>
          <a:prstGeom prst="rect">
            <a:avLst/>
          </a:prstGeom>
          <a:noFill/>
        </p:spPr>
        <p:txBody>
          <a:bodyPr wrap="square" rtlCol="0" anchor="t">
            <a:spAutoFit/>
          </a:bodyPr>
          <a:lstStyle/>
          <a:p>
            <a:pPr>
              <a:lnSpc>
                <a:spcPct val="150000"/>
              </a:lnSpc>
            </a:pPr>
            <a:r>
              <a:rPr lang="zh-CN" altLang="en-US" sz="1600" b="1" dirty="0">
                <a:solidFill>
                  <a:srgbClr val="4472C4"/>
                </a:solidFill>
                <a:latin typeface="微软雅黑" charset="0"/>
                <a:ea typeface="微软雅黑" charset="0"/>
                <a:cs typeface="微软雅黑" panose="020B0503020204020204" pitchFamily="34" charset="-122"/>
              </a:rPr>
              <a:t>一、会员通</a:t>
            </a:r>
            <a:endParaRPr lang="zh-CN" altLang="en-US" sz="1400" dirty="0">
              <a:latin typeface="微软雅黑" charset="0"/>
              <a:ea typeface="微软雅黑" charset="0"/>
              <a:cs typeface="微软雅黑" panose="020B0503020204020204" pitchFamily="34" charset="-122"/>
            </a:endParaRPr>
          </a:p>
        </p:txBody>
      </p:sp>
      <p:sp>
        <p:nvSpPr>
          <p:cNvPr id="167" name="圆角矩形 166"/>
          <p:cNvSpPr/>
          <p:nvPr>
            <p:custDataLst>
              <p:tags r:id="rId3"/>
            </p:custDataLst>
          </p:nvPr>
        </p:nvSpPr>
        <p:spPr>
          <a:xfrm>
            <a:off x="6234430" y="1048385"/>
            <a:ext cx="5878195" cy="1849755"/>
          </a:xfrm>
          <a:prstGeom prst="roundRect">
            <a:avLst>
              <a:gd name="adj" fmla="val 118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chemeClr val="tx1"/>
              </a:solidFill>
              <a:latin typeface="微软雅黑" charset="0"/>
              <a:ea typeface="微软雅黑" charset="0"/>
            </a:endParaRPr>
          </a:p>
        </p:txBody>
      </p:sp>
      <p:sp>
        <p:nvSpPr>
          <p:cNvPr id="169" name="圆角矩形 168"/>
          <p:cNvSpPr/>
          <p:nvPr>
            <p:custDataLst>
              <p:tags r:id="rId4"/>
            </p:custDataLst>
          </p:nvPr>
        </p:nvSpPr>
        <p:spPr>
          <a:xfrm>
            <a:off x="242570" y="2989580"/>
            <a:ext cx="5934075" cy="3668395"/>
          </a:xfrm>
          <a:prstGeom prst="roundRect">
            <a:avLst>
              <a:gd name="adj" fmla="val 118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rgbClr val="4472C4"/>
              </a:solidFill>
              <a:latin typeface="微软雅黑" charset="0"/>
              <a:ea typeface="微软雅黑" charset="0"/>
            </a:endParaRPr>
          </a:p>
        </p:txBody>
      </p:sp>
      <p:sp>
        <p:nvSpPr>
          <p:cNvPr id="170" name="文本框 169"/>
          <p:cNvSpPr txBox="1"/>
          <p:nvPr>
            <p:custDataLst>
              <p:tags r:id="rId5"/>
            </p:custDataLst>
          </p:nvPr>
        </p:nvSpPr>
        <p:spPr>
          <a:xfrm>
            <a:off x="311784" y="2990850"/>
            <a:ext cx="5918836" cy="460375"/>
          </a:xfrm>
          <a:prstGeom prst="rect">
            <a:avLst/>
          </a:prstGeom>
          <a:noFill/>
        </p:spPr>
        <p:txBody>
          <a:bodyPr wrap="square" rtlCol="0" anchor="t">
            <a:spAutoFit/>
          </a:bodyPr>
          <a:lstStyle/>
          <a:p>
            <a:pPr>
              <a:lnSpc>
                <a:spcPct val="150000"/>
              </a:lnSpc>
            </a:pPr>
            <a:r>
              <a:rPr lang="zh-CN" altLang="en-US" sz="1600" b="1" dirty="0">
                <a:solidFill>
                  <a:srgbClr val="4472C4"/>
                </a:solidFill>
                <a:latin typeface="微软雅黑" charset="0"/>
                <a:ea typeface="微软雅黑" charset="0"/>
                <a:cs typeface="微软雅黑" panose="020B0503020204020204" pitchFamily="34" charset="-122"/>
              </a:rPr>
              <a:t>二、积分通</a:t>
            </a:r>
            <a:endParaRPr lang="zh-CN" altLang="en-US" sz="1600" b="1" dirty="0">
              <a:solidFill>
                <a:srgbClr val="4472C4"/>
              </a:solidFill>
              <a:latin typeface="微软雅黑" charset="0"/>
              <a:ea typeface="微软雅黑" charset="0"/>
              <a:cs typeface="微软雅黑" panose="020B0503020204020204" pitchFamily="34" charset="-122"/>
            </a:endParaRPr>
          </a:p>
        </p:txBody>
      </p:sp>
      <p:sp>
        <p:nvSpPr>
          <p:cNvPr id="171" name="圆角矩形 170"/>
          <p:cNvSpPr/>
          <p:nvPr>
            <p:custDataLst>
              <p:tags r:id="rId6"/>
            </p:custDataLst>
          </p:nvPr>
        </p:nvSpPr>
        <p:spPr>
          <a:xfrm>
            <a:off x="6234430" y="2989580"/>
            <a:ext cx="5877560" cy="3665855"/>
          </a:xfrm>
          <a:prstGeom prst="roundRect">
            <a:avLst>
              <a:gd name="adj" fmla="val 118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rgbClr val="4472C4"/>
              </a:solidFill>
              <a:latin typeface="微软雅黑" charset="0"/>
              <a:ea typeface="微软雅黑" charset="0"/>
            </a:endParaRPr>
          </a:p>
        </p:txBody>
      </p:sp>
      <p:sp>
        <p:nvSpPr>
          <p:cNvPr id="172" name="文本框 171"/>
          <p:cNvSpPr txBox="1"/>
          <p:nvPr>
            <p:custDataLst>
              <p:tags r:id="rId7"/>
            </p:custDataLst>
          </p:nvPr>
        </p:nvSpPr>
        <p:spPr>
          <a:xfrm>
            <a:off x="6333489" y="2990850"/>
            <a:ext cx="5688465" cy="460375"/>
          </a:xfrm>
          <a:prstGeom prst="rect">
            <a:avLst/>
          </a:prstGeom>
          <a:noFill/>
        </p:spPr>
        <p:txBody>
          <a:bodyPr wrap="square" rtlCol="0" anchor="t">
            <a:spAutoFit/>
          </a:bodyPr>
          <a:lstStyle/>
          <a:p>
            <a:pPr>
              <a:lnSpc>
                <a:spcPct val="150000"/>
              </a:lnSpc>
            </a:pPr>
            <a:r>
              <a:rPr lang="zh-CN" altLang="en-US" sz="1600" b="1" dirty="0">
                <a:solidFill>
                  <a:srgbClr val="4472C4"/>
                </a:solidFill>
                <a:latin typeface="微软雅黑" charset="0"/>
                <a:ea typeface="微软雅黑" charset="0"/>
                <a:cs typeface="微软雅黑" panose="020B0503020204020204" pitchFamily="34" charset="-122"/>
              </a:rPr>
              <a:t>三、权益通</a:t>
            </a:r>
            <a:endParaRPr lang="zh-CN" altLang="en-US" sz="1400" dirty="0">
              <a:latin typeface="微软雅黑" charset="0"/>
              <a:ea typeface="微软雅黑" charset="0"/>
              <a:cs typeface="微软雅黑" panose="020B0503020204020204" pitchFamily="34" charset="-122"/>
            </a:endParaRPr>
          </a:p>
        </p:txBody>
      </p:sp>
      <p:grpSp>
        <p:nvGrpSpPr>
          <p:cNvPr id="173" name="组合 172"/>
          <p:cNvGrpSpPr/>
          <p:nvPr/>
        </p:nvGrpSpPr>
        <p:grpSpPr>
          <a:xfrm>
            <a:off x="343535" y="1294765"/>
            <a:ext cx="5716905" cy="1568450"/>
            <a:chOff x="541" y="2119"/>
            <a:chExt cx="9003" cy="2470"/>
          </a:xfrm>
        </p:grpSpPr>
        <p:sp>
          <p:nvSpPr>
            <p:cNvPr id="174" name="文本框 173"/>
            <p:cNvSpPr txBox="1"/>
            <p:nvPr/>
          </p:nvSpPr>
          <p:spPr>
            <a:xfrm>
              <a:off x="541" y="2119"/>
              <a:ext cx="4322" cy="2034"/>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1</a:t>
              </a:r>
              <a:r>
                <a:rPr lang="zh-CN" altLang="en-US" sz="1400" b="1" dirty="0">
                  <a:latin typeface="微软雅黑" charset="0"/>
                  <a:ea typeface="微软雅黑" charset="0"/>
                  <a:cs typeface="微软雅黑" charset="0"/>
                  <a:sym typeface="+mn-ea"/>
                </a:rPr>
                <a:t>【统一会员标识】</a:t>
              </a:r>
              <a:endParaRPr lang="en-US" altLang="zh-CN" sz="1400" b="1" dirty="0">
                <a:latin typeface="微软雅黑" charset="0"/>
                <a:ea typeface="微软雅黑" charset="0"/>
                <a:cs typeface="微软雅黑" charset="0"/>
                <a:sym typeface="+mn-ea"/>
              </a:endParaRPr>
            </a:p>
            <a:p>
              <a:pPr algn="l">
                <a:lnSpc>
                  <a:spcPct val="150000"/>
                </a:lnSpc>
              </a:pPr>
              <a:r>
                <a:rPr lang="zh-CN" altLang="en-US"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1</a:t>
              </a:r>
              <a:r>
                <a:rPr lang="zh-CN" altLang="en-US" sz="1200" dirty="0">
                  <a:latin typeface="微软雅黑" charset="0"/>
                  <a:ea typeface="微软雅黑" charset="0"/>
                  <a:cs typeface="微软雅黑" charset="0"/>
                  <a:sym typeface="+mn-ea"/>
                </a:rPr>
                <a:t>）以大会员提供唯一的会员标识</a:t>
              </a:r>
              <a:endParaRPr lang="zh-CN" altLang="en-US" sz="1200" dirty="0">
                <a:latin typeface="微软雅黑" charset="0"/>
                <a:ea typeface="微软雅黑" charset="0"/>
                <a:cs typeface="微软雅黑" charset="0"/>
                <a:sym typeface="+mn-ea"/>
              </a:endParaRPr>
            </a:p>
            <a:p>
              <a:pPr algn="l">
                <a:lnSpc>
                  <a:spcPct val="150000"/>
                </a:lnSpc>
              </a:pPr>
              <a:r>
                <a:rPr lang="zh-CN" altLang="en-US"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2</a:t>
              </a:r>
              <a:r>
                <a:rPr lang="zh-CN" altLang="en-US" sz="1200" dirty="0">
                  <a:latin typeface="微软雅黑" charset="0"/>
                  <a:ea typeface="微软雅黑" charset="0"/>
                  <a:cs typeface="微软雅黑" charset="0"/>
                  <a:sym typeface="+mn-ea"/>
                </a:rPr>
                <a:t>）以大会员</a:t>
              </a:r>
              <a:r>
                <a:rPr lang="zh-CN" altLang="en-US" sz="1400" b="1" dirty="0">
                  <a:solidFill>
                    <a:srgbClr val="4472C4"/>
                  </a:solidFill>
                  <a:latin typeface="微软雅黑" charset="0"/>
                  <a:ea typeface="微软雅黑" charset="0"/>
                  <a:cs typeface="微软雅黑" charset="0"/>
                  <a:sym typeface="+mn-ea"/>
                </a:rPr>
                <a:t>统一管理会员权限</a:t>
              </a:r>
              <a:r>
                <a:rPr lang="zh-CN" altLang="en-US" sz="1200" dirty="0">
                  <a:latin typeface="微软雅黑" charset="0"/>
                  <a:ea typeface="微软雅黑" charset="0"/>
                  <a:cs typeface="微软雅黑" charset="0"/>
                  <a:sym typeface="+mn-ea"/>
                </a:rPr>
                <a:t>，手机号修改、会员合并、黑白名单等</a:t>
              </a:r>
              <a:endParaRPr lang="zh-CN" altLang="en-US" sz="1200" dirty="0">
                <a:latin typeface="微软雅黑" charset="0"/>
                <a:ea typeface="微软雅黑" charset="0"/>
                <a:cs typeface="微软雅黑" charset="0"/>
                <a:sym typeface="+mn-ea"/>
              </a:endParaRPr>
            </a:p>
          </p:txBody>
        </p:sp>
        <p:sp>
          <p:nvSpPr>
            <p:cNvPr id="175" name="文本框 174"/>
            <p:cNvSpPr txBox="1"/>
            <p:nvPr>
              <p:custDataLst>
                <p:tags r:id="rId8"/>
              </p:custDataLst>
            </p:nvPr>
          </p:nvSpPr>
          <p:spPr>
            <a:xfrm>
              <a:off x="4864" y="2119"/>
              <a:ext cx="4680" cy="2470"/>
            </a:xfrm>
            <a:prstGeom prst="rect">
              <a:avLst/>
            </a:prstGeom>
            <a:noFill/>
          </p:spPr>
          <p:txBody>
            <a:bodyPr wrap="square" rtlCol="0" anchor="t">
              <a:spAutoFit/>
            </a:bodyPr>
            <a:lstStyle/>
            <a:p>
              <a:pPr>
                <a:lnSpc>
                  <a:spcPct val="150000"/>
                </a:lnSpc>
              </a:pPr>
              <a:r>
                <a:rPr lang="en-US" altLang="zh-CN" sz="1400" b="1" dirty="0">
                  <a:latin typeface="微软雅黑" charset="0"/>
                  <a:ea typeface="微软雅黑" charset="0"/>
                  <a:cs typeface="微软雅黑" charset="0"/>
                  <a:sym typeface="+mn-ea"/>
                </a:rPr>
                <a:t>2</a:t>
              </a:r>
              <a:r>
                <a:rPr lang="zh-CN" altLang="en-US" sz="1400" b="1" dirty="0">
                  <a:latin typeface="微软雅黑" charset="0"/>
                  <a:ea typeface="微软雅黑" charset="0"/>
                  <a:cs typeface="微软雅黑" charset="0"/>
                  <a:sym typeface="+mn-ea"/>
                </a:rPr>
                <a:t>【会员入会门槛】</a:t>
              </a:r>
              <a:endParaRPr lang="zh-CN" altLang="en-US" sz="1400" b="1" dirty="0">
                <a:latin typeface="微软雅黑" charset="0"/>
                <a:ea typeface="微软雅黑" charset="0"/>
                <a:cs typeface="微软雅黑" charset="0"/>
              </a:endParaRPr>
            </a:p>
            <a:p>
              <a:pPr>
                <a:lnSpc>
                  <a:spcPct val="150000"/>
                </a:lnSpc>
              </a:pPr>
              <a:r>
                <a:rPr lang="zh-CN" altLang="en-US"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1</a:t>
              </a:r>
              <a:r>
                <a:rPr lang="zh-CN" altLang="en-US" sz="1200" dirty="0">
                  <a:latin typeface="微软雅黑" charset="0"/>
                  <a:ea typeface="微软雅黑" charset="0"/>
                  <a:cs typeface="微软雅黑" charset="0"/>
                  <a:sym typeface="+mn-ea"/>
                </a:rPr>
                <a:t>）</a:t>
              </a:r>
              <a:r>
                <a:rPr lang="zh-CN" altLang="en-US" sz="1400" b="1" dirty="0">
                  <a:solidFill>
                    <a:srgbClr val="4472C4"/>
                  </a:solidFill>
                  <a:latin typeface="微软雅黑" charset="0"/>
                  <a:ea typeface="微软雅黑" charset="0"/>
                  <a:cs typeface="微软雅黑" charset="0"/>
                  <a:sym typeface="+mn-ea"/>
                </a:rPr>
                <a:t>手机号为唯一会员标识</a:t>
              </a:r>
              <a:r>
                <a:rPr lang="zh-CN" altLang="en-US" sz="1200" dirty="0">
                  <a:latin typeface="微软雅黑" charset="0"/>
                  <a:ea typeface="微软雅黑" charset="0"/>
                  <a:cs typeface="微软雅黑" charset="0"/>
                  <a:sym typeface="+mn-ea"/>
                </a:rPr>
                <a:t>。通过身份认证分配身份标记。</a:t>
              </a:r>
              <a:endParaRPr lang="en-US" altLang="zh-CN" sz="1200" b="1" dirty="0">
                <a:latin typeface="微软雅黑" charset="0"/>
                <a:ea typeface="微软雅黑" charset="0"/>
                <a:cs typeface="微软雅黑" charset="0"/>
                <a:sym typeface="+mn-ea"/>
              </a:endParaRPr>
            </a:p>
            <a:p>
              <a:pPr>
                <a:lnSpc>
                  <a:spcPct val="150000"/>
                </a:lnSpc>
              </a:pPr>
              <a:r>
                <a:rPr lang="zh-CN" altLang="en-US"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2</a:t>
              </a:r>
              <a:r>
                <a:rPr lang="zh-CN" altLang="en-US" sz="1200" dirty="0">
                  <a:latin typeface="微软雅黑" charset="0"/>
                  <a:ea typeface="微软雅黑" charset="0"/>
                  <a:cs typeface="微软雅黑" charset="0"/>
                  <a:sym typeface="+mn-ea"/>
                </a:rPr>
                <a:t>）</a:t>
              </a:r>
              <a:r>
                <a:rPr lang="zh-CN" sz="1200" dirty="0">
                  <a:latin typeface="微软雅黑" charset="0"/>
                  <a:ea typeface="微软雅黑" charset="0"/>
                  <a:cs typeface="微软雅黑" charset="0"/>
                  <a:sym typeface="+mn-ea"/>
                </a:rPr>
                <a:t>会员身份认证包括：实名认证、居住认证</a:t>
              </a:r>
              <a:endParaRPr lang="zh-CN" altLang="en-US" sz="1200" dirty="0">
                <a:latin typeface="微软雅黑" charset="0"/>
                <a:ea typeface="微软雅黑" charset="0"/>
                <a:cs typeface="微软雅黑" charset="0"/>
                <a:sym typeface="+mn-ea"/>
              </a:endParaRPr>
            </a:p>
          </p:txBody>
        </p:sp>
      </p:grpSp>
      <p:sp>
        <p:nvSpPr>
          <p:cNvPr id="176" name="文本框 175"/>
          <p:cNvSpPr txBox="1"/>
          <p:nvPr>
            <p:custDataLst>
              <p:tags r:id="rId9"/>
            </p:custDataLst>
          </p:nvPr>
        </p:nvSpPr>
        <p:spPr>
          <a:xfrm>
            <a:off x="310515" y="3351530"/>
            <a:ext cx="2529840" cy="968375"/>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3</a:t>
            </a:r>
            <a:r>
              <a:rPr lang="zh-CN" altLang="en-US" sz="1400" b="1" dirty="0">
                <a:latin typeface="微软雅黑" charset="0"/>
                <a:ea typeface="微软雅黑" charset="0"/>
                <a:cs typeface="微软雅黑" charset="0"/>
                <a:sym typeface="+mn-ea"/>
              </a:rPr>
              <a:t>、【统一积分账户】</a:t>
            </a:r>
            <a:endParaRPr lang="en-US" altLang="zh-CN" sz="1400" b="1" dirty="0">
              <a:latin typeface="微软雅黑" charset="0"/>
              <a:ea typeface="微软雅黑" charset="0"/>
              <a:cs typeface="微软雅黑" charset="0"/>
              <a:sym typeface="+mn-ea"/>
            </a:endParaRPr>
          </a:p>
          <a:p>
            <a:pPr algn="l">
              <a:lnSpc>
                <a:spcPct val="150000"/>
              </a:lnSpc>
            </a:pPr>
            <a:r>
              <a:rPr lang="zh-CN" altLang="en-US" sz="1200" dirty="0">
                <a:latin typeface="微软雅黑" charset="0"/>
                <a:ea typeface="微软雅黑" charset="0"/>
                <a:cs typeface="微软雅黑" charset="0"/>
                <a:sym typeface="+mn-ea"/>
              </a:rPr>
              <a:t>积分即统一积分，对</a:t>
            </a:r>
            <a:r>
              <a:rPr lang="en-US" altLang="zh-CN" sz="1200" dirty="0">
                <a:latin typeface="微软雅黑" charset="0"/>
                <a:ea typeface="微软雅黑" charset="0"/>
                <a:cs typeface="微软雅黑" charset="0"/>
                <a:sym typeface="+mn-ea"/>
              </a:rPr>
              <a:t>C</a:t>
            </a:r>
            <a:r>
              <a:rPr lang="zh-CN" altLang="en-US" sz="1200" dirty="0">
                <a:latin typeface="微软雅黑" charset="0"/>
                <a:ea typeface="微软雅黑" charset="0"/>
                <a:cs typeface="微软雅黑" charset="0"/>
                <a:sym typeface="+mn-ea"/>
              </a:rPr>
              <a:t>端用户提供的统一积分账户。</a:t>
            </a:r>
            <a:endParaRPr lang="zh-CN" altLang="en-US" sz="1200" dirty="0">
              <a:latin typeface="微软雅黑" charset="0"/>
              <a:ea typeface="微软雅黑" charset="0"/>
              <a:cs typeface="微软雅黑" charset="0"/>
              <a:sym typeface="+mn-ea"/>
            </a:endParaRPr>
          </a:p>
        </p:txBody>
      </p:sp>
      <p:sp>
        <p:nvSpPr>
          <p:cNvPr id="177" name="文本框 176"/>
          <p:cNvSpPr txBox="1"/>
          <p:nvPr>
            <p:custDataLst>
              <p:tags r:id="rId10"/>
            </p:custDataLst>
          </p:nvPr>
        </p:nvSpPr>
        <p:spPr>
          <a:xfrm>
            <a:off x="310515" y="4248785"/>
            <a:ext cx="2590165" cy="968375"/>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4</a:t>
            </a:r>
            <a:r>
              <a:rPr lang="zh-CN" altLang="en-US" sz="1400" b="1" dirty="0">
                <a:latin typeface="微软雅黑" charset="0"/>
                <a:ea typeface="微软雅黑" charset="0"/>
                <a:cs typeface="微软雅黑" charset="0"/>
                <a:sym typeface="+mn-ea"/>
              </a:rPr>
              <a:t>、【统一积分查询】</a:t>
            </a:r>
            <a:endParaRPr lang="zh-CN" altLang="en-US" sz="1400" b="1" dirty="0">
              <a:latin typeface="微软雅黑" charset="0"/>
              <a:ea typeface="微软雅黑" charset="0"/>
              <a:cs typeface="微软雅黑" charset="0"/>
            </a:endParaRPr>
          </a:p>
          <a:p>
            <a:pPr indent="0" algn="l">
              <a:lnSpc>
                <a:spcPct val="150000"/>
              </a:lnSpc>
              <a:buFont typeface="Wingdings" panose="05000000000000000000" pitchFamily="2" charset="2"/>
              <a:buNone/>
            </a:pPr>
            <a:r>
              <a:rPr sz="1200" dirty="0">
                <a:latin typeface="微软雅黑" charset="0"/>
                <a:ea typeface="微软雅黑" charset="0"/>
                <a:cs typeface="微软雅黑" charset="0"/>
                <a:sym typeface="+mn-ea"/>
              </a:rPr>
              <a:t>用户的积分余额</a:t>
            </a:r>
            <a:r>
              <a:rPr lang="zh-CN" sz="1200" dirty="0">
                <a:latin typeface="微软雅黑" charset="0"/>
                <a:ea typeface="微软雅黑" charset="0"/>
                <a:cs typeface="微软雅黑" charset="0"/>
                <a:sym typeface="+mn-ea"/>
              </a:rPr>
              <a:t>、积分明细</a:t>
            </a:r>
            <a:r>
              <a:rPr sz="1200" dirty="0">
                <a:latin typeface="微软雅黑" charset="0"/>
                <a:ea typeface="微软雅黑" charset="0"/>
                <a:cs typeface="微软雅黑" charset="0"/>
                <a:sym typeface="+mn-ea"/>
              </a:rPr>
              <a:t>，以</a:t>
            </a:r>
            <a:r>
              <a:rPr lang="zh-CN" sz="1200" dirty="0">
                <a:latin typeface="微软雅黑" charset="0"/>
                <a:ea typeface="微软雅黑" charset="0"/>
                <a:cs typeface="微软雅黑" charset="0"/>
                <a:sym typeface="+mn-ea"/>
              </a:rPr>
              <a:t>会员</a:t>
            </a:r>
            <a:r>
              <a:rPr lang="zh-CN" altLang="en-US" sz="1200" dirty="0">
                <a:latin typeface="微软雅黑" charset="0"/>
                <a:ea typeface="微软雅黑" charset="0"/>
                <a:cs typeface="微软雅黑" charset="0"/>
                <a:sym typeface="+mn-ea"/>
              </a:rPr>
              <a:t>平台</a:t>
            </a:r>
            <a:r>
              <a:rPr lang="zh-CN" sz="1200" dirty="0">
                <a:latin typeface="微软雅黑" charset="0"/>
                <a:ea typeface="微软雅黑" charset="0"/>
                <a:cs typeface="微软雅黑" charset="0"/>
                <a:sym typeface="+mn-ea"/>
              </a:rPr>
              <a:t>授权</a:t>
            </a:r>
            <a:r>
              <a:rPr sz="1200" dirty="0">
                <a:latin typeface="微软雅黑" charset="0"/>
                <a:ea typeface="微软雅黑" charset="0"/>
                <a:cs typeface="微软雅黑" charset="0"/>
                <a:sym typeface="+mn-ea"/>
              </a:rPr>
              <a:t>查询的的</a:t>
            </a:r>
            <a:r>
              <a:rPr lang="zh-CN" sz="1200" dirty="0">
                <a:latin typeface="微软雅黑" charset="0"/>
                <a:ea typeface="微软雅黑" charset="0"/>
                <a:cs typeface="微软雅黑" charset="0"/>
                <a:sym typeface="+mn-ea"/>
              </a:rPr>
              <a:t>数据</a:t>
            </a:r>
            <a:r>
              <a:rPr sz="1200" dirty="0">
                <a:latin typeface="微软雅黑" charset="0"/>
                <a:ea typeface="微软雅黑" charset="0"/>
                <a:cs typeface="微软雅黑" charset="0"/>
                <a:sym typeface="+mn-ea"/>
              </a:rPr>
              <a:t>为准。</a:t>
            </a:r>
            <a:endParaRPr lang="zh-CN" altLang="en-US" sz="1200" dirty="0">
              <a:latin typeface="微软雅黑" charset="0"/>
              <a:ea typeface="微软雅黑" charset="0"/>
              <a:cs typeface="微软雅黑" charset="0"/>
              <a:sym typeface="+mn-ea"/>
            </a:endParaRPr>
          </a:p>
        </p:txBody>
      </p:sp>
      <p:sp>
        <p:nvSpPr>
          <p:cNvPr id="178" name="文本框 177"/>
          <p:cNvSpPr txBox="1"/>
          <p:nvPr>
            <p:custDataLst>
              <p:tags r:id="rId11"/>
            </p:custDataLst>
          </p:nvPr>
        </p:nvSpPr>
        <p:spPr>
          <a:xfrm>
            <a:off x="310515" y="5116195"/>
            <a:ext cx="2778125" cy="1014730"/>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5</a:t>
            </a:r>
            <a:r>
              <a:rPr lang="zh-CN" altLang="en-US" sz="1400" b="1" dirty="0">
                <a:latin typeface="微软雅黑" charset="0"/>
                <a:ea typeface="微软雅黑" charset="0"/>
                <a:cs typeface="微软雅黑" charset="0"/>
                <a:sym typeface="+mn-ea"/>
              </a:rPr>
              <a:t>、【统一积分有效期】</a:t>
            </a:r>
            <a:endParaRPr lang="en-US" altLang="zh-CN" sz="1400" b="1" dirty="0">
              <a:latin typeface="微软雅黑" charset="0"/>
              <a:ea typeface="微软雅黑" charset="0"/>
              <a:cs typeface="微软雅黑" charset="0"/>
              <a:sym typeface="+mn-ea"/>
            </a:endParaRPr>
          </a:p>
          <a:p>
            <a:pPr algn="l">
              <a:lnSpc>
                <a:spcPct val="150000"/>
              </a:lnSpc>
            </a:pPr>
            <a:r>
              <a:rPr lang="zh-CN" altLang="en-US" sz="1200" dirty="0">
                <a:latin typeface="微软雅黑" charset="0"/>
                <a:ea typeface="微软雅黑" charset="0"/>
                <a:cs typeface="微软雅黑" charset="0"/>
                <a:sym typeface="+mn-ea"/>
              </a:rPr>
              <a:t>积分在大会员进行统一过期，</a:t>
            </a:r>
            <a:endParaRPr lang="zh-CN" altLang="en-US" sz="1200" dirty="0">
              <a:latin typeface="微软雅黑" charset="0"/>
              <a:ea typeface="微软雅黑" charset="0"/>
              <a:cs typeface="微软雅黑" charset="0"/>
              <a:sym typeface="+mn-ea"/>
            </a:endParaRPr>
          </a:p>
          <a:p>
            <a:pPr algn="l">
              <a:lnSpc>
                <a:spcPct val="150000"/>
              </a:lnSpc>
            </a:pPr>
            <a:r>
              <a:rPr lang="zh-CN" altLang="en-US" sz="1400" b="1" dirty="0">
                <a:solidFill>
                  <a:srgbClr val="4472C4"/>
                </a:solidFill>
                <a:latin typeface="微软雅黑" charset="0"/>
                <a:ea typeface="微软雅黑" charset="0"/>
                <a:cs typeface="微软雅黑" charset="0"/>
                <a:sym typeface="+mn-ea"/>
              </a:rPr>
              <a:t>有效期</a:t>
            </a:r>
            <a:r>
              <a:rPr lang="en-US" altLang="zh-CN" sz="1400" b="1" dirty="0">
                <a:solidFill>
                  <a:srgbClr val="4472C4"/>
                </a:solidFill>
                <a:latin typeface="微软雅黑" charset="0"/>
                <a:ea typeface="微软雅黑" charset="0"/>
                <a:cs typeface="微软雅黑" charset="0"/>
                <a:sym typeface="+mn-ea"/>
              </a:rPr>
              <a:t>2</a:t>
            </a:r>
            <a:r>
              <a:rPr lang="zh-CN" altLang="en-US" sz="1400" b="1" dirty="0">
                <a:solidFill>
                  <a:srgbClr val="4472C4"/>
                </a:solidFill>
                <a:latin typeface="微软雅黑" charset="0"/>
                <a:ea typeface="微软雅黑" charset="0"/>
                <a:cs typeface="微软雅黑" charset="0"/>
                <a:sym typeface="+mn-ea"/>
              </a:rPr>
              <a:t>年</a:t>
            </a:r>
            <a:r>
              <a:rPr lang="zh-CN" altLang="en-US" sz="1200" dirty="0">
                <a:latin typeface="微软雅黑" charset="0"/>
                <a:ea typeface="微软雅黑" charset="0"/>
                <a:cs typeface="微软雅黑" charset="0"/>
                <a:sym typeface="+mn-ea"/>
              </a:rPr>
              <a:t>，采用</a:t>
            </a:r>
            <a:r>
              <a:rPr lang="zh-CN" altLang="en-US" sz="1400" b="1" dirty="0">
                <a:solidFill>
                  <a:srgbClr val="4472C4"/>
                </a:solidFill>
                <a:latin typeface="微软雅黑" charset="0"/>
                <a:ea typeface="微软雅黑" charset="0"/>
                <a:cs typeface="微软雅黑" charset="0"/>
                <a:sym typeface="+mn-ea"/>
              </a:rPr>
              <a:t>滚动清零</a:t>
            </a:r>
            <a:r>
              <a:rPr lang="zh-CN" altLang="en-US" sz="1200" dirty="0">
                <a:latin typeface="微软雅黑" charset="0"/>
                <a:ea typeface="微软雅黑" charset="0"/>
                <a:cs typeface="微软雅黑" charset="0"/>
                <a:sym typeface="+mn-ea"/>
              </a:rPr>
              <a:t>的方式。</a:t>
            </a:r>
            <a:endParaRPr lang="zh-CN" altLang="en-US" sz="1200" dirty="0">
              <a:latin typeface="微软雅黑" charset="0"/>
              <a:ea typeface="微软雅黑" charset="0"/>
              <a:cs typeface="微软雅黑" charset="0"/>
              <a:sym typeface="+mn-ea"/>
            </a:endParaRPr>
          </a:p>
        </p:txBody>
      </p:sp>
      <p:sp>
        <p:nvSpPr>
          <p:cNvPr id="179" name="文本框 178"/>
          <p:cNvSpPr txBox="1"/>
          <p:nvPr>
            <p:custDataLst>
              <p:tags r:id="rId12"/>
            </p:custDataLst>
          </p:nvPr>
        </p:nvSpPr>
        <p:spPr>
          <a:xfrm>
            <a:off x="347345" y="5965825"/>
            <a:ext cx="6152846" cy="691515"/>
          </a:xfrm>
          <a:prstGeom prst="rect">
            <a:avLst/>
          </a:prstGeom>
          <a:noFill/>
        </p:spPr>
        <p:txBody>
          <a:bodyPr wrap="square" rtlCol="0" anchor="t">
            <a:spAutoFit/>
          </a:bodyPr>
          <a:lstStyle/>
          <a:p>
            <a:pPr>
              <a:lnSpc>
                <a:spcPct val="150000"/>
              </a:lnSpc>
            </a:pPr>
            <a:r>
              <a:rPr lang="en-US" altLang="zh-CN" sz="1400" b="1" dirty="0">
                <a:latin typeface="微软雅黑" charset="0"/>
                <a:ea typeface="微软雅黑" charset="0"/>
                <a:cs typeface="微软雅黑" charset="0"/>
                <a:sym typeface="+mn-ea"/>
              </a:rPr>
              <a:t>6</a:t>
            </a:r>
            <a:r>
              <a:rPr lang="zh-CN" altLang="en-US" sz="1400" b="1" dirty="0">
                <a:latin typeface="微软雅黑" charset="0"/>
                <a:ea typeface="微软雅黑" charset="0"/>
                <a:cs typeface="微软雅黑" charset="0"/>
                <a:sym typeface="+mn-ea"/>
              </a:rPr>
              <a:t>、【统一积分价值】</a:t>
            </a:r>
            <a:endParaRPr lang="zh-CN" altLang="en-US" sz="1400" b="1" dirty="0">
              <a:latin typeface="微软雅黑" charset="0"/>
              <a:ea typeface="微软雅黑" charset="0"/>
              <a:cs typeface="微软雅黑" charset="0"/>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计算各个业务场景积分价值以及行业对标分析，所有业务场景使用统一积分价值</a:t>
            </a:r>
            <a:endParaRPr lang="zh-CN" altLang="en-US" sz="1400" b="1" dirty="0">
              <a:solidFill>
                <a:srgbClr val="4472C4"/>
              </a:solidFill>
              <a:latin typeface="微软雅黑" charset="0"/>
              <a:ea typeface="微软雅黑" charset="0"/>
              <a:cs typeface="微软雅黑" charset="0"/>
              <a:sym typeface="+mn-ea"/>
            </a:endParaRPr>
          </a:p>
        </p:txBody>
      </p:sp>
      <p:sp>
        <p:nvSpPr>
          <p:cNvPr id="180" name="文本框 179"/>
          <p:cNvSpPr txBox="1"/>
          <p:nvPr>
            <p:custDataLst>
              <p:tags r:id="rId13"/>
            </p:custDataLst>
          </p:nvPr>
        </p:nvSpPr>
        <p:spPr>
          <a:xfrm>
            <a:off x="3084195" y="3351530"/>
            <a:ext cx="2975610" cy="1061829"/>
          </a:xfrm>
          <a:prstGeom prst="rect">
            <a:avLst/>
          </a:prstGeom>
          <a:noFill/>
        </p:spPr>
        <p:txBody>
          <a:bodyPr wrap="square" rtlCol="0" anchor="t">
            <a:spAutoFit/>
          </a:bodyPr>
          <a:lstStyle/>
          <a:p>
            <a:pPr>
              <a:lnSpc>
                <a:spcPct val="150000"/>
              </a:lnSpc>
            </a:pPr>
            <a:r>
              <a:rPr lang="en-US" altLang="zh-CN" sz="1400" b="1" dirty="0">
                <a:latin typeface="微软雅黑" charset="0"/>
                <a:ea typeface="微软雅黑" charset="0"/>
                <a:cs typeface="微软雅黑" charset="0"/>
                <a:sym typeface="+mn-ea"/>
              </a:rPr>
              <a:t>7</a:t>
            </a:r>
            <a:r>
              <a:rPr lang="zh-CN" altLang="en-US" sz="1400" b="1" dirty="0">
                <a:latin typeface="微软雅黑" charset="0"/>
                <a:ea typeface="微软雅黑" charset="0"/>
                <a:cs typeface="微软雅黑" charset="0"/>
                <a:sym typeface="+mn-ea"/>
              </a:rPr>
              <a:t>、【统一积分清结算】</a:t>
            </a:r>
            <a:endParaRPr lang="zh-CN" altLang="en-US" sz="1400" b="1" dirty="0">
              <a:latin typeface="微软雅黑" charset="0"/>
              <a:ea typeface="微软雅黑" charset="0"/>
              <a:cs typeface="微软雅黑" charset="0"/>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采用</a:t>
            </a:r>
            <a:r>
              <a:rPr lang="en-US" altLang="zh-CN" sz="1200" dirty="0">
                <a:latin typeface="微软雅黑" charset="0"/>
                <a:ea typeface="微软雅黑" charset="0"/>
                <a:cs typeface="微软雅黑" charset="0"/>
                <a:sym typeface="+mn-ea"/>
              </a:rPr>
              <a:t>“</a:t>
            </a:r>
            <a:r>
              <a:rPr lang="zh-CN" altLang="en-US" sz="1400" b="1" dirty="0">
                <a:solidFill>
                  <a:srgbClr val="4472C4"/>
                </a:solidFill>
                <a:latin typeface="微软雅黑" charset="0"/>
                <a:ea typeface="微软雅黑" charset="0"/>
                <a:cs typeface="微软雅黑" charset="0"/>
                <a:sym typeface="+mn-ea"/>
              </a:rPr>
              <a:t>中央银行</a:t>
            </a:r>
            <a:r>
              <a:rPr lang="en-US" altLang="zh-CN" sz="1200" dirty="0">
                <a:latin typeface="微软雅黑" charset="0"/>
                <a:ea typeface="微软雅黑" charset="0"/>
                <a:cs typeface="微软雅黑" charset="0"/>
                <a:sym typeface="+mn-ea"/>
              </a:rPr>
              <a:t>”</a:t>
            </a:r>
            <a:r>
              <a:rPr lang="zh-CN" altLang="en-US" sz="1200" dirty="0">
                <a:latin typeface="微软雅黑" charset="0"/>
                <a:ea typeface="微软雅黑" charset="0"/>
                <a:cs typeface="微软雅黑" charset="0"/>
                <a:sym typeface="+mn-ea"/>
              </a:rPr>
              <a:t>模式结算。</a:t>
            </a:r>
            <a:endParaRPr lang="zh-CN" altLang="en-US" sz="1200" dirty="0">
              <a:latin typeface="微软雅黑" charset="0"/>
              <a:ea typeface="微软雅黑" charset="0"/>
              <a:cs typeface="微软雅黑" charset="0"/>
              <a:sym typeface="+mn-ea"/>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共发分、兑分</a:t>
            </a:r>
            <a:r>
              <a:rPr lang="en-US" altLang="zh-CN" sz="1200" dirty="0">
                <a:latin typeface="微软雅黑" charset="0"/>
                <a:ea typeface="微软雅黑" charset="0"/>
                <a:cs typeface="微软雅黑" charset="0"/>
                <a:sym typeface="+mn-ea"/>
              </a:rPr>
              <a:t>2</a:t>
            </a:r>
            <a:r>
              <a:rPr lang="zh-CN" altLang="en-US" sz="1200" dirty="0">
                <a:latin typeface="微软雅黑" charset="0"/>
                <a:ea typeface="微软雅黑" charset="0"/>
                <a:cs typeface="微软雅黑" charset="0"/>
                <a:sym typeface="+mn-ea"/>
              </a:rPr>
              <a:t>种方式，建议</a:t>
            </a:r>
            <a:r>
              <a:rPr lang="zh-CN" altLang="en-US" sz="1400" b="1" dirty="0">
                <a:solidFill>
                  <a:srgbClr val="4472C4"/>
                </a:solidFill>
                <a:latin typeface="微软雅黑" charset="0"/>
                <a:ea typeface="微软雅黑" charset="0"/>
                <a:cs typeface="微软雅黑" charset="0"/>
                <a:sym typeface="+mn-ea"/>
              </a:rPr>
              <a:t>发分结算</a:t>
            </a:r>
            <a:r>
              <a:rPr lang="zh-CN" altLang="en-US" sz="1200" dirty="0">
                <a:latin typeface="微软雅黑" charset="0"/>
                <a:ea typeface="微软雅黑" charset="0"/>
                <a:cs typeface="微软雅黑" charset="0"/>
                <a:sym typeface="+mn-ea"/>
              </a:rPr>
              <a:t>。</a:t>
            </a:r>
            <a:endParaRPr lang="zh-CN" altLang="en-US" sz="1200" dirty="0">
              <a:latin typeface="微软雅黑" charset="0"/>
              <a:ea typeface="微软雅黑" charset="0"/>
              <a:cs typeface="微软雅黑" charset="0"/>
              <a:sym typeface="+mn-ea"/>
            </a:endParaRPr>
          </a:p>
        </p:txBody>
      </p:sp>
      <p:sp>
        <p:nvSpPr>
          <p:cNvPr id="181" name="文本框 180"/>
          <p:cNvSpPr txBox="1"/>
          <p:nvPr>
            <p:custDataLst>
              <p:tags r:id="rId14"/>
            </p:custDataLst>
          </p:nvPr>
        </p:nvSpPr>
        <p:spPr>
          <a:xfrm>
            <a:off x="3088640" y="4248785"/>
            <a:ext cx="3114040" cy="968375"/>
          </a:xfrm>
          <a:prstGeom prst="rect">
            <a:avLst/>
          </a:prstGeom>
          <a:noFill/>
        </p:spPr>
        <p:txBody>
          <a:bodyPr wrap="square" rtlCol="0" anchor="t">
            <a:spAutoFit/>
          </a:bodyPr>
          <a:lstStyle/>
          <a:p>
            <a:pPr>
              <a:lnSpc>
                <a:spcPct val="150000"/>
              </a:lnSpc>
            </a:pPr>
            <a:r>
              <a:rPr lang="en-US" altLang="zh-CN" sz="1400" b="1" dirty="0">
                <a:latin typeface="微软雅黑" charset="0"/>
                <a:ea typeface="微软雅黑" charset="0"/>
                <a:cs typeface="微软雅黑" charset="0"/>
                <a:sym typeface="+mn-ea"/>
              </a:rPr>
              <a:t>8</a:t>
            </a:r>
            <a:r>
              <a:rPr lang="zh-CN" altLang="en-US" sz="1400" b="1" dirty="0">
                <a:latin typeface="微软雅黑" charset="0"/>
                <a:ea typeface="微软雅黑" charset="0"/>
                <a:cs typeface="微软雅黑" charset="0"/>
                <a:sym typeface="+mn-ea"/>
              </a:rPr>
              <a:t>、【积分发放】</a:t>
            </a:r>
            <a:endParaRPr lang="zh-CN" altLang="en-US" sz="1400" b="1" dirty="0">
              <a:latin typeface="微软雅黑" charset="0"/>
              <a:ea typeface="微软雅黑" charset="0"/>
              <a:cs typeface="微软雅黑" charset="0"/>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各个业务定义发放积分</a:t>
            </a:r>
            <a:endParaRPr lang="zh-CN" altLang="en-US" sz="1200" dirty="0">
              <a:latin typeface="微软雅黑" charset="0"/>
              <a:ea typeface="微软雅黑" charset="0"/>
              <a:cs typeface="微软雅黑" charset="0"/>
              <a:sym typeface="+mn-ea"/>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碳积分支持系统自定义发放</a:t>
            </a:r>
            <a:endParaRPr lang="zh-CN" altLang="en-US" sz="1200" dirty="0">
              <a:latin typeface="微软雅黑" charset="0"/>
              <a:ea typeface="微软雅黑" charset="0"/>
              <a:cs typeface="微软雅黑" charset="0"/>
              <a:sym typeface="+mn-ea"/>
            </a:endParaRPr>
          </a:p>
        </p:txBody>
      </p:sp>
      <p:sp>
        <p:nvSpPr>
          <p:cNvPr id="182" name="文本框 181"/>
          <p:cNvSpPr txBox="1"/>
          <p:nvPr>
            <p:custDataLst>
              <p:tags r:id="rId15"/>
            </p:custDataLst>
          </p:nvPr>
        </p:nvSpPr>
        <p:spPr>
          <a:xfrm>
            <a:off x="3088640" y="5116195"/>
            <a:ext cx="3088005" cy="968375"/>
          </a:xfrm>
          <a:prstGeom prst="rect">
            <a:avLst/>
          </a:prstGeom>
          <a:noFill/>
        </p:spPr>
        <p:txBody>
          <a:bodyPr wrap="square" rtlCol="0" anchor="t">
            <a:spAutoFit/>
          </a:bodyPr>
          <a:lstStyle/>
          <a:p>
            <a:pPr>
              <a:lnSpc>
                <a:spcPct val="150000"/>
              </a:lnSpc>
            </a:pPr>
            <a:r>
              <a:rPr lang="en-US" altLang="zh-CN" sz="1400" b="1" dirty="0">
                <a:latin typeface="微软雅黑" charset="0"/>
                <a:ea typeface="微软雅黑" charset="0"/>
                <a:cs typeface="微软雅黑" charset="0"/>
                <a:sym typeface="+mn-ea"/>
              </a:rPr>
              <a:t>9</a:t>
            </a:r>
            <a:r>
              <a:rPr lang="zh-CN" altLang="en-US" sz="1400" b="1" dirty="0">
                <a:latin typeface="微软雅黑" charset="0"/>
                <a:ea typeface="微软雅黑" charset="0"/>
                <a:cs typeface="微软雅黑" charset="0"/>
                <a:sym typeface="+mn-ea"/>
              </a:rPr>
              <a:t>、【积分回收场景】</a:t>
            </a:r>
            <a:endParaRPr lang="zh-CN" altLang="en-US" sz="1400" b="1" dirty="0">
              <a:latin typeface="微软雅黑" charset="0"/>
              <a:ea typeface="微软雅黑" charset="0"/>
              <a:cs typeface="微软雅黑" charset="0"/>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支持各业务有自己的消耗积分场景</a:t>
            </a:r>
            <a:endParaRPr lang="zh-CN" altLang="en-US" sz="1200" dirty="0">
              <a:latin typeface="微软雅黑" charset="0"/>
              <a:ea typeface="微软雅黑" charset="0"/>
              <a:cs typeface="微软雅黑" charset="0"/>
              <a:sym typeface="+mn-ea"/>
            </a:endParaRPr>
          </a:p>
          <a:p>
            <a:pPr indent="0">
              <a:lnSpc>
                <a:spcPct val="150000"/>
              </a:lnSpc>
              <a:buFont typeface="Wingdings" panose="05000000000000000000" pitchFamily="2" charset="2"/>
              <a:buNone/>
            </a:pPr>
            <a:r>
              <a:rPr lang="zh-CN" altLang="en-US" sz="1200" dirty="0">
                <a:latin typeface="微软雅黑" charset="0"/>
                <a:ea typeface="微软雅黑" charset="0"/>
                <a:cs typeface="微软雅黑" charset="0"/>
                <a:sym typeface="+mn-ea"/>
              </a:rPr>
              <a:t>作为中台支持配置统一的积分兑换优惠</a:t>
            </a:r>
            <a:endParaRPr lang="en-US" altLang="zh-CN" sz="1200" dirty="0">
              <a:latin typeface="微软雅黑" charset="0"/>
              <a:ea typeface="微软雅黑" charset="0"/>
              <a:cs typeface="微软雅黑" charset="0"/>
              <a:sym typeface="+mn-ea"/>
            </a:endParaRPr>
          </a:p>
        </p:txBody>
      </p:sp>
      <p:sp>
        <p:nvSpPr>
          <p:cNvPr id="183" name="文本框 182"/>
          <p:cNvSpPr txBox="1"/>
          <p:nvPr>
            <p:custDataLst>
              <p:tags r:id="rId16"/>
            </p:custDataLst>
          </p:nvPr>
        </p:nvSpPr>
        <p:spPr>
          <a:xfrm>
            <a:off x="6351905" y="3351530"/>
            <a:ext cx="2355215" cy="414020"/>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10</a:t>
            </a:r>
            <a:r>
              <a:rPr lang="zh-CN" altLang="en-US" sz="1400" b="1" dirty="0">
                <a:latin typeface="微软雅黑" charset="0"/>
                <a:ea typeface="微软雅黑" charset="0"/>
                <a:cs typeface="微软雅黑" charset="0"/>
                <a:sym typeface="+mn-ea"/>
              </a:rPr>
              <a:t>、【统一会员等级体系】</a:t>
            </a:r>
            <a:endParaRPr lang="zh-CN" altLang="en-US" sz="1200" dirty="0">
              <a:latin typeface="微软雅黑" charset="0"/>
              <a:ea typeface="微软雅黑" charset="0"/>
              <a:cs typeface="微软雅黑" charset="0"/>
              <a:sym typeface="+mn-ea"/>
            </a:endParaRPr>
          </a:p>
        </p:txBody>
      </p:sp>
      <p:grpSp>
        <p:nvGrpSpPr>
          <p:cNvPr id="184" name="组合 183"/>
          <p:cNvGrpSpPr/>
          <p:nvPr/>
        </p:nvGrpSpPr>
        <p:grpSpPr>
          <a:xfrm>
            <a:off x="6362065" y="1478280"/>
            <a:ext cx="5536565" cy="1245235"/>
            <a:chOff x="541" y="2319"/>
            <a:chExt cx="8719" cy="1961"/>
          </a:xfrm>
        </p:grpSpPr>
        <p:sp>
          <p:nvSpPr>
            <p:cNvPr id="185" name="文本框 184"/>
            <p:cNvSpPr txBox="1"/>
            <p:nvPr>
              <p:custDataLst>
                <p:tags r:id="rId17"/>
              </p:custDataLst>
            </p:nvPr>
          </p:nvSpPr>
          <p:spPr>
            <a:xfrm>
              <a:off x="541" y="2319"/>
              <a:ext cx="4293" cy="1961"/>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12</a:t>
              </a:r>
              <a:r>
                <a:rPr lang="zh-CN" altLang="en-US" sz="1400" b="1" dirty="0">
                  <a:latin typeface="微软雅黑" charset="0"/>
                  <a:ea typeface="微软雅黑" charset="0"/>
                  <a:cs typeface="微软雅黑" charset="0"/>
                  <a:sym typeface="+mn-ea"/>
                </a:rPr>
                <a:t>、【统一会员数据标准类型】</a:t>
              </a:r>
              <a:endParaRPr lang="en-US" altLang="zh-CN" sz="1400" b="1" dirty="0">
                <a:latin typeface="微软雅黑" charset="0"/>
                <a:ea typeface="微软雅黑" charset="0"/>
                <a:cs typeface="微软雅黑" charset="0"/>
                <a:sym typeface="+mn-ea"/>
              </a:endParaRPr>
            </a:p>
            <a:p>
              <a:pPr algn="l">
                <a:lnSpc>
                  <a:spcPct val="150000"/>
                </a:lnSpc>
              </a:pPr>
              <a:r>
                <a:rPr lang="en-US" altLang="zh-CN" sz="1200" dirty="0">
                  <a:latin typeface="微软雅黑" charset="0"/>
                  <a:ea typeface="微软雅黑" charset="0"/>
                  <a:cs typeface="微软雅黑" charset="0"/>
                  <a:sym typeface="+mn-ea"/>
                </a:rPr>
                <a:t>1</a:t>
              </a:r>
              <a:r>
                <a:rPr lang="zh-CN" altLang="en-US" sz="1200" dirty="0">
                  <a:latin typeface="微软雅黑" charset="0"/>
                  <a:ea typeface="微软雅黑" charset="0"/>
                  <a:cs typeface="微软雅黑" charset="0"/>
                  <a:sym typeface="+mn-ea"/>
                </a:rPr>
                <a:t>、统一会员基础数据，包括</a:t>
              </a:r>
              <a:r>
                <a:rPr lang="zh-CN" sz="1200" dirty="0">
                  <a:latin typeface="微软雅黑" charset="0"/>
                  <a:ea typeface="微软雅黑" charset="0"/>
                  <a:cs typeface="微软雅黑" charset="0"/>
                  <a:sym typeface="+mn-ea"/>
                </a:rPr>
                <a:t>会员标识信息</a:t>
              </a:r>
              <a:r>
                <a:rPr lang="zh-CN" altLang="en-US" sz="1200" dirty="0">
                  <a:latin typeface="微软雅黑" charset="0"/>
                  <a:ea typeface="微软雅黑" charset="0"/>
                  <a:cs typeface="微软雅黑" charset="0"/>
                  <a:sym typeface="+mn-ea"/>
                </a:rPr>
                <a:t>、会员基础资料、会员关联新等。</a:t>
              </a:r>
              <a:endParaRPr lang="zh-CN" altLang="en-US" sz="1200" dirty="0">
                <a:latin typeface="微软雅黑" charset="0"/>
                <a:ea typeface="微软雅黑" charset="0"/>
                <a:cs typeface="微软雅黑" charset="0"/>
                <a:sym typeface="+mn-ea"/>
              </a:endParaRPr>
            </a:p>
            <a:p>
              <a:pPr algn="l">
                <a:lnSpc>
                  <a:spcPct val="150000"/>
                </a:lnSpc>
              </a:pPr>
              <a:r>
                <a:rPr lang="en-US" altLang="zh-CN" sz="1200" dirty="0">
                  <a:latin typeface="微软雅黑" charset="0"/>
                  <a:ea typeface="微软雅黑" charset="0"/>
                  <a:cs typeface="微软雅黑" charset="0"/>
                  <a:sym typeface="+mn-ea"/>
                </a:rPr>
                <a:t>2</a:t>
              </a:r>
              <a:r>
                <a:rPr lang="zh-CN" altLang="en-US" sz="1200" dirty="0">
                  <a:latin typeface="微软雅黑" charset="0"/>
                  <a:ea typeface="微软雅黑" charset="0"/>
                  <a:cs typeface="微软雅黑" charset="0"/>
                  <a:sym typeface="+mn-ea"/>
                </a:rPr>
                <a:t>、帮助进行业务及行为数据的整合</a:t>
              </a:r>
              <a:endParaRPr lang="zh-CN" altLang="en-US" sz="1200" dirty="0">
                <a:latin typeface="微软雅黑" charset="0"/>
                <a:ea typeface="微软雅黑" charset="0"/>
                <a:cs typeface="微软雅黑" charset="0"/>
                <a:sym typeface="+mn-ea"/>
              </a:endParaRPr>
            </a:p>
          </p:txBody>
        </p:sp>
        <p:sp>
          <p:nvSpPr>
            <p:cNvPr id="186" name="文本框 185"/>
            <p:cNvSpPr txBox="1"/>
            <p:nvPr>
              <p:custDataLst>
                <p:tags r:id="rId18"/>
              </p:custDataLst>
            </p:nvPr>
          </p:nvSpPr>
          <p:spPr>
            <a:xfrm>
              <a:off x="4864" y="2319"/>
              <a:ext cx="4396" cy="1961"/>
            </a:xfrm>
            <a:prstGeom prst="rect">
              <a:avLst/>
            </a:prstGeom>
            <a:noFill/>
          </p:spPr>
          <p:txBody>
            <a:bodyPr wrap="square" rtlCol="0" anchor="t">
              <a:spAutoFit/>
            </a:bodyPr>
            <a:lstStyle/>
            <a:p>
              <a:pPr lvl="1">
                <a:lnSpc>
                  <a:spcPct val="150000"/>
                </a:lnSpc>
              </a:pPr>
              <a:r>
                <a:rPr lang="en-US" altLang="zh-CN" sz="1400" b="1" dirty="0">
                  <a:latin typeface="微软雅黑" charset="0"/>
                  <a:ea typeface="微软雅黑" charset="0"/>
                  <a:cs typeface="微软雅黑" charset="0"/>
                  <a:sym typeface="+mn-ea"/>
                </a:rPr>
                <a:t>13</a:t>
              </a:r>
              <a:r>
                <a:rPr lang="zh-CN" altLang="en-US" sz="1400" b="1" dirty="0">
                  <a:latin typeface="微软雅黑" charset="0"/>
                  <a:ea typeface="微软雅黑" charset="0"/>
                  <a:cs typeface="微软雅黑" charset="0"/>
                  <a:sym typeface="+mn-ea"/>
                </a:rPr>
                <a:t>、【会员数据沉淀方式】</a:t>
              </a:r>
              <a:endParaRPr lang="zh-CN" altLang="en-US" sz="1400" b="1" dirty="0">
                <a:latin typeface="微软雅黑" charset="0"/>
                <a:ea typeface="微软雅黑" charset="0"/>
                <a:cs typeface="微软雅黑" charset="0"/>
              </a:endParaRPr>
            </a:p>
            <a:p>
              <a:pPr lvl="1">
                <a:lnSpc>
                  <a:spcPct val="150000"/>
                </a:lnSpc>
                <a:buFont typeface="Wingdings" panose="05000000000000000000" pitchFamily="2" charset="2"/>
                <a:buNone/>
              </a:pPr>
              <a:r>
                <a:rPr lang="zh-CN" sz="1200" dirty="0">
                  <a:latin typeface="微软雅黑" charset="0"/>
                  <a:ea typeface="微软雅黑" charset="0"/>
                  <a:cs typeface="微软雅黑" charset="0"/>
                  <a:sym typeface="+mn-ea"/>
                </a:rPr>
                <a:t>大会员将提供数据主键、数据同步、数据埋点的建议，以供数运部门及数据系统进行数据沉淀。</a:t>
              </a:r>
              <a:endParaRPr lang="zh-CN" altLang="en-US" sz="1200" dirty="0">
                <a:latin typeface="微软雅黑" charset="0"/>
                <a:ea typeface="微软雅黑" charset="0"/>
                <a:cs typeface="微软雅黑" charset="0"/>
                <a:sym typeface="+mn-ea"/>
              </a:endParaRPr>
            </a:p>
          </p:txBody>
        </p:sp>
      </p:grpSp>
      <p:sp>
        <p:nvSpPr>
          <p:cNvPr id="187" name="圆角矩形 186"/>
          <p:cNvSpPr/>
          <p:nvPr>
            <p:custDataLst>
              <p:tags r:id="rId19"/>
            </p:custDataLst>
          </p:nvPr>
        </p:nvSpPr>
        <p:spPr>
          <a:xfrm>
            <a:off x="6724015" y="4763770"/>
            <a:ext cx="2058670" cy="999490"/>
          </a:xfrm>
          <a:prstGeom prst="roundRect">
            <a:avLst>
              <a:gd name="adj" fmla="val 6741"/>
            </a:avLst>
          </a:prstGeom>
          <a:solidFill>
            <a:schemeClr val="bg1"/>
          </a:solidFill>
          <a:ln>
            <a:solidFill>
              <a:srgbClr val="4472C4"/>
            </a:solidFill>
          </a:ln>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200" b="1" dirty="0">
                <a:solidFill>
                  <a:srgbClr val="4472C4"/>
                </a:solidFill>
                <a:latin typeface="微软雅黑" charset="0"/>
                <a:ea typeface="微软雅黑" charset="0"/>
                <a:sym typeface="+mn-ea"/>
              </a:rPr>
              <a:t>会员等级根据成长值变更</a:t>
            </a:r>
            <a:endParaRPr lang="zh-CN" altLang="en-US" sz="1200" b="1" dirty="0">
              <a:solidFill>
                <a:srgbClr val="4472C4"/>
              </a:solidFill>
              <a:latin typeface="微软雅黑" charset="0"/>
              <a:ea typeface="微软雅黑" charset="0"/>
              <a:sym typeface="+mn-ea"/>
            </a:endParaRPr>
          </a:p>
          <a:p>
            <a:pPr algn="ctr"/>
            <a:endParaRPr lang="zh-CN" altLang="en-US" sz="1200" b="1" dirty="0">
              <a:solidFill>
                <a:srgbClr val="4472C4"/>
              </a:solidFill>
              <a:latin typeface="微软雅黑" charset="0"/>
              <a:ea typeface="微软雅黑" charset="0"/>
              <a:sym typeface="+mn-ea"/>
            </a:endParaRPr>
          </a:p>
          <a:p>
            <a:pPr algn="ctr"/>
            <a:endParaRPr lang="zh-CN" altLang="en-US" sz="1200" b="1" dirty="0">
              <a:solidFill>
                <a:srgbClr val="4472C4"/>
              </a:solidFill>
              <a:latin typeface="微软雅黑" charset="0"/>
              <a:ea typeface="微软雅黑" charset="0"/>
              <a:sym typeface="+mn-ea"/>
            </a:endParaRPr>
          </a:p>
          <a:p>
            <a:pPr algn="ctr"/>
            <a:endParaRPr lang="zh-CN" altLang="en-US" sz="1000" b="1" dirty="0">
              <a:solidFill>
                <a:srgbClr val="4472C4"/>
              </a:solidFill>
              <a:latin typeface="微软雅黑" charset="0"/>
              <a:ea typeface="微软雅黑" charset="0"/>
              <a:sym typeface="+mn-ea"/>
            </a:endParaRPr>
          </a:p>
          <a:p>
            <a:pPr algn="ctr"/>
            <a:endParaRPr lang="zh-CN" altLang="en-US" sz="1000" b="1" dirty="0">
              <a:solidFill>
                <a:srgbClr val="4472C4"/>
              </a:solidFill>
              <a:latin typeface="微软雅黑" charset="0"/>
              <a:ea typeface="微软雅黑" charset="0"/>
              <a:sym typeface="+mn-ea"/>
            </a:endParaRPr>
          </a:p>
        </p:txBody>
      </p:sp>
      <p:sp>
        <p:nvSpPr>
          <p:cNvPr id="188" name="圆角矩形 187"/>
          <p:cNvSpPr/>
          <p:nvPr>
            <p:custDataLst>
              <p:tags r:id="rId20"/>
            </p:custDataLst>
          </p:nvPr>
        </p:nvSpPr>
        <p:spPr>
          <a:xfrm>
            <a:off x="6795135" y="5372100"/>
            <a:ext cx="402590" cy="184150"/>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600" b="1" dirty="0">
                <a:solidFill>
                  <a:schemeClr val="bg1"/>
                </a:solidFill>
                <a:latin typeface="微软雅黑" charset="0"/>
                <a:ea typeface="微软雅黑" charset="0"/>
                <a:cs typeface="微软雅黑" charset="0"/>
              </a:rPr>
              <a:t>等级</a:t>
            </a:r>
            <a:r>
              <a:rPr lang="en-US" altLang="zh-CN" sz="600" b="1" dirty="0">
                <a:solidFill>
                  <a:schemeClr val="bg1"/>
                </a:solidFill>
                <a:latin typeface="微软雅黑" charset="0"/>
                <a:ea typeface="微软雅黑" charset="0"/>
                <a:cs typeface="微软雅黑" charset="0"/>
              </a:rPr>
              <a:t>1</a:t>
            </a:r>
            <a:endParaRPr lang="en-US" altLang="zh-CN" sz="600" b="1" dirty="0">
              <a:solidFill>
                <a:schemeClr val="bg1"/>
              </a:solidFill>
              <a:latin typeface="微软雅黑" charset="0"/>
              <a:ea typeface="微软雅黑" charset="0"/>
              <a:cs typeface="微软雅黑" charset="0"/>
            </a:endParaRPr>
          </a:p>
        </p:txBody>
      </p:sp>
      <p:sp>
        <p:nvSpPr>
          <p:cNvPr id="189" name="object 40"/>
          <p:cNvSpPr/>
          <p:nvPr>
            <p:custDataLst>
              <p:tags r:id="rId21"/>
            </p:custDataLst>
          </p:nvPr>
        </p:nvSpPr>
        <p:spPr>
          <a:xfrm rot="5400000">
            <a:off x="7219315" y="5411470"/>
            <a:ext cx="120015" cy="93345"/>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ln>
            <a:solidFill>
              <a:srgbClr val="4472C4"/>
            </a:solidFill>
          </a:ln>
        </p:spPr>
        <p:style>
          <a:lnRef idx="0">
            <a:srgbClr val="FFFFFF"/>
          </a:lnRef>
          <a:fillRef idx="1">
            <a:schemeClr val="accent1"/>
          </a:fillRef>
          <a:effectRef idx="0">
            <a:srgbClr val="FFFFFF"/>
          </a:effectRef>
          <a:fontRef idx="minor">
            <a:schemeClr val="lt1"/>
          </a:fontRef>
        </p:style>
        <p:txBody>
          <a:bodyPr wrap="square" lIns="0" tIns="0" rIns="0" bIns="0" rtlCol="0"/>
          <a:lstStyle/>
          <a:p>
            <a:endParaRPr sz="1600">
              <a:latin typeface="微软雅黑" charset="0"/>
              <a:ea typeface="微软雅黑" charset="0"/>
            </a:endParaRPr>
          </a:p>
        </p:txBody>
      </p:sp>
      <p:sp>
        <p:nvSpPr>
          <p:cNvPr id="190" name="圆角矩形 189"/>
          <p:cNvSpPr/>
          <p:nvPr>
            <p:custDataLst>
              <p:tags r:id="rId22"/>
            </p:custDataLst>
          </p:nvPr>
        </p:nvSpPr>
        <p:spPr>
          <a:xfrm>
            <a:off x="6957695" y="5219700"/>
            <a:ext cx="1769745" cy="76200"/>
          </a:xfrm>
          <a:prstGeom prst="roundRect">
            <a:avLst>
              <a:gd name="adj" fmla="val 50000"/>
            </a:avLst>
          </a:prstGeom>
          <a:solidFill>
            <a:srgbClr val="000000">
              <a:alpha val="0"/>
            </a:srgbClr>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91" name="椭圆 190"/>
          <p:cNvSpPr/>
          <p:nvPr>
            <p:custDataLst>
              <p:tags r:id="rId23"/>
            </p:custDataLst>
          </p:nvPr>
        </p:nvSpPr>
        <p:spPr>
          <a:xfrm>
            <a:off x="6957695" y="5222875"/>
            <a:ext cx="75565" cy="7556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92" name="椭圆 191"/>
          <p:cNvSpPr/>
          <p:nvPr>
            <p:custDataLst>
              <p:tags r:id="rId24"/>
            </p:custDataLst>
          </p:nvPr>
        </p:nvSpPr>
        <p:spPr>
          <a:xfrm>
            <a:off x="7400925" y="5216525"/>
            <a:ext cx="75565" cy="7556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93" name="椭圆 192"/>
          <p:cNvSpPr/>
          <p:nvPr>
            <p:custDataLst>
              <p:tags r:id="rId25"/>
            </p:custDataLst>
          </p:nvPr>
        </p:nvSpPr>
        <p:spPr>
          <a:xfrm>
            <a:off x="8154670" y="5222875"/>
            <a:ext cx="76200" cy="76200"/>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94" name="圆角矩形 193"/>
          <p:cNvSpPr/>
          <p:nvPr>
            <p:custDataLst>
              <p:tags r:id="rId26"/>
            </p:custDataLst>
          </p:nvPr>
        </p:nvSpPr>
        <p:spPr>
          <a:xfrm>
            <a:off x="7367270" y="5365750"/>
            <a:ext cx="402590" cy="184150"/>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600" b="1" dirty="0">
                <a:solidFill>
                  <a:schemeClr val="bg1"/>
                </a:solidFill>
                <a:latin typeface="微软雅黑" charset="0"/>
                <a:ea typeface="微软雅黑" charset="0"/>
                <a:cs typeface="微软雅黑" charset="0"/>
              </a:rPr>
              <a:t>等级</a:t>
            </a:r>
            <a:r>
              <a:rPr lang="en-US" altLang="zh-CN" sz="600" b="1" dirty="0">
                <a:solidFill>
                  <a:schemeClr val="bg1"/>
                </a:solidFill>
                <a:latin typeface="微软雅黑" charset="0"/>
                <a:ea typeface="微软雅黑" charset="0"/>
                <a:cs typeface="微软雅黑" charset="0"/>
              </a:rPr>
              <a:t>2</a:t>
            </a:r>
            <a:endParaRPr lang="en-US" altLang="zh-CN" sz="600" b="1" dirty="0">
              <a:solidFill>
                <a:schemeClr val="bg1"/>
              </a:solidFill>
              <a:latin typeface="微软雅黑" charset="0"/>
              <a:ea typeface="微软雅黑" charset="0"/>
              <a:cs typeface="微软雅黑" charset="0"/>
            </a:endParaRPr>
          </a:p>
        </p:txBody>
      </p:sp>
      <p:sp>
        <p:nvSpPr>
          <p:cNvPr id="195" name="圆角矩形 194"/>
          <p:cNvSpPr/>
          <p:nvPr>
            <p:custDataLst>
              <p:tags r:id="rId27"/>
            </p:custDataLst>
          </p:nvPr>
        </p:nvSpPr>
        <p:spPr>
          <a:xfrm>
            <a:off x="8142605" y="5365750"/>
            <a:ext cx="402590" cy="184150"/>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600" b="1" dirty="0">
                <a:solidFill>
                  <a:schemeClr val="bg1"/>
                </a:solidFill>
                <a:latin typeface="微软雅黑" charset="0"/>
                <a:ea typeface="微软雅黑" charset="0"/>
                <a:cs typeface="微软雅黑" charset="0"/>
              </a:rPr>
              <a:t>等级</a:t>
            </a:r>
            <a:r>
              <a:rPr lang="en-US" altLang="zh-CN" sz="600" b="1" dirty="0">
                <a:solidFill>
                  <a:schemeClr val="bg1"/>
                </a:solidFill>
                <a:latin typeface="微软雅黑" charset="0"/>
                <a:ea typeface="微软雅黑" charset="0"/>
                <a:cs typeface="微软雅黑" charset="0"/>
              </a:rPr>
              <a:t>3</a:t>
            </a:r>
            <a:endParaRPr lang="en-US" altLang="zh-CN" sz="600" b="1" dirty="0">
              <a:solidFill>
                <a:schemeClr val="bg1"/>
              </a:solidFill>
              <a:latin typeface="微软雅黑" charset="0"/>
              <a:ea typeface="微软雅黑" charset="0"/>
              <a:cs typeface="微软雅黑" charset="0"/>
            </a:endParaRPr>
          </a:p>
        </p:txBody>
      </p:sp>
      <p:sp>
        <p:nvSpPr>
          <p:cNvPr id="196" name="object 40"/>
          <p:cNvSpPr/>
          <p:nvPr>
            <p:custDataLst>
              <p:tags r:id="rId28"/>
            </p:custDataLst>
          </p:nvPr>
        </p:nvSpPr>
        <p:spPr>
          <a:xfrm rot="5400000">
            <a:off x="7894955" y="5411470"/>
            <a:ext cx="120015" cy="93345"/>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ln>
            <a:solidFill>
              <a:srgbClr val="4472C4"/>
            </a:solidFill>
          </a:ln>
        </p:spPr>
        <p:style>
          <a:lnRef idx="0">
            <a:srgbClr val="FFFFFF"/>
          </a:lnRef>
          <a:fillRef idx="1">
            <a:schemeClr val="accent1"/>
          </a:fillRef>
          <a:effectRef idx="0">
            <a:srgbClr val="FFFFFF"/>
          </a:effectRef>
          <a:fontRef idx="minor">
            <a:schemeClr val="lt1"/>
          </a:fontRef>
        </p:style>
        <p:txBody>
          <a:bodyPr wrap="square" lIns="0" tIns="0" rIns="0" bIns="0" rtlCol="0"/>
          <a:lstStyle/>
          <a:p>
            <a:endParaRPr sz="1600">
              <a:latin typeface="微软雅黑" charset="0"/>
              <a:ea typeface="微软雅黑" charset="0"/>
            </a:endParaRPr>
          </a:p>
        </p:txBody>
      </p:sp>
      <p:sp>
        <p:nvSpPr>
          <p:cNvPr id="197" name="文本框 196"/>
          <p:cNvSpPr txBox="1"/>
          <p:nvPr>
            <p:custDataLst>
              <p:tags r:id="rId29"/>
            </p:custDataLst>
          </p:nvPr>
        </p:nvSpPr>
        <p:spPr>
          <a:xfrm>
            <a:off x="6737350" y="5014595"/>
            <a:ext cx="567690" cy="213995"/>
          </a:xfrm>
          <a:prstGeom prst="rect">
            <a:avLst/>
          </a:prstGeom>
          <a:noFill/>
        </p:spPr>
        <p:txBody>
          <a:bodyPr wrap="square" rtlCol="0" anchor="t">
            <a:spAutoFit/>
          </a:bodyPr>
          <a:lstStyle/>
          <a:p>
            <a:pPr algn="l"/>
            <a:r>
              <a:rPr lang="en-US" sz="800" b="1" dirty="0">
                <a:solidFill>
                  <a:schemeClr val="tx1"/>
                </a:solidFill>
                <a:latin typeface="微软雅黑" charset="0"/>
                <a:ea typeface="微软雅黑" charset="0"/>
                <a:cs typeface="微软雅黑" charset="0"/>
                <a:sym typeface="+mn-ea"/>
              </a:rPr>
              <a:t>0</a:t>
            </a:r>
            <a:r>
              <a:rPr lang="zh-CN" altLang="en-US" sz="800" b="1" dirty="0">
                <a:solidFill>
                  <a:schemeClr val="tx1"/>
                </a:solidFill>
                <a:latin typeface="微软雅黑" charset="0"/>
                <a:ea typeface="微软雅黑" charset="0"/>
                <a:cs typeface="微软雅黑" charset="0"/>
                <a:sym typeface="+mn-ea"/>
              </a:rPr>
              <a:t>成长值</a:t>
            </a:r>
            <a:endParaRPr lang="zh-CN" altLang="en-US" sz="800" b="1" dirty="0">
              <a:solidFill>
                <a:schemeClr val="tx1"/>
              </a:solidFill>
              <a:latin typeface="微软雅黑" charset="0"/>
              <a:ea typeface="微软雅黑" charset="0"/>
              <a:cs typeface="微软雅黑" charset="0"/>
              <a:sym typeface="+mn-ea"/>
            </a:endParaRPr>
          </a:p>
        </p:txBody>
      </p:sp>
      <p:sp>
        <p:nvSpPr>
          <p:cNvPr id="198" name="文本框 197"/>
          <p:cNvSpPr txBox="1"/>
          <p:nvPr>
            <p:custDataLst>
              <p:tags r:id="rId30"/>
            </p:custDataLst>
          </p:nvPr>
        </p:nvSpPr>
        <p:spPr>
          <a:xfrm>
            <a:off x="7249795" y="5015230"/>
            <a:ext cx="762635" cy="213995"/>
          </a:xfrm>
          <a:prstGeom prst="rect">
            <a:avLst/>
          </a:prstGeom>
          <a:noFill/>
        </p:spPr>
        <p:txBody>
          <a:bodyPr wrap="square" rtlCol="0" anchor="t">
            <a:spAutoFit/>
          </a:bodyPr>
          <a:lstStyle/>
          <a:p>
            <a:pPr algn="l"/>
            <a:r>
              <a:rPr lang="en-US" sz="800" b="1" dirty="0">
                <a:latin typeface="微软雅黑" charset="0"/>
                <a:ea typeface="微软雅黑" charset="0"/>
                <a:cs typeface="微软雅黑" charset="0"/>
                <a:sym typeface="+mn-ea"/>
              </a:rPr>
              <a:t>5</a:t>
            </a:r>
            <a:r>
              <a:rPr lang="en-US" sz="800" b="1" dirty="0">
                <a:solidFill>
                  <a:schemeClr val="tx1"/>
                </a:solidFill>
                <a:latin typeface="微软雅黑" charset="0"/>
                <a:ea typeface="微软雅黑" charset="0"/>
                <a:cs typeface="微软雅黑" charset="0"/>
                <a:sym typeface="+mn-ea"/>
              </a:rPr>
              <a:t>000</a:t>
            </a:r>
            <a:r>
              <a:rPr lang="zh-CN" altLang="en-US" sz="800" b="1" dirty="0">
                <a:solidFill>
                  <a:schemeClr val="tx1"/>
                </a:solidFill>
                <a:latin typeface="微软雅黑" charset="0"/>
                <a:ea typeface="微软雅黑" charset="0"/>
                <a:cs typeface="微软雅黑" charset="0"/>
                <a:sym typeface="+mn-ea"/>
              </a:rPr>
              <a:t>成长值</a:t>
            </a:r>
            <a:endParaRPr lang="zh-CN" altLang="en-US" sz="800" b="1" dirty="0">
              <a:solidFill>
                <a:schemeClr val="tx1"/>
              </a:solidFill>
              <a:latin typeface="微软雅黑" charset="0"/>
              <a:ea typeface="微软雅黑" charset="0"/>
              <a:cs typeface="微软雅黑" charset="0"/>
              <a:sym typeface="+mn-ea"/>
            </a:endParaRPr>
          </a:p>
        </p:txBody>
      </p:sp>
      <p:sp>
        <p:nvSpPr>
          <p:cNvPr id="199" name="文本框 198"/>
          <p:cNvSpPr txBox="1"/>
          <p:nvPr>
            <p:custDataLst>
              <p:tags r:id="rId31"/>
            </p:custDataLst>
          </p:nvPr>
        </p:nvSpPr>
        <p:spPr>
          <a:xfrm>
            <a:off x="7935595" y="5011420"/>
            <a:ext cx="872490" cy="213995"/>
          </a:xfrm>
          <a:prstGeom prst="rect">
            <a:avLst/>
          </a:prstGeom>
          <a:noFill/>
        </p:spPr>
        <p:txBody>
          <a:bodyPr wrap="square" rtlCol="0" anchor="t">
            <a:spAutoFit/>
          </a:bodyPr>
          <a:lstStyle/>
          <a:p>
            <a:pPr algn="l"/>
            <a:r>
              <a:rPr lang="en-US" sz="800" b="1" dirty="0">
                <a:latin typeface="微软雅黑" charset="0"/>
                <a:ea typeface="微软雅黑" charset="0"/>
                <a:cs typeface="微软雅黑" charset="0"/>
                <a:sym typeface="+mn-ea"/>
              </a:rPr>
              <a:t>5</a:t>
            </a:r>
            <a:r>
              <a:rPr lang="en-US" sz="800" b="1" dirty="0">
                <a:solidFill>
                  <a:schemeClr val="tx1"/>
                </a:solidFill>
                <a:latin typeface="微软雅黑" charset="0"/>
                <a:ea typeface="微软雅黑" charset="0"/>
                <a:cs typeface="微软雅黑" charset="0"/>
                <a:sym typeface="+mn-ea"/>
              </a:rPr>
              <a:t>0000</a:t>
            </a:r>
            <a:r>
              <a:rPr lang="zh-CN" altLang="en-US" sz="800" b="1" dirty="0">
                <a:solidFill>
                  <a:schemeClr val="tx1"/>
                </a:solidFill>
                <a:latin typeface="微软雅黑" charset="0"/>
                <a:ea typeface="微软雅黑" charset="0"/>
                <a:cs typeface="微软雅黑" charset="0"/>
                <a:sym typeface="+mn-ea"/>
              </a:rPr>
              <a:t>成长值</a:t>
            </a:r>
            <a:endParaRPr lang="zh-CN" altLang="en-US" sz="800" b="1" dirty="0">
              <a:solidFill>
                <a:schemeClr val="tx1"/>
              </a:solidFill>
              <a:latin typeface="微软雅黑" charset="0"/>
              <a:ea typeface="微软雅黑" charset="0"/>
              <a:cs typeface="微软雅黑" charset="0"/>
              <a:sym typeface="+mn-ea"/>
            </a:endParaRPr>
          </a:p>
        </p:txBody>
      </p:sp>
      <p:sp>
        <p:nvSpPr>
          <p:cNvPr id="203" name="文本框 202"/>
          <p:cNvSpPr txBox="1"/>
          <p:nvPr>
            <p:custDataLst>
              <p:tags r:id="rId32"/>
            </p:custDataLst>
          </p:nvPr>
        </p:nvSpPr>
        <p:spPr>
          <a:xfrm>
            <a:off x="9472295" y="3519170"/>
            <a:ext cx="2426335" cy="968375"/>
          </a:xfrm>
          <a:prstGeom prst="rect">
            <a:avLst/>
          </a:prstGeom>
          <a:noFill/>
        </p:spPr>
        <p:txBody>
          <a:bodyPr wrap="square" rtlCol="0" anchor="t">
            <a:spAutoFit/>
          </a:bodyPr>
          <a:lstStyle/>
          <a:p>
            <a:pPr algn="l">
              <a:lnSpc>
                <a:spcPct val="150000"/>
              </a:lnSpc>
            </a:pPr>
            <a:r>
              <a:rPr lang="en-US" altLang="zh-CN" sz="1400" b="1" dirty="0">
                <a:latin typeface="微软雅黑" charset="0"/>
                <a:ea typeface="微软雅黑" charset="0"/>
                <a:cs typeface="微软雅黑" charset="0"/>
                <a:sym typeface="+mn-ea"/>
              </a:rPr>
              <a:t>11</a:t>
            </a:r>
            <a:r>
              <a:rPr lang="zh-CN" altLang="en-US" sz="1400" b="1" dirty="0">
                <a:latin typeface="微软雅黑" charset="0"/>
                <a:ea typeface="微软雅黑" charset="0"/>
                <a:cs typeface="微软雅黑" charset="0"/>
                <a:sym typeface="+mn-ea"/>
              </a:rPr>
              <a:t>、【权益内容】</a:t>
            </a:r>
            <a:endParaRPr lang="zh-CN" altLang="en-US" sz="1400" b="1" dirty="0">
              <a:latin typeface="微软雅黑" charset="0"/>
              <a:ea typeface="微软雅黑" charset="0"/>
              <a:cs typeface="微软雅黑" charset="0"/>
              <a:sym typeface="+mn-ea"/>
            </a:endParaRPr>
          </a:p>
          <a:p>
            <a:pPr algn="l">
              <a:lnSpc>
                <a:spcPct val="150000"/>
              </a:lnSpc>
            </a:pPr>
            <a:r>
              <a:rPr lang="zh-CN" altLang="en-US" sz="1200" dirty="0">
                <a:latin typeface="微软雅黑" charset="0"/>
                <a:ea typeface="微软雅黑" charset="0"/>
                <a:cs typeface="微软雅黑" charset="0"/>
                <a:sym typeface="+mn-ea"/>
              </a:rPr>
              <a:t>支持各个业务部门配置自己的权益</a:t>
            </a:r>
            <a:endParaRPr lang="zh-CN" altLang="en-US" sz="1200" dirty="0">
              <a:latin typeface="微软雅黑" charset="0"/>
              <a:ea typeface="微软雅黑" charset="0"/>
              <a:cs typeface="微软雅黑" charset="0"/>
              <a:sym typeface="+mn-ea"/>
            </a:endParaRPr>
          </a:p>
        </p:txBody>
      </p:sp>
      <p:sp>
        <p:nvSpPr>
          <p:cNvPr id="204" name="文本框 203"/>
          <p:cNvSpPr txBox="1"/>
          <p:nvPr>
            <p:custDataLst>
              <p:tags r:id="rId33"/>
            </p:custDataLst>
          </p:nvPr>
        </p:nvSpPr>
        <p:spPr>
          <a:xfrm>
            <a:off x="6795135" y="5564505"/>
            <a:ext cx="1435100" cy="213995"/>
          </a:xfrm>
          <a:prstGeom prst="rect">
            <a:avLst/>
          </a:prstGeom>
          <a:noFill/>
        </p:spPr>
        <p:txBody>
          <a:bodyPr wrap="square" rtlCol="0" anchor="t">
            <a:spAutoFit/>
          </a:bodyPr>
          <a:lstStyle/>
          <a:p>
            <a:pPr algn="l"/>
            <a:r>
              <a:rPr lang="zh-CN" altLang="en-US" sz="800" b="1" dirty="0">
                <a:solidFill>
                  <a:schemeClr val="bg1">
                    <a:lumMod val="65000"/>
                  </a:schemeClr>
                </a:solidFill>
                <a:latin typeface="微软雅黑" charset="0"/>
                <a:ea typeface="微软雅黑" charset="0"/>
                <a:sym typeface="+mn-ea"/>
              </a:rPr>
              <a:t>注：会员不执行降级规则</a:t>
            </a:r>
            <a:endParaRPr lang="zh-CN" altLang="en-US" sz="800" b="1" dirty="0">
              <a:solidFill>
                <a:schemeClr val="bg1">
                  <a:lumMod val="65000"/>
                </a:schemeClr>
              </a:solidFill>
              <a:latin typeface="微软雅黑" charset="0"/>
              <a:ea typeface="微软雅黑" charset="0"/>
              <a:sym typeface="+mn-ea"/>
            </a:endParaRPr>
          </a:p>
        </p:txBody>
      </p:sp>
      <p:sp>
        <p:nvSpPr>
          <p:cNvPr id="209" name="文本框 208"/>
          <p:cNvSpPr txBox="1"/>
          <p:nvPr/>
        </p:nvSpPr>
        <p:spPr>
          <a:xfrm>
            <a:off x="6315075" y="4034155"/>
            <a:ext cx="3242945" cy="2593340"/>
          </a:xfrm>
          <a:prstGeom prst="rect">
            <a:avLst/>
          </a:prstGeom>
          <a:noFill/>
        </p:spPr>
        <p:txBody>
          <a:bodyPr wrap="square" rtlCol="0" anchor="t">
            <a:spAutoFit/>
          </a:bodyPr>
          <a:lstStyle/>
          <a:p>
            <a:pPr algn="l">
              <a:lnSpc>
                <a:spcPct val="150000"/>
              </a:lnSpc>
            </a:pPr>
            <a:r>
              <a:rPr lang="en-US" altLang="zh-CN" sz="1200" dirty="0">
                <a:latin typeface="微软雅黑" charset="0"/>
                <a:ea typeface="微软雅黑" charset="0"/>
                <a:cs typeface="微软雅黑" charset="0"/>
                <a:sym typeface="+mn-ea"/>
              </a:rPr>
              <a:t>2</a:t>
            </a:r>
            <a:r>
              <a:rPr lang="zh-CN" altLang="en-US" sz="1200" dirty="0">
                <a:latin typeface="微软雅黑" charset="0"/>
                <a:ea typeface="微软雅黑" charset="0"/>
                <a:cs typeface="微软雅黑" charset="0"/>
                <a:sym typeface="+mn-ea"/>
              </a:rPr>
              <a:t>、</a:t>
            </a:r>
            <a:r>
              <a:rPr lang="zh-CN" altLang="en-US" sz="1400" b="1" dirty="0">
                <a:solidFill>
                  <a:srgbClr val="4472C4"/>
                </a:solidFill>
                <a:latin typeface="微软雅黑" charset="0"/>
                <a:ea typeface="微软雅黑" charset="0"/>
                <a:cs typeface="微软雅黑" charset="0"/>
                <a:sym typeface="+mn-ea"/>
              </a:rPr>
              <a:t>三级会员制度、会员只升级不降级</a:t>
            </a:r>
            <a:endParaRPr lang="zh-CN" altLang="en-US" sz="1400" b="1" dirty="0">
              <a:solidFill>
                <a:srgbClr val="4472C4"/>
              </a:solidFill>
              <a:latin typeface="微软雅黑" charset="0"/>
              <a:ea typeface="微软雅黑" charset="0"/>
              <a:cs typeface="微软雅黑" charset="0"/>
              <a:sym typeface="+mn-ea"/>
            </a:endParaRPr>
          </a:p>
          <a:p>
            <a:pPr algn="l">
              <a:lnSpc>
                <a:spcPct val="150000"/>
              </a:lnSpc>
            </a:pPr>
            <a:r>
              <a:rPr lang="en-US" altLang="zh-CN" sz="1200" dirty="0">
                <a:solidFill>
                  <a:schemeClr val="tx1"/>
                </a:solidFill>
                <a:latin typeface="微软雅黑" charset="0"/>
                <a:ea typeface="微软雅黑" charset="0"/>
                <a:cs typeface="微软雅黑" charset="0"/>
                <a:sym typeface="+mn-ea"/>
              </a:rPr>
              <a:t>3</a:t>
            </a:r>
            <a:r>
              <a:rPr lang="zh-CN" altLang="en-US" sz="1200" dirty="0">
                <a:solidFill>
                  <a:schemeClr val="tx1"/>
                </a:solidFill>
                <a:latin typeface="微软雅黑" charset="0"/>
                <a:ea typeface="微软雅黑" charset="0"/>
                <a:cs typeface="微软雅黑" charset="0"/>
                <a:sym typeface="+mn-ea"/>
              </a:rPr>
              <a:t>、</a:t>
            </a:r>
            <a:r>
              <a:rPr lang="zh-CN" altLang="en-US" sz="1200" dirty="0">
                <a:latin typeface="微软雅黑" charset="0"/>
                <a:ea typeface="微软雅黑" charset="0"/>
                <a:cs typeface="微软雅黑" charset="0"/>
                <a:sym typeface="+mn-ea"/>
              </a:rPr>
              <a:t>会员升降级门槛：</a:t>
            </a:r>
            <a:r>
              <a:rPr lang="en-US" altLang="zh-CN" sz="1200" b="1" dirty="0">
                <a:latin typeface="微软雅黑" charset="0"/>
                <a:ea typeface="微软雅黑" charset="0"/>
                <a:cs typeface="微软雅黑" charset="0"/>
                <a:sym typeface="+mn-ea"/>
              </a:rPr>
              <a:t>0</a:t>
            </a:r>
            <a:r>
              <a:rPr lang="zh-CN" altLang="en-US" sz="1200" b="1" dirty="0">
                <a:latin typeface="微软雅黑" charset="0"/>
                <a:ea typeface="微软雅黑" charset="0"/>
                <a:cs typeface="微软雅黑" charset="0"/>
                <a:sym typeface="+mn-ea"/>
              </a:rPr>
              <a:t>、</a:t>
            </a:r>
            <a:r>
              <a:rPr lang="en-US" altLang="zh-CN" sz="1200" b="1" dirty="0">
                <a:latin typeface="微软雅黑" charset="0"/>
                <a:ea typeface="微软雅黑" charset="0"/>
                <a:cs typeface="微软雅黑" charset="0"/>
                <a:sym typeface="+mn-ea"/>
              </a:rPr>
              <a:t>5000</a:t>
            </a:r>
            <a:r>
              <a:rPr lang="zh-CN" altLang="en-US" sz="1200" b="1" dirty="0">
                <a:latin typeface="微软雅黑" charset="0"/>
                <a:ea typeface="微软雅黑" charset="0"/>
                <a:cs typeface="微软雅黑" charset="0"/>
                <a:sym typeface="+mn-ea"/>
              </a:rPr>
              <a:t>、</a:t>
            </a:r>
            <a:r>
              <a:rPr lang="en-US" altLang="zh-CN" sz="1200" b="1" dirty="0">
                <a:latin typeface="微软雅黑" charset="0"/>
                <a:ea typeface="微软雅黑" charset="0"/>
                <a:cs typeface="微软雅黑" charset="0"/>
                <a:sym typeface="+mn-ea"/>
              </a:rPr>
              <a:t>50000</a:t>
            </a:r>
            <a:endParaRPr lang="en-US" altLang="zh-CN" sz="1200" b="1" dirty="0">
              <a:latin typeface="微软雅黑" charset="0"/>
              <a:ea typeface="微软雅黑" charset="0"/>
              <a:cs typeface="微软雅黑" charset="0"/>
              <a:sym typeface="+mn-ea"/>
            </a:endParaRPr>
          </a:p>
          <a:p>
            <a:pPr algn="l">
              <a:lnSpc>
                <a:spcPct val="150000"/>
              </a:lnSpc>
            </a:pPr>
            <a:endParaRPr lang="en-US" altLang="zh-CN" sz="1200" b="1" dirty="0">
              <a:latin typeface="微软雅黑" charset="0"/>
              <a:ea typeface="微软雅黑" charset="0"/>
              <a:cs typeface="微软雅黑" charset="0"/>
              <a:sym typeface="+mn-ea"/>
            </a:endParaRPr>
          </a:p>
          <a:p>
            <a:pPr algn="l">
              <a:lnSpc>
                <a:spcPct val="150000"/>
              </a:lnSpc>
            </a:pPr>
            <a:endParaRPr lang="en-US" altLang="zh-CN" sz="1200" b="1" dirty="0">
              <a:latin typeface="微软雅黑" charset="0"/>
              <a:ea typeface="微软雅黑" charset="0"/>
              <a:cs typeface="微软雅黑" charset="0"/>
              <a:sym typeface="+mn-ea"/>
            </a:endParaRPr>
          </a:p>
          <a:p>
            <a:pPr algn="l">
              <a:lnSpc>
                <a:spcPct val="150000"/>
              </a:lnSpc>
            </a:pPr>
            <a:endParaRPr lang="en-US" altLang="zh-CN" sz="1200" b="1" dirty="0">
              <a:latin typeface="微软雅黑" charset="0"/>
              <a:ea typeface="微软雅黑" charset="0"/>
              <a:cs typeface="微软雅黑" charset="0"/>
              <a:sym typeface="+mn-ea"/>
            </a:endParaRPr>
          </a:p>
          <a:p>
            <a:pPr algn="l">
              <a:lnSpc>
                <a:spcPct val="150000"/>
              </a:lnSpc>
            </a:pPr>
            <a:endParaRPr lang="en-US" altLang="zh-CN" sz="1200" b="1" dirty="0">
              <a:latin typeface="微软雅黑" charset="0"/>
              <a:ea typeface="微软雅黑" charset="0"/>
              <a:cs typeface="微软雅黑" charset="0"/>
              <a:sym typeface="+mn-ea"/>
            </a:endParaRPr>
          </a:p>
          <a:p>
            <a:pPr algn="l">
              <a:lnSpc>
                <a:spcPct val="150000"/>
              </a:lnSpc>
            </a:pPr>
            <a:r>
              <a:rPr lang="en-US" altLang="zh-CN" sz="1200" dirty="0">
                <a:latin typeface="微软雅黑" charset="0"/>
                <a:ea typeface="微软雅黑" charset="0"/>
                <a:cs typeface="微软雅黑" charset="0"/>
                <a:sym typeface="+mn-ea"/>
              </a:rPr>
              <a:t>4</a:t>
            </a:r>
            <a:r>
              <a:rPr lang="zh-CN" altLang="en-US" sz="1200" dirty="0">
                <a:latin typeface="微软雅黑" charset="0"/>
                <a:ea typeface="微软雅黑" charset="0"/>
                <a:cs typeface="微软雅黑" charset="0"/>
                <a:sym typeface="+mn-ea"/>
              </a:rPr>
              <a:t>、会员及会员等级名称：</a:t>
            </a:r>
            <a:endParaRPr lang="zh-CN" altLang="en-US" sz="1200" dirty="0">
              <a:latin typeface="微软雅黑" charset="0"/>
              <a:ea typeface="微软雅黑" charset="0"/>
              <a:cs typeface="微软雅黑" charset="0"/>
              <a:sym typeface="+mn-ea"/>
            </a:endParaRPr>
          </a:p>
          <a:p>
            <a:pPr algn="l">
              <a:lnSpc>
                <a:spcPct val="120000"/>
              </a:lnSpc>
              <a:spcBef>
                <a:spcPts val="0"/>
              </a:spcBef>
              <a:spcAft>
                <a:spcPts val="0"/>
              </a:spcAft>
            </a:pPr>
            <a:r>
              <a:rPr lang="zh-CN" altLang="en-US" sz="1200" dirty="0">
                <a:latin typeface="微软雅黑" charset="0"/>
                <a:ea typeface="微软雅黑" charset="0"/>
                <a:cs typeface="微软雅黑" charset="0"/>
                <a:sym typeface="+mn-ea"/>
              </a:rPr>
              <a:t>确定</a:t>
            </a:r>
            <a:r>
              <a:rPr lang="zh-CN" altLang="en-US" sz="1400" b="1" dirty="0">
                <a:solidFill>
                  <a:srgbClr val="4472C4"/>
                </a:solidFill>
                <a:latin typeface="微软雅黑" charset="0"/>
                <a:ea typeface="微软雅黑" charset="0"/>
                <a:cs typeface="微软雅黑" charset="0"/>
                <a:sym typeface="+mn-ea"/>
              </a:rPr>
              <a:t>大会员</a:t>
            </a:r>
            <a:r>
              <a:rPr lang="en-US" altLang="zh-CN" sz="1400" b="1" dirty="0">
                <a:solidFill>
                  <a:srgbClr val="4472C4"/>
                </a:solidFill>
                <a:latin typeface="微软雅黑" charset="0"/>
                <a:ea typeface="微软雅黑" charset="0"/>
                <a:cs typeface="微软雅黑" charset="0"/>
                <a:sym typeface="+mn-ea"/>
              </a:rPr>
              <a:t>(</a:t>
            </a:r>
            <a:r>
              <a:rPr lang="zh-CN" altLang="en-US" sz="1400" b="1" dirty="0">
                <a:solidFill>
                  <a:srgbClr val="4472C4"/>
                </a:solidFill>
                <a:latin typeface="微软雅黑" charset="0"/>
                <a:ea typeface="微软雅黑" charset="0"/>
                <a:cs typeface="微软雅黑" charset="0"/>
                <a:sym typeface="+mn-ea"/>
              </a:rPr>
              <a:t>积分</a:t>
            </a:r>
            <a:r>
              <a:rPr lang="en-US" altLang="zh-CN" sz="1400" b="1" dirty="0">
                <a:solidFill>
                  <a:srgbClr val="4472C4"/>
                </a:solidFill>
                <a:latin typeface="微软雅黑" charset="0"/>
                <a:ea typeface="微软雅黑" charset="0"/>
                <a:cs typeface="微软雅黑" charset="0"/>
                <a:sym typeface="+mn-ea"/>
              </a:rPr>
              <a:t>)</a:t>
            </a:r>
            <a:r>
              <a:rPr lang="zh-CN" altLang="en-US" sz="1400" b="1" dirty="0">
                <a:solidFill>
                  <a:srgbClr val="4472C4"/>
                </a:solidFill>
                <a:latin typeface="微软雅黑" charset="0"/>
                <a:ea typeface="微软雅黑" charset="0"/>
                <a:cs typeface="微软雅黑" charset="0"/>
                <a:sym typeface="+mn-ea"/>
              </a:rPr>
              <a:t>名称、各等级段会员名称、成长值名称</a:t>
            </a:r>
            <a:r>
              <a:rPr lang="zh-CN" altLang="en-US" sz="1200" dirty="0">
                <a:latin typeface="微软雅黑" charset="0"/>
                <a:ea typeface="微软雅黑" charset="0"/>
                <a:cs typeface="微软雅黑" charset="0"/>
                <a:sym typeface="+mn-ea"/>
              </a:rPr>
              <a:t>。</a:t>
            </a:r>
            <a:endParaRPr lang="zh-CN" altLang="en-US" sz="1200" dirty="0">
              <a:latin typeface="微软雅黑" charset="0"/>
              <a:ea typeface="微软雅黑" charset="0"/>
              <a:cs typeface="微软雅黑" charset="0"/>
              <a:sym typeface="+mn-ea"/>
            </a:endParaRPr>
          </a:p>
        </p:txBody>
      </p:sp>
      <p:sp>
        <p:nvSpPr>
          <p:cNvPr id="210" name="文本框 209"/>
          <p:cNvSpPr txBox="1"/>
          <p:nvPr>
            <p:custDataLst>
              <p:tags r:id="rId34"/>
            </p:custDataLst>
          </p:nvPr>
        </p:nvSpPr>
        <p:spPr>
          <a:xfrm>
            <a:off x="6329362" y="3695741"/>
            <a:ext cx="3090545" cy="414020"/>
          </a:xfrm>
          <a:prstGeom prst="rect">
            <a:avLst/>
          </a:prstGeom>
          <a:noFill/>
        </p:spPr>
        <p:txBody>
          <a:bodyPr wrap="square" rtlCol="0" anchor="t">
            <a:spAutoFit/>
          </a:bodyPr>
          <a:lstStyle/>
          <a:p>
            <a:pPr algn="l">
              <a:lnSpc>
                <a:spcPct val="150000"/>
              </a:lnSpc>
            </a:pPr>
            <a:r>
              <a:rPr lang="en-US" altLang="zh-CN" sz="1200" dirty="0">
                <a:latin typeface="微软雅黑" charset="0"/>
                <a:ea typeface="微软雅黑" charset="0"/>
                <a:cs typeface="微软雅黑" charset="0"/>
                <a:sym typeface="+mn-ea"/>
              </a:rPr>
              <a:t>1</a:t>
            </a:r>
            <a:r>
              <a:rPr lang="zh-CN" altLang="en-US" sz="1200" dirty="0">
                <a:latin typeface="微软雅黑" charset="0"/>
                <a:ea typeface="微软雅黑" charset="0"/>
                <a:cs typeface="微软雅黑" charset="0"/>
                <a:sym typeface="+mn-ea"/>
              </a:rPr>
              <a:t>、</a:t>
            </a:r>
            <a:r>
              <a:rPr lang="zh-CN" sz="1200" dirty="0">
                <a:latin typeface="微软雅黑" charset="0"/>
                <a:ea typeface="微软雅黑" charset="0"/>
                <a:cs typeface="微软雅黑" charset="0"/>
                <a:sym typeface="+mn-ea"/>
              </a:rPr>
              <a:t>采用</a:t>
            </a:r>
            <a:r>
              <a:rPr lang="en-US" altLang="zh-CN" sz="1200" dirty="0">
                <a:latin typeface="微软雅黑" charset="0"/>
                <a:ea typeface="微软雅黑" charset="0"/>
                <a:cs typeface="微软雅黑" charset="0"/>
                <a:sym typeface="+mn-ea"/>
              </a:rPr>
              <a:t>“</a:t>
            </a:r>
            <a:r>
              <a:rPr lang="zh-CN" sz="1400" b="1" dirty="0">
                <a:latin typeface="微软雅黑" charset="0"/>
                <a:ea typeface="微软雅黑" charset="0"/>
                <a:cs typeface="微软雅黑" charset="0"/>
                <a:sym typeface="+mn-ea"/>
              </a:rPr>
              <a:t>会员交易模型</a:t>
            </a:r>
            <a:r>
              <a:rPr lang="en-US" altLang="zh-CN" sz="1200" dirty="0">
                <a:latin typeface="微软雅黑" charset="0"/>
                <a:ea typeface="微软雅黑" charset="0"/>
                <a:cs typeface="微软雅黑" charset="0"/>
                <a:sym typeface="+mn-ea"/>
              </a:rPr>
              <a:t>”</a:t>
            </a:r>
            <a:r>
              <a:rPr lang="zh-CN" altLang="en-US" sz="1200" dirty="0">
                <a:latin typeface="微软雅黑" charset="0"/>
                <a:ea typeface="微软雅黑" charset="0"/>
                <a:cs typeface="微软雅黑" charset="0"/>
                <a:sym typeface="+mn-ea"/>
              </a:rPr>
              <a:t>核算会员等级</a:t>
            </a:r>
            <a:endParaRPr lang="zh-CN" altLang="en-US" sz="1200" dirty="0">
              <a:latin typeface="微软雅黑" charset="0"/>
              <a:ea typeface="微软雅黑" charset="0"/>
              <a:cs typeface="微软雅黑" charset="0"/>
              <a:sym typeface="+mn-ea"/>
            </a:endParaRPr>
          </a:p>
        </p:txBody>
      </p:sp>
      <p:sp>
        <p:nvSpPr>
          <p:cNvPr id="168" name="文本框 167"/>
          <p:cNvSpPr txBox="1"/>
          <p:nvPr>
            <p:custDataLst>
              <p:tags r:id="rId35"/>
            </p:custDataLst>
          </p:nvPr>
        </p:nvSpPr>
        <p:spPr>
          <a:xfrm>
            <a:off x="6315075" y="1002665"/>
            <a:ext cx="5947410" cy="460375"/>
          </a:xfrm>
          <a:prstGeom prst="rect">
            <a:avLst/>
          </a:prstGeom>
          <a:noFill/>
        </p:spPr>
        <p:txBody>
          <a:bodyPr wrap="square" rtlCol="0" anchor="t">
            <a:spAutoFit/>
          </a:bodyPr>
          <a:lstStyle/>
          <a:p>
            <a:pPr>
              <a:lnSpc>
                <a:spcPct val="150000"/>
              </a:lnSpc>
            </a:pPr>
            <a:r>
              <a:rPr lang="zh-CN" altLang="en-US" sz="1600" b="1" dirty="0">
                <a:solidFill>
                  <a:srgbClr val="4472C4"/>
                </a:solidFill>
                <a:latin typeface="微软雅黑" charset="0"/>
                <a:ea typeface="微软雅黑" charset="0"/>
                <a:cs typeface="微软雅黑" panose="020B0503020204020204" pitchFamily="34" charset="-122"/>
              </a:rPr>
              <a:t>四、数据通</a:t>
            </a:r>
            <a:endParaRPr lang="zh-CN" altLang="en-US" sz="1600" b="1" dirty="0">
              <a:solidFill>
                <a:srgbClr val="4472C4"/>
              </a:solidFill>
              <a:latin typeface="微软雅黑" charset="0"/>
              <a:ea typeface="微软雅黑" charset="0"/>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4" y="347980"/>
            <a:ext cx="9700895" cy="571500"/>
          </a:xfrm>
          <a:prstGeom prst="rect">
            <a:avLst/>
          </a:prstGeom>
          <a:noFill/>
        </p:spPr>
        <p:txBody>
          <a:bodyPr wrap="square" rtlCol="0">
            <a:noAutofit/>
          </a:bodyPr>
          <a:lstStyle/>
          <a:p>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mj-ea"/>
                <a:cs typeface="+mj-cs"/>
              </a:rPr>
              <a:t>关键设计要素说明——</a:t>
            </a:r>
            <a:r>
              <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mj-ea"/>
                <a:cs typeface="+mj-cs"/>
              </a:rPr>
              <a:t>积分价值</a:t>
            </a:r>
            <a:r>
              <a:rPr lang="zh-CN" altLang="en-US" sz="2800" b="1">
                <a:latin typeface="微软雅黑" panose="020B0503020204020204" pitchFamily="34" charset="-122"/>
                <a:ea typeface="+mj-ea"/>
                <a:cs typeface="+mj-cs"/>
              </a:rPr>
              <a:t>核算</a:t>
            </a:r>
            <a:r>
              <a:rPr lang="en-US" altLang="zh-CN" sz="2800" b="1">
                <a:latin typeface="微软雅黑" panose="020B0503020204020204" pitchFamily="34" charset="-122"/>
                <a:ea typeface="+mj-ea"/>
                <a:cs typeface="+mj-cs"/>
                <a:sym typeface="+mn-ea"/>
              </a:rPr>
              <a:t>_</a:t>
            </a:r>
            <a:r>
              <a:rPr lang="zh-CN" altLang="en-US" sz="2800" b="1">
                <a:latin typeface="微软雅黑" panose="020B0503020204020204" pitchFamily="34" charset="-122"/>
                <a:ea typeface="+mj-ea"/>
                <a:cs typeface="+mj-cs"/>
                <a:sym typeface="+mn-ea"/>
              </a:rPr>
              <a:t>华润规划内容</a:t>
            </a:r>
            <a:endParaRPr lang="zh-CN" altLang="en-US" sz="2800" b="1" dirty="0">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7" name="圆角矩形 6"/>
          <p:cNvSpPr/>
          <p:nvPr>
            <p:custDataLst>
              <p:tags r:id="rId1"/>
            </p:custDataLst>
          </p:nvPr>
        </p:nvSpPr>
        <p:spPr>
          <a:xfrm>
            <a:off x="3491230" y="3286760"/>
            <a:ext cx="5001260" cy="3340100"/>
          </a:xfrm>
          <a:prstGeom prst="roundRect">
            <a:avLst>
              <a:gd name="adj" fmla="val 1700"/>
            </a:avLst>
          </a:prstGeom>
          <a:noFill/>
          <a:ln w="3175">
            <a:solidFill>
              <a:srgbClr val="205CC6"/>
            </a:solidFill>
            <a:prstDash val="solid"/>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53" name="圆角矩形 52"/>
          <p:cNvSpPr/>
          <p:nvPr>
            <p:custDataLst>
              <p:tags r:id="rId2"/>
            </p:custDataLst>
          </p:nvPr>
        </p:nvSpPr>
        <p:spPr>
          <a:xfrm>
            <a:off x="85090" y="1158240"/>
            <a:ext cx="11975465" cy="5633085"/>
          </a:xfrm>
          <a:prstGeom prst="roundRect">
            <a:avLst>
              <a:gd name="adj" fmla="val 1579"/>
            </a:avLst>
          </a:prstGeom>
          <a:noFill/>
          <a:ln>
            <a:solidFill>
              <a:srgbClr val="99B1DE"/>
            </a:solidFill>
            <a:prstDash val="dash"/>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3"/>
            </p:custDataLst>
          </p:nvPr>
        </p:nvSpPr>
        <p:spPr>
          <a:xfrm>
            <a:off x="4069715" y="2025015"/>
            <a:ext cx="4269740" cy="740410"/>
          </a:xfrm>
          <a:prstGeom prst="rect">
            <a:avLst/>
          </a:prstGeom>
          <a:noFill/>
        </p:spPr>
        <p:txBody>
          <a:bodyPr wrap="square" rtlCol="0" anchor="t">
            <a:noAutofit/>
          </a:bodyPr>
          <a:lstStyle/>
          <a:p>
            <a:pPr algn="ctr">
              <a:lnSpc>
                <a:spcPct val="150000"/>
              </a:lnSpc>
            </a:pPr>
            <a:r>
              <a:rPr lang="en-US" altLang="zh-CN" sz="2800"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800"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rPr>
              <a:t>0.004</a:t>
            </a:r>
            <a:r>
              <a:rPr lang="zh-CN" altLang="en-US" sz="2800"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en-US" altLang="zh-CN" sz="2800" b="1" dirty="0">
              <a:solidFill>
                <a:srgbClr val="205CC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文本框 37"/>
          <p:cNvSpPr txBox="1"/>
          <p:nvPr>
            <p:custDataLst>
              <p:tags r:id="rId4"/>
            </p:custDataLst>
          </p:nvPr>
        </p:nvSpPr>
        <p:spPr>
          <a:xfrm>
            <a:off x="41910" y="1174750"/>
            <a:ext cx="4200525" cy="559435"/>
          </a:xfrm>
          <a:prstGeom prst="rect">
            <a:avLst/>
          </a:prstGeom>
          <a:noFill/>
        </p:spPr>
        <p:txBody>
          <a:bodyPr wrap="square">
            <a:noAutofit/>
          </a:bodyPr>
          <a:lstStyle/>
          <a:p>
            <a:pPr indent="0">
              <a:lnSpc>
                <a:spcPct val="150000"/>
              </a:lnSpc>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sym typeface="+mn-ea"/>
              </a:rPr>
              <a:t>【设计要素】积分价值核算</a:t>
            </a:r>
            <a:r>
              <a:rPr lang="zh-CN" altLang="en-US" sz="1400" b="1" dirty="0">
                <a:latin typeface="微软雅黑" panose="020B0503020204020204" pitchFamily="34" charset="-122"/>
                <a:ea typeface="微软雅黑" panose="020B0503020204020204" pitchFamily="34" charset="-122"/>
                <a:sym typeface="+mn-ea"/>
              </a:rPr>
              <a:t>：</a:t>
            </a:r>
            <a:endParaRPr lang="en-US" altLang="zh-CN" sz="1400" b="1" dirty="0">
              <a:latin typeface="微软雅黑" panose="020B0503020204020204" pitchFamily="34" charset="-122"/>
              <a:ea typeface="微软雅黑" panose="020B0503020204020204" pitchFamily="34" charset="-122"/>
              <a:sym typeface="+mn-ea"/>
            </a:endParaRPr>
          </a:p>
        </p:txBody>
      </p:sp>
      <p:sp>
        <p:nvSpPr>
          <p:cNvPr id="43" name="文本框 42"/>
          <p:cNvSpPr txBox="1"/>
          <p:nvPr>
            <p:custDataLst>
              <p:tags r:id="rId5"/>
            </p:custDataLst>
          </p:nvPr>
        </p:nvSpPr>
        <p:spPr>
          <a:xfrm>
            <a:off x="400050" y="3341370"/>
            <a:ext cx="2103755" cy="525145"/>
          </a:xfrm>
          <a:prstGeom prst="rect">
            <a:avLst/>
          </a:prstGeom>
          <a:noFill/>
        </p:spPr>
        <p:txBody>
          <a:bodyPr wrap="square">
            <a:noAutofit/>
          </a:bodyPr>
          <a:lstStyle/>
          <a:p>
            <a:pPr indent="0">
              <a:lnSpc>
                <a:spcPct val="150000"/>
              </a:lnSpc>
              <a:buFont typeface="Wingdings" panose="05000000000000000000" pitchFamily="2" charset="2"/>
              <a:buNone/>
            </a:pPr>
            <a:r>
              <a:rPr lang="zh-CN" sz="1400" b="1" dirty="0">
                <a:latin typeface="微软雅黑" panose="020B0503020204020204" pitchFamily="34" charset="-122"/>
                <a:ea typeface="微软雅黑" panose="020B0503020204020204" pitchFamily="34" charset="-122"/>
                <a:cs typeface="微软雅黑" panose="020B0503020204020204" pitchFamily="34" charset="-122"/>
                <a:sym typeface="+mn-ea"/>
              </a:rPr>
              <a:t>行业对标企业积分价值：</a:t>
            </a:r>
            <a:endParaRPr lang="zh-CN" sz="1400" b="1" dirty="0">
              <a:latin typeface="微软雅黑" panose="020B0503020204020204" pitchFamily="34" charset="-122"/>
              <a:ea typeface="微软雅黑" panose="020B0503020204020204" pitchFamily="34" charset="-122"/>
            </a:endParaRPr>
          </a:p>
        </p:txBody>
      </p:sp>
      <p:sp>
        <p:nvSpPr>
          <p:cNvPr id="6" name="圆角矩形 5"/>
          <p:cNvSpPr/>
          <p:nvPr>
            <p:custDataLst>
              <p:tags r:id="rId6"/>
            </p:custDataLst>
          </p:nvPr>
        </p:nvSpPr>
        <p:spPr>
          <a:xfrm>
            <a:off x="240665" y="3286760"/>
            <a:ext cx="3149600" cy="3327400"/>
          </a:xfrm>
          <a:prstGeom prst="roundRect">
            <a:avLst>
              <a:gd name="adj" fmla="val 1948"/>
            </a:avLst>
          </a:prstGeom>
          <a:noFill/>
          <a:ln w="3175">
            <a:solidFill>
              <a:srgbClr val="205CC6"/>
            </a:solidFill>
            <a:prstDash val="solid"/>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7"/>
            </p:custDataLst>
          </p:nvPr>
        </p:nvSpPr>
        <p:spPr>
          <a:xfrm>
            <a:off x="3539490" y="3331845"/>
            <a:ext cx="2509520" cy="525145"/>
          </a:xfrm>
          <a:prstGeom prst="rect">
            <a:avLst/>
          </a:prstGeom>
          <a:noFill/>
        </p:spPr>
        <p:txBody>
          <a:bodyPr wrap="square">
            <a:noAutofit/>
          </a:bodyPr>
          <a:lstStyle/>
          <a:p>
            <a:pPr indent="0">
              <a:lnSpc>
                <a:spcPct val="150000"/>
              </a:lnSpc>
              <a:buFont typeface="Wingdings" panose="05000000000000000000" pitchFamily="2" charset="2"/>
              <a:buNone/>
            </a:pPr>
            <a:r>
              <a:rPr lang="zh-CN" sz="1400" b="1" dirty="0">
                <a:latin typeface="微软雅黑" panose="020B0503020204020204" pitchFamily="34" charset="-122"/>
                <a:ea typeface="微软雅黑" panose="020B0503020204020204" pitchFamily="34" charset="-122"/>
                <a:cs typeface="微软雅黑" panose="020B0503020204020204" pitchFamily="34" charset="-122"/>
                <a:sym typeface="+mn-ea"/>
              </a:rPr>
              <a:t>各个业务线积分价值：</a:t>
            </a:r>
            <a:endParaRPr lang="zh-CN" sz="1400"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700405" y="4018915"/>
            <a:ext cx="2414905" cy="2188210"/>
          </a:xfrm>
          <a:prstGeom prst="rect">
            <a:avLst/>
          </a:prstGeom>
          <a:noFill/>
        </p:spPr>
        <p:txBody>
          <a:bodyPr wrap="square" rtlCol="0" anchor="t">
            <a:noAutofit/>
          </a:bodyPr>
          <a:lstStyle/>
          <a:p>
            <a:pPr indent="0">
              <a:lnSpc>
                <a:spcPct val="180000"/>
              </a:lnSpc>
              <a:spcBef>
                <a:spcPts val="0"/>
              </a:spcBef>
              <a:spcAft>
                <a:spcPts val="0"/>
              </a:spcAft>
              <a:buNone/>
            </a:pPr>
            <a:r>
              <a:rPr 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某润：</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=0.004</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80000"/>
              </a:lnSpc>
              <a:spcBef>
                <a:spcPts val="0"/>
              </a:spcBef>
              <a:spcAft>
                <a:spcPts val="0"/>
              </a:spcAft>
              <a:buNone/>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某秀：</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=0.02</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80000"/>
              </a:lnSpc>
              <a:spcBef>
                <a:spcPts val="0"/>
              </a:spcBef>
              <a:spcAft>
                <a:spcPts val="0"/>
              </a:spcAft>
              <a:buNone/>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某泰：</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=0.01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80000"/>
              </a:lnSpc>
              <a:spcBef>
                <a:spcPts val="0"/>
              </a:spcBef>
              <a:spcAft>
                <a:spcPts val="0"/>
              </a:spcAft>
              <a:buNone/>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某湖：</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80000"/>
              </a:lnSpc>
              <a:spcBef>
                <a:spcPts val="0"/>
              </a:spcBef>
              <a:spcAft>
                <a:spcPts val="0"/>
              </a:spcAft>
              <a:buNone/>
            </a:pPr>
            <a:r>
              <a:rPr 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某国信：</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积分</a:t>
            </a:r>
            <a:r>
              <a:rPr lang="en-US" altLang="zh-CN"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=0.01</a:t>
            </a: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p:cNvSpPr txBox="1"/>
          <p:nvPr/>
        </p:nvSpPr>
        <p:spPr>
          <a:xfrm>
            <a:off x="8665845" y="3780155"/>
            <a:ext cx="3260090" cy="2768600"/>
          </a:xfrm>
          <a:prstGeom prst="rect">
            <a:avLst/>
          </a:prstGeom>
          <a:noFill/>
        </p:spPr>
        <p:txBody>
          <a:bodyPr wrap="square" rtlCol="0" anchor="t">
            <a:spAutoFit/>
          </a:bodyPr>
          <a:lstStyle/>
          <a:p>
            <a:pPr indent="0">
              <a:lnSpc>
                <a:spcPct val="150000"/>
              </a:lnSpc>
              <a:buFont typeface="Wingdings" panose="05000000000000000000" pitchFamily="2" charset="2"/>
              <a:buNone/>
            </a:pPr>
            <a:r>
              <a:rPr lang="zh-CN" altLang="en-US" sz="1400" b="1" dirty="0">
                <a:latin typeface="微软雅黑" panose="020B0503020204020204" pitchFamily="34" charset="-122"/>
                <a:ea typeface="微软雅黑" panose="020B0503020204020204" pitchFamily="34" charset="-122"/>
                <a:sym typeface="+mn-ea"/>
              </a:rPr>
              <a:t>积分价值低优点：</a:t>
            </a:r>
            <a:endParaRPr lang="en-US" altLang="zh-CN" sz="1400" b="1"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pitchFamily="2" charset="2"/>
              <a:buNone/>
            </a:pPr>
            <a:r>
              <a:rPr lang="en-US" altLang="zh-CN" sz="1100" dirty="0">
                <a:latin typeface="微软雅黑" panose="020B0503020204020204" pitchFamily="34" charset="-122"/>
                <a:ea typeface="微软雅黑" panose="020B0503020204020204" pitchFamily="34" charset="-122"/>
                <a:sym typeface="+mn-ea"/>
              </a:rPr>
              <a:t>1</a:t>
            </a:r>
            <a:r>
              <a:rPr lang="zh-CN" altLang="en-US" sz="1100" dirty="0">
                <a:latin typeface="微软雅黑" panose="020B0503020204020204" pitchFamily="34" charset="-122"/>
                <a:ea typeface="微软雅黑" panose="020B0503020204020204" pitchFamily="34" charset="-122"/>
                <a:sym typeface="+mn-ea"/>
              </a:rPr>
              <a:t>、积分价值低更多满足低频、低单价的场景。例如，</a:t>
            </a:r>
            <a:r>
              <a:rPr lang="en-US" altLang="zh-CN" sz="1100" dirty="0">
                <a:latin typeface="微软雅黑" panose="020B0503020204020204" pitchFamily="34" charset="-122"/>
                <a:ea typeface="微软雅黑" panose="020B0503020204020204" pitchFamily="34" charset="-122"/>
                <a:sym typeface="+mn-ea"/>
              </a:rPr>
              <a:t>“1</a:t>
            </a:r>
            <a:r>
              <a:rPr lang="zh-CN" altLang="en-US" sz="1100" dirty="0">
                <a:latin typeface="微软雅黑" panose="020B0503020204020204" pitchFamily="34" charset="-122"/>
                <a:ea typeface="微软雅黑" panose="020B0503020204020204" pitchFamily="34" charset="-122"/>
                <a:sym typeface="+mn-ea"/>
              </a:rPr>
              <a:t>元积</a:t>
            </a:r>
            <a:r>
              <a:rPr lang="en-US" altLang="zh-CN" sz="1100" dirty="0">
                <a:latin typeface="微软雅黑" panose="020B0503020204020204" pitchFamily="34" charset="-122"/>
                <a:ea typeface="微软雅黑" panose="020B0503020204020204" pitchFamily="34" charset="-122"/>
                <a:sym typeface="+mn-ea"/>
              </a:rPr>
              <a:t>10</a:t>
            </a:r>
            <a:r>
              <a:rPr lang="zh-CN" altLang="en-US" sz="1100" dirty="0">
                <a:latin typeface="微软雅黑" panose="020B0503020204020204" pitchFamily="34" charset="-122"/>
                <a:ea typeface="微软雅黑" panose="020B0503020204020204" pitchFamily="34" charset="-122"/>
                <a:sym typeface="+mn-ea"/>
              </a:rPr>
              <a:t>分</a:t>
            </a:r>
            <a:r>
              <a:rPr lang="en-US" altLang="zh-CN" sz="1100" dirty="0">
                <a:latin typeface="微软雅黑" panose="020B0503020204020204" pitchFamily="34" charset="-122"/>
                <a:ea typeface="微软雅黑" panose="020B0503020204020204" pitchFamily="34" charset="-122"/>
                <a:sym typeface="+mn-ea"/>
              </a:rPr>
              <a:t>”</a:t>
            </a:r>
            <a:r>
              <a:rPr lang="zh-CN" altLang="en-US" sz="1100" dirty="0">
                <a:latin typeface="微软雅黑" panose="020B0503020204020204" pitchFamily="34" charset="-122"/>
                <a:ea typeface="微软雅黑" panose="020B0503020204020204" pitchFamily="34" charset="-122"/>
                <a:sym typeface="+mn-ea"/>
              </a:rPr>
              <a:t>的效果好于</a:t>
            </a:r>
            <a:r>
              <a:rPr lang="en-US" altLang="zh-CN" sz="1100" dirty="0">
                <a:latin typeface="微软雅黑" panose="020B0503020204020204" pitchFamily="34" charset="-122"/>
                <a:ea typeface="微软雅黑" panose="020B0503020204020204" pitchFamily="34" charset="-122"/>
                <a:sym typeface="+mn-ea"/>
              </a:rPr>
              <a:t>“10</a:t>
            </a:r>
            <a:r>
              <a:rPr lang="zh-CN" altLang="en-US" sz="1100" dirty="0">
                <a:latin typeface="微软雅黑" panose="020B0503020204020204" pitchFamily="34" charset="-122"/>
                <a:ea typeface="微软雅黑" panose="020B0503020204020204" pitchFamily="34" charset="-122"/>
                <a:sym typeface="+mn-ea"/>
              </a:rPr>
              <a:t>元积</a:t>
            </a:r>
            <a:r>
              <a:rPr lang="en-US" altLang="zh-CN" sz="1100" dirty="0">
                <a:latin typeface="微软雅黑" panose="020B0503020204020204" pitchFamily="34" charset="-122"/>
                <a:ea typeface="微软雅黑" panose="020B0503020204020204" pitchFamily="34" charset="-122"/>
                <a:sym typeface="+mn-ea"/>
              </a:rPr>
              <a:t>1</a:t>
            </a:r>
            <a:r>
              <a:rPr lang="zh-CN" altLang="en-US" sz="1100" dirty="0">
                <a:latin typeface="微软雅黑" panose="020B0503020204020204" pitchFamily="34" charset="-122"/>
                <a:ea typeface="微软雅黑" panose="020B0503020204020204" pitchFamily="34" charset="-122"/>
                <a:sym typeface="+mn-ea"/>
              </a:rPr>
              <a:t>分</a:t>
            </a:r>
            <a:r>
              <a:rPr lang="en-US" altLang="zh-CN" sz="1100" dirty="0">
                <a:latin typeface="微软雅黑" panose="020B0503020204020204" pitchFamily="34" charset="-122"/>
                <a:ea typeface="微软雅黑" panose="020B0503020204020204" pitchFamily="34" charset="-122"/>
                <a:sym typeface="+mn-ea"/>
              </a:rPr>
              <a:t>”</a:t>
            </a:r>
            <a:r>
              <a:rPr lang="zh-CN" altLang="en-US" sz="1100" dirty="0">
                <a:latin typeface="微软雅黑" panose="020B0503020204020204" pitchFamily="34" charset="-122"/>
                <a:ea typeface="微软雅黑" panose="020B0503020204020204" pitchFamily="34" charset="-122"/>
                <a:sym typeface="+mn-ea"/>
              </a:rPr>
              <a:t>。</a:t>
            </a:r>
            <a:endParaRPr lang="zh-CN" altLang="en-US" sz="1100"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pitchFamily="2" charset="2"/>
              <a:buNone/>
            </a:pPr>
            <a:r>
              <a:rPr lang="en-US" altLang="zh-CN" sz="1100" dirty="0">
                <a:latin typeface="微软雅黑" panose="020B0503020204020204" pitchFamily="34" charset="-122"/>
                <a:ea typeface="微软雅黑" panose="020B0503020204020204" pitchFamily="34" charset="-122"/>
                <a:sym typeface="+mn-ea"/>
              </a:rPr>
              <a:t>2</a:t>
            </a:r>
            <a:r>
              <a:rPr lang="zh-CN" altLang="en-US" sz="1100" dirty="0">
                <a:latin typeface="微软雅黑" panose="020B0503020204020204" pitchFamily="34" charset="-122"/>
                <a:ea typeface="微软雅黑" panose="020B0503020204020204" pitchFamily="34" charset="-122"/>
                <a:sym typeface="+mn-ea"/>
              </a:rPr>
              <a:t>、积分价值低，将来的业务灵活度越高；对预算的把握程度更高。</a:t>
            </a:r>
            <a:endParaRPr lang="zh-CN" altLang="en-US" sz="1100"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pitchFamily="2" charset="2"/>
              <a:buNone/>
            </a:pPr>
            <a:r>
              <a:rPr lang="en-US" altLang="zh-CN" sz="1100" dirty="0">
                <a:latin typeface="微软雅黑" panose="020B0503020204020204" pitchFamily="34" charset="-122"/>
                <a:ea typeface="微软雅黑" panose="020B0503020204020204" pitchFamily="34" charset="-122"/>
                <a:sym typeface="+mn-ea"/>
              </a:rPr>
              <a:t>3</a:t>
            </a:r>
            <a:r>
              <a:rPr lang="zh-CN" altLang="en-US" sz="1100" dirty="0">
                <a:latin typeface="微软雅黑" panose="020B0503020204020204" pitchFamily="34" charset="-122"/>
                <a:ea typeface="微软雅黑" panose="020B0503020204020204" pitchFamily="34" charset="-122"/>
                <a:sym typeface="+mn-ea"/>
              </a:rPr>
              <a:t>、精准到小数点后</a:t>
            </a:r>
            <a:r>
              <a:rPr lang="en-US" altLang="zh-CN" sz="1100" dirty="0">
                <a:latin typeface="微软雅黑" panose="020B0503020204020204" pitchFamily="34" charset="-122"/>
                <a:ea typeface="微软雅黑" panose="020B0503020204020204" pitchFamily="34" charset="-122"/>
                <a:sym typeface="+mn-ea"/>
              </a:rPr>
              <a:t>3</a:t>
            </a:r>
            <a:r>
              <a:rPr lang="zh-CN" altLang="en-US" sz="1100" dirty="0">
                <a:latin typeface="微软雅黑" panose="020B0503020204020204" pitchFamily="34" charset="-122"/>
                <a:ea typeface="微软雅黑" panose="020B0503020204020204" pitchFamily="34" charset="-122"/>
                <a:sym typeface="+mn-ea"/>
              </a:rPr>
              <a:t>位，更满足财务精准的的处理。</a:t>
            </a:r>
            <a:endParaRPr lang="zh-CN" altLang="en-US" sz="1100" b="1"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pitchFamily="2" charset="2"/>
              <a:buNone/>
            </a:pPr>
            <a:r>
              <a:rPr lang="zh-CN" altLang="en-US" sz="1400" b="1" dirty="0">
                <a:latin typeface="微软雅黑" panose="020B0503020204020204" pitchFamily="34" charset="-122"/>
                <a:ea typeface="微软雅黑" panose="020B0503020204020204" pitchFamily="34" charset="-122"/>
                <a:sym typeface="+mn-ea"/>
              </a:rPr>
              <a:t>积分价值高优点：</a:t>
            </a:r>
            <a:endParaRPr lang="en-US" altLang="zh-CN" sz="1400" b="1" dirty="0">
              <a:latin typeface="微软雅黑" panose="020B0503020204020204" pitchFamily="34" charset="-122"/>
              <a:ea typeface="微软雅黑" panose="020B0503020204020204" pitchFamily="34" charset="-122"/>
              <a:sym typeface="+mn-ea"/>
            </a:endParaRPr>
          </a:p>
          <a:p>
            <a:pPr indent="0">
              <a:lnSpc>
                <a:spcPct val="150000"/>
              </a:lnSpc>
              <a:buFont typeface="Wingdings" panose="05000000000000000000" pitchFamily="2" charset="2"/>
              <a:buNone/>
            </a:pPr>
            <a:r>
              <a:rPr lang="zh-CN" altLang="en-US" sz="1100" dirty="0">
                <a:latin typeface="微软雅黑" panose="020B0503020204020204" pitchFamily="34" charset="-122"/>
                <a:ea typeface="微软雅黑" panose="020B0503020204020204" pitchFamily="34" charset="-122"/>
                <a:sym typeface="+mn-ea"/>
              </a:rPr>
              <a:t>高价值适用于高单价、高利润的场景，更利于品牌传播。</a:t>
            </a:r>
            <a:endParaRPr lang="zh-CN" altLang="en-US" sz="1100" dirty="0">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212090" y="1594485"/>
            <a:ext cx="10670540" cy="460375"/>
          </a:xfrm>
          <a:prstGeom prst="rect">
            <a:avLst/>
          </a:prstGeom>
          <a:noFill/>
        </p:spPr>
        <p:txBody>
          <a:bodyPr wrap="square" rtlCol="0" anchor="t">
            <a:spAutoFit/>
          </a:bodyPr>
          <a:lstStyle/>
          <a:p>
            <a:pPr indent="0">
              <a:lnSpc>
                <a:spcPct val="150000"/>
              </a:lnSpc>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根据行业积分价值以及各个业务场景积分价值，积分价值高低的优缺点，建议</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所有业务场景采用统一的积分价值</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圆角矩形 15"/>
          <p:cNvSpPr/>
          <p:nvPr>
            <p:custDataLst>
              <p:tags r:id="rId8"/>
            </p:custDataLst>
          </p:nvPr>
        </p:nvSpPr>
        <p:spPr>
          <a:xfrm>
            <a:off x="3491230" y="3289300"/>
            <a:ext cx="4999355" cy="473710"/>
          </a:xfrm>
          <a:prstGeom prst="roundRect">
            <a:avLst>
              <a:gd name="adj" fmla="val 3450"/>
            </a:avLst>
          </a:prstGeom>
          <a:solidFill>
            <a:srgbClr val="205CC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sym typeface="+mn-ea"/>
              </a:rPr>
              <a:t>各业务线积分预算</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5" name="圆角矩形 14"/>
          <p:cNvSpPr/>
          <p:nvPr>
            <p:custDataLst>
              <p:tags r:id="rId9"/>
            </p:custDataLst>
          </p:nvPr>
        </p:nvSpPr>
        <p:spPr>
          <a:xfrm>
            <a:off x="8595995" y="3286760"/>
            <a:ext cx="3387725" cy="3339465"/>
          </a:xfrm>
          <a:prstGeom prst="roundRect">
            <a:avLst>
              <a:gd name="adj" fmla="val 1700"/>
            </a:avLst>
          </a:prstGeom>
          <a:noFill/>
          <a:ln w="3175">
            <a:solidFill>
              <a:srgbClr val="205CC6"/>
            </a:solidFill>
            <a:prstDash val="solid"/>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22" name="圆角矩形 21"/>
          <p:cNvSpPr/>
          <p:nvPr>
            <p:custDataLst>
              <p:tags r:id="rId10"/>
            </p:custDataLst>
          </p:nvPr>
        </p:nvSpPr>
        <p:spPr>
          <a:xfrm>
            <a:off x="8590915" y="3277870"/>
            <a:ext cx="3399155" cy="473710"/>
          </a:xfrm>
          <a:prstGeom prst="roundRect">
            <a:avLst>
              <a:gd name="adj" fmla="val 3450"/>
            </a:avLst>
          </a:prstGeom>
          <a:solidFill>
            <a:srgbClr val="205CC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sym typeface="+mn-ea"/>
              </a:rPr>
              <a:t>积分价值高低的优缺点</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11"/>
            </p:custDataLst>
          </p:nvPr>
        </p:nvSpPr>
        <p:spPr>
          <a:xfrm>
            <a:off x="239395" y="3278505"/>
            <a:ext cx="3150870" cy="473710"/>
          </a:xfrm>
          <a:prstGeom prst="roundRect">
            <a:avLst>
              <a:gd name="adj" fmla="val 3450"/>
            </a:avLst>
          </a:prstGeom>
          <a:solidFill>
            <a:srgbClr val="205CC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sym typeface="+mn-ea"/>
              </a:rPr>
              <a:t>行业对标企业积分价值</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grpSp>
        <p:nvGrpSpPr>
          <p:cNvPr id="9" name="组合 8"/>
          <p:cNvGrpSpPr/>
          <p:nvPr/>
        </p:nvGrpSpPr>
        <p:grpSpPr>
          <a:xfrm>
            <a:off x="1712595" y="2856230"/>
            <a:ext cx="8683625" cy="236855"/>
            <a:chOff x="2697" y="3938"/>
            <a:chExt cx="13675" cy="373"/>
          </a:xfrm>
        </p:grpSpPr>
        <p:sp>
          <p:nvSpPr>
            <p:cNvPr id="27" name="object 40"/>
            <p:cNvSpPr/>
            <p:nvPr>
              <p:custDataLst>
                <p:tags r:id="rId12"/>
              </p:custDataLst>
            </p:nvPr>
          </p:nvSpPr>
          <p:spPr>
            <a:xfrm>
              <a:off x="2697" y="3971"/>
              <a:ext cx="392" cy="340"/>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solidFill>
              <a:srgbClr val="205CC6"/>
            </a:solid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8" name="object 40"/>
            <p:cNvSpPr/>
            <p:nvPr>
              <p:custDataLst>
                <p:tags r:id="rId13"/>
              </p:custDataLst>
            </p:nvPr>
          </p:nvSpPr>
          <p:spPr>
            <a:xfrm>
              <a:off x="9418" y="3938"/>
              <a:ext cx="392" cy="340"/>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solidFill>
              <a:srgbClr val="205CC6"/>
            </a:solid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3" name="object 40"/>
            <p:cNvSpPr/>
            <p:nvPr>
              <p:custDataLst>
                <p:tags r:id="rId14"/>
              </p:custDataLst>
            </p:nvPr>
          </p:nvSpPr>
          <p:spPr>
            <a:xfrm>
              <a:off x="15980" y="3938"/>
              <a:ext cx="392" cy="340"/>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solidFill>
              <a:srgbClr val="205CC6"/>
            </a:solid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grpSp>
      <p:sp>
        <p:nvSpPr>
          <p:cNvPr id="10" name="圆角矩形 9"/>
          <p:cNvSpPr/>
          <p:nvPr>
            <p:custDataLst>
              <p:tags r:id="rId15"/>
            </p:custDataLst>
          </p:nvPr>
        </p:nvSpPr>
        <p:spPr>
          <a:xfrm>
            <a:off x="315595" y="2155190"/>
            <a:ext cx="11610975" cy="618490"/>
          </a:xfrm>
          <a:prstGeom prst="roundRect">
            <a:avLst>
              <a:gd name="adj" fmla="val 3450"/>
            </a:avLst>
          </a:prstGeom>
          <a:noFill/>
          <a:ln>
            <a:solidFill>
              <a:schemeClr val="accent1"/>
            </a:solidFill>
          </a:ln>
          <a:extLst>
            <a:ext uri="{909E8E84-426E-40DD-AFC4-6F175D3DCCD1}">
              <a14:hiddenFill xmlns:a14="http://schemas.microsoft.com/office/drawing/2010/main">
                <a:solidFill>
                  <a:srgbClr val="205CC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2" name="矩形 11"/>
          <p:cNvSpPr/>
          <p:nvPr/>
        </p:nvSpPr>
        <p:spPr>
          <a:xfrm>
            <a:off x="3621405" y="3924300"/>
            <a:ext cx="4725035" cy="25647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spcAft>
                <a:spcPts val="600"/>
              </a:spcAft>
            </a:pPr>
            <a:r>
              <a:rPr lang="zh-CN" altLang="en-US" sz="2000" b="1" dirty="0">
                <a:solidFill>
                  <a:schemeClr val="bg1"/>
                </a:solidFill>
                <a:latin typeface="微软雅黑" panose="020B0503020204020204" pitchFamily="34" charset="-122"/>
                <a:ea typeface="微软雅黑" panose="020B0503020204020204" pitchFamily="34" charset="-122"/>
              </a:rPr>
              <a:t>需要各个业务部门做年度积分预算</a:t>
            </a:r>
            <a:endParaRPr lang="zh-CN" altLang="en-US" sz="2000" b="1" dirty="0">
              <a:solidFill>
                <a:schemeClr val="bg1"/>
              </a:solidFill>
              <a:latin typeface="微软雅黑" panose="020B0503020204020204" pitchFamily="34" charset="-122"/>
              <a:ea typeface="微软雅黑" panose="020B0503020204020204" pitchFamily="34" charset="-122"/>
            </a:endParaRPr>
          </a:p>
          <a:p>
            <a:pPr algn="ctr">
              <a:spcAft>
                <a:spcPts val="600"/>
              </a:spcAft>
            </a:pPr>
            <a:r>
              <a:rPr lang="zh-CN" altLang="en-US" sz="2000" b="1" dirty="0">
                <a:solidFill>
                  <a:schemeClr val="bg1"/>
                </a:solidFill>
                <a:latin typeface="微软雅黑" panose="020B0503020204020204" pitchFamily="34" charset="-122"/>
                <a:ea typeface="微软雅黑" panose="020B0503020204020204" pitchFamily="34" charset="-122"/>
              </a:rPr>
              <a:t>由智能客服会员积分中台下发各业务部门积分配额</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defPPr>
              <a:defRPr lang="en-US"/>
            </a:defPPr>
            <a:lvl1pPr>
              <a:defRPr kumimoji="0" sz="2800" b="1" i="0" u="none" strike="noStrike" cap="none" spc="0" normalizeH="0" baseline="0">
                <a:ln>
                  <a:noFill/>
                </a:ln>
                <a:effectLst/>
                <a:uLnTx/>
                <a:uFillTx/>
                <a:latin typeface="微软雅黑" panose="020B0503020204020204" pitchFamily="34" charset="-122"/>
                <a:ea typeface="+mj-ea"/>
                <a:cs typeface="+mj-cs"/>
              </a:defRPr>
            </a:lvl1pPr>
          </a:lstStyle>
          <a:p>
            <a:r>
              <a:rPr lang="zh-CN" altLang="en-US">
                <a:sym typeface="+mn-ea"/>
              </a:rPr>
              <a:t>消耗积分场景</a:t>
            </a:r>
            <a:r>
              <a:rPr lang="en-US" altLang="zh-CN">
                <a:sym typeface="+mn-ea"/>
              </a:rPr>
              <a:t>_</a:t>
            </a:r>
            <a:r>
              <a:rPr lang="zh-CN" altLang="en-US">
                <a:sym typeface="+mn-ea"/>
              </a:rPr>
              <a:t>华润规划内容</a:t>
            </a:r>
            <a:endParaRPr lang="zh-CN" altLang="en-US" dirty="0"/>
          </a:p>
          <a:p>
            <a:r>
              <a:rPr lang="en-US" altLang="zh-CN" dirty="0">
                <a:sym typeface="+mn-ea"/>
              </a:rPr>
              <a:t> </a:t>
            </a:r>
            <a:endParaRPr lang="en-US" altLang="zh-CN" dirty="0">
              <a:sym typeface="+mn-ea"/>
            </a:endParaRPr>
          </a:p>
        </p:txBody>
      </p:sp>
      <p:sp>
        <p:nvSpPr>
          <p:cNvPr id="4" name="文本框 3"/>
          <p:cNvSpPr txBox="1"/>
          <p:nvPr/>
        </p:nvSpPr>
        <p:spPr>
          <a:xfrm>
            <a:off x="290830" y="908685"/>
            <a:ext cx="4064000" cy="914400"/>
          </a:xfrm>
          <a:prstGeom prst="rect">
            <a:avLst/>
          </a:prstGeom>
          <a:noFill/>
        </p:spPr>
        <p:txBody>
          <a:bodyPr wrap="square" lIns="54610" tIns="54610" rIns="54610" bIns="54610" rtlCol="0">
            <a:noAutofit/>
          </a:bodyPr>
          <a:lstStyle/>
          <a:p>
            <a:pPr>
              <a:spcAft>
                <a:spcPts val="600"/>
              </a:spcAft>
            </a:pPr>
            <a:endParaRPr lang="zh-CN" altLang="en-US" sz="1000" dirty="0" err="1">
              <a:solidFill>
                <a:schemeClr val="tx2"/>
              </a:solidFill>
            </a:endParaRPr>
          </a:p>
        </p:txBody>
      </p:sp>
      <p:graphicFrame>
        <p:nvGraphicFramePr>
          <p:cNvPr id="5" name="表格 4"/>
          <p:cNvGraphicFramePr/>
          <p:nvPr>
            <p:custDataLst>
              <p:tags r:id="rId1"/>
            </p:custDataLst>
          </p:nvPr>
        </p:nvGraphicFramePr>
        <p:xfrm>
          <a:off x="508000" y="1628775"/>
          <a:ext cx="4897120" cy="3049270"/>
        </p:xfrm>
        <a:graphic>
          <a:graphicData uri="http://schemas.openxmlformats.org/drawingml/2006/table">
            <a:tbl>
              <a:tblPr/>
              <a:tblGrid>
                <a:gridCol w="391795"/>
                <a:gridCol w="597535"/>
                <a:gridCol w="791210"/>
                <a:gridCol w="1511935"/>
                <a:gridCol w="1604645"/>
              </a:tblGrid>
              <a:tr h="62357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5">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安居城服</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城服物业</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兑换社区活动礼品</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积分兑换社区活动礼品</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63220">
                <a:tc>
                  <a:txBody>
                    <a:bodyPr/>
                    <a:lstStyle/>
                    <a:p>
                      <a:pPr indent="0" algn="ctr">
                        <a:buNone/>
                      </a:pPr>
                      <a:r>
                        <a:rPr lang="en-US" altLang="en-US" sz="1100" b="0">
                          <a:solidFill>
                            <a:srgbClr val="000000"/>
                          </a:solidFill>
                          <a:latin typeface="微软雅黑" panose="020B0503020204020204" pitchFamily="34" charset="-122"/>
                        </a:rPr>
                        <a:t>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4">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增值服务</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1">
                          <a:solidFill>
                            <a:srgbClr val="205CC6"/>
                          </a:solidFill>
                          <a:latin typeface="Arial" panose="020B0604020202090204" pitchFamily="34" charset="0"/>
                          <a:ea typeface="微软雅黑" panose="020B0503020204020204" pitchFamily="34" charset="-122"/>
                        </a:rPr>
                        <a:t>积分兑换空间服务</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1">
                          <a:solidFill>
                            <a:srgbClr val="205CC6"/>
                          </a:solidFill>
                          <a:latin typeface="Arial" panose="020B0604020202090204" pitchFamily="34" charset="0"/>
                          <a:ea typeface="微软雅黑" panose="020B0503020204020204" pitchFamily="34" charset="-122"/>
                        </a:rPr>
                        <a:t>空间预约场景</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altLang="en-US" sz="1100" b="0">
                          <a:solidFill>
                            <a:srgbClr val="000000"/>
                          </a:solidFill>
                          <a:latin typeface="微软雅黑" panose="020B0503020204020204" pitchFamily="34" charset="-122"/>
                        </a:rPr>
                        <a:t>3</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兑换商城消费优惠券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积分兑换商城消费优惠券，金额券或者满减券</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altLang="en-US" sz="1100" b="0">
                          <a:solidFill>
                            <a:srgbClr val="000000"/>
                          </a:solidFill>
                          <a:latin typeface="微软雅黑" panose="020B0503020204020204" pitchFamily="34" charset="-122"/>
                        </a:rPr>
                        <a:t>4</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积分兑换商城商品</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altLang="en-US" sz="1100" b="0">
                          <a:solidFill>
                            <a:srgbClr val="000000"/>
                          </a:solidFill>
                          <a:latin typeface="微软雅黑" panose="020B0503020204020204" pitchFamily="34" charset="-122"/>
                        </a:rPr>
                        <a:t>5</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兑换服务</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积分兑换服务，保洁、搬家</a:t>
                      </a:r>
                      <a:r>
                        <a:rPr lang="en-US" altLang="zh-CN" sz="1000" b="1" dirty="0">
                          <a:solidFill>
                            <a:srgbClr val="205CC6"/>
                          </a:solidFill>
                          <a:latin typeface="Arial" panose="020B0604020202090204" pitchFamily="34" charset="0"/>
                          <a:ea typeface="微软雅黑" panose="020B0503020204020204" pitchFamily="34" charset="-122"/>
                        </a:rPr>
                        <a:t>、</a:t>
                      </a:r>
                      <a:r>
                        <a:rPr lang="zh-CN" altLang="en-US" sz="1000" b="1" dirty="0">
                          <a:solidFill>
                            <a:srgbClr val="205CC6"/>
                          </a:solidFill>
                          <a:latin typeface="Arial" panose="020B0604020202090204" pitchFamily="34" charset="0"/>
                          <a:ea typeface="微软雅黑" panose="020B0503020204020204" pitchFamily="34" charset="-122"/>
                        </a:rPr>
                        <a:t>清洗空调</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aphicFrame>
        <p:nvGraphicFramePr>
          <p:cNvPr id="6" name="表格 5"/>
          <p:cNvGraphicFramePr/>
          <p:nvPr>
            <p:custDataLst>
              <p:tags r:id="rId2"/>
            </p:custDataLst>
          </p:nvPr>
        </p:nvGraphicFramePr>
        <p:xfrm>
          <a:off x="6223635" y="1153795"/>
          <a:ext cx="5118100" cy="4190365"/>
        </p:xfrm>
        <a:graphic>
          <a:graphicData uri="http://schemas.openxmlformats.org/drawingml/2006/table">
            <a:tbl>
              <a:tblPr/>
              <a:tblGrid>
                <a:gridCol w="504825"/>
                <a:gridCol w="643890"/>
                <a:gridCol w="750570"/>
                <a:gridCol w="1275080"/>
                <a:gridCol w="1943735"/>
              </a:tblGrid>
              <a:tr h="55499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554990">
                <a:tc>
                  <a:txBody>
                    <a:bodyPr/>
                    <a:lstStyle/>
                    <a:p>
                      <a:pPr indent="0" algn="ctr">
                        <a:buNone/>
                      </a:pPr>
                      <a:r>
                        <a:rPr lang="en-US" altLang="en-US" sz="1100" b="0">
                          <a:solidFill>
                            <a:srgbClr val="000000"/>
                          </a:solidFill>
                          <a:latin typeface="微软雅黑" panose="020B0503020204020204" pitchFamily="34" charset="-122"/>
                        </a:rPr>
                        <a:t>6</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chemeClr val="bg1"/>
                    </a:solidFill>
                  </a:tcPr>
                </a:tc>
                <a:tc rowSpan="7">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兑换服务</a:t>
                      </a:r>
                      <a:r>
                        <a:rPr lang="zh-CN" altLang="en-US" sz="1000" b="1" dirty="0">
                          <a:solidFill>
                            <a:srgbClr val="205CC6"/>
                          </a:solidFill>
                          <a:latin typeface="Arial" panose="020B0604020202090204" pitchFamily="34" charset="0"/>
                          <a:ea typeface="微软雅黑" panose="020B0503020204020204" pitchFamily="34" charset="-122"/>
                        </a:rPr>
                        <a:t>体验</a:t>
                      </a:r>
                      <a:r>
                        <a:rPr lang="zh-CN" sz="1000" b="1" dirty="0">
                          <a:solidFill>
                            <a:srgbClr val="205CC6"/>
                          </a:solidFill>
                          <a:latin typeface="Arial" panose="020B0604020202090204" pitchFamily="34" charset="0"/>
                          <a:ea typeface="微软雅黑" panose="020B0503020204020204" pitchFamily="34" charset="-122"/>
                        </a:rPr>
                        <a:t>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a:t>
                      </a:r>
                      <a:r>
                        <a:rPr lang="zh-CN" altLang="en-US" sz="1000" b="1" dirty="0">
                          <a:solidFill>
                            <a:srgbClr val="205CC6"/>
                          </a:solidFill>
                          <a:latin typeface="Arial" panose="020B0604020202090204" pitchFamily="34" charset="0"/>
                          <a:ea typeface="微软雅黑" panose="020B0503020204020204" pitchFamily="34" charset="-122"/>
                        </a:rPr>
                        <a:t>体验</a:t>
                      </a:r>
                      <a:r>
                        <a:rPr lang="zh-CN" sz="1000" b="1" dirty="0">
                          <a:solidFill>
                            <a:srgbClr val="205CC6"/>
                          </a:solidFill>
                          <a:latin typeface="Arial" panose="020B0604020202090204" pitchFamily="34" charset="0"/>
                          <a:ea typeface="微软雅黑" panose="020B0503020204020204" pitchFamily="34" charset="-122"/>
                        </a:rPr>
                        <a:t>服务券（剪发体验券、洗衣券）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702945">
                <a:tc>
                  <a:txBody>
                    <a:bodyPr/>
                    <a:lstStyle/>
                    <a:p>
                      <a:pPr indent="0" algn="ctr">
                        <a:buNone/>
                      </a:pPr>
                      <a:r>
                        <a:rPr lang="en-US" altLang="en-US" sz="1100" b="0">
                          <a:solidFill>
                            <a:srgbClr val="000000"/>
                          </a:solidFill>
                          <a:latin typeface="微软雅黑" panose="020B0503020204020204" pitchFamily="34" charset="-122"/>
                        </a:rPr>
                        <a:t>7</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兑换线下礼品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积分兑换线下礼品，会员前往线下商业现场进行兑换</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88010">
                <a:tc>
                  <a:txBody>
                    <a:bodyPr/>
                    <a:lstStyle/>
                    <a:p>
                      <a:pPr indent="0" algn="ctr">
                        <a:buNone/>
                      </a:pPr>
                      <a:r>
                        <a:rPr lang="en-US" altLang="en-US" sz="1100" b="0">
                          <a:solidFill>
                            <a:srgbClr val="000000"/>
                          </a:solidFill>
                          <a:latin typeface="微软雅黑" panose="020B0503020204020204" pitchFamily="34" charset="-122"/>
                        </a:rPr>
                        <a:t>8</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tc>
                <a:tc vMerge="1">
                  <a:tcPr/>
                </a:tc>
                <a:tc>
                  <a:txBody>
                    <a:bodyPr/>
                    <a:lstStyle/>
                    <a:p>
                      <a:pPr indent="0">
                        <a:buNone/>
                      </a:pPr>
                      <a:r>
                        <a:rPr lang="zh-CN" altLang="en-US" sz="1000" b="0" dirty="0">
                          <a:solidFill>
                            <a:srgbClr val="000000"/>
                          </a:solidFill>
                          <a:latin typeface="Arial" panose="020B0604020202090204" pitchFamily="34" charset="0"/>
                          <a:ea typeface="微软雅黑" panose="020B0503020204020204" pitchFamily="34" charset="-122"/>
                        </a:rPr>
                        <a:t>兑换虚拟票券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0" dirty="0">
                          <a:solidFill>
                            <a:srgbClr val="000000"/>
                          </a:solidFill>
                          <a:latin typeface="Arial" panose="020B0604020202090204" pitchFamily="34" charset="0"/>
                          <a:ea typeface="微软雅黑" panose="020B0503020204020204" pitchFamily="34" charset="-122"/>
                        </a:rPr>
                        <a:t>爱优腾视频会员等票券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10210">
                <a:tc>
                  <a:txBody>
                    <a:bodyPr/>
                    <a:lstStyle/>
                    <a:p>
                      <a:pPr indent="0" algn="ctr">
                        <a:buNone/>
                      </a:pPr>
                      <a:r>
                        <a:rPr lang="en-US" altLang="en-US" sz="1100" b="0">
                          <a:solidFill>
                            <a:srgbClr val="000000"/>
                          </a:solidFill>
                          <a:latin typeface="微软雅黑" panose="020B0503020204020204" pitchFamily="34" charset="-122"/>
                        </a:rPr>
                        <a:t>9</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10</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参与线上互动游戏（大转盘抽奖）</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95910">
                <a:tc>
                  <a:txBody>
                    <a:bodyPr/>
                    <a:lstStyle/>
                    <a:p>
                      <a:pPr indent="0" algn="ctr">
                        <a:buNone/>
                      </a:pPr>
                      <a:r>
                        <a:rPr lang="en-US" sz="1100" b="0">
                          <a:solidFill>
                            <a:srgbClr val="000000"/>
                          </a:solidFill>
                          <a:latin typeface="微软雅黑" panose="020B0503020204020204" pitchFamily="34" charset="-122"/>
                        </a:rPr>
                        <a:t>11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抵扣商业充电费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抵扣商业充电费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altLang="en-US" sz="1100" b="0">
                          <a:solidFill>
                            <a:srgbClr val="000000"/>
                          </a:solidFill>
                          <a:latin typeface="微软雅黑" panose="020B0503020204020204" pitchFamily="34" charset="-122"/>
                        </a:rPr>
                        <a:t>12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defPPr>
              <a:defRPr lang="en-US"/>
            </a:defPPr>
            <a:lvl1pPr>
              <a:defRPr kumimoji="0" sz="2800" b="1" i="0" u="none" strike="noStrike" cap="none" spc="0" normalizeH="0" baseline="0">
                <a:ln>
                  <a:noFill/>
                </a:ln>
                <a:effectLst/>
                <a:uLnTx/>
                <a:uFillTx/>
                <a:latin typeface="微软雅黑" panose="020B0503020204020204" pitchFamily="34" charset="-122"/>
                <a:ea typeface="+mj-ea"/>
                <a:cs typeface="+mj-cs"/>
              </a:defRPr>
            </a:lvl1pPr>
          </a:lstStyle>
          <a:p>
            <a:r>
              <a:rPr lang="zh-CN" altLang="en-US"/>
              <a:t>会员等级及升级</a:t>
            </a:r>
            <a:r>
              <a:rPr lang="en-US" altLang="zh-CN">
                <a:sym typeface="+mn-ea"/>
              </a:rPr>
              <a:t>_</a:t>
            </a:r>
            <a:r>
              <a:rPr lang="zh-CN" altLang="en-US">
                <a:sym typeface="+mn-ea"/>
              </a:rPr>
              <a:t>华润规划内容</a:t>
            </a:r>
            <a:endParaRPr lang="zh-CN" altLang="en-US" dirty="0"/>
          </a:p>
          <a:p>
            <a:endParaRPr lang="zh-CN" altLang="en-US" dirty="0"/>
          </a:p>
          <a:p>
            <a:r>
              <a:rPr lang="en-US" altLang="zh-CN">
                <a:sym typeface="+mn-ea"/>
              </a:rPr>
              <a:t> </a:t>
            </a:r>
            <a:endParaRPr lang="zh-CN" altLang="en-US" dirty="0"/>
          </a:p>
        </p:txBody>
      </p:sp>
      <p:sp>
        <p:nvSpPr>
          <p:cNvPr id="3" name="圆角矩形 2"/>
          <p:cNvSpPr/>
          <p:nvPr>
            <p:custDataLst>
              <p:tags r:id="rId1"/>
            </p:custDataLst>
          </p:nvPr>
        </p:nvSpPr>
        <p:spPr>
          <a:xfrm>
            <a:off x="317500" y="1049020"/>
            <a:ext cx="3306445" cy="5781675"/>
          </a:xfrm>
          <a:prstGeom prst="roundRect">
            <a:avLst>
              <a:gd name="adj" fmla="val 119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chemeClr val="tx1"/>
              </a:solidFill>
              <a:latin typeface="微软雅黑" charset="0"/>
              <a:ea typeface="微软雅黑" charset="0"/>
            </a:endParaRPr>
          </a:p>
        </p:txBody>
      </p:sp>
      <p:sp>
        <p:nvSpPr>
          <p:cNvPr id="2" name="圆角矩形 1"/>
          <p:cNvSpPr/>
          <p:nvPr>
            <p:custDataLst>
              <p:tags r:id="rId2"/>
            </p:custDataLst>
          </p:nvPr>
        </p:nvSpPr>
        <p:spPr>
          <a:xfrm>
            <a:off x="3712210" y="1049020"/>
            <a:ext cx="8190230" cy="5781675"/>
          </a:xfrm>
          <a:prstGeom prst="roundRect">
            <a:avLst>
              <a:gd name="adj" fmla="val 1195"/>
            </a:avLst>
          </a:prstGeom>
          <a:solidFill>
            <a:schemeClr val="bg1"/>
          </a:solidFill>
          <a:ln>
            <a:solidFill>
              <a:srgbClr val="99B1DE"/>
            </a:solidFill>
            <a:prstDash val="dash"/>
          </a:ln>
        </p:spPr>
        <p:txBody>
          <a:bodyPr wrap="square" rtlCol="0" anchor="ctr">
            <a:noAutofit/>
          </a:bodyPr>
          <a:lstStyle/>
          <a:p>
            <a:pPr algn="ctr"/>
            <a:endParaRPr lang="zh-CN" altLang="en-US" sz="1500" b="1" dirty="0">
              <a:solidFill>
                <a:schemeClr val="tx1"/>
              </a:solidFill>
              <a:latin typeface="微软雅黑" charset="0"/>
              <a:ea typeface="微软雅黑" charset="0"/>
            </a:endParaRPr>
          </a:p>
        </p:txBody>
      </p:sp>
      <p:sp>
        <p:nvSpPr>
          <p:cNvPr id="20" name="文本框 19"/>
          <p:cNvSpPr txBox="1"/>
          <p:nvPr>
            <p:custDataLst>
              <p:tags r:id="rId3"/>
            </p:custDataLst>
          </p:nvPr>
        </p:nvSpPr>
        <p:spPr>
          <a:xfrm>
            <a:off x="3733800" y="1127125"/>
            <a:ext cx="7819390" cy="1291590"/>
          </a:xfrm>
          <a:prstGeom prst="rect">
            <a:avLst/>
          </a:prstGeom>
          <a:noFill/>
        </p:spPr>
        <p:txBody>
          <a:bodyPr wrap="square" rtlCol="0" anchor="t">
            <a:spAutoFit/>
          </a:bodyPr>
          <a:lstStyle/>
          <a:p>
            <a:pPr indent="0">
              <a:lnSpc>
                <a:spcPct val="150000"/>
              </a:lnSpc>
              <a:buFont typeface="Wingdings" panose="05000000000000000000" pitchFamily="2" charset="2"/>
              <a:buNone/>
            </a:pPr>
            <a:r>
              <a:rPr lang="zh-CN" altLang="en-US" b="1" dirty="0">
                <a:latin typeface="微软雅黑" charset="0"/>
                <a:ea typeface="微软雅黑" charset="0"/>
                <a:sym typeface="+mn-ea"/>
              </a:rPr>
              <a:t>【设计要素】会员升降级规则</a:t>
            </a:r>
            <a:endParaRPr lang="zh-CN" altLang="en-US" b="1" dirty="0">
              <a:latin typeface="微软雅黑" charset="0"/>
              <a:ea typeface="微软雅黑" charset="0"/>
              <a:sym typeface="+mn-ea"/>
            </a:endParaRPr>
          </a:p>
          <a:p>
            <a:pPr indent="0">
              <a:lnSpc>
                <a:spcPct val="150000"/>
              </a:lnSpc>
              <a:spcBef>
                <a:spcPts val="0"/>
              </a:spcBef>
              <a:spcAft>
                <a:spcPts val="0"/>
              </a:spcAft>
              <a:buFont typeface="Wingdings" panose="05000000000000000000" pitchFamily="2" charset="2"/>
              <a:buNone/>
            </a:pPr>
            <a:r>
              <a:rPr lang="zh-CN" altLang="en-US" sz="1600" dirty="0">
                <a:solidFill>
                  <a:srgbClr val="000000"/>
                </a:solidFill>
                <a:latin typeface="微软雅黑" charset="0"/>
                <a:ea typeface="微软雅黑" charset="0"/>
                <a:sym typeface="+mn-ea"/>
              </a:rPr>
              <a:t>会员等级与成长值挂钩，成长值累积带来会员等级提升。目前不执行降级策略。</a:t>
            </a:r>
            <a:endParaRPr lang="zh-CN" altLang="en-US" dirty="0">
              <a:solidFill>
                <a:srgbClr val="000000"/>
              </a:solidFill>
              <a:latin typeface="微软雅黑" charset="0"/>
              <a:ea typeface="微软雅黑" charset="0"/>
              <a:sym typeface="+mn-ea"/>
            </a:endParaRPr>
          </a:p>
          <a:p>
            <a:pPr indent="0">
              <a:lnSpc>
                <a:spcPct val="150000"/>
              </a:lnSpc>
              <a:buFont typeface="Wingdings" panose="05000000000000000000" pitchFamily="2" charset="2"/>
              <a:buNone/>
            </a:pPr>
            <a:endParaRPr lang="zh-CN" altLang="en-US" b="1" dirty="0">
              <a:latin typeface="微软雅黑" charset="0"/>
              <a:ea typeface="微软雅黑" charset="0"/>
              <a:sym typeface="+mn-ea"/>
            </a:endParaRPr>
          </a:p>
        </p:txBody>
      </p:sp>
      <p:sp>
        <p:nvSpPr>
          <p:cNvPr id="21" name="圆角矩形 20"/>
          <p:cNvSpPr/>
          <p:nvPr>
            <p:custDataLst>
              <p:tags r:id="rId4"/>
            </p:custDataLst>
          </p:nvPr>
        </p:nvSpPr>
        <p:spPr>
          <a:xfrm>
            <a:off x="394970" y="2224405"/>
            <a:ext cx="3133090" cy="1240155"/>
          </a:xfrm>
          <a:prstGeom prst="roundRect">
            <a:avLst>
              <a:gd name="adj" fmla="val 1826"/>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latin typeface="微软雅黑" charset="0"/>
              <a:ea typeface="微软雅黑" charset="0"/>
              <a:sym typeface="+mn-ea"/>
            </a:endParaRPr>
          </a:p>
        </p:txBody>
      </p:sp>
      <p:sp>
        <p:nvSpPr>
          <p:cNvPr id="5" name="文本框 4"/>
          <p:cNvSpPr txBox="1"/>
          <p:nvPr>
            <p:custDataLst>
              <p:tags r:id="rId5"/>
            </p:custDataLst>
          </p:nvPr>
        </p:nvSpPr>
        <p:spPr>
          <a:xfrm>
            <a:off x="215265" y="1116965"/>
            <a:ext cx="3409315" cy="1050925"/>
          </a:xfrm>
          <a:prstGeom prst="rect">
            <a:avLst/>
          </a:prstGeom>
          <a:noFill/>
        </p:spPr>
        <p:txBody>
          <a:bodyPr wrap="square">
            <a:noAutofit/>
          </a:bodyPr>
          <a:lstStyle/>
          <a:p>
            <a:pPr indent="0">
              <a:lnSpc>
                <a:spcPct val="150000"/>
              </a:lnSpc>
              <a:buFont typeface="Wingdings" panose="05000000000000000000" pitchFamily="2" charset="2"/>
              <a:buNone/>
            </a:pPr>
            <a:r>
              <a:rPr lang="zh-CN" altLang="en-US" b="1" dirty="0">
                <a:latin typeface="微软雅黑" charset="0"/>
                <a:ea typeface="微软雅黑" charset="0"/>
                <a:sym typeface="+mn-ea"/>
              </a:rPr>
              <a:t>【设计要素】会员等级划分标准</a:t>
            </a:r>
            <a:endParaRPr lang="zh-CN" altLang="en-US" b="1" dirty="0">
              <a:latin typeface="微软雅黑" charset="0"/>
              <a:ea typeface="微软雅黑" charset="0"/>
              <a:sym typeface="+mn-ea"/>
            </a:endParaRPr>
          </a:p>
          <a:p>
            <a:pPr indent="0">
              <a:lnSpc>
                <a:spcPct val="120000"/>
              </a:lnSpc>
              <a:spcBef>
                <a:spcPts val="0"/>
              </a:spcBef>
              <a:spcAft>
                <a:spcPts val="0"/>
              </a:spcAft>
              <a:buFont typeface="Wingdings" panose="05000000000000000000" pitchFamily="2" charset="2"/>
              <a:buNone/>
            </a:pPr>
            <a:r>
              <a:rPr lang="zh-CN" altLang="en-US" sz="1600" dirty="0">
                <a:latin typeface="微软雅黑" charset="0"/>
                <a:ea typeface="微软雅黑" charset="0"/>
              </a:rPr>
              <a:t>会员等级采用以交易成长值为基础的三级会员制度。</a:t>
            </a:r>
            <a:endParaRPr lang="zh-CN" altLang="en-US" sz="1400" dirty="0">
              <a:latin typeface="微软雅黑" charset="0"/>
              <a:ea typeface="微软雅黑" charset="0"/>
            </a:endParaRPr>
          </a:p>
        </p:txBody>
      </p:sp>
      <p:graphicFrame>
        <p:nvGraphicFramePr>
          <p:cNvPr id="23" name="表格 22"/>
          <p:cNvGraphicFramePr/>
          <p:nvPr>
            <p:custDataLst>
              <p:tags r:id="rId6"/>
            </p:custDataLst>
          </p:nvPr>
        </p:nvGraphicFramePr>
        <p:xfrm>
          <a:off x="445770" y="3637915"/>
          <a:ext cx="3082290" cy="2998470"/>
        </p:xfrm>
        <a:graphic>
          <a:graphicData uri="http://schemas.openxmlformats.org/drawingml/2006/table">
            <a:tbl>
              <a:tblPr/>
              <a:tblGrid>
                <a:gridCol w="680085"/>
                <a:gridCol w="1200785"/>
                <a:gridCol w="1201420"/>
              </a:tblGrid>
              <a:tr h="408305">
                <a:tc>
                  <a:txBody>
                    <a:bodyPr/>
                    <a:lstStyle/>
                    <a:p>
                      <a:pPr indent="0" algn="ctr">
                        <a:buNone/>
                      </a:pPr>
                      <a:r>
                        <a:rPr lang="zh-CN" sz="1100" b="1">
                          <a:solidFill>
                            <a:srgbClr val="000000"/>
                          </a:solidFill>
                          <a:latin typeface="微软雅黑" charset="0"/>
                          <a:ea typeface="微软雅黑" charset="0"/>
                        </a:rPr>
                        <a:t>分级方式</a:t>
                      </a:r>
                      <a:endParaRPr lang="zh-CN" altLang="en-US" sz="1100" b="1">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100" b="1">
                          <a:solidFill>
                            <a:srgbClr val="000000"/>
                          </a:solidFill>
                          <a:latin typeface="微软雅黑" charset="0"/>
                          <a:ea typeface="微软雅黑" charset="0"/>
                        </a:rPr>
                        <a:t>优点</a:t>
                      </a:r>
                      <a:endParaRPr lang="zh-CN" altLang="en-US" sz="1100" b="1">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100" b="1">
                          <a:solidFill>
                            <a:srgbClr val="000000"/>
                          </a:solidFill>
                          <a:latin typeface="微软雅黑" charset="0"/>
                          <a:ea typeface="微软雅黑" charset="0"/>
                        </a:rPr>
                        <a:t>缺点</a:t>
                      </a:r>
                      <a:endParaRPr lang="zh-CN" altLang="en-US" sz="1100" b="1">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1134745">
                <a:tc>
                  <a:txBody>
                    <a:bodyPr/>
                    <a:lstStyle/>
                    <a:p>
                      <a:pPr indent="0" algn="ctr">
                        <a:buNone/>
                      </a:pPr>
                      <a:r>
                        <a:rPr lang="zh-CN" sz="1100" b="1">
                          <a:solidFill>
                            <a:srgbClr val="000000"/>
                          </a:solidFill>
                          <a:latin typeface="微软雅黑" charset="0"/>
                          <a:ea typeface="微软雅黑" charset="0"/>
                        </a:rPr>
                        <a:t>三级</a:t>
                      </a:r>
                      <a:endParaRPr lang="zh-CN" sz="1100" b="1">
                        <a:solidFill>
                          <a:srgbClr val="000000"/>
                        </a:solidFill>
                        <a:latin typeface="微软雅黑" charset="0"/>
                        <a:ea typeface="微软雅黑" charset="0"/>
                      </a:endParaRPr>
                    </a:p>
                    <a:p>
                      <a:pPr indent="0" algn="ctr">
                        <a:buNone/>
                      </a:pPr>
                      <a:r>
                        <a:rPr lang="zh-CN" sz="1100" b="1">
                          <a:solidFill>
                            <a:srgbClr val="000000"/>
                          </a:solidFill>
                          <a:latin typeface="微软雅黑" charset="0"/>
                          <a:ea typeface="微软雅黑" charset="0"/>
                        </a:rPr>
                        <a:t>会员制度</a:t>
                      </a:r>
                      <a:endParaRPr lang="en-US" altLang="en-US" sz="1100" b="1">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l">
                        <a:buNone/>
                      </a:pPr>
                      <a:r>
                        <a:rPr lang="zh-CN" sz="1000" b="0">
                          <a:solidFill>
                            <a:srgbClr val="000000"/>
                          </a:solidFill>
                          <a:latin typeface="微软雅黑" charset="0"/>
                          <a:ea typeface="微软雅黑" charset="0"/>
                          <a:cs typeface="微软雅黑" charset="0"/>
                        </a:rPr>
                        <a:t>级别规则对于用户相对简单清晰易懂； 高端会员相对集中，较容易与普通会员区分，执行区别的忠诚度计划策略相对容易</a:t>
                      </a:r>
                      <a:endParaRPr lang="zh-CN" altLang="en-US" sz="1000" b="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l">
                        <a:buNone/>
                      </a:pPr>
                      <a:r>
                        <a:rPr lang="zh-CN" sz="1000" b="0">
                          <a:solidFill>
                            <a:srgbClr val="000000"/>
                          </a:solidFill>
                          <a:latin typeface="微软雅黑" charset="0"/>
                          <a:ea typeface="微软雅黑" charset="0"/>
                          <a:cs typeface="微软雅黑" charset="0"/>
                        </a:rPr>
                        <a:t>级别升级标准跨越度较大，会员升级相对困难，普通会员晋升积极性较低； 对银卡以上级别会员的区别权益设置不够显著；</a:t>
                      </a:r>
                      <a:endParaRPr lang="zh-CN" altLang="en-US" sz="1000" b="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1455420">
                <a:tc>
                  <a:txBody>
                    <a:bodyPr/>
                    <a:lstStyle/>
                    <a:p>
                      <a:pPr indent="0" algn="ctr">
                        <a:buNone/>
                      </a:pPr>
                      <a:r>
                        <a:rPr lang="zh-CN" sz="1100" b="1">
                          <a:solidFill>
                            <a:srgbClr val="000000"/>
                          </a:solidFill>
                          <a:latin typeface="微软雅黑" charset="0"/>
                          <a:ea typeface="微软雅黑" charset="0"/>
                        </a:rPr>
                        <a:t>四级</a:t>
                      </a:r>
                      <a:endParaRPr lang="zh-CN" sz="1100" b="1">
                        <a:solidFill>
                          <a:srgbClr val="000000"/>
                        </a:solidFill>
                        <a:latin typeface="微软雅黑" charset="0"/>
                        <a:ea typeface="微软雅黑" charset="0"/>
                      </a:endParaRPr>
                    </a:p>
                    <a:p>
                      <a:pPr indent="0" algn="ctr">
                        <a:buNone/>
                      </a:pPr>
                      <a:r>
                        <a:rPr lang="zh-CN" sz="1100" b="1">
                          <a:solidFill>
                            <a:srgbClr val="000000"/>
                          </a:solidFill>
                          <a:latin typeface="微软雅黑" charset="0"/>
                          <a:ea typeface="微软雅黑" charset="0"/>
                        </a:rPr>
                        <a:t>会员制度</a:t>
                      </a:r>
                      <a:endParaRPr lang="en-US" altLang="en-US" sz="1100" b="1">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l">
                        <a:buNone/>
                      </a:pPr>
                      <a:r>
                        <a:rPr lang="zh-CN" sz="1000" b="0">
                          <a:solidFill>
                            <a:srgbClr val="000000"/>
                          </a:solidFill>
                          <a:latin typeface="微软雅黑" charset="0"/>
                          <a:ea typeface="微软雅黑" charset="0"/>
                        </a:rPr>
                        <a:t>级别晋升标准落差相对平缓，普通会员晋升银卡级别相对容易，能够较好的识别出潜在的价值用户；级别权益划分更加精准，能够覆盖较多不同需求的会员；</a:t>
                      </a:r>
                      <a:endParaRPr lang="zh-CN" altLang="en-US" sz="1000" b="0">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l">
                        <a:buNone/>
                      </a:pPr>
                      <a:r>
                        <a:rPr lang="zh-CN" sz="1000" b="0" dirty="0">
                          <a:solidFill>
                            <a:srgbClr val="000000"/>
                          </a:solidFill>
                          <a:latin typeface="微软雅黑" charset="0"/>
                          <a:ea typeface="微软雅黑" charset="0"/>
                        </a:rPr>
                        <a:t>划分四级以后，会员对级别权益需求增加，当顶级权益并无大幅提高的情况下，高端会员的心理落差较大；</a:t>
                      </a:r>
                      <a:endParaRPr lang="zh-CN" altLang="en-US" sz="1000" b="0" dirty="0">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bl>
          </a:graphicData>
        </a:graphic>
      </p:graphicFrame>
      <p:grpSp>
        <p:nvGrpSpPr>
          <p:cNvPr id="14" name="组合 13"/>
          <p:cNvGrpSpPr/>
          <p:nvPr/>
        </p:nvGrpSpPr>
        <p:grpSpPr>
          <a:xfrm>
            <a:off x="737235" y="2404745"/>
            <a:ext cx="2589530" cy="281940"/>
            <a:chOff x="2339" y="5667"/>
            <a:chExt cx="4078" cy="444"/>
          </a:xfrm>
        </p:grpSpPr>
        <p:sp>
          <p:nvSpPr>
            <p:cNvPr id="25" name="圆角矩形 24"/>
            <p:cNvSpPr/>
            <p:nvPr>
              <p:custDataLst>
                <p:tags r:id="rId7"/>
              </p:custDataLst>
            </p:nvPr>
          </p:nvSpPr>
          <p:spPr>
            <a:xfrm>
              <a:off x="2339" y="5670"/>
              <a:ext cx="1012" cy="439"/>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1200" b="1" dirty="0">
                  <a:solidFill>
                    <a:schemeClr val="bg1"/>
                  </a:solidFill>
                  <a:latin typeface="微软雅黑" charset="0"/>
                  <a:ea typeface="微软雅黑" charset="0"/>
                  <a:cs typeface="微软雅黑" charset="0"/>
                </a:rPr>
                <a:t>等级</a:t>
              </a:r>
              <a:r>
                <a:rPr lang="en-US" altLang="zh-CN" sz="1200" b="1" dirty="0">
                  <a:solidFill>
                    <a:schemeClr val="bg1"/>
                  </a:solidFill>
                  <a:latin typeface="微软雅黑" charset="0"/>
                  <a:ea typeface="微软雅黑" charset="0"/>
                  <a:cs typeface="微软雅黑" charset="0"/>
                </a:rPr>
                <a:t>1</a:t>
              </a:r>
              <a:endParaRPr lang="en-US" altLang="zh-CN" sz="1200" b="1" dirty="0">
                <a:solidFill>
                  <a:schemeClr val="bg1"/>
                </a:solidFill>
                <a:latin typeface="微软雅黑" charset="0"/>
                <a:ea typeface="微软雅黑" charset="0"/>
                <a:cs typeface="微软雅黑" charset="0"/>
              </a:endParaRPr>
            </a:p>
          </p:txBody>
        </p:sp>
        <p:sp>
          <p:nvSpPr>
            <p:cNvPr id="26" name="圆角矩形 25"/>
            <p:cNvSpPr/>
            <p:nvPr>
              <p:custDataLst>
                <p:tags r:id="rId8"/>
              </p:custDataLst>
            </p:nvPr>
          </p:nvSpPr>
          <p:spPr>
            <a:xfrm>
              <a:off x="3872" y="5670"/>
              <a:ext cx="1012" cy="439"/>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1200" b="1" dirty="0">
                  <a:solidFill>
                    <a:schemeClr val="bg1"/>
                  </a:solidFill>
                  <a:latin typeface="微软雅黑" charset="0"/>
                  <a:ea typeface="微软雅黑" charset="0"/>
                  <a:cs typeface="微软雅黑" charset="0"/>
                </a:rPr>
                <a:t>等级</a:t>
              </a:r>
              <a:r>
                <a:rPr lang="en-US" altLang="zh-CN" sz="1200" b="1" dirty="0">
                  <a:solidFill>
                    <a:schemeClr val="bg1"/>
                  </a:solidFill>
                  <a:latin typeface="微软雅黑" charset="0"/>
                  <a:ea typeface="微软雅黑" charset="0"/>
                  <a:cs typeface="微软雅黑" charset="0"/>
                </a:rPr>
                <a:t>2</a:t>
              </a:r>
              <a:endParaRPr lang="en-US" altLang="zh-CN" sz="1200" b="1" dirty="0">
                <a:solidFill>
                  <a:schemeClr val="bg1"/>
                </a:solidFill>
                <a:latin typeface="微软雅黑" charset="0"/>
                <a:ea typeface="微软雅黑" charset="0"/>
                <a:cs typeface="微软雅黑" charset="0"/>
              </a:endParaRPr>
            </a:p>
          </p:txBody>
        </p:sp>
        <p:sp>
          <p:nvSpPr>
            <p:cNvPr id="17" name="圆角矩形 16"/>
            <p:cNvSpPr/>
            <p:nvPr>
              <p:custDataLst>
                <p:tags r:id="rId9"/>
              </p:custDataLst>
            </p:nvPr>
          </p:nvSpPr>
          <p:spPr>
            <a:xfrm>
              <a:off x="5405" y="5670"/>
              <a:ext cx="1012" cy="439"/>
            </a:xfrm>
            <a:prstGeom prst="roundRect">
              <a:avLst>
                <a:gd name="adj" fmla="val 7817"/>
              </a:avLst>
            </a:prstGeom>
            <a:solidFill>
              <a:srgbClr val="4472C4"/>
            </a:solidFill>
            <a:ln>
              <a:solidFill>
                <a:schemeClr val="accent1"/>
              </a:solidFill>
            </a:ln>
          </p:spPr>
          <p:txBody>
            <a:bodyPr wrap="square" rtlCol="0" anchor="ctr">
              <a:noAutofit/>
            </a:bodyPr>
            <a:lstStyle/>
            <a:p>
              <a:pPr algn="ctr"/>
              <a:r>
                <a:rPr lang="zh-CN" altLang="en-US" sz="1200" b="1" dirty="0">
                  <a:solidFill>
                    <a:schemeClr val="bg1"/>
                  </a:solidFill>
                  <a:latin typeface="微软雅黑" charset="0"/>
                  <a:ea typeface="微软雅黑" charset="0"/>
                  <a:cs typeface="微软雅黑" charset="0"/>
                </a:rPr>
                <a:t>等级</a:t>
              </a:r>
              <a:r>
                <a:rPr lang="en-US" altLang="zh-CN" sz="1200" b="1" dirty="0">
                  <a:solidFill>
                    <a:schemeClr val="bg1"/>
                  </a:solidFill>
                  <a:latin typeface="微软雅黑" charset="0"/>
                  <a:ea typeface="微软雅黑" charset="0"/>
                  <a:cs typeface="微软雅黑" charset="0"/>
                </a:rPr>
                <a:t>3</a:t>
              </a:r>
              <a:endParaRPr lang="en-US" altLang="zh-CN" sz="1200" b="1" dirty="0">
                <a:solidFill>
                  <a:schemeClr val="bg1"/>
                </a:solidFill>
                <a:latin typeface="微软雅黑" charset="0"/>
                <a:ea typeface="微软雅黑" charset="0"/>
                <a:cs typeface="微软雅黑" charset="0"/>
              </a:endParaRPr>
            </a:p>
          </p:txBody>
        </p:sp>
        <p:sp>
          <p:nvSpPr>
            <p:cNvPr id="18" name="object 40"/>
            <p:cNvSpPr/>
            <p:nvPr>
              <p:custDataLst>
                <p:tags r:id="rId10"/>
              </p:custDataLst>
            </p:nvPr>
          </p:nvSpPr>
          <p:spPr>
            <a:xfrm rot="5400000">
              <a:off x="3424" y="5774"/>
              <a:ext cx="441" cy="232"/>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ln>
              <a:solidFill>
                <a:srgbClr val="4472C4"/>
              </a:solidFill>
            </a:ln>
          </p:spPr>
          <p:style>
            <a:lnRef idx="0">
              <a:srgbClr val="FFFFFF"/>
            </a:lnRef>
            <a:fillRef idx="1">
              <a:schemeClr val="accent1"/>
            </a:fillRef>
            <a:effectRef idx="0">
              <a:srgbClr val="FFFFFF"/>
            </a:effectRef>
            <a:fontRef idx="minor">
              <a:schemeClr val="lt1"/>
            </a:fontRef>
          </p:style>
          <p:txBody>
            <a:bodyPr wrap="square" lIns="0" tIns="0" rIns="0" bIns="0" rtlCol="0"/>
            <a:lstStyle/>
            <a:p>
              <a:endParaRPr sz="1600">
                <a:latin typeface="微软雅黑" charset="0"/>
                <a:ea typeface="微软雅黑" charset="0"/>
              </a:endParaRPr>
            </a:p>
          </p:txBody>
        </p:sp>
        <p:sp>
          <p:nvSpPr>
            <p:cNvPr id="29" name="object 40"/>
            <p:cNvSpPr/>
            <p:nvPr>
              <p:custDataLst>
                <p:tags r:id="rId11"/>
              </p:custDataLst>
            </p:nvPr>
          </p:nvSpPr>
          <p:spPr>
            <a:xfrm rot="5400000">
              <a:off x="4939" y="5771"/>
              <a:ext cx="441" cy="232"/>
            </a:xfrm>
            <a:custGeom>
              <a:avLst/>
              <a:gdLst/>
              <a:ahLst/>
              <a:cxnLst/>
              <a:rect l="l" t="t" r="r" b="b"/>
              <a:pathLst>
                <a:path w="360045" h="376554">
                  <a:moveTo>
                    <a:pt x="269748" y="179831"/>
                  </a:moveTo>
                  <a:lnTo>
                    <a:pt x="89916" y="179831"/>
                  </a:lnTo>
                  <a:lnTo>
                    <a:pt x="89916" y="376427"/>
                  </a:lnTo>
                  <a:lnTo>
                    <a:pt x="269748" y="376427"/>
                  </a:lnTo>
                  <a:lnTo>
                    <a:pt x="269748" y="179831"/>
                  </a:lnTo>
                  <a:close/>
                </a:path>
                <a:path w="360045" h="376554">
                  <a:moveTo>
                    <a:pt x="179832" y="0"/>
                  </a:moveTo>
                  <a:lnTo>
                    <a:pt x="0" y="179831"/>
                  </a:lnTo>
                  <a:lnTo>
                    <a:pt x="359664" y="179831"/>
                  </a:lnTo>
                  <a:lnTo>
                    <a:pt x="179832" y="0"/>
                  </a:lnTo>
                  <a:close/>
                </a:path>
              </a:pathLst>
            </a:custGeom>
            <a:ln>
              <a:solidFill>
                <a:srgbClr val="4472C4"/>
              </a:solidFill>
            </a:ln>
          </p:spPr>
          <p:style>
            <a:lnRef idx="0">
              <a:srgbClr val="FFFFFF"/>
            </a:lnRef>
            <a:fillRef idx="1">
              <a:schemeClr val="accent1"/>
            </a:fillRef>
            <a:effectRef idx="0">
              <a:srgbClr val="FFFFFF"/>
            </a:effectRef>
            <a:fontRef idx="minor">
              <a:schemeClr val="lt1"/>
            </a:fontRef>
          </p:style>
          <p:txBody>
            <a:bodyPr wrap="square" lIns="0" tIns="0" rIns="0" bIns="0" rtlCol="0"/>
            <a:lstStyle/>
            <a:p>
              <a:endParaRPr sz="1600">
                <a:latin typeface="微软雅黑" charset="0"/>
                <a:ea typeface="微软雅黑" charset="0"/>
              </a:endParaRPr>
            </a:p>
          </p:txBody>
        </p:sp>
      </p:grpSp>
      <p:sp>
        <p:nvSpPr>
          <p:cNvPr id="30" name="文本框 29"/>
          <p:cNvSpPr txBox="1"/>
          <p:nvPr>
            <p:custDataLst>
              <p:tags r:id="rId12"/>
            </p:custDataLst>
          </p:nvPr>
        </p:nvSpPr>
        <p:spPr>
          <a:xfrm>
            <a:off x="915035" y="2764155"/>
            <a:ext cx="2205355" cy="521970"/>
          </a:xfrm>
          <a:prstGeom prst="rect">
            <a:avLst/>
          </a:prstGeom>
          <a:noFill/>
        </p:spPr>
        <p:txBody>
          <a:bodyPr wrap="square" rtlCol="0" anchor="t">
            <a:spAutoFit/>
          </a:bodyPr>
          <a:lstStyle/>
          <a:p>
            <a:r>
              <a:rPr lang="zh-CN" altLang="en-US" sz="1400" b="1" dirty="0">
                <a:latin typeface="微软雅黑" charset="0"/>
                <a:ea typeface="微软雅黑" charset="0"/>
                <a:cs typeface="微软雅黑" charset="0"/>
                <a:sym typeface="+mn-ea"/>
              </a:rPr>
              <a:t>（</a:t>
            </a:r>
            <a:r>
              <a:rPr lang="en-US" altLang="zh-CN" sz="1400" b="1" dirty="0">
                <a:latin typeface="微软雅黑" charset="0"/>
                <a:ea typeface="微软雅黑" charset="0"/>
                <a:cs typeface="微软雅黑" charset="0"/>
                <a:sym typeface="+mn-ea"/>
              </a:rPr>
              <a:t>1</a:t>
            </a:r>
            <a:r>
              <a:rPr lang="zh-CN" altLang="en-US" sz="1400" b="1" dirty="0">
                <a:latin typeface="微软雅黑" charset="0"/>
                <a:ea typeface="微软雅黑" charset="0"/>
                <a:cs typeface="微软雅黑" charset="0"/>
                <a:sym typeface="+mn-ea"/>
              </a:rPr>
              <a:t>）筛选会员及非会员</a:t>
            </a:r>
            <a:endParaRPr lang="en-US" altLang="zh-CN" sz="1400" b="1" dirty="0">
              <a:solidFill>
                <a:schemeClr val="tx1"/>
              </a:solidFill>
              <a:latin typeface="微软雅黑" charset="0"/>
              <a:ea typeface="微软雅黑" charset="0"/>
              <a:cs typeface="微软雅黑" charset="0"/>
              <a:sym typeface="+mn-ea"/>
            </a:endParaRPr>
          </a:p>
          <a:p>
            <a:r>
              <a:rPr lang="zh-CN" altLang="en-US" sz="1400" b="1" dirty="0">
                <a:latin typeface="微软雅黑" charset="0"/>
                <a:ea typeface="微软雅黑" charset="0"/>
                <a:cs typeface="微软雅黑" charset="0"/>
                <a:sym typeface="+mn-ea"/>
              </a:rPr>
              <a:t>（</a:t>
            </a:r>
            <a:r>
              <a:rPr lang="en-US" altLang="zh-CN" sz="1400" b="1" dirty="0">
                <a:latin typeface="微软雅黑" charset="0"/>
                <a:ea typeface="微软雅黑" charset="0"/>
                <a:cs typeface="微软雅黑" charset="0"/>
                <a:sym typeface="+mn-ea"/>
              </a:rPr>
              <a:t>2</a:t>
            </a:r>
            <a:r>
              <a:rPr lang="zh-CN" altLang="en-US" sz="1400" b="1" dirty="0">
                <a:latin typeface="微软雅黑" charset="0"/>
                <a:ea typeface="微软雅黑" charset="0"/>
                <a:cs typeface="微软雅黑" charset="0"/>
                <a:sym typeface="+mn-ea"/>
              </a:rPr>
              <a:t>）初步筛选优质客户</a:t>
            </a:r>
            <a:endParaRPr lang="zh-CN" altLang="en-US" sz="1400" b="1" dirty="0">
              <a:latin typeface="微软雅黑" charset="0"/>
              <a:ea typeface="微软雅黑" charset="0"/>
              <a:cs typeface="微软雅黑" charset="0"/>
              <a:sym typeface="+mn-ea"/>
            </a:endParaRPr>
          </a:p>
        </p:txBody>
      </p:sp>
      <p:sp>
        <p:nvSpPr>
          <p:cNvPr id="32" name="圆角矩形 31"/>
          <p:cNvSpPr/>
          <p:nvPr>
            <p:custDataLst>
              <p:tags r:id="rId13"/>
            </p:custDataLst>
          </p:nvPr>
        </p:nvSpPr>
        <p:spPr>
          <a:xfrm>
            <a:off x="4001770" y="4435475"/>
            <a:ext cx="6543040" cy="2333625"/>
          </a:xfrm>
          <a:prstGeom prst="roundRect">
            <a:avLst>
              <a:gd name="adj" fmla="val 1826"/>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latin typeface="微软雅黑" charset="0"/>
              <a:ea typeface="微软雅黑" charset="0"/>
              <a:sym typeface="+mn-ea"/>
            </a:endParaRPr>
          </a:p>
        </p:txBody>
      </p:sp>
      <p:sp>
        <p:nvSpPr>
          <p:cNvPr id="34" name="文本框 33"/>
          <p:cNvSpPr txBox="1"/>
          <p:nvPr>
            <p:custDataLst>
              <p:tags r:id="rId14"/>
            </p:custDataLst>
          </p:nvPr>
        </p:nvSpPr>
        <p:spPr>
          <a:xfrm>
            <a:off x="4511675" y="4411345"/>
            <a:ext cx="2509520" cy="525145"/>
          </a:xfrm>
          <a:prstGeom prst="rect">
            <a:avLst/>
          </a:prstGeom>
          <a:noFill/>
        </p:spPr>
        <p:txBody>
          <a:bodyPr wrap="square">
            <a:noAutofit/>
          </a:bodyPr>
          <a:lstStyle/>
          <a:p>
            <a:pPr indent="0" algn="ctr">
              <a:lnSpc>
                <a:spcPct val="150000"/>
              </a:lnSpc>
              <a:buFont typeface="Wingdings" panose="05000000000000000000" pitchFamily="2" charset="2"/>
              <a:buNone/>
            </a:pPr>
            <a:r>
              <a:rPr lang="zh-CN" sz="1400" b="1" dirty="0">
                <a:latin typeface="微软雅黑" charset="0"/>
                <a:ea typeface="微软雅黑" charset="0"/>
                <a:cs typeface="微软雅黑" panose="020B0503020204020204" pitchFamily="34" charset="-122"/>
                <a:sym typeface="+mn-ea"/>
              </a:rPr>
              <a:t>行业对标企业会员等级</a:t>
            </a:r>
            <a:endParaRPr lang="zh-CN" sz="1400" b="1" dirty="0">
              <a:latin typeface="微软雅黑" charset="0"/>
              <a:ea typeface="微软雅黑" charset="0"/>
              <a:cs typeface="微软雅黑" panose="020B0503020204020204" pitchFamily="34" charset="-122"/>
              <a:sym typeface="+mn-ea"/>
            </a:endParaRPr>
          </a:p>
        </p:txBody>
      </p:sp>
      <p:graphicFrame>
        <p:nvGraphicFramePr>
          <p:cNvPr id="35" name="表格 34"/>
          <p:cNvGraphicFramePr>
            <a:graphicFrameLocks noGrp="1"/>
          </p:cNvGraphicFramePr>
          <p:nvPr>
            <p:custDataLst>
              <p:tags r:id="rId15"/>
            </p:custDataLst>
          </p:nvPr>
        </p:nvGraphicFramePr>
        <p:xfrm>
          <a:off x="4201795" y="4831715"/>
          <a:ext cx="5760720" cy="1871345"/>
        </p:xfrm>
        <a:graphic>
          <a:graphicData uri="http://schemas.openxmlformats.org/drawingml/2006/table">
            <a:tbl>
              <a:tblPr>
                <a:tableStyleId>{5C22544A-7EE6-4342-B048-85BDC9FD1C3A}</a:tableStyleId>
              </a:tblPr>
              <a:tblGrid>
                <a:gridCol w="353695"/>
                <a:gridCol w="1155700"/>
                <a:gridCol w="1133475"/>
                <a:gridCol w="998855"/>
                <a:gridCol w="994410"/>
                <a:gridCol w="1124585"/>
              </a:tblGrid>
              <a:tr h="382905">
                <a:tc>
                  <a:txBody>
                    <a:bodyPr/>
                    <a:lstStyle/>
                    <a:p>
                      <a:pPr algn="l" fontAlgn="ctr"/>
                      <a:r>
                        <a:rPr lang="zh-CN" altLang="en-US" sz="1200" u="none" strike="noStrike" dirty="0">
                          <a:effectLst/>
                          <a:latin typeface="微软雅黑" charset="0"/>
                          <a:ea typeface="微软雅黑" charset="0"/>
                        </a:rPr>
                        <a:t>　</a:t>
                      </a:r>
                      <a:endParaRPr lang="zh-CN" altLang="en-US" sz="1200" b="0" i="0" u="none" strike="noStrike" dirty="0">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200" b="1" u="none" strike="noStrike">
                          <a:effectLst/>
                          <a:latin typeface="微软雅黑" charset="0"/>
                          <a:ea typeface="微软雅黑" charset="0"/>
                        </a:rPr>
                        <a:t>华润通</a:t>
                      </a:r>
                      <a:endParaRPr lang="zh-CN" altLang="en-US" sz="1200" b="1"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200" b="1" u="none" strike="noStrike">
                          <a:effectLst/>
                          <a:latin typeface="微软雅黑" charset="0"/>
                          <a:ea typeface="微软雅黑" charset="0"/>
                        </a:rPr>
                        <a:t>亚泰</a:t>
                      </a:r>
                      <a:endParaRPr lang="zh-CN" altLang="en-US" sz="1200" b="1"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200" b="1" u="none" strike="noStrike">
                          <a:effectLst/>
                          <a:latin typeface="微软雅黑" charset="0"/>
                          <a:ea typeface="微软雅黑" charset="0"/>
                        </a:rPr>
                        <a:t>越秀</a:t>
                      </a:r>
                      <a:endParaRPr lang="zh-CN" altLang="en-US" sz="1200" b="1"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200" b="1" u="none" strike="noStrike">
                          <a:effectLst/>
                          <a:latin typeface="微软雅黑" charset="0"/>
                          <a:ea typeface="微软雅黑" charset="0"/>
                        </a:rPr>
                        <a:t>龙珠</a:t>
                      </a:r>
                      <a:endParaRPr lang="zh-CN" altLang="en-US" sz="1200" b="1"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200" b="1" u="none" strike="noStrike" dirty="0">
                          <a:effectLst/>
                          <a:latin typeface="微软雅黑" charset="0"/>
                          <a:ea typeface="微软雅黑" charset="0"/>
                        </a:rPr>
                        <a:t>国信通</a:t>
                      </a:r>
                      <a:endParaRPr lang="zh-CN" altLang="en-US" sz="1200" b="1" i="0" u="none" strike="noStrike" dirty="0">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355">
                <a:tc>
                  <a:txBody>
                    <a:bodyPr/>
                    <a:lstStyle/>
                    <a:p>
                      <a:pPr algn="ctr" fontAlgn="ctr"/>
                      <a:r>
                        <a:rPr lang="en-US" sz="1200" u="none" strike="noStrike">
                          <a:effectLst/>
                          <a:latin typeface="微软雅黑" charset="0"/>
                          <a:ea typeface="微软雅黑" charset="0"/>
                        </a:rPr>
                        <a:t>V1</a:t>
                      </a:r>
                      <a:endParaRPr lang="en-US" sz="12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2260">
                <a:tc>
                  <a:txBody>
                    <a:bodyPr/>
                    <a:lstStyle/>
                    <a:p>
                      <a:pPr algn="ctr" fontAlgn="ctr"/>
                      <a:r>
                        <a:rPr lang="en-US" sz="1200" u="none" strike="noStrike">
                          <a:effectLst/>
                          <a:latin typeface="微软雅黑" charset="0"/>
                          <a:ea typeface="微软雅黑" charset="0"/>
                        </a:rPr>
                        <a:t>V2</a:t>
                      </a:r>
                      <a:endParaRPr lang="en-US" sz="12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5000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5000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2000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100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5000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2260">
                <a:tc>
                  <a:txBody>
                    <a:bodyPr/>
                    <a:lstStyle/>
                    <a:p>
                      <a:pPr algn="ctr" fontAlgn="ctr"/>
                      <a:r>
                        <a:rPr lang="en-US" sz="1200" u="none" strike="noStrike">
                          <a:effectLst/>
                          <a:latin typeface="微软雅黑" charset="0"/>
                          <a:ea typeface="微软雅黑" charset="0"/>
                        </a:rPr>
                        <a:t>V3</a:t>
                      </a:r>
                      <a:endParaRPr lang="en-US" sz="12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50000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50000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10000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2000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50000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0830">
                <a:tc>
                  <a:txBody>
                    <a:bodyPr/>
                    <a:lstStyle/>
                    <a:p>
                      <a:pPr algn="ctr" fontAlgn="ctr"/>
                      <a:r>
                        <a:rPr lang="en-US" sz="1200" u="none" strike="noStrike">
                          <a:effectLst/>
                          <a:latin typeface="微软雅黑" charset="0"/>
                          <a:ea typeface="微软雅黑" charset="0"/>
                        </a:rPr>
                        <a:t>V4</a:t>
                      </a:r>
                      <a:endParaRPr lang="en-US" sz="12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800" u="none" strike="noStrike">
                          <a:effectLst/>
                          <a:latin typeface="微软雅黑" charset="0"/>
                          <a:ea typeface="微软雅黑" charset="0"/>
                        </a:rPr>
                        <a:t>　</a:t>
                      </a:r>
                      <a:endParaRPr lang="zh-CN" altLang="en-US" sz="8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800" u="none" strike="noStrike" dirty="0">
                          <a:effectLst/>
                          <a:latin typeface="微软雅黑" charset="0"/>
                          <a:ea typeface="微软雅黑" charset="0"/>
                        </a:rPr>
                        <a:t>　</a:t>
                      </a:r>
                      <a:endParaRPr lang="zh-CN" altLang="en-US" sz="800" b="0" i="0" u="none" strike="noStrike" dirty="0">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50000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4000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150000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2735">
                <a:tc>
                  <a:txBody>
                    <a:bodyPr/>
                    <a:lstStyle/>
                    <a:p>
                      <a:pPr algn="ctr" fontAlgn="ctr"/>
                      <a:r>
                        <a:rPr lang="en-US" sz="1200" u="none" strike="noStrike">
                          <a:effectLst/>
                          <a:latin typeface="微软雅黑" charset="0"/>
                          <a:ea typeface="微软雅黑" charset="0"/>
                        </a:rPr>
                        <a:t>V5</a:t>
                      </a:r>
                      <a:endParaRPr lang="en-US" sz="12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800" u="none" strike="noStrike">
                          <a:effectLst/>
                          <a:latin typeface="微软雅黑" charset="0"/>
                          <a:ea typeface="微软雅黑" charset="0"/>
                        </a:rPr>
                        <a:t>　</a:t>
                      </a:r>
                      <a:endParaRPr lang="zh-CN" altLang="en-US" sz="8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800" u="none" strike="noStrike">
                          <a:effectLst/>
                          <a:latin typeface="微软雅黑" charset="0"/>
                          <a:ea typeface="微软雅黑" charset="0"/>
                        </a:rPr>
                        <a:t>　</a:t>
                      </a:r>
                      <a:endParaRPr lang="zh-CN" altLang="en-US" sz="8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800" u="none" strike="noStrike">
                          <a:effectLst/>
                          <a:latin typeface="微软雅黑" charset="0"/>
                          <a:ea typeface="微软雅黑" charset="0"/>
                        </a:rPr>
                        <a:t>　</a:t>
                      </a:r>
                      <a:endParaRPr lang="zh-CN" altLang="en-US" sz="800" b="0" i="0" u="none" strike="noStrike">
                        <a:solidFill>
                          <a:srgbClr val="000000"/>
                        </a:solidFill>
                        <a:effectLst/>
                        <a:latin typeface="微软雅黑" charset="0"/>
                        <a:ea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a:effectLst/>
                          <a:latin typeface="微软雅黑" charset="0"/>
                          <a:ea typeface="微软雅黑" charset="0"/>
                          <a:cs typeface="微软雅黑" charset="0"/>
                        </a:rPr>
                        <a:t>10000</a:t>
                      </a:r>
                      <a:r>
                        <a:rPr lang="zh-CN" altLang="en-US" sz="800" u="none" strike="noStrike">
                          <a:effectLst/>
                          <a:latin typeface="微软雅黑" charset="0"/>
                          <a:ea typeface="微软雅黑" charset="0"/>
                          <a:cs typeface="微软雅黑" charset="0"/>
                        </a:rPr>
                        <a:t>成长值</a:t>
                      </a:r>
                      <a:endParaRPr lang="zh-CN" altLang="en-US" sz="800" b="0" i="0" u="none" strike="noStrike">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zh-CN" sz="800" u="none" strike="noStrike" dirty="0">
                          <a:effectLst/>
                          <a:latin typeface="微软雅黑" charset="0"/>
                          <a:ea typeface="微软雅黑" charset="0"/>
                          <a:cs typeface="微软雅黑" charset="0"/>
                        </a:rPr>
                        <a:t>500000</a:t>
                      </a:r>
                      <a:r>
                        <a:rPr lang="zh-CN" altLang="en-US" sz="800" u="none" strike="noStrike" dirty="0">
                          <a:effectLst/>
                          <a:latin typeface="微软雅黑" charset="0"/>
                          <a:ea typeface="微软雅黑" charset="0"/>
                          <a:cs typeface="微软雅黑" charset="0"/>
                        </a:rPr>
                        <a:t>成长值</a:t>
                      </a:r>
                      <a:endParaRPr lang="zh-CN" altLang="en-US" sz="800" b="0" i="0" u="none" strike="noStrike" dirty="0">
                        <a:solidFill>
                          <a:srgbClr val="000000"/>
                        </a:solidFill>
                        <a:effectLst/>
                        <a:latin typeface="微软雅黑" charset="0"/>
                        <a:ea typeface="微软雅黑" charset="0"/>
                        <a:cs typeface="微软雅黑"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pSp>
        <p:nvGrpSpPr>
          <p:cNvPr id="39" name="组合 38"/>
          <p:cNvGrpSpPr/>
          <p:nvPr/>
        </p:nvGrpSpPr>
        <p:grpSpPr>
          <a:xfrm>
            <a:off x="4106545" y="2380615"/>
            <a:ext cx="3056890" cy="1332472"/>
            <a:chOff x="11796" y="8251"/>
            <a:chExt cx="3412" cy="1701"/>
          </a:xfrm>
        </p:grpSpPr>
        <p:grpSp>
          <p:nvGrpSpPr>
            <p:cNvPr id="40" name="组合 76"/>
            <p:cNvGrpSpPr/>
            <p:nvPr/>
          </p:nvGrpSpPr>
          <p:grpSpPr>
            <a:xfrm>
              <a:off x="11796" y="8251"/>
              <a:ext cx="1599" cy="1688"/>
              <a:chOff x="6741813" y="-1166514"/>
              <a:chExt cx="2286564" cy="2938225"/>
            </a:xfrm>
          </p:grpSpPr>
          <p:sp>
            <p:nvSpPr>
              <p:cNvPr id="44" name="Freeform 4"/>
              <p:cNvSpPr/>
              <p:nvPr>
                <p:custDataLst>
                  <p:tags r:id="rId16"/>
                </p:custDataLst>
              </p:nvPr>
            </p:nvSpPr>
            <p:spPr bwMode="blackWhite">
              <a:xfrm>
                <a:off x="8579420" y="702195"/>
                <a:ext cx="448957" cy="1069514"/>
              </a:xfrm>
              <a:custGeom>
                <a:avLst/>
                <a:gdLst>
                  <a:gd name="T0" fmla="*/ 2147483647 w 979"/>
                  <a:gd name="T1" fmla="*/ 2147483647 h 1146"/>
                  <a:gd name="T2" fmla="*/ 0 w 979"/>
                  <a:gd name="T3" fmla="*/ 2147483647 h 1146"/>
                  <a:gd name="T4" fmla="*/ 2147483647 w 979"/>
                  <a:gd name="T5" fmla="*/ 0 h 1146"/>
                  <a:gd name="T6" fmla="*/ 2147483647 w 979"/>
                  <a:gd name="T7" fmla="*/ 2147483647 h 1146"/>
                  <a:gd name="T8" fmla="*/ 2147483647 w 979"/>
                  <a:gd name="T9" fmla="*/ 2147483647 h 1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9" h="1146">
                    <a:moveTo>
                      <a:pt x="498" y="1145"/>
                    </a:moveTo>
                    <a:lnTo>
                      <a:pt x="0" y="401"/>
                    </a:lnTo>
                    <a:lnTo>
                      <a:pt x="366" y="0"/>
                    </a:lnTo>
                    <a:lnTo>
                      <a:pt x="978" y="631"/>
                    </a:lnTo>
                    <a:lnTo>
                      <a:pt x="498" y="1145"/>
                    </a:lnTo>
                  </a:path>
                </a:pathLst>
              </a:custGeom>
              <a:solidFill>
                <a:srgbClr val="85C9F6">
                  <a:alpha val="81000"/>
                </a:srgbClr>
              </a:solidFill>
              <a:ln w="12700" cap="rnd" cmpd="sng">
                <a:solidFill>
                  <a:schemeClr val="tx1"/>
                </a:solidFill>
                <a:prstDash val="solid"/>
                <a:round/>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u="none" strike="noStrike" kern="1200" cap="none" spc="0" normalizeH="0" baseline="0" noProof="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59" name="Freeform 5"/>
              <p:cNvSpPr/>
              <p:nvPr>
                <p:custDataLst>
                  <p:tags r:id="rId17"/>
                </p:custDataLst>
              </p:nvPr>
            </p:nvSpPr>
            <p:spPr bwMode="blackWhite">
              <a:xfrm>
                <a:off x="6969201" y="702198"/>
                <a:ext cx="1778379" cy="378360"/>
              </a:xfrm>
              <a:custGeom>
                <a:avLst/>
                <a:gdLst>
                  <a:gd name="T0" fmla="*/ 0 w 3876"/>
                  <a:gd name="T1" fmla="*/ 2147483647 h 405"/>
                  <a:gd name="T2" fmla="*/ 2147483647 w 3876"/>
                  <a:gd name="T3" fmla="*/ 2147483647 h 405"/>
                  <a:gd name="T4" fmla="*/ 2147483647 w 3876"/>
                  <a:gd name="T5" fmla="*/ 0 h 405"/>
                  <a:gd name="T6" fmla="*/ 2147483647 w 3876"/>
                  <a:gd name="T7" fmla="*/ 2147483647 h 405"/>
                  <a:gd name="T8" fmla="*/ 0 w 3876"/>
                  <a:gd name="T9" fmla="*/ 2147483647 h 4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76" h="405">
                    <a:moveTo>
                      <a:pt x="0" y="404"/>
                    </a:moveTo>
                    <a:lnTo>
                      <a:pt x="3510" y="404"/>
                    </a:lnTo>
                    <a:lnTo>
                      <a:pt x="3875" y="0"/>
                    </a:lnTo>
                    <a:lnTo>
                      <a:pt x="692" y="2"/>
                    </a:lnTo>
                    <a:lnTo>
                      <a:pt x="0" y="404"/>
                    </a:lnTo>
                  </a:path>
                </a:pathLst>
              </a:custGeom>
              <a:solidFill>
                <a:srgbClr val="FFFFFF">
                  <a:alpha val="50195"/>
                </a:srgbClr>
              </a:solidFill>
              <a:ln w="9525" cap="rnd" cmpd="sng">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u="none" strike="noStrike" kern="1200" cap="none" spc="0" normalizeH="0" baseline="0" noProof="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70" name="Freeform 6"/>
              <p:cNvSpPr/>
              <p:nvPr>
                <p:custDataLst>
                  <p:tags r:id="rId18"/>
                </p:custDataLst>
              </p:nvPr>
            </p:nvSpPr>
            <p:spPr bwMode="blackWhite">
              <a:xfrm>
                <a:off x="6741813" y="1077334"/>
                <a:ext cx="2066579" cy="694377"/>
              </a:xfrm>
              <a:custGeom>
                <a:avLst/>
                <a:gdLst>
                  <a:gd name="T0" fmla="*/ 0 w 4504"/>
                  <a:gd name="T1" fmla="*/ 2147483647 h 744"/>
                  <a:gd name="T2" fmla="*/ 2147483647 w 4504"/>
                  <a:gd name="T3" fmla="*/ 2147483647 h 744"/>
                  <a:gd name="T4" fmla="*/ 2147483647 w 4504"/>
                  <a:gd name="T5" fmla="*/ 0 h 744"/>
                  <a:gd name="T6" fmla="*/ 2147483647 w 4504"/>
                  <a:gd name="T7" fmla="*/ 0 h 744"/>
                  <a:gd name="T8" fmla="*/ 0 w 4504"/>
                  <a:gd name="T9" fmla="*/ 2147483647 h 7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4" h="744">
                    <a:moveTo>
                      <a:pt x="0" y="743"/>
                    </a:moveTo>
                    <a:lnTo>
                      <a:pt x="4503" y="743"/>
                    </a:lnTo>
                    <a:lnTo>
                      <a:pt x="4003" y="0"/>
                    </a:lnTo>
                    <a:lnTo>
                      <a:pt x="494" y="0"/>
                    </a:lnTo>
                    <a:lnTo>
                      <a:pt x="0" y="743"/>
                    </a:lnTo>
                  </a:path>
                </a:pathLst>
              </a:custGeom>
              <a:solidFill>
                <a:srgbClr val="B8D9F2"/>
              </a:solidFill>
              <a:ln w="12700" cap="rnd" cmpd="sng">
                <a:solidFill>
                  <a:schemeClr val="tx1"/>
                </a:solidFill>
                <a:prstDash val="solid"/>
                <a:round/>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u="none" strike="noStrike" kern="1200" cap="none" spc="0" normalizeH="0" baseline="0" noProof="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72" name="Freeform 7"/>
              <p:cNvSpPr/>
              <p:nvPr>
                <p:custDataLst>
                  <p:tags r:id="rId19"/>
                </p:custDataLst>
              </p:nvPr>
            </p:nvSpPr>
            <p:spPr bwMode="blackWhite">
              <a:xfrm>
                <a:off x="8312372" y="53424"/>
                <a:ext cx="391376" cy="914414"/>
              </a:xfrm>
              <a:custGeom>
                <a:avLst/>
                <a:gdLst>
                  <a:gd name="T0" fmla="*/ 0 w 854"/>
                  <a:gd name="T1" fmla="*/ 2147483647 h 993"/>
                  <a:gd name="T2" fmla="*/ 2147483647 w 854"/>
                  <a:gd name="T3" fmla="*/ 2147483647 h 993"/>
                  <a:gd name="T4" fmla="*/ 2147483647 w 854"/>
                  <a:gd name="T5" fmla="*/ 2147483647 h 993"/>
                  <a:gd name="T6" fmla="*/ 2147483647 w 854"/>
                  <a:gd name="T7" fmla="*/ 0 h 993"/>
                  <a:gd name="T8" fmla="*/ 0 w 854"/>
                  <a:gd name="T9" fmla="*/ 2147483647 h 993"/>
                  <a:gd name="T10" fmla="*/ 0 60000 65536"/>
                  <a:gd name="T11" fmla="*/ 0 60000 65536"/>
                  <a:gd name="T12" fmla="*/ 0 60000 65536"/>
                  <a:gd name="T13" fmla="*/ 0 60000 65536"/>
                  <a:gd name="T14" fmla="*/ 0 60000 65536"/>
                  <a:gd name="connsiteX0" fmla="*/ 0 w 9988"/>
                  <a:gd name="connsiteY0" fmla="*/ 2588 h 9869"/>
                  <a:gd name="connsiteX1" fmla="*/ 5913 w 9988"/>
                  <a:gd name="connsiteY1" fmla="*/ 9869 h 9869"/>
                  <a:gd name="connsiteX2" fmla="*/ 9988 w 9988"/>
                  <a:gd name="connsiteY2" fmla="*/ 6133 h 9869"/>
                  <a:gd name="connsiteX3" fmla="*/ 4047 w 9988"/>
                  <a:gd name="connsiteY3" fmla="*/ 0 h 9869"/>
                  <a:gd name="connsiteX4" fmla="*/ 0 w 9988"/>
                  <a:gd name="connsiteY4" fmla="*/ 2588 h 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8" h="9869">
                    <a:moveTo>
                      <a:pt x="0" y="2588"/>
                    </a:moveTo>
                    <a:lnTo>
                      <a:pt x="5913" y="9869"/>
                    </a:lnTo>
                    <a:lnTo>
                      <a:pt x="9988" y="6133"/>
                    </a:lnTo>
                    <a:lnTo>
                      <a:pt x="4047" y="0"/>
                    </a:lnTo>
                    <a:cubicBezTo>
                      <a:pt x="3091" y="903"/>
                      <a:pt x="956" y="1685"/>
                      <a:pt x="0" y="2588"/>
                    </a:cubicBezTo>
                  </a:path>
                </a:pathLst>
              </a:custGeom>
              <a:solidFill>
                <a:srgbClr val="85C9F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1" u="none" strike="noStrike" kern="1200" cap="none" spc="0" normalizeH="0" baseline="0" noProof="0">
                  <a:ln>
                    <a:noFill/>
                  </a:ln>
                  <a:solidFill>
                    <a:prstClr val="white"/>
                  </a:solidFill>
                  <a:effectLst/>
                  <a:uLnTx/>
                  <a:uFillTx/>
                  <a:latin typeface="微软雅黑" charset="0"/>
                  <a:ea typeface="微软雅黑" charset="0"/>
                  <a:cs typeface="+mn-cs"/>
                  <a:sym typeface="微软雅黑" panose="020B0503020204020204" pitchFamily="34" charset="-122"/>
                </a:endParaRPr>
              </a:p>
            </p:txBody>
          </p:sp>
          <p:sp>
            <p:nvSpPr>
              <p:cNvPr id="73" name="Freeform 9"/>
              <p:cNvSpPr/>
              <p:nvPr>
                <p:custDataLst>
                  <p:tags r:id="rId20"/>
                </p:custDataLst>
              </p:nvPr>
            </p:nvSpPr>
            <p:spPr bwMode="blackWhite">
              <a:xfrm>
                <a:off x="7006745" y="292666"/>
                <a:ext cx="1538829" cy="677179"/>
              </a:xfrm>
              <a:custGeom>
                <a:avLst/>
                <a:gdLst>
                  <a:gd name="T0" fmla="*/ 0 w 3354"/>
                  <a:gd name="T1" fmla="*/ 2147483647 h 726"/>
                  <a:gd name="T2" fmla="*/ 2147483647 w 3354"/>
                  <a:gd name="T3" fmla="*/ 2147483647 h 726"/>
                  <a:gd name="T4" fmla="*/ 2147483647 w 3354"/>
                  <a:gd name="T5" fmla="*/ 0 h 726"/>
                  <a:gd name="T6" fmla="*/ 2147483647 w 3354"/>
                  <a:gd name="T7" fmla="*/ 0 h 726"/>
                  <a:gd name="T8" fmla="*/ 0 w 3354"/>
                  <a:gd name="T9" fmla="*/ 2147483647 h 7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54" h="726">
                    <a:moveTo>
                      <a:pt x="0" y="725"/>
                    </a:moveTo>
                    <a:lnTo>
                      <a:pt x="3353" y="725"/>
                    </a:lnTo>
                    <a:lnTo>
                      <a:pt x="2844" y="0"/>
                    </a:lnTo>
                    <a:lnTo>
                      <a:pt x="499" y="0"/>
                    </a:lnTo>
                    <a:lnTo>
                      <a:pt x="0" y="725"/>
                    </a:lnTo>
                  </a:path>
                </a:pathLst>
              </a:custGeom>
              <a:solidFill>
                <a:srgbClr val="85C9F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1" u="none" strike="noStrike" kern="1200" cap="none" spc="0" normalizeH="0" baseline="0" noProof="0" dirty="0">
                  <a:ln>
                    <a:noFill/>
                  </a:ln>
                  <a:solidFill>
                    <a:prstClr val="white"/>
                  </a:solidFill>
                  <a:effectLst/>
                  <a:uLnTx/>
                  <a:uFillTx/>
                  <a:latin typeface="微软雅黑" charset="0"/>
                  <a:ea typeface="微软雅黑" charset="0"/>
                  <a:cs typeface="+mn-cs"/>
                  <a:sym typeface="微软雅黑" panose="020B0503020204020204" pitchFamily="34" charset="-122"/>
                </a:endParaRPr>
              </a:p>
            </p:txBody>
          </p:sp>
          <p:sp>
            <p:nvSpPr>
              <p:cNvPr id="74" name="Freeform 13"/>
              <p:cNvSpPr/>
              <p:nvPr>
                <p:custDataLst>
                  <p:tags r:id="rId21"/>
                </p:custDataLst>
              </p:nvPr>
            </p:nvSpPr>
            <p:spPr bwMode="blackWhite">
              <a:xfrm rot="120000">
                <a:off x="7747571" y="-1166514"/>
                <a:ext cx="708478" cy="1358903"/>
              </a:xfrm>
              <a:custGeom>
                <a:avLst/>
                <a:gdLst>
                  <a:gd name="T0" fmla="*/ 2147483647 w 623"/>
                  <a:gd name="T1" fmla="*/ 2147483647 h 735"/>
                  <a:gd name="T2" fmla="*/ 2147483647 w 623"/>
                  <a:gd name="T3" fmla="*/ 2147483647 h 735"/>
                  <a:gd name="T4" fmla="*/ 0 w 623"/>
                  <a:gd name="T5" fmla="*/ 0 h 735"/>
                  <a:gd name="T6" fmla="*/ 2147483647 w 623"/>
                  <a:gd name="T7" fmla="*/ 2147483647 h 7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3" h="735">
                    <a:moveTo>
                      <a:pt x="505" y="734"/>
                    </a:moveTo>
                    <a:lnTo>
                      <a:pt x="622" y="620"/>
                    </a:lnTo>
                    <a:lnTo>
                      <a:pt x="0" y="0"/>
                    </a:lnTo>
                    <a:lnTo>
                      <a:pt x="505" y="734"/>
                    </a:lnTo>
                  </a:path>
                </a:pathLst>
              </a:custGeom>
              <a:solidFill>
                <a:srgbClr val="067DD4"/>
              </a:solidFill>
              <a:ln w="9525" cap="rnd" cmpd="sng">
                <a:solidFill>
                  <a:srgbClr val="000000"/>
                </a:solidFill>
                <a:prstDash val="solid"/>
                <a:round/>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u="none" strike="noStrike" kern="1200" cap="none" spc="0" normalizeH="0" baseline="0" noProof="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75" name="Freeform 14"/>
              <p:cNvSpPr/>
              <p:nvPr>
                <p:custDataLst>
                  <p:tags r:id="rId22"/>
                </p:custDataLst>
              </p:nvPr>
            </p:nvSpPr>
            <p:spPr bwMode="blackWhite">
              <a:xfrm>
                <a:off x="7236776" y="-1144224"/>
                <a:ext cx="1057032" cy="1357390"/>
              </a:xfrm>
              <a:custGeom>
                <a:avLst/>
                <a:gdLst>
                  <a:gd name="T0" fmla="*/ 0 w 1011"/>
                  <a:gd name="T1" fmla="*/ 2147483647 h 735"/>
                  <a:gd name="T2" fmla="*/ 2147483647 w 1011"/>
                  <a:gd name="T3" fmla="*/ 2147483647 h 735"/>
                  <a:gd name="T4" fmla="*/ 2147483647 w 1011"/>
                  <a:gd name="T5" fmla="*/ 0 h 735"/>
                  <a:gd name="T6" fmla="*/ 0 w 1011"/>
                  <a:gd name="T7" fmla="*/ 2147483647 h 7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1" h="735">
                    <a:moveTo>
                      <a:pt x="0" y="734"/>
                    </a:moveTo>
                    <a:lnTo>
                      <a:pt x="1010" y="734"/>
                    </a:lnTo>
                    <a:lnTo>
                      <a:pt x="505" y="0"/>
                    </a:lnTo>
                    <a:lnTo>
                      <a:pt x="0" y="734"/>
                    </a:lnTo>
                  </a:path>
                </a:pathLst>
              </a:custGeom>
              <a:solidFill>
                <a:srgbClr val="067DD4"/>
              </a:solidFill>
              <a:ln w="12700" cap="rnd" cmpd="sng">
                <a:solidFill>
                  <a:schemeClr val="tx1"/>
                </a:solidFill>
                <a:prstDash val="solid"/>
                <a:round/>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u="none" strike="noStrike" kern="1200" cap="none" spc="0" normalizeH="0" baseline="0" noProof="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76" name="Rectangle 15"/>
              <p:cNvSpPr>
                <a:spLocks noChangeArrowheads="1"/>
              </p:cNvSpPr>
              <p:nvPr>
                <p:custDataLst>
                  <p:tags r:id="rId23"/>
                </p:custDataLst>
              </p:nvPr>
            </p:nvSpPr>
            <p:spPr bwMode="black">
              <a:xfrm>
                <a:off x="6921996" y="1238701"/>
                <a:ext cx="1589066" cy="4090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762000">
                  <a:defRPr sz="1300" b="1">
                    <a:solidFill>
                      <a:srgbClr val="000000"/>
                    </a:solidFill>
                    <a:latin typeface="Arial" panose="020B0604020202090204" pitchFamily="34" charset="0"/>
                    <a:ea typeface="宋体" pitchFamily="2" charset="-122"/>
                  </a:defRPr>
                </a:lvl1pPr>
                <a:lvl2pPr marL="742950" indent="-285750" defTabSz="762000">
                  <a:defRPr sz="1300" b="1">
                    <a:solidFill>
                      <a:srgbClr val="000000"/>
                    </a:solidFill>
                    <a:latin typeface="Arial" panose="020B0604020202090204" pitchFamily="34" charset="0"/>
                    <a:ea typeface="宋体" pitchFamily="2" charset="-122"/>
                  </a:defRPr>
                </a:lvl2pPr>
                <a:lvl3pPr marL="1143000" indent="-228600" defTabSz="762000">
                  <a:defRPr sz="1300" b="1">
                    <a:solidFill>
                      <a:srgbClr val="000000"/>
                    </a:solidFill>
                    <a:latin typeface="Arial" panose="020B0604020202090204" pitchFamily="34" charset="0"/>
                    <a:ea typeface="宋体" pitchFamily="2" charset="-122"/>
                  </a:defRPr>
                </a:lvl3pPr>
                <a:lvl4pPr marL="1600200" indent="-228600" defTabSz="762000">
                  <a:defRPr sz="1300" b="1">
                    <a:solidFill>
                      <a:srgbClr val="000000"/>
                    </a:solidFill>
                    <a:latin typeface="Arial" panose="020B0604020202090204" pitchFamily="34" charset="0"/>
                    <a:ea typeface="宋体" pitchFamily="2" charset="-122"/>
                  </a:defRPr>
                </a:lvl4pPr>
                <a:lvl5pPr marL="2057400" indent="-228600" defTabSz="762000">
                  <a:defRPr sz="1300" b="1">
                    <a:solidFill>
                      <a:srgbClr val="000000"/>
                    </a:solidFill>
                    <a:latin typeface="Arial" panose="020B0604020202090204" pitchFamily="34" charset="0"/>
                    <a:ea typeface="宋体" pitchFamily="2" charset="-122"/>
                  </a:defRPr>
                </a:lvl5pPr>
                <a:lvl6pPr marL="25146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l" defTabSz="762000" rtl="0" eaLnBrk="1" fontAlgn="auto" latinLnBrk="0" hangingPunct="1">
                  <a:lnSpc>
                    <a:spcPct val="100000"/>
                  </a:lnSpc>
                  <a:spcBef>
                    <a:spcPts val="0"/>
                  </a:spcBef>
                  <a:spcAft>
                    <a:spcPts val="0"/>
                  </a:spcAft>
                  <a:buClrTx/>
                  <a:buSzTx/>
                  <a:buFontTx/>
                  <a:buNone/>
                  <a:defRPr/>
                </a:pPr>
                <a:r>
                  <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rPr>
                  <a:t>V1</a:t>
                </a:r>
                <a:endPar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sp>
            <p:nvSpPr>
              <p:cNvPr id="77" name="Rectangle 18"/>
              <p:cNvSpPr>
                <a:spLocks noChangeArrowheads="1"/>
              </p:cNvSpPr>
              <p:nvPr>
                <p:custDataLst>
                  <p:tags r:id="rId24"/>
                </p:custDataLst>
              </p:nvPr>
            </p:nvSpPr>
            <p:spPr bwMode="black">
              <a:xfrm>
                <a:off x="7100786" y="462412"/>
                <a:ext cx="1250281" cy="4090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762000">
                  <a:defRPr sz="1300" b="1">
                    <a:solidFill>
                      <a:srgbClr val="000000"/>
                    </a:solidFill>
                    <a:latin typeface="Arial" panose="020B0604020202090204" pitchFamily="34" charset="0"/>
                    <a:ea typeface="宋体" pitchFamily="2" charset="-122"/>
                  </a:defRPr>
                </a:lvl1pPr>
                <a:lvl2pPr marL="742950" indent="-285750" defTabSz="762000">
                  <a:defRPr sz="1300" b="1">
                    <a:solidFill>
                      <a:srgbClr val="000000"/>
                    </a:solidFill>
                    <a:latin typeface="Arial" panose="020B0604020202090204" pitchFamily="34" charset="0"/>
                    <a:ea typeface="宋体" pitchFamily="2" charset="-122"/>
                  </a:defRPr>
                </a:lvl2pPr>
                <a:lvl3pPr marL="1143000" indent="-228600" defTabSz="762000">
                  <a:defRPr sz="1300" b="1">
                    <a:solidFill>
                      <a:srgbClr val="000000"/>
                    </a:solidFill>
                    <a:latin typeface="Arial" panose="020B0604020202090204" pitchFamily="34" charset="0"/>
                    <a:ea typeface="宋体" pitchFamily="2" charset="-122"/>
                  </a:defRPr>
                </a:lvl3pPr>
                <a:lvl4pPr marL="1600200" indent="-228600" defTabSz="762000">
                  <a:defRPr sz="1300" b="1">
                    <a:solidFill>
                      <a:srgbClr val="000000"/>
                    </a:solidFill>
                    <a:latin typeface="Arial" panose="020B0604020202090204" pitchFamily="34" charset="0"/>
                    <a:ea typeface="宋体" pitchFamily="2" charset="-122"/>
                  </a:defRPr>
                </a:lvl4pPr>
                <a:lvl5pPr marL="2057400" indent="-228600" defTabSz="762000">
                  <a:defRPr sz="1300" b="1">
                    <a:solidFill>
                      <a:srgbClr val="000000"/>
                    </a:solidFill>
                    <a:latin typeface="Arial" panose="020B0604020202090204" pitchFamily="34" charset="0"/>
                    <a:ea typeface="宋体" pitchFamily="2" charset="-122"/>
                  </a:defRPr>
                </a:lvl5pPr>
                <a:lvl6pPr marL="25146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rPr>
                  <a:t>V2</a:t>
                </a:r>
                <a:endPar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grpSp>
        <p:sp>
          <p:nvSpPr>
            <p:cNvPr id="78" name="Rectangle 18"/>
            <p:cNvSpPr>
              <a:spLocks noChangeArrowheads="1"/>
            </p:cNvSpPr>
            <p:nvPr>
              <p:custDataLst>
                <p:tags r:id="rId25"/>
              </p:custDataLst>
            </p:nvPr>
          </p:nvSpPr>
          <p:spPr bwMode="black">
            <a:xfrm>
              <a:off x="12075" y="8662"/>
              <a:ext cx="874"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762000">
                <a:defRPr sz="1300" b="1">
                  <a:solidFill>
                    <a:srgbClr val="000000"/>
                  </a:solidFill>
                  <a:latin typeface="Arial" panose="020B0604020202090204" pitchFamily="34" charset="0"/>
                  <a:ea typeface="宋体" pitchFamily="2" charset="-122"/>
                </a:defRPr>
              </a:lvl1pPr>
              <a:lvl2pPr marL="742950" indent="-285750" defTabSz="762000">
                <a:defRPr sz="1300" b="1">
                  <a:solidFill>
                    <a:srgbClr val="000000"/>
                  </a:solidFill>
                  <a:latin typeface="Arial" panose="020B0604020202090204" pitchFamily="34" charset="0"/>
                  <a:ea typeface="宋体" pitchFamily="2" charset="-122"/>
                </a:defRPr>
              </a:lvl2pPr>
              <a:lvl3pPr marL="1143000" indent="-228600" defTabSz="762000">
                <a:defRPr sz="1300" b="1">
                  <a:solidFill>
                    <a:srgbClr val="000000"/>
                  </a:solidFill>
                  <a:latin typeface="Arial" panose="020B0604020202090204" pitchFamily="34" charset="0"/>
                  <a:ea typeface="宋体" pitchFamily="2" charset="-122"/>
                </a:defRPr>
              </a:lvl3pPr>
              <a:lvl4pPr marL="1600200" indent="-228600" defTabSz="762000">
                <a:defRPr sz="1300" b="1">
                  <a:solidFill>
                    <a:srgbClr val="000000"/>
                  </a:solidFill>
                  <a:latin typeface="Arial" panose="020B0604020202090204" pitchFamily="34" charset="0"/>
                  <a:ea typeface="宋体" pitchFamily="2" charset="-122"/>
                </a:defRPr>
              </a:lvl4pPr>
              <a:lvl5pPr marL="2057400" indent="-228600" defTabSz="762000">
                <a:defRPr sz="1300" b="1">
                  <a:solidFill>
                    <a:srgbClr val="000000"/>
                  </a:solidFill>
                  <a:latin typeface="Arial" panose="020B0604020202090204" pitchFamily="34" charset="0"/>
                  <a:ea typeface="宋体" pitchFamily="2" charset="-122"/>
                </a:defRPr>
              </a:lvl5pPr>
              <a:lvl6pPr marL="25146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defTabSz="7620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rPr>
                <a:t>V3</a:t>
              </a:r>
              <a:endParaRPr kumimoji="0" lang="en-US" altLang="zh-CN" sz="1200" b="1" u="none" strike="noStrike" kern="1200" cap="none" spc="0" normalizeH="0" baseline="0" noProof="0" dirty="0">
                <a:ln>
                  <a:noFill/>
                </a:ln>
                <a:solidFill>
                  <a:srgbClr val="000000"/>
                </a:solidFill>
                <a:effectLst/>
                <a:uLnTx/>
                <a:uFillTx/>
                <a:latin typeface="微软雅黑" charset="0"/>
                <a:ea typeface="微软雅黑" charset="0"/>
                <a:cs typeface="+mn-cs"/>
                <a:sym typeface="微软雅黑" panose="020B0503020204020204" pitchFamily="34" charset="-122"/>
              </a:endParaRPr>
            </a:p>
          </p:txBody>
        </p:sp>
        <p:cxnSp>
          <p:nvCxnSpPr>
            <p:cNvPr id="79" name="直接连接符 81"/>
            <p:cNvCxnSpPr/>
            <p:nvPr>
              <p:custDataLst>
                <p:tags r:id="rId26"/>
              </p:custDataLst>
            </p:nvPr>
          </p:nvCxnSpPr>
          <p:spPr>
            <a:xfrm>
              <a:off x="12877" y="9513"/>
              <a:ext cx="2331" cy="0"/>
            </a:xfrm>
            <a:prstGeom prst="line">
              <a:avLst/>
            </a:prstGeom>
            <a:ln>
              <a:solidFill>
                <a:srgbClr val="067DD4"/>
              </a:solidFill>
              <a:prstDash val="sysDash"/>
            </a:ln>
          </p:spPr>
          <p:style>
            <a:lnRef idx="1">
              <a:schemeClr val="accent1"/>
            </a:lnRef>
            <a:fillRef idx="0">
              <a:schemeClr val="accent1"/>
            </a:fillRef>
            <a:effectRef idx="0">
              <a:schemeClr val="accent1"/>
            </a:effectRef>
            <a:fontRef idx="minor">
              <a:schemeClr val="tx1"/>
            </a:fontRef>
          </p:style>
        </p:cxnSp>
        <p:sp>
          <p:nvSpPr>
            <p:cNvPr id="80" name="文本框 82"/>
            <p:cNvSpPr txBox="1"/>
            <p:nvPr>
              <p:custDataLst>
                <p:tags r:id="rId27"/>
              </p:custDataLst>
            </p:nvPr>
          </p:nvSpPr>
          <p:spPr>
            <a:xfrm>
              <a:off x="13445" y="9600"/>
              <a:ext cx="1052" cy="3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mn-cs"/>
                </a:rPr>
                <a:t>注册入会</a:t>
              </a:r>
              <a:endPar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mn-cs"/>
              </a:endParaRPr>
            </a:p>
          </p:txBody>
        </p:sp>
        <p:sp>
          <p:nvSpPr>
            <p:cNvPr id="81" name="文本框 83"/>
            <p:cNvSpPr txBox="1"/>
            <p:nvPr>
              <p:custDataLst>
                <p:tags r:id="rId28"/>
              </p:custDataLst>
            </p:nvPr>
          </p:nvSpPr>
          <p:spPr>
            <a:xfrm>
              <a:off x="13445" y="9130"/>
              <a:ext cx="1638" cy="3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rPr>
                <a:t>成长值达到</a:t>
              </a:r>
              <a:r>
                <a:rPr lang="en-US" altLang="zh-CN" sz="1200" dirty="0">
                  <a:solidFill>
                    <a:prstClr val="black"/>
                  </a:solidFill>
                  <a:latin typeface="微软雅黑" charset="0"/>
                  <a:ea typeface="微软雅黑" charset="0"/>
                  <a:cs typeface="微软雅黑" charset="0"/>
                </a:rPr>
                <a:t>5</a:t>
              </a:r>
              <a:r>
                <a:rPr kumimoji="0" lang="en-US" altLang="zh-CN"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rPr>
                <a:t>000</a:t>
              </a:r>
              <a:endPar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endParaRPr>
            </a:p>
          </p:txBody>
        </p:sp>
        <p:sp>
          <p:nvSpPr>
            <p:cNvPr id="82" name="文本框 84"/>
            <p:cNvSpPr txBox="1"/>
            <p:nvPr>
              <p:custDataLst>
                <p:tags r:id="rId29"/>
              </p:custDataLst>
            </p:nvPr>
          </p:nvSpPr>
          <p:spPr>
            <a:xfrm>
              <a:off x="13445" y="8480"/>
              <a:ext cx="1763" cy="3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rPr>
                <a:t>成长值达到</a:t>
              </a:r>
              <a:r>
                <a:rPr lang="en-US" altLang="zh-CN" sz="1200" dirty="0">
                  <a:solidFill>
                    <a:prstClr val="black"/>
                  </a:solidFill>
                  <a:latin typeface="微软雅黑" charset="0"/>
                  <a:ea typeface="微软雅黑" charset="0"/>
                  <a:cs typeface="微软雅黑" charset="0"/>
                </a:rPr>
                <a:t>5</a:t>
              </a:r>
              <a:r>
                <a:rPr kumimoji="0" lang="en-US" altLang="zh-CN"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rPr>
                <a:t>0000</a:t>
              </a:r>
              <a:endParaRPr kumimoji="0" lang="zh-CN" altLang="en-US" sz="1200" b="0" u="none" strike="noStrike" kern="1200" cap="none" spc="0" normalizeH="0" baseline="0" noProof="0" dirty="0">
                <a:ln>
                  <a:noFill/>
                </a:ln>
                <a:solidFill>
                  <a:prstClr val="black"/>
                </a:solidFill>
                <a:effectLst/>
                <a:uLnTx/>
                <a:uFillTx/>
                <a:latin typeface="微软雅黑" charset="0"/>
                <a:ea typeface="微软雅黑" charset="0"/>
                <a:cs typeface="微软雅黑" charset="0"/>
              </a:endParaRPr>
            </a:p>
          </p:txBody>
        </p:sp>
        <p:cxnSp>
          <p:nvCxnSpPr>
            <p:cNvPr id="83" name="直接连接符 85"/>
            <p:cNvCxnSpPr/>
            <p:nvPr>
              <p:custDataLst>
                <p:tags r:id="rId30"/>
              </p:custDataLst>
            </p:nvPr>
          </p:nvCxnSpPr>
          <p:spPr>
            <a:xfrm>
              <a:off x="12815" y="9074"/>
              <a:ext cx="2393" cy="0"/>
            </a:xfrm>
            <a:prstGeom prst="line">
              <a:avLst/>
            </a:prstGeom>
            <a:ln>
              <a:solidFill>
                <a:srgbClr val="067DD4"/>
              </a:solidFill>
              <a:prstDash val="sysDash"/>
            </a:ln>
          </p:spPr>
          <p:style>
            <a:lnRef idx="1">
              <a:schemeClr val="accent1"/>
            </a:lnRef>
            <a:fillRef idx="0">
              <a:schemeClr val="accent1"/>
            </a:fillRef>
            <a:effectRef idx="0">
              <a:schemeClr val="accent1"/>
            </a:effectRef>
            <a:fontRef idx="minor">
              <a:schemeClr val="tx1"/>
            </a:fontRef>
          </p:style>
        </p:cxnSp>
      </p:grpSp>
      <p:graphicFrame>
        <p:nvGraphicFramePr>
          <p:cNvPr id="84" name="表格 83"/>
          <p:cNvGraphicFramePr/>
          <p:nvPr>
            <p:custDataLst>
              <p:tags r:id="rId31"/>
            </p:custDataLst>
          </p:nvPr>
        </p:nvGraphicFramePr>
        <p:xfrm>
          <a:off x="4008755" y="3819525"/>
          <a:ext cx="3269615" cy="557530"/>
        </p:xfrm>
        <a:graphic>
          <a:graphicData uri="http://schemas.openxmlformats.org/drawingml/2006/table">
            <a:tbl>
              <a:tblPr/>
              <a:tblGrid>
                <a:gridCol w="775970"/>
                <a:gridCol w="823595"/>
                <a:gridCol w="762000"/>
                <a:gridCol w="908050"/>
              </a:tblGrid>
              <a:tr h="241300">
                <a:tc>
                  <a:txBody>
                    <a:bodyPr/>
                    <a:lstStyle/>
                    <a:p>
                      <a:pPr indent="0" algn="ctr">
                        <a:buNone/>
                      </a:pPr>
                      <a:r>
                        <a:rPr lang="zh-CN" altLang="en-US" sz="1200" b="1" dirty="0">
                          <a:solidFill>
                            <a:srgbClr val="000000"/>
                          </a:solidFill>
                          <a:latin typeface="微软雅黑" charset="0"/>
                          <a:ea typeface="微软雅黑" charset="0"/>
                        </a:rPr>
                        <a:t>会员等级</a:t>
                      </a:r>
                      <a:endParaRPr lang="zh-CN" altLang="en-US" sz="1200" b="1" dirty="0">
                        <a:solidFill>
                          <a:srgbClr val="000000"/>
                        </a:solidFill>
                        <a:latin typeface="微软雅黑" charset="0"/>
                        <a:ea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1200" b="1">
                          <a:solidFill>
                            <a:srgbClr val="000000"/>
                          </a:solidFill>
                          <a:latin typeface="微软雅黑" charset="0"/>
                          <a:ea typeface="微软雅黑" charset="0"/>
                          <a:cs typeface="微软雅黑" charset="0"/>
                        </a:rPr>
                        <a:t>等级</a:t>
                      </a:r>
                      <a:r>
                        <a:rPr lang="en-US" altLang="zh-CN" sz="1200" b="1">
                          <a:solidFill>
                            <a:srgbClr val="000000"/>
                          </a:solidFill>
                          <a:latin typeface="微软雅黑" charset="0"/>
                          <a:ea typeface="微软雅黑" charset="0"/>
                          <a:cs typeface="微软雅黑" charset="0"/>
                        </a:rPr>
                        <a:t>1</a:t>
                      </a:r>
                      <a:endParaRPr lang="en-US" altLang="zh-CN" sz="1200" b="1">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1200" b="1" dirty="0">
                          <a:solidFill>
                            <a:srgbClr val="000000"/>
                          </a:solidFill>
                          <a:latin typeface="微软雅黑" charset="0"/>
                          <a:ea typeface="微软雅黑" charset="0"/>
                          <a:cs typeface="微软雅黑" charset="0"/>
                        </a:rPr>
                        <a:t>等级</a:t>
                      </a:r>
                      <a:r>
                        <a:rPr lang="en-US" altLang="zh-CN" sz="1200" b="1" dirty="0">
                          <a:solidFill>
                            <a:srgbClr val="000000"/>
                          </a:solidFill>
                          <a:latin typeface="微软雅黑" charset="0"/>
                          <a:ea typeface="微软雅黑" charset="0"/>
                          <a:cs typeface="微软雅黑" charset="0"/>
                        </a:rPr>
                        <a:t>2</a:t>
                      </a:r>
                      <a:endParaRPr lang="en-US" altLang="zh-CN" sz="1200" b="1" dirty="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altLang="en-US" sz="1200" b="1">
                          <a:solidFill>
                            <a:srgbClr val="000000"/>
                          </a:solidFill>
                          <a:latin typeface="微软雅黑" charset="0"/>
                          <a:ea typeface="微软雅黑" charset="0"/>
                          <a:cs typeface="微软雅黑" charset="0"/>
                        </a:rPr>
                        <a:t>等级</a:t>
                      </a:r>
                      <a:r>
                        <a:rPr lang="en-US" altLang="zh-CN" sz="1200" b="1">
                          <a:solidFill>
                            <a:srgbClr val="000000"/>
                          </a:solidFill>
                          <a:latin typeface="微软雅黑" charset="0"/>
                          <a:ea typeface="微软雅黑" charset="0"/>
                          <a:cs typeface="微软雅黑" charset="0"/>
                        </a:rPr>
                        <a:t>3</a:t>
                      </a:r>
                      <a:endParaRPr lang="en-US" altLang="zh-CN" sz="1200" b="1">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316230">
                <a:tc>
                  <a:txBody>
                    <a:bodyPr/>
                    <a:lstStyle/>
                    <a:p>
                      <a:pPr indent="0" algn="ctr">
                        <a:buNone/>
                      </a:pPr>
                      <a:r>
                        <a:rPr lang="zh-CN" altLang="en-US" sz="1050" b="0">
                          <a:solidFill>
                            <a:srgbClr val="000000"/>
                          </a:solidFill>
                          <a:latin typeface="微软雅黑" charset="0"/>
                          <a:ea typeface="微软雅黑" charset="0"/>
                          <a:cs typeface="微软雅黑" panose="020B0503020204020204" pitchFamily="34" charset="-122"/>
                        </a:rPr>
                        <a:t>升级门槛</a:t>
                      </a:r>
                      <a:endParaRPr lang="zh-CN" altLang="en-US" sz="1050" b="0">
                        <a:solidFill>
                          <a:srgbClr val="000000"/>
                        </a:solidFill>
                        <a:latin typeface="微软雅黑" charset="0"/>
                        <a:ea typeface="微软雅黑" charset="0"/>
                        <a:cs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altLang="zh-CN" sz="1050" b="0">
                          <a:solidFill>
                            <a:srgbClr val="000000"/>
                          </a:solidFill>
                          <a:latin typeface="微软雅黑" charset="0"/>
                          <a:ea typeface="微软雅黑" charset="0"/>
                          <a:cs typeface="微软雅黑" charset="0"/>
                        </a:rPr>
                        <a:t>0</a:t>
                      </a:r>
                      <a:r>
                        <a:rPr lang="zh-CN" altLang="en-US" sz="1050" b="0">
                          <a:solidFill>
                            <a:srgbClr val="000000"/>
                          </a:solidFill>
                          <a:latin typeface="微软雅黑" charset="0"/>
                          <a:ea typeface="微软雅黑" charset="0"/>
                          <a:cs typeface="微软雅黑" charset="0"/>
                        </a:rPr>
                        <a:t>成长值</a:t>
                      </a:r>
                      <a:endParaRPr lang="zh-CN" altLang="en-US" sz="1050" b="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altLang="zh-CN" sz="1050" b="0" dirty="0">
                          <a:solidFill>
                            <a:srgbClr val="000000"/>
                          </a:solidFill>
                          <a:latin typeface="微软雅黑" charset="0"/>
                          <a:ea typeface="微软雅黑" charset="0"/>
                          <a:cs typeface="微软雅黑" charset="0"/>
                        </a:rPr>
                        <a:t>5000</a:t>
                      </a:r>
                      <a:r>
                        <a:rPr lang="zh-CN" altLang="en-US" sz="1050" b="0" dirty="0">
                          <a:solidFill>
                            <a:srgbClr val="000000"/>
                          </a:solidFill>
                          <a:latin typeface="微软雅黑" charset="0"/>
                          <a:ea typeface="微软雅黑" charset="0"/>
                          <a:cs typeface="微软雅黑" charset="0"/>
                        </a:rPr>
                        <a:t>成长值</a:t>
                      </a:r>
                      <a:endParaRPr lang="zh-CN" altLang="en-US" sz="1050" b="0" dirty="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en-US" altLang="zh-CN" sz="1050" b="0" dirty="0">
                          <a:solidFill>
                            <a:srgbClr val="000000"/>
                          </a:solidFill>
                          <a:latin typeface="微软雅黑" charset="0"/>
                          <a:ea typeface="微软雅黑" charset="0"/>
                          <a:cs typeface="微软雅黑" charset="0"/>
                        </a:rPr>
                        <a:t>50000</a:t>
                      </a:r>
                      <a:r>
                        <a:rPr lang="zh-CN" altLang="en-US" sz="1050" b="0" dirty="0">
                          <a:solidFill>
                            <a:srgbClr val="000000"/>
                          </a:solidFill>
                          <a:latin typeface="微软雅黑" charset="0"/>
                          <a:ea typeface="微软雅黑" charset="0"/>
                          <a:cs typeface="微软雅黑" charset="0"/>
                        </a:rPr>
                        <a:t>成长值</a:t>
                      </a:r>
                      <a:endParaRPr lang="zh-CN" altLang="en-US" sz="1050" b="0" dirty="0">
                        <a:solidFill>
                          <a:srgbClr val="000000"/>
                        </a:solidFill>
                        <a:latin typeface="微软雅黑" charset="0"/>
                        <a:ea typeface="微软雅黑" charset="0"/>
                        <a:cs typeface="微软雅黑"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bl>
          </a:graphicData>
        </a:graphic>
      </p:graphicFrame>
      <p:sp>
        <p:nvSpPr>
          <p:cNvPr id="85" name="Rectangle 1"/>
          <p:cNvSpPr/>
          <p:nvPr>
            <p:custDataLst>
              <p:tags r:id="rId32"/>
            </p:custDataLst>
          </p:nvPr>
        </p:nvSpPr>
        <p:spPr>
          <a:xfrm>
            <a:off x="8114030" y="2440305"/>
            <a:ext cx="897890" cy="563880"/>
          </a:xfrm>
          <a:prstGeom prst="round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b="1" dirty="0">
                <a:solidFill>
                  <a:schemeClr val="bg1"/>
                </a:solidFill>
                <a:latin typeface="微软雅黑" charset="0"/>
                <a:ea typeface="微软雅黑" charset="0"/>
              </a:rPr>
              <a:t>交易</a:t>
            </a:r>
            <a:r>
              <a:rPr kumimoji="0" lang="zh-CN" altLang="en-US" sz="1200" b="1" i="0" u="none" strike="noStrike" kern="1200" cap="none" spc="0" normalizeH="0" baseline="0" noProof="0" dirty="0">
                <a:ln>
                  <a:noFill/>
                </a:ln>
                <a:solidFill>
                  <a:schemeClr val="bg1"/>
                </a:solidFill>
                <a:effectLst/>
                <a:uLnTx/>
                <a:uFillTx/>
                <a:latin typeface="微软雅黑" charset="0"/>
                <a:ea typeface="微软雅黑" charset="0"/>
              </a:rPr>
              <a:t>消费</a:t>
            </a:r>
            <a:endParaRPr kumimoji="0" lang="en-US" altLang="zh-CN" sz="1200" b="1" i="0" u="none" strike="noStrike" kern="1200" cap="none" spc="0" normalizeH="0" baseline="0" noProof="0" dirty="0">
              <a:ln>
                <a:noFill/>
              </a:ln>
              <a:solidFill>
                <a:schemeClr val="bg1"/>
              </a:solidFill>
              <a:effectLst/>
              <a:uLnTx/>
              <a:uFillTx/>
              <a:latin typeface="微软雅黑" charset="0"/>
              <a:ea typeface="微软雅黑" charset="0"/>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charset="0"/>
                <a:ea typeface="微软雅黑" charset="0"/>
              </a:rPr>
              <a:t>升级</a:t>
            </a:r>
            <a:endParaRPr kumimoji="0" lang="en-US" sz="1200" b="1" i="0" u="none" strike="noStrike" kern="1200" cap="none" spc="0" normalizeH="0" baseline="0" noProof="0" dirty="0">
              <a:ln>
                <a:noFill/>
              </a:ln>
              <a:solidFill>
                <a:schemeClr val="bg1"/>
              </a:solidFill>
              <a:effectLst/>
              <a:uLnTx/>
              <a:uFillTx/>
              <a:latin typeface="微软雅黑" charset="0"/>
              <a:ea typeface="微软雅黑" charset="0"/>
            </a:endParaRPr>
          </a:p>
        </p:txBody>
      </p:sp>
      <p:sp>
        <p:nvSpPr>
          <p:cNvPr id="86" name="Rectangle 38"/>
          <p:cNvSpPr/>
          <p:nvPr>
            <p:custDataLst>
              <p:tags r:id="rId33"/>
            </p:custDataLst>
          </p:nvPr>
        </p:nvSpPr>
        <p:spPr>
          <a:xfrm>
            <a:off x="8122920" y="3155315"/>
            <a:ext cx="897890" cy="565785"/>
          </a:xfrm>
          <a:prstGeom prst="round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charset="0"/>
                <a:ea typeface="微软雅黑" charset="0"/>
                <a:cs typeface="+mn-cs"/>
              </a:rPr>
              <a:t>住房板块</a:t>
            </a:r>
            <a:endParaRPr kumimoji="0" lang="en-US" altLang="zh-CN" sz="1200" b="1" i="0" u="none" strike="noStrike" kern="1200" cap="none" spc="0" normalizeH="0" baseline="0" noProof="0" dirty="0">
              <a:ln>
                <a:noFill/>
              </a:ln>
              <a:solidFill>
                <a:schemeClr val="bg1"/>
              </a:solidFill>
              <a:effectLst/>
              <a:uLnTx/>
              <a:uFillTx/>
              <a:latin typeface="微软雅黑" charset="0"/>
              <a:ea typeface="微软雅黑" charset="0"/>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charset="0"/>
                <a:ea typeface="微软雅黑" charset="0"/>
                <a:cs typeface="+mn-cs"/>
              </a:rPr>
              <a:t>升级</a:t>
            </a:r>
            <a:endParaRPr kumimoji="0" lang="en-US" sz="1200" b="1" i="0" u="none" strike="noStrike" kern="1200" cap="none" spc="0" normalizeH="0" baseline="0" noProof="0" dirty="0">
              <a:ln>
                <a:noFill/>
              </a:ln>
              <a:solidFill>
                <a:schemeClr val="bg1"/>
              </a:solidFill>
              <a:effectLst/>
              <a:uLnTx/>
              <a:uFillTx/>
              <a:latin typeface="微软雅黑" charset="0"/>
              <a:ea typeface="微软雅黑" charset="0"/>
              <a:cs typeface="+mn-cs"/>
            </a:endParaRPr>
          </a:p>
        </p:txBody>
      </p:sp>
      <p:sp>
        <p:nvSpPr>
          <p:cNvPr id="87" name="圆角矩形 2"/>
          <p:cNvSpPr/>
          <p:nvPr>
            <p:custDataLst>
              <p:tags r:id="rId34"/>
            </p:custDataLst>
          </p:nvPr>
        </p:nvSpPr>
        <p:spPr>
          <a:xfrm>
            <a:off x="8116570" y="3830955"/>
            <a:ext cx="904240" cy="474345"/>
          </a:xfrm>
          <a:prstGeom prst="round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微软雅黑" charset="0"/>
                <a:ea typeface="微软雅黑" charset="0"/>
                <a:cs typeface="微软雅黑" charset="0"/>
              </a:rPr>
              <a:t>定向</a:t>
            </a:r>
            <a:r>
              <a:rPr lang="zh-CN" altLang="en-US" sz="1200" b="1" noProof="0" dirty="0">
                <a:solidFill>
                  <a:schemeClr val="bg1"/>
                </a:solidFill>
                <a:latin typeface="微软雅黑" charset="0"/>
                <a:ea typeface="微软雅黑" charset="0"/>
                <a:cs typeface="微软雅黑" charset="0"/>
              </a:rPr>
              <a:t>设置</a:t>
            </a:r>
            <a:r>
              <a:rPr kumimoji="0" lang="en-US" altLang="zh-CN" sz="1200" b="1" i="0" u="none" strike="noStrike" kern="1200" cap="none" spc="0" normalizeH="0" baseline="0" noProof="0" dirty="0">
                <a:ln>
                  <a:noFill/>
                </a:ln>
                <a:solidFill>
                  <a:schemeClr val="bg1"/>
                </a:solidFill>
                <a:effectLst/>
                <a:uLnTx/>
                <a:uFillTx/>
                <a:latin typeface="微软雅黑" charset="0"/>
                <a:ea typeface="微软雅黑" charset="0"/>
                <a:cs typeface="微软雅黑" charset="0"/>
              </a:rPr>
              <a:t>V3</a:t>
            </a:r>
            <a:endParaRPr kumimoji="0" lang="en-US" sz="1200" b="1" i="0" u="none" strike="noStrike" kern="1200" cap="none" spc="0" normalizeH="0" baseline="0" noProof="0" dirty="0">
              <a:ln>
                <a:noFill/>
              </a:ln>
              <a:solidFill>
                <a:schemeClr val="bg1"/>
              </a:solidFill>
              <a:effectLst/>
              <a:uLnTx/>
              <a:uFillTx/>
              <a:latin typeface="微软雅黑" charset="0"/>
              <a:ea typeface="微软雅黑" charset="0"/>
              <a:cs typeface="微软雅黑" charset="0"/>
            </a:endParaRPr>
          </a:p>
        </p:txBody>
      </p:sp>
      <p:sp>
        <p:nvSpPr>
          <p:cNvPr id="88" name="矩形 4"/>
          <p:cNvSpPr/>
          <p:nvPr>
            <p:custDataLst>
              <p:tags r:id="rId35"/>
            </p:custDataLst>
          </p:nvPr>
        </p:nvSpPr>
        <p:spPr>
          <a:xfrm>
            <a:off x="7955915" y="1917700"/>
            <a:ext cx="120586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rPr>
              <a:t>升级路径</a:t>
            </a:r>
            <a:endPar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endParaRPr>
          </a:p>
        </p:txBody>
      </p:sp>
      <p:cxnSp>
        <p:nvCxnSpPr>
          <p:cNvPr id="89" name="直接连接符 9"/>
          <p:cNvCxnSpPr/>
          <p:nvPr>
            <p:custDataLst>
              <p:tags r:id="rId36"/>
            </p:custDataLst>
          </p:nvPr>
        </p:nvCxnSpPr>
        <p:spPr>
          <a:xfrm>
            <a:off x="7899400" y="2331085"/>
            <a:ext cx="1262380" cy="0"/>
          </a:xfrm>
          <a:prstGeom prst="line">
            <a:avLst/>
          </a:prstGeom>
          <a:ln w="28575">
            <a:solidFill>
              <a:srgbClr val="067DD4"/>
            </a:solidFill>
          </a:ln>
        </p:spPr>
        <p:style>
          <a:lnRef idx="1">
            <a:schemeClr val="accent6"/>
          </a:lnRef>
          <a:fillRef idx="0">
            <a:schemeClr val="accent6"/>
          </a:fillRef>
          <a:effectRef idx="0">
            <a:schemeClr val="accent6"/>
          </a:effectRef>
          <a:fontRef idx="minor">
            <a:schemeClr val="tx1"/>
          </a:fontRef>
        </p:style>
      </p:cxnSp>
      <p:cxnSp>
        <p:nvCxnSpPr>
          <p:cNvPr id="90" name="直接连接符 22"/>
          <p:cNvCxnSpPr/>
          <p:nvPr>
            <p:custDataLst>
              <p:tags r:id="rId37"/>
            </p:custDataLst>
          </p:nvPr>
        </p:nvCxnSpPr>
        <p:spPr>
          <a:xfrm>
            <a:off x="9788525" y="2273935"/>
            <a:ext cx="1262380" cy="0"/>
          </a:xfrm>
          <a:prstGeom prst="line">
            <a:avLst/>
          </a:prstGeom>
          <a:ln w="28575">
            <a:solidFill>
              <a:srgbClr val="067DD4"/>
            </a:solidFill>
          </a:ln>
        </p:spPr>
        <p:style>
          <a:lnRef idx="1">
            <a:schemeClr val="accent6"/>
          </a:lnRef>
          <a:fillRef idx="0">
            <a:schemeClr val="accent6"/>
          </a:fillRef>
          <a:effectRef idx="0">
            <a:schemeClr val="accent6"/>
          </a:effectRef>
          <a:fontRef idx="minor">
            <a:schemeClr val="tx1"/>
          </a:fontRef>
        </p:style>
      </p:cxnSp>
      <p:sp>
        <p:nvSpPr>
          <p:cNvPr id="91" name="Rectangle 6"/>
          <p:cNvSpPr/>
          <p:nvPr>
            <p:custDataLst>
              <p:tags r:id="rId38"/>
            </p:custDataLst>
          </p:nvPr>
        </p:nvSpPr>
        <p:spPr>
          <a:xfrm>
            <a:off x="9500235" y="3825240"/>
            <a:ext cx="1930400" cy="5219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1100" b="1" dirty="0">
                <a:solidFill>
                  <a:prstClr val="black"/>
                </a:solidFill>
                <a:latin typeface="微软雅黑" charset="0"/>
                <a:ea typeface="微软雅黑" charset="0"/>
                <a:cs typeface="微软雅黑" charset="0"/>
              </a:rPr>
              <a:t>白名单</a:t>
            </a:r>
            <a:r>
              <a:rPr kumimoji="0" lang="en-US" altLang="zh-CN" sz="1100" b="1" i="0" u="none" strike="noStrike" kern="1200" cap="none" spc="0" normalizeH="0" baseline="0" noProof="0" dirty="0">
                <a:ln>
                  <a:noFill/>
                </a:ln>
                <a:solidFill>
                  <a:prstClr val="black"/>
                </a:solidFill>
                <a:effectLst/>
                <a:uLnTx/>
                <a:uFillTx/>
                <a:latin typeface="微软雅黑" charset="0"/>
                <a:ea typeface="微软雅黑" charset="0"/>
                <a:cs typeface="微软雅黑" charset="0"/>
              </a:rPr>
              <a:t>/</a:t>
            </a:r>
            <a:r>
              <a:rPr lang="zh-CN" altLang="en-US" sz="1100" b="1" dirty="0">
                <a:solidFill>
                  <a:prstClr val="black"/>
                </a:solidFill>
                <a:latin typeface="微软雅黑" charset="0"/>
                <a:ea typeface="微软雅黑" charset="0"/>
                <a:cs typeface="微软雅黑" charset="0"/>
              </a:rPr>
              <a:t>按需设置</a:t>
            </a:r>
            <a:endParaRPr lang="en-US" altLang="zh-CN" sz="1100" b="1" dirty="0">
              <a:solidFill>
                <a:prstClr val="black"/>
              </a:solidFill>
              <a:latin typeface="微软雅黑" charset="0"/>
              <a:ea typeface="微软雅黑" charset="0"/>
              <a:cs typeface="微软雅黑" charset="0"/>
            </a:endParaRPr>
          </a:p>
          <a:p>
            <a:pPr lvl="0" indent="0" algn="ctr" eaLnBrk="0" fontAlgn="base" hangingPunct="0">
              <a:spcBef>
                <a:spcPct val="0"/>
              </a:spcBef>
              <a:spcAft>
                <a:spcPct val="0"/>
              </a:spcAft>
              <a:buFont typeface="Arial" panose="020B0604020202090204" pitchFamily="34" charset="0"/>
              <a:buNone/>
              <a:defRPr/>
            </a:pPr>
            <a:r>
              <a:rPr lang="zh-CN" altLang="en-US" sz="1100" b="1" dirty="0">
                <a:solidFill>
                  <a:prstClr val="black"/>
                </a:solidFill>
                <a:latin typeface="微软雅黑" charset="0"/>
                <a:ea typeface="微软雅黑" charset="0"/>
                <a:cs typeface="微软雅黑" charset="0"/>
              </a:rPr>
              <a:t>可售人才房</a:t>
            </a:r>
            <a:endParaRPr kumimoji="0" lang="en-US" altLang="zh-CN" sz="1100" b="1" i="0" u="none" strike="noStrike" kern="1200" cap="none" spc="0" normalizeH="0" baseline="0" noProof="0" dirty="0">
              <a:ln>
                <a:noFill/>
              </a:ln>
              <a:solidFill>
                <a:prstClr val="black"/>
              </a:solidFill>
              <a:effectLst/>
              <a:uLnTx/>
              <a:uFillTx/>
              <a:latin typeface="微软雅黑" charset="0"/>
              <a:ea typeface="微软雅黑" charset="0"/>
              <a:cs typeface="微软雅黑" charset="0"/>
            </a:endParaRPr>
          </a:p>
        </p:txBody>
      </p:sp>
      <p:sp>
        <p:nvSpPr>
          <p:cNvPr id="92" name="Rectangle 6"/>
          <p:cNvSpPr/>
          <p:nvPr>
            <p:custDataLst>
              <p:tags r:id="rId39"/>
            </p:custDataLst>
          </p:nvPr>
        </p:nvSpPr>
        <p:spPr>
          <a:xfrm>
            <a:off x="9509125" y="3034665"/>
            <a:ext cx="2044700" cy="5219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1100" b="1" i="0" u="none" strike="noStrike" kern="1200" cap="none" spc="0" normalizeH="0" baseline="0" noProof="0" dirty="0">
                <a:ln>
                  <a:noFill/>
                </a:ln>
                <a:solidFill>
                  <a:prstClr val="black"/>
                </a:solidFill>
                <a:effectLst/>
                <a:uLnTx/>
                <a:uFillTx/>
                <a:latin typeface="微软雅黑" charset="0"/>
                <a:ea typeface="微软雅黑" charset="0"/>
                <a:cs typeface="+mn-cs"/>
              </a:rPr>
              <a:t>公共租赁住房、市场租赁住房</a:t>
            </a:r>
            <a:endParaRPr kumimoji="0" lang="zh-CN" altLang="en-US" sz="1100" b="1" i="0" u="none" strike="noStrike" kern="1200" cap="none" spc="0" normalizeH="0" baseline="0" noProof="0" dirty="0">
              <a:ln>
                <a:noFill/>
              </a:ln>
              <a:solidFill>
                <a:prstClr val="black"/>
              </a:solidFill>
              <a:effectLst/>
              <a:uLnTx/>
              <a:uFillTx/>
              <a:latin typeface="微软雅黑" charset="0"/>
              <a:ea typeface="微软雅黑" charset="0"/>
              <a:cs typeface="+mn-cs"/>
            </a:endParaRPr>
          </a:p>
        </p:txBody>
      </p:sp>
      <p:sp>
        <p:nvSpPr>
          <p:cNvPr id="93" name="Rectangle 6"/>
          <p:cNvSpPr/>
          <p:nvPr>
            <p:custDataLst>
              <p:tags r:id="rId40"/>
            </p:custDataLst>
          </p:nvPr>
        </p:nvSpPr>
        <p:spPr>
          <a:xfrm>
            <a:off x="9606915" y="2355215"/>
            <a:ext cx="1811020" cy="5219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l" defTabSz="457200" rtl="0" eaLnBrk="1" fontAlgn="base" latinLnBrk="0" hangingPunct="1">
              <a:lnSpc>
                <a:spcPct val="130000"/>
              </a:lnSpc>
              <a:spcBef>
                <a:spcPct val="0"/>
              </a:spcBef>
              <a:spcAft>
                <a:spcPts val="0"/>
              </a:spcAft>
              <a:buClrTx/>
              <a:buSzTx/>
              <a:buFont typeface="Arial" panose="020B0604020202090204" pitchFamily="34" charset="0"/>
              <a:buNone/>
              <a:defRPr/>
            </a:pPr>
            <a:r>
              <a:rPr kumimoji="0" lang="zh-CN" altLang="en-US" sz="1100" b="1" i="0" u="none" strike="noStrike" kern="1200" cap="none" spc="0" normalizeH="0" baseline="0" noProof="0" dirty="0">
                <a:ln>
                  <a:noFill/>
                </a:ln>
                <a:solidFill>
                  <a:prstClr val="black"/>
                </a:solidFill>
                <a:effectLst/>
                <a:uLnTx/>
                <a:uFillTx/>
                <a:latin typeface="微软雅黑" charset="0"/>
                <a:ea typeface="微软雅黑" charset="0"/>
                <a:cs typeface="+mn-cs"/>
              </a:rPr>
              <a:t>商业消费、增值服务消费</a:t>
            </a:r>
            <a:endParaRPr kumimoji="0" lang="zh-CN" altLang="en-US" sz="1100" b="1" i="0" u="none" strike="noStrike" kern="1200" cap="none" spc="0" normalizeH="0" baseline="0" noProof="0" dirty="0">
              <a:ln>
                <a:noFill/>
              </a:ln>
              <a:solidFill>
                <a:prstClr val="black"/>
              </a:solidFill>
              <a:effectLst/>
              <a:uLnTx/>
              <a:uFillTx/>
              <a:latin typeface="微软雅黑" charset="0"/>
              <a:ea typeface="微软雅黑" charset="0"/>
              <a:cs typeface="+mn-cs"/>
            </a:endParaRPr>
          </a:p>
        </p:txBody>
      </p:sp>
      <p:cxnSp>
        <p:nvCxnSpPr>
          <p:cNvPr id="94" name="直接连接符 20"/>
          <p:cNvCxnSpPr/>
          <p:nvPr>
            <p:custDataLst>
              <p:tags r:id="rId41"/>
            </p:custDataLst>
          </p:nvPr>
        </p:nvCxnSpPr>
        <p:spPr>
          <a:xfrm>
            <a:off x="8101330" y="3085465"/>
            <a:ext cx="3078480" cy="4445"/>
          </a:xfrm>
          <a:prstGeom prst="line">
            <a:avLst/>
          </a:prstGeom>
          <a:ln w="12700">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5" name="AutoShape 13"/>
          <p:cNvSpPr>
            <a:spLocks noChangeArrowheads="1"/>
          </p:cNvSpPr>
          <p:nvPr>
            <p:custDataLst>
              <p:tags r:id="rId42"/>
            </p:custDataLst>
          </p:nvPr>
        </p:nvSpPr>
        <p:spPr bwMode="gray">
          <a:xfrm>
            <a:off x="7558405" y="2438400"/>
            <a:ext cx="340995" cy="1284605"/>
          </a:xfrm>
          <a:prstGeom prst="rect">
            <a:avLst/>
          </a:prstGeom>
          <a:solidFill>
            <a:srgbClr val="4472C4"/>
          </a:solidFill>
          <a:ln w="12700" cap="rnd" algn="ctr">
            <a:noFill/>
            <a:miter lim="800000"/>
          </a:ln>
        </p:spPr>
        <p:txBody>
          <a:bodyPr anchor="ct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200" b="1" i="0" u="none" strike="noStrike" kern="0" cap="none" spc="0" normalizeH="0" baseline="0" noProof="0" dirty="0">
                <a:ln>
                  <a:noFill/>
                </a:ln>
                <a:solidFill>
                  <a:schemeClr val="bg1"/>
                </a:solidFill>
                <a:effectLst/>
                <a:uLnTx/>
                <a:uFillTx/>
                <a:latin typeface="微软雅黑" charset="0"/>
                <a:ea typeface="微软雅黑" charset="0"/>
                <a:cs typeface="+mn-ea"/>
                <a:sym typeface="+mn-lt"/>
              </a:rPr>
              <a:t>常规</a:t>
            </a:r>
            <a:endParaRPr kumimoji="0" lang="zh-CN" altLang="en-US" sz="1200" b="1" i="0" u="none" strike="noStrike" kern="0" cap="none" spc="0" normalizeH="0" baseline="0" noProof="0" dirty="0">
              <a:ln>
                <a:noFill/>
              </a:ln>
              <a:solidFill>
                <a:schemeClr val="bg1"/>
              </a:solidFill>
              <a:effectLst/>
              <a:uLnTx/>
              <a:uFillTx/>
              <a:latin typeface="微软雅黑" charset="0"/>
              <a:ea typeface="微软雅黑" charset="0"/>
              <a:cs typeface="+mn-ea"/>
              <a:sym typeface="+mn-lt"/>
            </a:endParaRPr>
          </a:p>
        </p:txBody>
      </p:sp>
      <p:sp>
        <p:nvSpPr>
          <p:cNvPr id="96" name="AutoShape 13"/>
          <p:cNvSpPr>
            <a:spLocks noChangeArrowheads="1"/>
          </p:cNvSpPr>
          <p:nvPr>
            <p:custDataLst>
              <p:tags r:id="rId43"/>
            </p:custDataLst>
          </p:nvPr>
        </p:nvSpPr>
        <p:spPr bwMode="gray">
          <a:xfrm>
            <a:off x="7553960" y="3780155"/>
            <a:ext cx="340995" cy="567055"/>
          </a:xfrm>
          <a:prstGeom prst="rect">
            <a:avLst/>
          </a:prstGeom>
          <a:solidFill>
            <a:schemeClr val="accent1">
              <a:lumMod val="50000"/>
            </a:schemeClr>
          </a:solidFill>
          <a:ln w="12700" cap="rnd" algn="ctr">
            <a:noFill/>
            <a:miter lim="800000"/>
          </a:ln>
        </p:spPr>
        <p:txBody>
          <a:bodyPr anchor="ct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200" b="1" i="0" u="none" strike="noStrike" kern="0" cap="none" spc="0" normalizeH="0" baseline="0" noProof="0" dirty="0">
                <a:ln>
                  <a:noFill/>
                </a:ln>
                <a:solidFill>
                  <a:schemeClr val="bg1"/>
                </a:solidFill>
                <a:effectLst/>
                <a:uLnTx/>
                <a:uFillTx/>
                <a:latin typeface="微软雅黑" charset="0"/>
                <a:ea typeface="微软雅黑" charset="0"/>
                <a:cs typeface="+mn-ea"/>
                <a:sym typeface="+mn-lt"/>
              </a:rPr>
              <a:t>特殊</a:t>
            </a:r>
            <a:endParaRPr kumimoji="0" lang="zh-CN" altLang="en-US" sz="1200" b="1" i="0" u="none" strike="noStrike" kern="0" cap="none" spc="0" normalizeH="0" baseline="0" noProof="0" dirty="0">
              <a:ln>
                <a:noFill/>
              </a:ln>
              <a:solidFill>
                <a:schemeClr val="bg1"/>
              </a:solidFill>
              <a:effectLst/>
              <a:uLnTx/>
              <a:uFillTx/>
              <a:latin typeface="微软雅黑" charset="0"/>
              <a:ea typeface="微软雅黑" charset="0"/>
              <a:cs typeface="+mn-ea"/>
              <a:sym typeface="+mn-lt"/>
            </a:endParaRPr>
          </a:p>
        </p:txBody>
      </p:sp>
      <p:sp>
        <p:nvSpPr>
          <p:cNvPr id="97" name="Rectangle 6"/>
          <p:cNvSpPr/>
          <p:nvPr>
            <p:custDataLst>
              <p:tags r:id="rId44"/>
            </p:custDataLst>
          </p:nvPr>
        </p:nvSpPr>
        <p:spPr>
          <a:xfrm>
            <a:off x="9051290" y="2583180"/>
            <a:ext cx="795020" cy="334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0" fontAlgn="base" latinLnBrk="0" hangingPunct="0">
              <a:lnSpc>
                <a:spcPct val="100000"/>
              </a:lnSpc>
              <a:spcBef>
                <a:spcPct val="0"/>
              </a:spcBef>
              <a:spcAft>
                <a:spcPct val="0"/>
              </a:spcAft>
              <a:buClrTx/>
              <a:buSzTx/>
              <a:buFont typeface="Arial" panose="020B0604020202090204" pitchFamily="34" charset="0"/>
              <a:buChar char="•"/>
              <a:defRPr/>
            </a:pPr>
            <a:endParaRPr kumimoji="0" lang="zh-CN" altLang="en-US" sz="900" b="0" i="0" u="none" strike="noStrike" kern="1200" cap="none" spc="0" normalizeH="0" baseline="0" noProof="0" dirty="0">
              <a:ln>
                <a:noFill/>
              </a:ln>
              <a:solidFill>
                <a:prstClr val="black"/>
              </a:solidFill>
              <a:effectLst/>
              <a:uLnTx/>
              <a:uFillTx/>
              <a:latin typeface="微软雅黑" charset="0"/>
              <a:ea typeface="微软雅黑" charset="0"/>
              <a:cs typeface="+mn-cs"/>
            </a:endParaRPr>
          </a:p>
        </p:txBody>
      </p:sp>
      <p:sp>
        <p:nvSpPr>
          <p:cNvPr id="98" name="矩形 35"/>
          <p:cNvSpPr/>
          <p:nvPr>
            <p:custDataLst>
              <p:tags r:id="rId45"/>
            </p:custDataLst>
          </p:nvPr>
        </p:nvSpPr>
        <p:spPr>
          <a:xfrm>
            <a:off x="9818370" y="1917700"/>
            <a:ext cx="120586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400" b="1" i="0" u="none" strike="noStrike" kern="1200" cap="none" spc="0" normalizeH="0" baseline="0" noProof="0" dirty="0">
              <a:ln>
                <a:noFill/>
              </a:ln>
              <a:solidFill>
                <a:srgbClr val="067DD4"/>
              </a:solidFill>
              <a:effectLst/>
              <a:uLnTx/>
              <a:uFillTx/>
              <a:latin typeface="微软雅黑" charset="0"/>
              <a:ea typeface="微软雅黑" charset="0"/>
              <a:cs typeface="+mn-cs"/>
            </a:endParaRPr>
          </a:p>
        </p:txBody>
      </p:sp>
      <p:sp>
        <p:nvSpPr>
          <p:cNvPr id="99" name="矩形 4"/>
          <p:cNvSpPr/>
          <p:nvPr>
            <p:custDataLst>
              <p:tags r:id="rId46"/>
            </p:custDataLst>
          </p:nvPr>
        </p:nvSpPr>
        <p:spPr>
          <a:xfrm>
            <a:off x="9798050" y="1915160"/>
            <a:ext cx="120586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rPr>
              <a:t>升级规则</a:t>
            </a:r>
            <a:endPar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endParaRPr>
          </a:p>
        </p:txBody>
      </p:sp>
      <p:sp>
        <p:nvSpPr>
          <p:cNvPr id="100" name="矩形 99"/>
          <p:cNvSpPr/>
          <p:nvPr>
            <p:custDataLst>
              <p:tags r:id="rId47"/>
            </p:custDataLst>
          </p:nvPr>
        </p:nvSpPr>
        <p:spPr>
          <a:xfrm>
            <a:off x="9623425" y="2730500"/>
            <a:ext cx="1930400" cy="229870"/>
          </a:xfrm>
          <a:prstGeom prst="rect">
            <a:avLst/>
          </a:prstGeom>
        </p:spPr>
        <p:txBody>
          <a:bodyPr wrap="square">
            <a:spAutoFit/>
          </a:bodyPr>
          <a:lstStyle/>
          <a:p>
            <a:r>
              <a:rPr lang="zh-CN" altLang="en-US" sz="900" dirty="0">
                <a:solidFill>
                  <a:prstClr val="black"/>
                </a:solidFill>
                <a:latin typeface="微软雅黑" charset="0"/>
                <a:ea typeface="微软雅黑" charset="0"/>
                <a:cs typeface="微软雅黑" charset="0"/>
              </a:rPr>
              <a:t>日常消费，</a:t>
            </a:r>
            <a:r>
              <a:rPr lang="en-US" altLang="zh-CN" sz="900" dirty="0">
                <a:solidFill>
                  <a:prstClr val="black"/>
                </a:solidFill>
                <a:latin typeface="微软雅黑" charset="0"/>
                <a:ea typeface="微软雅黑" charset="0"/>
                <a:cs typeface="微软雅黑" charset="0"/>
              </a:rPr>
              <a:t>1</a:t>
            </a:r>
            <a:r>
              <a:rPr lang="zh-CN" altLang="en-US" sz="900" dirty="0">
                <a:solidFill>
                  <a:prstClr val="black"/>
                </a:solidFill>
                <a:latin typeface="微软雅黑" charset="0"/>
                <a:ea typeface="微软雅黑" charset="0"/>
                <a:cs typeface="微软雅黑" charset="0"/>
              </a:rPr>
              <a:t>元赠送</a:t>
            </a:r>
            <a:r>
              <a:rPr lang="en-US" altLang="zh-CN" sz="900" dirty="0">
                <a:solidFill>
                  <a:prstClr val="black"/>
                </a:solidFill>
                <a:latin typeface="微软雅黑" charset="0"/>
                <a:ea typeface="微软雅黑" charset="0"/>
                <a:cs typeface="微软雅黑" charset="0"/>
              </a:rPr>
              <a:t>1</a:t>
            </a:r>
            <a:r>
              <a:rPr lang="zh-CN" altLang="en-US" sz="900" dirty="0">
                <a:solidFill>
                  <a:prstClr val="black"/>
                </a:solidFill>
                <a:latin typeface="微软雅黑" charset="0"/>
                <a:ea typeface="微软雅黑" charset="0"/>
                <a:cs typeface="微软雅黑" charset="0"/>
              </a:rPr>
              <a:t>个成长值。</a:t>
            </a:r>
            <a:endParaRPr lang="zh-CN" altLang="en-US" sz="900" dirty="0">
              <a:latin typeface="微软雅黑" charset="0"/>
              <a:ea typeface="微软雅黑" charset="0"/>
              <a:cs typeface="微软雅黑" charset="0"/>
            </a:endParaRPr>
          </a:p>
        </p:txBody>
      </p:sp>
      <p:sp>
        <p:nvSpPr>
          <p:cNvPr id="101" name="矩形 100"/>
          <p:cNvSpPr/>
          <p:nvPr>
            <p:custDataLst>
              <p:tags r:id="rId48"/>
            </p:custDataLst>
          </p:nvPr>
        </p:nvSpPr>
        <p:spPr>
          <a:xfrm>
            <a:off x="9636125" y="3335655"/>
            <a:ext cx="1706245" cy="423545"/>
          </a:xfrm>
          <a:prstGeom prst="rect">
            <a:avLst/>
          </a:prstGeom>
        </p:spPr>
        <p:txBody>
          <a:bodyPr wrap="square">
            <a:spAutoFit/>
          </a:bodyPr>
          <a:lstStyle/>
          <a:p>
            <a:pPr>
              <a:lnSpc>
                <a:spcPct val="120000"/>
              </a:lnSpc>
              <a:spcBef>
                <a:spcPts val="0"/>
              </a:spcBef>
              <a:spcAft>
                <a:spcPts val="0"/>
              </a:spcAft>
            </a:pPr>
            <a:r>
              <a:rPr lang="zh-CN" altLang="en-US" sz="900" dirty="0">
                <a:solidFill>
                  <a:prstClr val="black"/>
                </a:solidFill>
                <a:latin typeface="微软雅黑" charset="0"/>
                <a:ea typeface="微软雅黑" charset="0"/>
                <a:cs typeface="微软雅黑" charset="0"/>
              </a:rPr>
              <a:t>按租赁住房时长，</a:t>
            </a:r>
            <a:r>
              <a:rPr lang="en-US" altLang="zh-CN" sz="900" dirty="0">
                <a:solidFill>
                  <a:prstClr val="black"/>
                </a:solidFill>
                <a:latin typeface="微软雅黑" charset="0"/>
                <a:ea typeface="微软雅黑" charset="0"/>
                <a:cs typeface="微软雅黑" charset="0"/>
              </a:rPr>
              <a:t>2</a:t>
            </a:r>
            <a:r>
              <a:rPr lang="zh-CN" altLang="en-US" sz="900" dirty="0">
                <a:solidFill>
                  <a:prstClr val="black"/>
                </a:solidFill>
                <a:latin typeface="微软雅黑" charset="0"/>
                <a:ea typeface="微软雅黑" charset="0"/>
                <a:cs typeface="微软雅黑" charset="0"/>
              </a:rPr>
              <a:t>年升级</a:t>
            </a:r>
            <a:r>
              <a:rPr lang="en-US" altLang="zh-CN" sz="900" dirty="0">
                <a:solidFill>
                  <a:prstClr val="black"/>
                </a:solidFill>
                <a:latin typeface="微软雅黑" charset="0"/>
                <a:ea typeface="微软雅黑" charset="0"/>
                <a:cs typeface="微软雅黑" charset="0"/>
              </a:rPr>
              <a:t>V2,3</a:t>
            </a:r>
            <a:r>
              <a:rPr lang="zh-CN" altLang="en-US" sz="900" dirty="0">
                <a:solidFill>
                  <a:prstClr val="black"/>
                </a:solidFill>
                <a:latin typeface="微软雅黑" charset="0"/>
                <a:ea typeface="微软雅黑" charset="0"/>
                <a:cs typeface="微软雅黑" charset="0"/>
              </a:rPr>
              <a:t>年升级</a:t>
            </a:r>
            <a:r>
              <a:rPr lang="en-US" altLang="zh-CN" sz="900" dirty="0">
                <a:solidFill>
                  <a:prstClr val="black"/>
                </a:solidFill>
                <a:latin typeface="微软雅黑" charset="0"/>
                <a:ea typeface="微软雅黑" charset="0"/>
                <a:cs typeface="微软雅黑" charset="0"/>
              </a:rPr>
              <a:t>V3</a:t>
            </a:r>
            <a:endParaRPr lang="zh-CN" altLang="en-US" sz="900" dirty="0">
              <a:latin typeface="微软雅黑" charset="0"/>
              <a:ea typeface="微软雅黑" charset="0"/>
              <a:cs typeface="微软雅黑" charset="0"/>
            </a:endParaRPr>
          </a:p>
        </p:txBody>
      </p:sp>
      <p:cxnSp>
        <p:nvCxnSpPr>
          <p:cNvPr id="102" name="直接连接符 22"/>
          <p:cNvCxnSpPr/>
          <p:nvPr>
            <p:custDataLst>
              <p:tags r:id="rId49"/>
            </p:custDataLst>
          </p:nvPr>
        </p:nvCxnSpPr>
        <p:spPr>
          <a:xfrm>
            <a:off x="5046980" y="2323465"/>
            <a:ext cx="1262380" cy="0"/>
          </a:xfrm>
          <a:prstGeom prst="line">
            <a:avLst/>
          </a:prstGeom>
          <a:ln w="28575">
            <a:solidFill>
              <a:srgbClr val="067DD4"/>
            </a:solidFill>
          </a:ln>
        </p:spPr>
        <p:style>
          <a:lnRef idx="1">
            <a:schemeClr val="accent6"/>
          </a:lnRef>
          <a:fillRef idx="0">
            <a:schemeClr val="accent6"/>
          </a:fillRef>
          <a:effectRef idx="0">
            <a:schemeClr val="accent6"/>
          </a:effectRef>
          <a:fontRef idx="minor">
            <a:schemeClr val="tx1"/>
          </a:fontRef>
        </p:style>
      </p:cxnSp>
      <p:sp>
        <p:nvSpPr>
          <p:cNvPr id="103" name="矩形 35"/>
          <p:cNvSpPr/>
          <p:nvPr>
            <p:custDataLst>
              <p:tags r:id="rId50"/>
            </p:custDataLst>
          </p:nvPr>
        </p:nvSpPr>
        <p:spPr>
          <a:xfrm>
            <a:off x="5076825" y="1967230"/>
            <a:ext cx="120586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400" b="1" i="0" u="none" strike="noStrike" kern="1200" cap="none" spc="0" normalizeH="0" baseline="0" noProof="0" dirty="0">
              <a:ln>
                <a:noFill/>
              </a:ln>
              <a:solidFill>
                <a:srgbClr val="067DD4"/>
              </a:solidFill>
              <a:effectLst/>
              <a:uLnTx/>
              <a:uFillTx/>
              <a:latin typeface="微软雅黑" charset="0"/>
              <a:ea typeface="微软雅黑" charset="0"/>
              <a:cs typeface="+mn-cs"/>
            </a:endParaRPr>
          </a:p>
        </p:txBody>
      </p:sp>
      <p:sp>
        <p:nvSpPr>
          <p:cNvPr id="104" name="矩形 4"/>
          <p:cNvSpPr/>
          <p:nvPr>
            <p:custDataLst>
              <p:tags r:id="rId51"/>
            </p:custDataLst>
          </p:nvPr>
        </p:nvSpPr>
        <p:spPr>
          <a:xfrm>
            <a:off x="5056505" y="1964690"/>
            <a:ext cx="1205865" cy="451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rPr>
              <a:t>成长值规则</a:t>
            </a:r>
            <a:endParaRPr kumimoji="0" lang="zh-CN" altLang="en-US" sz="1400" b="1" i="0" u="none" strike="noStrike" kern="1200" cap="none" spc="0" normalizeH="0" baseline="0" noProof="0" dirty="0">
              <a:ln>
                <a:noFill/>
              </a:ln>
              <a:solidFill>
                <a:srgbClr val="4472C4"/>
              </a:solidFill>
              <a:effectLst/>
              <a:uLnTx/>
              <a:uFillTx/>
              <a:latin typeface="微软雅黑" charset="0"/>
              <a:ea typeface="微软雅黑" charset="0"/>
              <a:cs typeface="+mn-cs"/>
            </a:endParaRPr>
          </a:p>
        </p:txBody>
      </p:sp>
      <p:sp>
        <p:nvSpPr>
          <p:cNvPr id="4" name="矩形 3"/>
          <p:cNvSpPr/>
          <p:nvPr/>
        </p:nvSpPr>
        <p:spPr>
          <a:xfrm>
            <a:off x="9258300" y="1967230"/>
            <a:ext cx="2385060" cy="2597150"/>
          </a:xfrm>
          <a:prstGeom prst="rect">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spcAft>
                <a:spcPts val="600"/>
              </a:spcAft>
            </a:pPr>
            <a:endParaRPr lang="zh-CN" altLang="en-US" sz="1100" b="1" dirty="0">
              <a:solidFill>
                <a:schemeClr val="bg1"/>
              </a:solidFill>
              <a:latin typeface="微软雅黑" charset="0"/>
              <a:ea typeface="微软雅黑" charset="0"/>
            </a:endParaRPr>
          </a:p>
        </p:txBody>
      </p:sp>
      <p:sp>
        <p:nvSpPr>
          <p:cNvPr id="6" name="文本框 5"/>
          <p:cNvSpPr txBox="1"/>
          <p:nvPr/>
        </p:nvSpPr>
        <p:spPr>
          <a:xfrm>
            <a:off x="9335770" y="4238625"/>
            <a:ext cx="2307590" cy="325755"/>
          </a:xfrm>
          <a:prstGeom prst="rect">
            <a:avLst/>
          </a:prstGeom>
          <a:noFill/>
        </p:spPr>
        <p:txBody>
          <a:bodyPr wrap="square" lIns="54610" tIns="54610" rIns="54610" bIns="54610" rtlCol="0">
            <a:noAutofit/>
          </a:bodyPr>
          <a:lstStyle/>
          <a:p>
            <a:pPr algn="ctr">
              <a:spcAft>
                <a:spcPts val="600"/>
              </a:spcAft>
            </a:pPr>
            <a:r>
              <a:rPr lang="zh-CN" altLang="en-US" sz="1400" b="1" dirty="0" err="1">
                <a:solidFill>
                  <a:srgbClr val="FF0000"/>
                </a:solidFill>
                <a:latin typeface="微软雅黑" charset="0"/>
                <a:ea typeface="微软雅黑" charset="0"/>
              </a:rPr>
              <a:t>需要各业务部门达成一致</a:t>
            </a:r>
            <a:endParaRPr lang="zh-CN" altLang="en-US" sz="1400" b="1" dirty="0" err="1">
              <a:solidFill>
                <a:srgbClr val="FF0000"/>
              </a:solidFill>
              <a:latin typeface="微软雅黑" charset="0"/>
              <a:ea typeface="微软雅黑"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defPPr>
              <a:defRPr lang="en-US"/>
            </a:defPPr>
            <a:lvl1pPr>
              <a:defRPr kumimoji="0" sz="2800" b="1" i="0" u="none" strike="noStrike" cap="none" spc="0" normalizeH="0" baseline="0">
                <a:ln>
                  <a:noFill/>
                </a:ln>
                <a:effectLst/>
                <a:uLnTx/>
                <a:uFillTx/>
                <a:latin typeface="微软雅黑" panose="020B0503020204020204" pitchFamily="34" charset="-122"/>
                <a:ea typeface="+mj-ea"/>
                <a:cs typeface="+mj-cs"/>
              </a:defRPr>
            </a:lvl1pPr>
          </a:lstStyle>
          <a:p>
            <a:r>
              <a:rPr lang="zh-CN" altLang="en-US">
                <a:sym typeface="+mn-ea"/>
              </a:rPr>
              <a:t>会员权益</a:t>
            </a:r>
            <a:r>
              <a:rPr lang="en-US" altLang="zh-CN">
                <a:sym typeface="+mn-ea"/>
              </a:rPr>
              <a:t>_</a:t>
            </a:r>
            <a:r>
              <a:rPr lang="zh-CN" altLang="en-US">
                <a:sym typeface="+mn-ea"/>
              </a:rPr>
              <a:t>华润规划内容</a:t>
            </a:r>
            <a:endParaRPr lang="en-US" altLang="zh-CN" dirty="0">
              <a:sym typeface="+mn-ea"/>
            </a:endParaRPr>
          </a:p>
        </p:txBody>
      </p:sp>
      <p:sp>
        <p:nvSpPr>
          <p:cNvPr id="7" name="矩形 6"/>
          <p:cNvSpPr/>
          <p:nvPr/>
        </p:nvSpPr>
        <p:spPr>
          <a:xfrm>
            <a:off x="585303" y="1743489"/>
            <a:ext cx="11136681" cy="1143000"/>
          </a:xfrm>
          <a:prstGeom prst="rect">
            <a:avLst/>
          </a:prstGeom>
          <a:solidFill>
            <a:srgbClr val="205C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矩形 11"/>
          <p:cNvSpPr/>
          <p:nvPr/>
        </p:nvSpPr>
        <p:spPr>
          <a:xfrm>
            <a:off x="585303" y="2950656"/>
            <a:ext cx="11136681" cy="383508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p:nvPr>
            <p:custDataLst>
              <p:tags r:id="rId1"/>
            </p:custDataLst>
          </p:nvPr>
        </p:nvGraphicFramePr>
        <p:xfrm>
          <a:off x="1179548" y="3255307"/>
          <a:ext cx="5003331" cy="3468812"/>
        </p:xfrm>
        <a:graphic>
          <a:graphicData uri="http://schemas.openxmlformats.org/drawingml/2006/table">
            <a:tbl>
              <a:tblPr/>
              <a:tblGrid>
                <a:gridCol w="506730"/>
                <a:gridCol w="763109"/>
                <a:gridCol w="762478"/>
                <a:gridCol w="896922"/>
                <a:gridCol w="838221"/>
                <a:gridCol w="1235871"/>
              </a:tblGrid>
              <a:tr h="481614">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序号</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权益类型</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权益种类</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权益内容</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altLang="en-US" sz="1200" b="0" dirty="0">
                          <a:solidFill>
                            <a:schemeClr val="bg1"/>
                          </a:solidFill>
                          <a:latin typeface="Arial" panose="020B0604020202090204" pitchFamily="34" charset="0"/>
                          <a:ea typeface="微软雅黑" panose="020B0503020204020204" pitchFamily="34" charset="-122"/>
                        </a:rPr>
                        <a:t>权益形式</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权益来源</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1</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13">
                  <a:txBody>
                    <a:bodyPr/>
                    <a:lstStyle/>
                    <a:p>
                      <a:pPr indent="0" algn="ctr">
                        <a:buNone/>
                      </a:pPr>
                      <a:r>
                        <a:rPr lang="zh-CN" sz="1000" b="0">
                          <a:solidFill>
                            <a:schemeClr val="tx1">
                              <a:lumMod val="95000"/>
                              <a:lumOff val="5000"/>
                            </a:schemeClr>
                          </a:solidFill>
                          <a:latin typeface="Arial" panose="020B0604020202090204" pitchFamily="34" charset="0"/>
                          <a:ea typeface="微软雅黑" panose="020B0503020204020204" pitchFamily="34" charset="-122"/>
                        </a:rPr>
                        <a:t>会员等级权益</a:t>
                      </a:r>
                      <a:endParaRPr lang="zh-CN" altLang="en-US" sz="1000" b="0">
                        <a:solidFill>
                          <a:schemeClr val="tx1">
                            <a:lumMod val="95000"/>
                            <a:lumOff val="5000"/>
                          </a:schemeClr>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6">
                  <a:txBody>
                    <a:bodyPr/>
                    <a:lstStyle/>
                    <a:p>
                      <a:pPr indent="0" algn="ctr">
                        <a:buNone/>
                      </a:pPr>
                      <a:r>
                        <a:rPr lang="zh-CN" sz="1000" b="0">
                          <a:solidFill>
                            <a:schemeClr val="tx1">
                              <a:lumMod val="95000"/>
                              <a:lumOff val="5000"/>
                            </a:schemeClr>
                          </a:solidFill>
                          <a:latin typeface="Arial" panose="020B0604020202090204" pitchFamily="34" charset="0"/>
                          <a:ea typeface="微软雅黑" panose="020B0503020204020204" pitchFamily="34" charset="-122"/>
                        </a:rPr>
                        <a:t>特色服务</a:t>
                      </a:r>
                      <a:endParaRPr lang="zh-CN" altLang="en-US" sz="1000" b="0">
                        <a:solidFill>
                          <a:schemeClr val="tx1">
                            <a:lumMod val="95000"/>
                            <a:lumOff val="5000"/>
                          </a:schemeClr>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购物积分</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10">
                  <a:txBody>
                    <a:bodyPr/>
                    <a:lstStyle/>
                    <a:p>
                      <a:pPr indent="0">
                        <a:buNone/>
                      </a:pPr>
                      <a:r>
                        <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sym typeface="+mn-ea"/>
                        </a:rPr>
                        <a:t>通用权益</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商业运营&amp;增值业务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2</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积分兑礼</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3</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专属问候</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商业运营</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3564">
                <a:tc>
                  <a:txBody>
                    <a:bodyPr/>
                    <a:lstStyle/>
                    <a:p>
                      <a:pPr indent="0" algn="ctr">
                        <a:buNone/>
                      </a:pPr>
                      <a:r>
                        <a:rPr lang="en-US" sz="1000" b="0">
                          <a:solidFill>
                            <a:schemeClr val="tx1">
                              <a:lumMod val="95000"/>
                              <a:lumOff val="5000"/>
                            </a:schemeClr>
                          </a:solidFill>
                          <a:latin typeface="微软雅黑" panose="020B0503020204020204" pitchFamily="34" charset="-122"/>
                        </a:rPr>
                        <a:t>4</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会员活动</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5</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专属包装</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商业运营&amp;增值业务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5347">
                <a:tc>
                  <a:txBody>
                    <a:bodyPr/>
                    <a:lstStyle/>
                    <a:p>
                      <a:pPr indent="0" algn="ctr">
                        <a:buNone/>
                      </a:pPr>
                      <a:r>
                        <a:rPr lang="en-US" sz="1000" b="0">
                          <a:solidFill>
                            <a:schemeClr val="tx1">
                              <a:lumMod val="95000"/>
                              <a:lumOff val="5000"/>
                            </a:schemeClr>
                          </a:solidFill>
                          <a:latin typeface="微软雅黑" panose="020B0503020204020204" pitchFamily="34" charset="-122"/>
                        </a:rPr>
                        <a:t>6</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升级礼遇</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商业运营</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7</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4">
                  <a:txBody>
                    <a:bodyPr/>
                    <a:lstStyle/>
                    <a:p>
                      <a:pPr indent="0" algn="ctr">
                        <a:buNone/>
                      </a:pPr>
                      <a:r>
                        <a:rPr lang="zh-CN" sz="1000" b="0">
                          <a:solidFill>
                            <a:schemeClr val="tx1">
                              <a:lumMod val="95000"/>
                              <a:lumOff val="5000"/>
                            </a:schemeClr>
                          </a:solidFill>
                          <a:latin typeface="Arial" panose="020B0604020202090204" pitchFamily="34" charset="0"/>
                          <a:ea typeface="微软雅黑" panose="020B0503020204020204" pitchFamily="34" charset="-122"/>
                        </a:rPr>
                        <a:t>生日特权</a:t>
                      </a:r>
                      <a:endParaRPr lang="zh-CN" altLang="en-US" sz="1000" b="0">
                        <a:solidFill>
                          <a:schemeClr val="tx1">
                            <a:lumMod val="95000"/>
                            <a:lumOff val="5000"/>
                          </a:schemeClr>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生日多倍积分</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rPr>
                        <a:t>商业运营&amp;增值业务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8</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生日赠送积分</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商业运营</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3564">
                <a:tc>
                  <a:txBody>
                    <a:bodyPr/>
                    <a:lstStyle/>
                    <a:p>
                      <a:pPr indent="0" algn="ctr">
                        <a:buNone/>
                      </a:pPr>
                      <a:r>
                        <a:rPr lang="en-US" sz="1000" b="0">
                          <a:solidFill>
                            <a:schemeClr val="tx1">
                              <a:lumMod val="95000"/>
                              <a:lumOff val="5000"/>
                            </a:schemeClr>
                          </a:solidFill>
                          <a:latin typeface="微软雅黑" panose="020B0503020204020204" pitchFamily="34" charset="-122"/>
                        </a:rPr>
                        <a:t>9</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生日专属问候</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10</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生日特别贺礼</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24159">
                <a:tc>
                  <a:txBody>
                    <a:bodyPr/>
                    <a:lstStyle/>
                    <a:p>
                      <a:pPr indent="0" algn="ctr">
                        <a:buNone/>
                      </a:pPr>
                      <a:r>
                        <a:rPr lang="en-US" sz="1000" b="0">
                          <a:solidFill>
                            <a:schemeClr val="tx1">
                              <a:lumMod val="95000"/>
                              <a:lumOff val="5000"/>
                            </a:schemeClr>
                          </a:solidFill>
                          <a:latin typeface="微软雅黑" panose="020B0503020204020204" pitchFamily="34" charset="-122"/>
                        </a:rPr>
                        <a:t>11</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3">
                  <a:txBody>
                    <a:bodyPr/>
                    <a:lstStyle/>
                    <a:p>
                      <a:pPr indent="0" algn="ctr">
                        <a:buNone/>
                      </a:pPr>
                      <a:r>
                        <a:rPr lang="zh-CN" sz="1000" b="0" dirty="0">
                          <a:solidFill>
                            <a:schemeClr val="tx1">
                              <a:lumMod val="95000"/>
                              <a:lumOff val="5000"/>
                            </a:schemeClr>
                          </a:solidFill>
                          <a:latin typeface="Arial" panose="020B0604020202090204" pitchFamily="34" charset="0"/>
                          <a:ea typeface="微软雅黑" panose="020B0503020204020204" pitchFamily="34" charset="-122"/>
                        </a:rPr>
                        <a:t>停车优惠</a:t>
                      </a:r>
                      <a:endParaRPr lang="zh-CN" altLang="en-US" sz="1000" b="0" dirty="0">
                        <a:solidFill>
                          <a:schemeClr val="tx1">
                            <a:lumMod val="95000"/>
                            <a:lumOff val="5000"/>
                          </a:schemeClr>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月租停车</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0">
                          <a:solidFill>
                            <a:schemeClr val="tx1">
                              <a:lumMod val="95000"/>
                              <a:lumOff val="5000"/>
                            </a:schemeClr>
                          </a:solidFill>
                          <a:latin typeface="微软雅黑" panose="020B0503020204020204" pitchFamily="34" charset="-122"/>
                          <a:ea typeface="微软雅黑" panose="020B0503020204020204" pitchFamily="34" charset="-122"/>
                        </a:rPr>
                        <a:t>住宅通用权益</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城服物业</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7726">
                <a:tc>
                  <a:txBody>
                    <a:bodyPr/>
                    <a:lstStyle/>
                    <a:p>
                      <a:pPr indent="0" algn="ctr">
                        <a:buNone/>
                      </a:pPr>
                      <a:r>
                        <a:rPr lang="en-US" sz="1000" b="0">
                          <a:solidFill>
                            <a:schemeClr val="tx1">
                              <a:lumMod val="95000"/>
                              <a:lumOff val="5000"/>
                            </a:schemeClr>
                          </a:solidFill>
                          <a:latin typeface="微软雅黑" panose="020B0503020204020204" pitchFamily="34" charset="-122"/>
                        </a:rPr>
                        <a:t>12</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临时停车</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buNone/>
                      </a:pPr>
                      <a:r>
                        <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rPr>
                        <a:t>项目权益（解释权归具体项目现场）</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商业运营</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93725">
                <a:tc>
                  <a:txBody>
                    <a:bodyPr/>
                    <a:lstStyle/>
                    <a:p>
                      <a:pPr indent="0" algn="ctr">
                        <a:buNone/>
                      </a:pPr>
                      <a:r>
                        <a:rPr lang="en-US" sz="1000" b="0">
                          <a:solidFill>
                            <a:schemeClr val="tx1">
                              <a:lumMod val="95000"/>
                              <a:lumOff val="5000"/>
                            </a:schemeClr>
                          </a:solidFill>
                          <a:latin typeface="微软雅黑" panose="020B0503020204020204" pitchFamily="34" charset="-122"/>
                        </a:rPr>
                        <a:t>13</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1000" b="0" dirty="0">
                          <a:solidFill>
                            <a:schemeClr val="tx1">
                              <a:lumMod val="95000"/>
                              <a:lumOff val="5000"/>
                            </a:schemeClr>
                          </a:solidFill>
                          <a:latin typeface="微软雅黑" panose="020B0503020204020204" pitchFamily="34" charset="-122"/>
                          <a:ea typeface="微软雅黑" panose="020B0503020204020204" pitchFamily="34" charset="-122"/>
                        </a:rPr>
                        <a:t>停车充电</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23" name="表格 22"/>
          <p:cNvGraphicFramePr/>
          <p:nvPr>
            <p:custDataLst>
              <p:tags r:id="rId2"/>
            </p:custDataLst>
          </p:nvPr>
        </p:nvGraphicFramePr>
        <p:xfrm>
          <a:off x="6421120" y="3256377"/>
          <a:ext cx="4961593" cy="2909609"/>
        </p:xfrm>
        <a:graphic>
          <a:graphicData uri="http://schemas.openxmlformats.org/drawingml/2006/table">
            <a:tbl>
              <a:tblPr/>
              <a:tblGrid>
                <a:gridCol w="393700"/>
                <a:gridCol w="872670"/>
                <a:gridCol w="879723"/>
                <a:gridCol w="1045153"/>
                <a:gridCol w="686082"/>
                <a:gridCol w="1084265"/>
              </a:tblGrid>
              <a:tr h="467623">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序号</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a:solidFill>
                            <a:schemeClr val="bg1"/>
                          </a:solidFill>
                          <a:latin typeface="Arial" panose="020B0604020202090204" pitchFamily="34" charset="0"/>
                          <a:ea typeface="微软雅黑" panose="020B0503020204020204" pitchFamily="34" charset="-122"/>
                        </a:rPr>
                        <a:t>权益类型</a:t>
                      </a:r>
                      <a:endParaRPr lang="zh-CN" altLang="en-US" sz="1200" b="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a:solidFill>
                            <a:schemeClr val="bg1"/>
                          </a:solidFill>
                          <a:latin typeface="Arial" panose="020B0604020202090204" pitchFamily="34" charset="0"/>
                          <a:ea typeface="微软雅黑" panose="020B0503020204020204" pitchFamily="34" charset="-122"/>
                        </a:rPr>
                        <a:t>权益种类</a:t>
                      </a:r>
                      <a:endParaRPr lang="zh-CN" altLang="en-US" sz="1200" b="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a:solidFill>
                            <a:schemeClr val="bg1"/>
                          </a:solidFill>
                          <a:latin typeface="Arial" panose="020B0604020202090204" pitchFamily="34" charset="0"/>
                          <a:ea typeface="微软雅黑" panose="020B0503020204020204" pitchFamily="34" charset="-122"/>
                        </a:rPr>
                        <a:t>权益内容</a:t>
                      </a:r>
                      <a:endParaRPr lang="zh-CN" altLang="en-US" sz="1200" b="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altLang="en-US" sz="1200" b="0" dirty="0">
                          <a:solidFill>
                            <a:schemeClr val="bg1"/>
                          </a:solidFill>
                          <a:latin typeface="Arial" panose="020B0604020202090204" pitchFamily="34" charset="0"/>
                          <a:ea typeface="微软雅黑" panose="020B0503020204020204" pitchFamily="34" charset="-122"/>
                        </a:rPr>
                        <a:t>权益形式</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c>
                  <a:txBody>
                    <a:bodyPr/>
                    <a:lstStyle/>
                    <a:p>
                      <a:pPr indent="0" algn="ctr">
                        <a:buNone/>
                      </a:pPr>
                      <a:r>
                        <a:rPr lang="zh-CN" sz="1200" b="0" dirty="0">
                          <a:solidFill>
                            <a:schemeClr val="bg1"/>
                          </a:solidFill>
                          <a:latin typeface="Arial" panose="020B0604020202090204" pitchFamily="34" charset="0"/>
                          <a:ea typeface="微软雅黑" panose="020B0503020204020204" pitchFamily="34" charset="-122"/>
                        </a:rPr>
                        <a:t>权益来源</a:t>
                      </a:r>
                      <a:endParaRPr lang="zh-CN" altLang="en-US" sz="1200" b="0" dirty="0">
                        <a:solidFill>
                          <a:schemeClr val="bg1"/>
                        </a:solidFill>
                        <a:latin typeface="Arial" panose="020B0604020202090204" pitchFamily="34" charset="0"/>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472C4"/>
                    </a:solidFill>
                  </a:tcPr>
                </a:tc>
              </a:tr>
              <a:tr h="219789">
                <a:tc>
                  <a:txBody>
                    <a:bodyPr/>
                    <a:lstStyle/>
                    <a:p>
                      <a:pPr indent="0" algn="ctr">
                        <a:buNone/>
                      </a:pPr>
                      <a:r>
                        <a:rPr lang="en-US" sz="1000" b="0" dirty="0">
                          <a:solidFill>
                            <a:schemeClr val="tx1">
                              <a:lumMod val="95000"/>
                              <a:lumOff val="5000"/>
                            </a:schemeClr>
                          </a:solidFill>
                          <a:latin typeface="微软雅黑" panose="020B0503020204020204" pitchFamily="34" charset="-122"/>
                        </a:rPr>
                        <a:t>14</a:t>
                      </a:r>
                      <a:endParaRPr lang="en-US" altLang="en-US" sz="1000" b="0" dirty="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1000" b="0" dirty="0">
                          <a:solidFill>
                            <a:schemeClr val="tx1">
                              <a:lumMod val="95000"/>
                              <a:lumOff val="5000"/>
                            </a:schemeClr>
                          </a:solidFill>
                          <a:latin typeface="微软雅黑" panose="020B0503020204020204" pitchFamily="34" charset="-122"/>
                          <a:ea typeface="微软雅黑" panose="020B0503020204020204" pitchFamily="34" charset="-122"/>
                        </a:rPr>
                        <a:t>会员等级权益</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lgn="ctr">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社区服务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社群活动</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buNone/>
                      </a:pPr>
                      <a:r>
                        <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sym typeface="+mn-ea"/>
                        </a:rPr>
                        <a:t>住宅通用权益</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城服物业</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20361">
                <a:tc>
                  <a:txBody>
                    <a:bodyPr/>
                    <a:lstStyle/>
                    <a:p>
                      <a:pPr indent="0" algn="ctr">
                        <a:buNone/>
                      </a:pPr>
                      <a:r>
                        <a:rPr lang="en-US" sz="1000" b="0">
                          <a:solidFill>
                            <a:schemeClr val="tx1">
                              <a:lumMod val="95000"/>
                              <a:lumOff val="5000"/>
                            </a:schemeClr>
                          </a:solidFill>
                          <a:latin typeface="微软雅黑" panose="020B0503020204020204" pitchFamily="34" charset="-122"/>
                        </a:rPr>
                        <a:t>15</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共享空间</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19789">
                <a:tc>
                  <a:txBody>
                    <a:bodyPr/>
                    <a:lstStyle/>
                    <a:p>
                      <a:pPr indent="0" algn="ctr">
                        <a:buNone/>
                      </a:pPr>
                      <a:r>
                        <a:rPr lang="en-US" sz="1000" b="0">
                          <a:solidFill>
                            <a:schemeClr val="tx1">
                              <a:lumMod val="95000"/>
                              <a:lumOff val="5000"/>
                            </a:schemeClr>
                          </a:solidFill>
                          <a:latin typeface="微软雅黑" panose="020B0503020204020204" pitchFamily="34" charset="-122"/>
                        </a:rPr>
                        <a:t>16</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便民服务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20361">
                <a:tc>
                  <a:txBody>
                    <a:bodyPr/>
                    <a:lstStyle/>
                    <a:p>
                      <a:pPr indent="0" algn="ctr">
                        <a:buNone/>
                      </a:pPr>
                      <a:r>
                        <a:rPr lang="en-US" altLang="en-US" sz="1000" b="0">
                          <a:solidFill>
                            <a:schemeClr val="tx1">
                              <a:lumMod val="95000"/>
                              <a:lumOff val="5000"/>
                            </a:schemeClr>
                          </a:solidFill>
                          <a:latin typeface="微软雅黑" panose="020B0503020204020204" pitchFamily="34" charset="-122"/>
                        </a:rPr>
                        <a:t>17</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餐饮美食</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餐饮特权</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buNone/>
                      </a:pPr>
                      <a:r>
                        <a:rPr lang="zh-CN" altLang="en-US" sz="1000" b="0">
                          <a:solidFill>
                            <a:schemeClr val="tx1">
                              <a:lumMod val="95000"/>
                              <a:lumOff val="5000"/>
                            </a:schemeClr>
                          </a:solidFill>
                          <a:latin typeface="微软雅黑" panose="020B0503020204020204" pitchFamily="34" charset="-122"/>
                          <a:ea typeface="微软雅黑" panose="020B0503020204020204" pitchFamily="34" charset="-122"/>
                        </a:rPr>
                        <a:t>项目权益</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3">
                  <a:txBody>
                    <a:bodyPr/>
                    <a:lstStyle/>
                    <a:p>
                      <a:pPr indent="0">
                        <a:buNone/>
                      </a:pPr>
                      <a:r>
                        <a:rPr lang="zh-CN" sz="1000" b="0" dirty="0">
                          <a:solidFill>
                            <a:schemeClr val="tx1">
                              <a:lumMod val="95000"/>
                              <a:lumOff val="5000"/>
                            </a:schemeClr>
                          </a:solidFill>
                          <a:latin typeface="微软雅黑" panose="020B0503020204020204" pitchFamily="34" charset="-122"/>
                          <a:ea typeface="微软雅黑" panose="020B0503020204020204" pitchFamily="34" charset="-122"/>
                        </a:rPr>
                        <a:t>商业运营</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19217">
                <a:tc>
                  <a:txBody>
                    <a:bodyPr/>
                    <a:lstStyle/>
                    <a:p>
                      <a:pPr indent="0" algn="ctr">
                        <a:buNone/>
                      </a:pPr>
                      <a:r>
                        <a:rPr lang="en-US" altLang="en-US" sz="1000" b="0">
                          <a:solidFill>
                            <a:schemeClr val="tx1">
                              <a:lumMod val="95000"/>
                              <a:lumOff val="5000"/>
                            </a:schemeClr>
                          </a:solidFill>
                          <a:latin typeface="微软雅黑" panose="020B0503020204020204" pitchFamily="34" charset="-122"/>
                        </a:rPr>
                        <a:t>18</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2">
                  <a:txBody>
                    <a:bodyPr/>
                    <a:lstStyle/>
                    <a:p>
                      <a:pPr indent="0" algn="ctr">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购物优惠</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chemeClr val="tx1">
                              <a:lumMod val="95000"/>
                              <a:lumOff val="5000"/>
                            </a:schemeClr>
                          </a:solidFill>
                          <a:latin typeface="微软雅黑" panose="020B0503020204020204" pitchFamily="34" charset="-122"/>
                          <a:ea typeface="微软雅黑" panose="020B0503020204020204" pitchFamily="34" charset="-122"/>
                        </a:rPr>
                        <a:t>社区消费</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19789">
                <a:tc>
                  <a:txBody>
                    <a:bodyPr/>
                    <a:lstStyle/>
                    <a:p>
                      <a:pPr indent="0" algn="ctr">
                        <a:buNone/>
                      </a:pPr>
                      <a:r>
                        <a:rPr lang="en-US" altLang="en-US" sz="1000" b="0">
                          <a:solidFill>
                            <a:schemeClr val="tx1">
                              <a:lumMod val="95000"/>
                              <a:lumOff val="5000"/>
                            </a:schemeClr>
                          </a:solidFill>
                          <a:latin typeface="微软雅黑" panose="020B0503020204020204" pitchFamily="34" charset="-122"/>
                        </a:rPr>
                        <a:t>19</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购物特权</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19789">
                <a:tc>
                  <a:txBody>
                    <a:bodyPr/>
                    <a:lstStyle/>
                    <a:p>
                      <a:pPr indent="0" algn="ctr">
                        <a:buNone/>
                      </a:pPr>
                      <a:r>
                        <a:rPr lang="en-US" altLang="en-US" sz="1000" b="0">
                          <a:solidFill>
                            <a:schemeClr val="tx1">
                              <a:lumMod val="95000"/>
                              <a:lumOff val="5000"/>
                            </a:schemeClr>
                          </a:solidFill>
                          <a:latin typeface="微软雅黑" panose="020B0503020204020204" pitchFamily="34" charset="-122"/>
                        </a:rPr>
                        <a:t>20</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chemeClr val="bg1"/>
                    </a:solidFill>
                  </a:tcPr>
                </a:tc>
                <a:tc>
                  <a:txBody>
                    <a:bodyPr/>
                    <a:lstStyle/>
                    <a:p>
                      <a:pPr indent="0" algn="ctr">
                        <a:buNone/>
                      </a:pPr>
                      <a:r>
                        <a:rPr lang="en-US" altLang="zh-CN" sz="1000" b="0">
                          <a:solidFill>
                            <a:schemeClr val="tx1">
                              <a:lumMod val="95000"/>
                              <a:lumOff val="5000"/>
                            </a:schemeClr>
                          </a:solidFill>
                          <a:latin typeface="微软雅黑" panose="020B0503020204020204" pitchFamily="34" charset="-122"/>
                          <a:ea typeface="微软雅黑" panose="020B0503020204020204" pitchFamily="34" charset="-122"/>
                        </a:rPr>
                        <a:t>400</a:t>
                      </a:r>
                      <a:r>
                        <a:rPr lang="zh-CN" altLang="en-US" sz="1000" b="0">
                          <a:solidFill>
                            <a:schemeClr val="tx1">
                              <a:lumMod val="95000"/>
                              <a:lumOff val="5000"/>
                            </a:schemeClr>
                          </a:solidFill>
                          <a:latin typeface="微软雅黑" panose="020B0503020204020204" pitchFamily="34" charset="-122"/>
                          <a:ea typeface="微软雅黑" panose="020B0503020204020204" pitchFamily="34" charset="-122"/>
                        </a:rPr>
                        <a:t>优先接入</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indent="0">
                        <a:buNone/>
                      </a:pP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bg1"/>
                    </a:solidFill>
                  </a:tcPr>
                </a:tc>
              </a:tr>
              <a:tr h="219789">
                <a:tc>
                  <a:txBody>
                    <a:bodyPr/>
                    <a:lstStyle/>
                    <a:p>
                      <a:pPr indent="0" algn="ctr">
                        <a:buNone/>
                      </a:pPr>
                      <a:r>
                        <a:rPr lang="en-US" altLang="en-US" sz="1000" b="0">
                          <a:solidFill>
                            <a:schemeClr val="tx1">
                              <a:lumMod val="95000"/>
                              <a:lumOff val="5000"/>
                            </a:schemeClr>
                          </a:solidFill>
                          <a:latin typeface="微软雅黑" panose="020B0503020204020204" pitchFamily="34" charset="-122"/>
                        </a:rPr>
                        <a:t>21</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特殊身份权益</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业主权益</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0">
                          <a:solidFill>
                            <a:schemeClr val="tx1">
                              <a:lumMod val="95000"/>
                              <a:lumOff val="5000"/>
                            </a:schemeClr>
                          </a:solidFill>
                          <a:latin typeface="微软雅黑" panose="020B0503020204020204" pitchFamily="34" charset="-122"/>
                          <a:ea typeface="微软雅黑" panose="020B0503020204020204" pitchFamily="34" charset="-122"/>
                        </a:rPr>
                        <a:t>参加业主的专属活动</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rowSpan="2">
                  <a:txBody>
                    <a:bodyPr/>
                    <a:lstStyle/>
                    <a:p>
                      <a:pPr indent="0">
                        <a:buNone/>
                      </a:pPr>
                      <a:r>
                        <a:rPr lang="zh-CN" altLang="en-US" sz="1000" b="0">
                          <a:solidFill>
                            <a:schemeClr val="tx1">
                              <a:lumMod val="95000"/>
                              <a:lumOff val="5000"/>
                            </a:schemeClr>
                          </a:solidFill>
                          <a:latin typeface="微软雅黑" panose="020B0503020204020204" pitchFamily="34" charset="-122"/>
                          <a:ea typeface="微软雅黑" panose="020B0503020204020204" pitchFamily="34" charset="-122"/>
                        </a:rPr>
                        <a:t>业主权益</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chemeClr val="tx1">
                              <a:lumMod val="95000"/>
                              <a:lumOff val="5000"/>
                            </a:schemeClr>
                          </a:solidFill>
                          <a:latin typeface="微软雅黑" panose="020B0503020204020204" pitchFamily="34" charset="-122"/>
                          <a:ea typeface="微软雅黑" panose="020B0503020204020204" pitchFamily="34" charset="-122"/>
                        </a:rPr>
                        <a:t>增值服务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r>
              <a:tr h="219789">
                <a:tc>
                  <a:txBody>
                    <a:bodyPr/>
                    <a:lstStyle/>
                    <a:p>
                      <a:pPr indent="0" algn="ctr">
                        <a:buNone/>
                      </a:pPr>
                      <a:r>
                        <a:rPr lang="en-US" sz="1000" b="0">
                          <a:solidFill>
                            <a:schemeClr val="tx1">
                              <a:lumMod val="95000"/>
                              <a:lumOff val="5000"/>
                            </a:schemeClr>
                          </a:solidFill>
                          <a:latin typeface="微软雅黑" panose="020B0503020204020204" pitchFamily="34" charset="-122"/>
                        </a:rPr>
                        <a:t>22</a:t>
                      </a:r>
                      <a:endParaRPr lang="en-US" altLang="en-US" sz="1000" b="0">
                        <a:solidFill>
                          <a:schemeClr val="tx1">
                            <a:lumMod val="95000"/>
                            <a:lumOff val="5000"/>
                          </a:schemeClr>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buNone/>
                      </a:pPr>
                      <a:r>
                        <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rPr>
                        <a:t>空间业主免费预约</a:t>
                      </a: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c vMerge="1">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a:solidFill>
                            <a:schemeClr val="tx1">
                              <a:lumMod val="95000"/>
                              <a:lumOff val="5000"/>
                            </a:schemeClr>
                          </a:solidFill>
                          <a:latin typeface="微软雅黑" panose="020B0503020204020204" pitchFamily="34" charset="-122"/>
                          <a:ea typeface="微软雅黑" panose="020B0503020204020204" pitchFamily="34" charset="-122"/>
                          <a:sym typeface="+mn-ea"/>
                        </a:rPr>
                        <a:t>增值服务</a:t>
                      </a:r>
                      <a:endParaRPr lang="zh-CN" altLang="en-US" sz="1000" b="0">
                        <a:solidFill>
                          <a:schemeClr val="tx1">
                            <a:lumMod val="95000"/>
                            <a:lumOff val="5000"/>
                          </a:schemeClr>
                        </a:solidFill>
                        <a:latin typeface="微软雅黑" panose="020B0503020204020204" pitchFamily="34" charset="-122"/>
                        <a:ea typeface="微软雅黑" panose="020B0503020204020204" pitchFamily="34" charset="-122"/>
                      </a:endParaRPr>
                    </a:p>
                    <a:p>
                      <a:pPr indent="0">
                        <a:buNone/>
                      </a:pPr>
                      <a:endParaRPr lang="zh-CN" altLang="en-US" sz="1000" b="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
        <p:nvSpPr>
          <p:cNvPr id="83" name="文本框 82"/>
          <p:cNvSpPr txBox="1"/>
          <p:nvPr>
            <p:custDataLst>
              <p:tags r:id="rId3"/>
            </p:custDataLst>
          </p:nvPr>
        </p:nvSpPr>
        <p:spPr>
          <a:xfrm>
            <a:off x="493395" y="890905"/>
            <a:ext cx="10771505" cy="737235"/>
          </a:xfrm>
          <a:prstGeom prst="rect">
            <a:avLst/>
          </a:prstGeom>
          <a:noFill/>
        </p:spPr>
        <p:txBody>
          <a:bodyPr wrap="square" rtlCol="0" anchor="t">
            <a:spAutoFit/>
          </a:bodyPr>
          <a:lstStyle/>
          <a:p>
            <a:pPr indent="0" algn="l">
              <a:lnSpc>
                <a:spcPct val="150000"/>
              </a:lnSpc>
              <a:buFont typeface="Wingdings" panose="05000000000000000000" pitchFamily="2" charset="2"/>
              <a:buNone/>
            </a:pPr>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sym typeface="+mn-ea"/>
              </a:rPr>
              <a:t>会员权益内容预设：</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sym typeface="+mn-ea"/>
              </a:rPr>
              <a:t>分析设计等级权益、身份权益两大权益类型，七大等级权益种类，包括特色服务、生日特权、停车优惠、社区服务、餐饮美食、购物优惠。</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787525" y="2095880"/>
            <a:ext cx="5500245" cy="646331"/>
          </a:xfrm>
          <a:prstGeom prst="rect">
            <a:avLst/>
          </a:prstGeom>
          <a:noFill/>
        </p:spPr>
        <p:txBody>
          <a:bodyPr wrap="square" rtlCol="0" anchor="t">
            <a:spAutoFit/>
          </a:bodyPr>
          <a:lstStyle/>
          <a:p>
            <a:pPr marL="285750" indent="-285750">
              <a:lnSpc>
                <a:spcPct val="150000"/>
              </a:lnSpc>
              <a:buFont typeface="Wingdings" panose="05000000000000000000" charset="0"/>
              <a:buChar char="Ø"/>
            </a:pPr>
            <a:r>
              <a:rPr lang="zh-CN" altLang="zh-CN" sz="1200" b="1" dirty="0">
                <a:solidFill>
                  <a:schemeClr val="bg1"/>
                </a:solidFill>
                <a:latin typeface="微软雅黑" panose="020B0503020204020204" pitchFamily="34" charset="-122"/>
                <a:ea typeface="微软雅黑" panose="020B0503020204020204" pitchFamily="34" charset="-122"/>
                <a:sym typeface="+mn-ea"/>
              </a:rPr>
              <a:t>通用权益：</a:t>
            </a:r>
            <a:r>
              <a:rPr lang="zh-CN" altLang="en-US" sz="1200" dirty="0">
                <a:solidFill>
                  <a:schemeClr val="bg1"/>
                </a:solidFill>
                <a:latin typeface="微软雅黑" panose="020B0503020204020204" pitchFamily="34" charset="-122"/>
                <a:ea typeface="微软雅黑" panose="020B0503020204020204" pitchFamily="34" charset="-122"/>
                <a:sym typeface="+mn-ea"/>
              </a:rPr>
              <a:t>入会会员</a:t>
            </a:r>
            <a:r>
              <a:rPr lang="zh-CN" altLang="zh-CN" sz="1200" dirty="0">
                <a:solidFill>
                  <a:schemeClr val="bg1"/>
                </a:solidFill>
                <a:latin typeface="微软雅黑" panose="020B0503020204020204" pitchFamily="34" charset="-122"/>
                <a:ea typeface="微软雅黑" panose="020B0503020204020204" pitchFamily="34" charset="-122"/>
                <a:sym typeface="+mn-ea"/>
              </a:rPr>
              <a:t>即享受的权益</a:t>
            </a:r>
            <a:r>
              <a:rPr lang="zh-CN" altLang="en-US" sz="1200" dirty="0">
                <a:solidFill>
                  <a:schemeClr val="bg1"/>
                </a:solidFill>
                <a:latin typeface="微软雅黑" panose="020B0503020204020204" pitchFamily="34" charset="-122"/>
                <a:ea typeface="微软雅黑" panose="020B0503020204020204" pitchFamily="34" charset="-122"/>
                <a:sym typeface="+mn-ea"/>
              </a:rPr>
              <a:t>。要求全场景通用权益服务标准化。</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charset="0"/>
              <a:buChar char="Ø"/>
            </a:pPr>
            <a:r>
              <a:rPr lang="zh-CN" altLang="zh-CN" sz="1200" b="1" dirty="0">
                <a:solidFill>
                  <a:schemeClr val="bg1"/>
                </a:solidFill>
                <a:latin typeface="微软雅黑" panose="020B0503020204020204" pitchFamily="34" charset="-122"/>
                <a:ea typeface="微软雅黑" panose="020B0503020204020204" pitchFamily="34" charset="-122"/>
                <a:sym typeface="+mn-ea"/>
              </a:rPr>
              <a:t>项目权益：</a:t>
            </a:r>
            <a:r>
              <a:rPr lang="zh-CN" altLang="en-US" sz="1200" dirty="0">
                <a:solidFill>
                  <a:schemeClr val="bg1"/>
                </a:solidFill>
                <a:latin typeface="微软雅黑" panose="020B0503020204020204" pitchFamily="34" charset="-122"/>
                <a:ea typeface="微软雅黑" panose="020B0503020204020204" pitchFamily="34" charset="-122"/>
                <a:sym typeface="+mn-ea"/>
              </a:rPr>
              <a:t>由</a:t>
            </a:r>
            <a:r>
              <a:rPr lang="zh-CN" altLang="zh-CN" sz="1200" dirty="0">
                <a:solidFill>
                  <a:schemeClr val="bg1"/>
                </a:solidFill>
                <a:latin typeface="微软雅黑" panose="020B0503020204020204" pitchFamily="34" charset="-122"/>
                <a:ea typeface="微软雅黑" panose="020B0503020204020204" pitchFamily="34" charset="-122"/>
                <a:sym typeface="+mn-ea"/>
              </a:rPr>
              <a:t>每个具体的项目提供的权益</a:t>
            </a:r>
            <a:r>
              <a:rPr lang="zh-CN" altLang="en-US" sz="1200" dirty="0">
                <a:solidFill>
                  <a:schemeClr val="bg1"/>
                </a:solidFill>
                <a:latin typeface="微软雅黑" panose="020B0503020204020204" pitchFamily="34" charset="-122"/>
                <a:ea typeface="微软雅黑" panose="020B0503020204020204" pitchFamily="34" charset="-122"/>
                <a:sym typeface="+mn-ea"/>
              </a:rPr>
              <a:t>，可存在项目不同的</a:t>
            </a:r>
            <a:r>
              <a:rPr lang="zh-CN" altLang="zh-CN" sz="1200" dirty="0">
                <a:solidFill>
                  <a:schemeClr val="bg1"/>
                </a:solidFill>
                <a:latin typeface="微软雅黑" panose="020B0503020204020204" pitchFamily="34" charset="-122"/>
                <a:ea typeface="微软雅黑" panose="020B0503020204020204" pitchFamily="34" charset="-122"/>
                <a:sym typeface="+mn-ea"/>
              </a:rPr>
              <a:t>差异</a:t>
            </a:r>
            <a:r>
              <a:rPr lang="zh-CN" altLang="en-US" sz="1200" dirty="0">
                <a:solidFill>
                  <a:schemeClr val="bg1"/>
                </a:solidFill>
                <a:latin typeface="微软雅黑" panose="020B0503020204020204" pitchFamily="34" charset="-122"/>
                <a:ea typeface="微软雅黑" panose="020B0503020204020204" pitchFamily="34" charset="-122"/>
                <a:sym typeface="+mn-ea"/>
              </a:rPr>
              <a:t>化服务。</a:t>
            </a:r>
            <a:endParaRPr lang="zh-CN" altLang="zh-CN" sz="1200" dirty="0">
              <a:solidFill>
                <a:schemeClr val="bg1"/>
              </a:solidFill>
              <a:latin typeface="微软雅黑" panose="020B0503020204020204" pitchFamily="34" charset="-122"/>
              <a:ea typeface="微软雅黑" panose="020B0503020204020204" pitchFamily="34" charset="-122"/>
              <a:sym typeface="+mn-ea"/>
            </a:endParaRPr>
          </a:p>
        </p:txBody>
      </p:sp>
      <p:sp>
        <p:nvSpPr>
          <p:cNvPr id="3" name="矩形 2"/>
          <p:cNvSpPr/>
          <p:nvPr/>
        </p:nvSpPr>
        <p:spPr>
          <a:xfrm>
            <a:off x="6998558" y="2095880"/>
            <a:ext cx="4012637" cy="368300"/>
          </a:xfrm>
          <a:prstGeom prst="rect">
            <a:avLst/>
          </a:prstGeom>
          <a:noFill/>
        </p:spPr>
        <p:txBody>
          <a:bodyPr wrap="square" rtlCol="0" anchor="t">
            <a:spAutoFit/>
          </a:bodyPr>
          <a:lstStyle/>
          <a:p>
            <a:pPr marL="285750" indent="-285750">
              <a:lnSpc>
                <a:spcPct val="150000"/>
              </a:lnSpc>
              <a:buFont typeface="Wingdings" panose="05000000000000000000" charset="0"/>
              <a:buChar char="Ø"/>
            </a:pPr>
            <a:r>
              <a:rPr lang="zh-CN" altLang="zh-CN" sz="1200" b="1" dirty="0">
                <a:solidFill>
                  <a:schemeClr val="bg1"/>
                </a:solidFill>
                <a:latin typeface="微软雅黑" panose="020B0503020204020204" pitchFamily="34" charset="-122"/>
                <a:ea typeface="微软雅黑" panose="020B0503020204020204" pitchFamily="34" charset="-122"/>
                <a:sym typeface="+mn-ea"/>
              </a:rPr>
              <a:t>业主权益：完成业主认证，且特定的权益</a:t>
            </a:r>
            <a:endParaRPr lang="zh-CN" altLang="en-US" sz="1200" b="1" dirty="0">
              <a:solidFill>
                <a:schemeClr val="bg1"/>
              </a:solidFill>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585303" y="2918612"/>
            <a:ext cx="4339650" cy="369332"/>
          </a:xfrm>
          <a:prstGeom prst="rect">
            <a:avLst/>
          </a:prstGeom>
        </p:spPr>
        <p:txBody>
          <a:bodyPr wrap="none">
            <a:spAutoFit/>
          </a:bodyPr>
          <a:lstStyle/>
          <a:p>
            <a:pPr>
              <a:lnSpc>
                <a:spcPct val="150000"/>
              </a:lnSpc>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sym typeface="+mn-ea"/>
              </a:rPr>
              <a:t>工作组汇总进一步设计分析各事业部权益内容及来源如下：</a:t>
            </a:r>
            <a:endPar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cxnSp>
        <p:nvCxnSpPr>
          <p:cNvPr id="10" name="直接连接符 9"/>
          <p:cNvCxnSpPr/>
          <p:nvPr/>
        </p:nvCxnSpPr>
        <p:spPr>
          <a:xfrm>
            <a:off x="6287770" y="1742643"/>
            <a:ext cx="0" cy="1143846"/>
          </a:xfrm>
          <a:prstGeom prst="line">
            <a:avLst/>
          </a:prstGeom>
          <a:ln>
            <a:solidFill>
              <a:schemeClr val="bg1">
                <a:lumMod val="6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496215" y="1781252"/>
            <a:ext cx="1569660" cy="369332"/>
          </a:xfrm>
          <a:prstGeom prst="rect">
            <a:avLst/>
          </a:prstGeom>
        </p:spPr>
        <p:txBody>
          <a:bodyPr wrap="none">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mn-ea"/>
              </a:rPr>
              <a:t>会员等级权益</a:t>
            </a:r>
            <a:endParaRPr lang="zh-CN" altLang="en-US" b="1" dirty="0">
              <a:solidFill>
                <a:schemeClr val="bg1"/>
              </a:solidFill>
            </a:endParaRPr>
          </a:p>
        </p:txBody>
      </p:sp>
      <p:sp>
        <p:nvSpPr>
          <p:cNvPr id="18" name="矩形 17"/>
          <p:cNvSpPr/>
          <p:nvPr/>
        </p:nvSpPr>
        <p:spPr>
          <a:xfrm>
            <a:off x="7973155" y="1792188"/>
            <a:ext cx="1569660" cy="369332"/>
          </a:xfrm>
          <a:prstGeom prst="rect">
            <a:avLst/>
          </a:prstGeom>
        </p:spPr>
        <p:txBody>
          <a:bodyPr wrap="none">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mn-ea"/>
              </a:rPr>
              <a:t>特殊身份权益</a:t>
            </a:r>
            <a:endParaRPr lang="zh-CN" altLang="en-US"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noProof="0" dirty="0">
                <a:ln>
                  <a:noFill/>
                </a:ln>
                <a:solidFill>
                  <a:schemeClr val="tx1"/>
                </a:solidFill>
                <a:effectLst/>
                <a:uLnTx/>
                <a:uFillTx/>
                <a:latin typeface="微软雅黑" panose="020B0503020204020204" pitchFamily="34" charset="-122"/>
                <a:ea typeface="+mj-ea"/>
                <a:cs typeface="+mj-cs"/>
                <a:sym typeface="+mn-ea"/>
              </a:rPr>
              <a:t>会员积分和权益</a:t>
            </a:r>
            <a:r>
              <a:rPr lang="zh-CN" altLang="en-US" sz="2800" b="1" noProof="0">
                <a:ln>
                  <a:noFill/>
                </a:ln>
                <a:solidFill>
                  <a:schemeClr val="tx1"/>
                </a:solidFill>
                <a:effectLst/>
                <a:uLnTx/>
                <a:uFillTx/>
                <a:latin typeface="微软雅黑" panose="020B0503020204020204" pitchFamily="34" charset="-122"/>
                <a:ea typeface="+mj-ea"/>
                <a:cs typeface="+mj-cs"/>
                <a:sym typeface="+mn-ea"/>
              </a:rPr>
              <a:t>的区别</a:t>
            </a:r>
            <a:r>
              <a:rPr lang="en-US" altLang="zh-CN" sz="2800" b="1">
                <a:solidFill>
                  <a:schemeClr val="tx1"/>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en-US" altLang="zh-CN" sz="2800" b="1" dirty="0">
              <a:solidFill>
                <a:schemeClr val="tx1"/>
              </a:solidFill>
              <a:latin typeface="微软雅黑" panose="020B0503020204020204" pitchFamily="34" charset="-122"/>
              <a:ea typeface="微软雅黑" panose="020B0503020204020204" pitchFamily="34" charset="-122"/>
              <a:cs typeface="Segoe UI Black" panose="020B0A02040204020203" pitchFamily="34" charset="0"/>
              <a:sym typeface="+mn-ea"/>
            </a:endParaRPr>
          </a:p>
        </p:txBody>
      </p:sp>
      <p:pic>
        <p:nvPicPr>
          <p:cNvPr id="4" name="图片 3" descr="已生成图像 1 (23)"/>
          <p:cNvPicPr>
            <a:picLocks noChangeAspect="1"/>
          </p:cNvPicPr>
          <p:nvPr/>
        </p:nvPicPr>
        <p:blipFill>
          <a:blip r:embed="rId1"/>
          <a:srcRect t="10698"/>
          <a:stretch>
            <a:fillRect/>
          </a:stretch>
        </p:blipFill>
        <p:spPr>
          <a:xfrm>
            <a:off x="996950" y="903605"/>
            <a:ext cx="10015220" cy="59620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a:solidFill>
                  <a:schemeClr val="tx1"/>
                </a:solidFill>
                <a:latin typeface="微软雅黑" panose="020B0503020204020204" pitchFamily="34" charset="-122"/>
                <a:ea typeface="微软雅黑" panose="020B0503020204020204" pitchFamily="34" charset="-122"/>
                <a:cs typeface="Segoe UI Black" panose="020B0A02040204020203" pitchFamily="34" charset="0"/>
                <a:sym typeface="+mn-ea"/>
              </a:rPr>
              <a:t>业务系统边界</a:t>
            </a:r>
            <a:r>
              <a:rPr lang="en-US" altLang="zh-CN" sz="2800" b="1">
                <a:solidFill>
                  <a:schemeClr val="tx1"/>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en-US" altLang="zh-CN" sz="2800" b="1" dirty="0">
              <a:solidFill>
                <a:schemeClr val="tx1"/>
              </a:solidFill>
              <a:latin typeface="微软雅黑" panose="020B0503020204020204" pitchFamily="34" charset="-122"/>
              <a:ea typeface="微软雅黑" panose="020B0503020204020204" pitchFamily="34" charset="-122"/>
              <a:cs typeface="Segoe UI Black" panose="020B0A02040204020203" pitchFamily="34" charset="0"/>
              <a:sym typeface="+mn-ea"/>
            </a:endParaRPr>
          </a:p>
        </p:txBody>
      </p:sp>
      <p:pic>
        <p:nvPicPr>
          <p:cNvPr id="3" name="图片 2" descr="已生成图像 1 (24)"/>
          <p:cNvPicPr>
            <a:picLocks noChangeAspect="1"/>
          </p:cNvPicPr>
          <p:nvPr/>
        </p:nvPicPr>
        <p:blipFill>
          <a:blip r:embed="rId1"/>
          <a:srcRect t="9645"/>
          <a:stretch>
            <a:fillRect/>
          </a:stretch>
        </p:blipFill>
        <p:spPr>
          <a:xfrm>
            <a:off x="533400" y="995680"/>
            <a:ext cx="11347450" cy="5770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一、会员积分模块推进时间线</a:t>
            </a:r>
            <a:endPar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endParaRPr>
          </a:p>
        </p:txBody>
      </p:sp>
      <p:sp>
        <p:nvSpPr>
          <p:cNvPr id="2" name="summary-band"/>
          <p:cNvSpPr>
            <a:spLocks noGrp="1"/>
          </p:cNvSpPr>
          <p:nvPr/>
        </p:nvSpPr>
        <p:spPr>
          <a:xfrm>
            <a:off x="1009650" y="1085850"/>
            <a:ext cx="10293985" cy="520065"/>
          </a:xfrm>
          <a:prstGeom prst="rect">
            <a:avLst/>
          </a:prstGeom>
          <a:solidFill>
            <a:srgbClr val="E8EEF7"/>
          </a:solidFill>
          <a:ln w="0">
            <a:noFill/>
            <a:prstDash val="solid"/>
          </a:ln>
        </p:spPr>
        <p:txBody>
          <a:bodyPr/>
          <a:lstStyle/>
          <a:p>
            <a:endParaRPr lang="en-GB"/>
          </a:p>
        </p:txBody>
      </p:sp>
      <p:sp>
        <p:nvSpPr>
          <p:cNvPr id="10" name="summary-copy"/>
          <p:cNvSpPr>
            <a:spLocks noGrp="1"/>
          </p:cNvSpPr>
          <p:nvPr/>
        </p:nvSpPr>
        <p:spPr>
          <a:xfrm>
            <a:off x="1200150" y="1162050"/>
            <a:ext cx="9925050" cy="228600"/>
          </a:xfrm>
          <a:prstGeom prst="rect">
            <a:avLst/>
          </a:prstGeom>
          <a:noFill/>
          <a:ln w="0">
            <a:noFill/>
            <a:prstDash val="solid"/>
          </a:ln>
        </p:spPr>
        <p:txBody>
          <a:bodyPr/>
          <a:lstStyle/>
          <a:p>
            <a:pPr>
              <a:defRPr sz="1425">
                <a:solidFill>
                  <a:srgbClr val="111827"/>
                </a:solidFill>
                <a:latin typeface="微软雅黑"/>
                <a:ea typeface="微软雅黑"/>
                <a:cs typeface="微软雅黑"/>
              </a:defRPr>
            </a:pPr>
            <a:r>
              <a:rPr sz="1600">
                <a:solidFill>
                  <a:srgbClr val="111827"/>
                </a:solidFill>
                <a:latin typeface="微软雅黑" charset="0"/>
                <a:ea typeface="微软雅黑" charset="0"/>
                <a:cs typeface="微软雅黑" charset="0"/>
              </a:rPr>
              <a:t>围绕“场景定、规则定、制度定”推进：7月15日形成业务规则共识，7月17日前完成领导签字闭环</a:t>
            </a:r>
            <a:endParaRPr sz="1600">
              <a:solidFill>
                <a:srgbClr val="111827"/>
              </a:solidFill>
              <a:latin typeface="微软雅黑" charset="0"/>
              <a:ea typeface="微软雅黑" charset="0"/>
              <a:cs typeface="微软雅黑" charset="0"/>
            </a:endParaRPr>
          </a:p>
        </p:txBody>
      </p:sp>
      <p:sp>
        <p:nvSpPr>
          <p:cNvPr id="11" name="timeline-line"/>
          <p:cNvSpPr>
            <a:spLocks noGrp="1"/>
          </p:cNvSpPr>
          <p:nvPr/>
        </p:nvSpPr>
        <p:spPr>
          <a:xfrm>
            <a:off x="1352550" y="2091055"/>
            <a:ext cx="9505950" cy="0"/>
          </a:xfrm>
          <a:prstGeom prst="line">
            <a:avLst/>
          </a:prstGeom>
          <a:noFill/>
          <a:ln w="22860">
            <a:solidFill>
              <a:srgbClr val="00338D"/>
            </a:solidFill>
            <a:prstDash val="solid"/>
          </a:ln>
        </p:spPr>
        <p:txBody>
          <a:bodyPr/>
          <a:lstStyle/>
          <a:p>
            <a:endParaRPr lang="en-GB"/>
          </a:p>
        </p:txBody>
      </p:sp>
      <p:sp>
        <p:nvSpPr>
          <p:cNvPr id="12" name="step-dot-1"/>
          <p:cNvSpPr>
            <a:spLocks noGrp="1"/>
          </p:cNvSpPr>
          <p:nvPr/>
        </p:nvSpPr>
        <p:spPr>
          <a:xfrm>
            <a:off x="1866900" y="1900555"/>
            <a:ext cx="381000" cy="381000"/>
          </a:xfrm>
          <a:prstGeom prst="ellipse">
            <a:avLst/>
          </a:prstGeom>
          <a:solidFill>
            <a:srgbClr val="00338D"/>
          </a:solidFill>
          <a:ln w="19050">
            <a:solidFill>
              <a:srgbClr val="FFFFFF"/>
            </a:solidFill>
            <a:prstDash val="solid"/>
          </a:ln>
        </p:spPr>
        <p:txBody>
          <a:bodyPr/>
          <a:lstStyle/>
          <a:p>
            <a:endParaRPr lang="en-GB"/>
          </a:p>
        </p:txBody>
      </p:sp>
      <p:sp>
        <p:nvSpPr>
          <p:cNvPr id="13" name="step-number-1"/>
          <p:cNvSpPr>
            <a:spLocks noGrp="1"/>
          </p:cNvSpPr>
          <p:nvPr/>
        </p:nvSpPr>
        <p:spPr>
          <a:xfrm>
            <a:off x="1866900" y="1940560"/>
            <a:ext cx="381000" cy="228600"/>
          </a:xfrm>
          <a:prstGeom prst="rect">
            <a:avLst/>
          </a:prstGeom>
          <a:noFill/>
          <a:ln w="0">
            <a:noFill/>
            <a:prstDash val="solid"/>
          </a:ln>
        </p:spPr>
        <p:txBody>
          <a:bodyPr/>
          <a:lstStyle/>
          <a:p>
            <a:pPr algn="ctr">
              <a:defRPr sz="1350" b="1">
                <a:solidFill>
                  <a:srgbClr val="FFFFFF"/>
                </a:solidFill>
                <a:latin typeface="Arial" panose="020B0604020202090204"/>
                <a:ea typeface="Arial" panose="020B0604020202090204"/>
                <a:cs typeface="Arial" panose="020B0604020202090204"/>
              </a:defRPr>
            </a:pPr>
            <a:r>
              <a:rPr sz="1400" b="1">
                <a:solidFill>
                  <a:srgbClr val="FFFFFF"/>
                </a:solidFill>
                <a:latin typeface="微软雅黑" charset="0"/>
                <a:ea typeface="微软雅黑" charset="0"/>
                <a:cs typeface="Arial" panose="020B0604020202090204"/>
              </a:rPr>
              <a:t>1</a:t>
            </a:r>
            <a:endParaRPr sz="1400" b="1">
              <a:solidFill>
                <a:srgbClr val="FFFFFF"/>
              </a:solidFill>
              <a:latin typeface="微软雅黑" charset="0"/>
              <a:ea typeface="微软雅黑" charset="0"/>
              <a:cs typeface="Arial" panose="020B0604020202090204"/>
            </a:endParaRPr>
          </a:p>
        </p:txBody>
      </p:sp>
      <p:sp>
        <p:nvSpPr>
          <p:cNvPr id="14" name="milestone-card-1"/>
          <p:cNvSpPr>
            <a:spLocks noGrp="1"/>
          </p:cNvSpPr>
          <p:nvPr/>
        </p:nvSpPr>
        <p:spPr>
          <a:xfrm>
            <a:off x="1162050" y="2510155"/>
            <a:ext cx="1676400" cy="2202815"/>
          </a:xfrm>
          <a:prstGeom prst="roundRect">
            <a:avLst>
              <a:gd name="adj" fmla="val 4545"/>
            </a:avLst>
          </a:prstGeom>
          <a:solidFill>
            <a:srgbClr val="EAF2FF"/>
          </a:solidFill>
          <a:ln w="9525">
            <a:solidFill>
              <a:srgbClr val="A9C4EA"/>
            </a:solidFill>
            <a:prstDash val="solid"/>
          </a:ln>
        </p:spPr>
        <p:style>
          <a:lnRef idx="0">
            <a:srgbClr val="FFFFFF"/>
          </a:lnRef>
          <a:fillRef idx="0">
            <a:srgbClr val="FFFFFF"/>
          </a:fillRef>
          <a:effectRef idx="4">
            <a:srgbClr val="FFFFFF"/>
          </a:effectRef>
          <a:fontRef idx="major"/>
        </p:style>
        <p:txBody>
          <a:bodyPr/>
          <a:lstStyle/>
          <a:p>
            <a:endParaRPr lang="en-GB"/>
          </a:p>
        </p:txBody>
      </p:sp>
      <p:sp>
        <p:nvSpPr>
          <p:cNvPr id="15" name="milestone-date-1"/>
          <p:cNvSpPr>
            <a:spLocks noGrp="1"/>
          </p:cNvSpPr>
          <p:nvPr/>
        </p:nvSpPr>
        <p:spPr>
          <a:xfrm>
            <a:off x="1295400" y="2643505"/>
            <a:ext cx="1409700" cy="228600"/>
          </a:xfrm>
          <a:prstGeom prst="rect">
            <a:avLst/>
          </a:prstGeom>
          <a:noFill/>
          <a:ln w="0">
            <a:noFill/>
            <a:prstDash val="solid"/>
          </a:ln>
        </p:spPr>
        <p:txBody>
          <a:bodyPr/>
          <a:lstStyle/>
          <a:p>
            <a:pPr>
              <a:defRPr sz="1200" b="1">
                <a:solidFill>
                  <a:srgbClr val="005EB8"/>
                </a:solidFill>
                <a:latin typeface="微软雅黑"/>
                <a:ea typeface="微软雅黑"/>
                <a:cs typeface="微软雅黑"/>
              </a:defRPr>
            </a:pPr>
            <a:r>
              <a:rPr sz="1200" b="1">
                <a:solidFill>
                  <a:srgbClr val="005EB8"/>
                </a:solidFill>
                <a:latin typeface="微软雅黑" charset="0"/>
                <a:ea typeface="微软雅黑" charset="0"/>
                <a:cs typeface="微软雅黑" charset="0"/>
              </a:rPr>
              <a:t>6月</a:t>
            </a:r>
            <a:r>
              <a:rPr lang="en-US" sz="1200" b="1">
                <a:solidFill>
                  <a:srgbClr val="005EB8"/>
                </a:solidFill>
                <a:latin typeface="微软雅黑" charset="0"/>
                <a:ea typeface="微软雅黑" charset="0"/>
                <a:cs typeface="微软雅黑" charset="0"/>
              </a:rPr>
              <a:t>3</a:t>
            </a:r>
            <a:r>
              <a:rPr sz="1200" b="1">
                <a:solidFill>
                  <a:srgbClr val="005EB8"/>
                </a:solidFill>
                <a:latin typeface="微软雅黑" charset="0"/>
                <a:ea typeface="微软雅黑" charset="0"/>
                <a:cs typeface="微软雅黑" charset="0"/>
              </a:rPr>
              <a:t>日</a:t>
            </a:r>
            <a:endParaRPr sz="1200" b="1">
              <a:solidFill>
                <a:srgbClr val="005EB8"/>
              </a:solidFill>
              <a:latin typeface="微软雅黑" charset="0"/>
              <a:ea typeface="微软雅黑" charset="0"/>
              <a:cs typeface="微软雅黑" charset="0"/>
            </a:endParaRPr>
          </a:p>
        </p:txBody>
      </p:sp>
      <p:sp>
        <p:nvSpPr>
          <p:cNvPr id="16" name="milestone-title-1"/>
          <p:cNvSpPr>
            <a:spLocks noGrp="1"/>
          </p:cNvSpPr>
          <p:nvPr/>
        </p:nvSpPr>
        <p:spPr>
          <a:xfrm>
            <a:off x="1295400" y="2919730"/>
            <a:ext cx="1409700" cy="285750"/>
          </a:xfrm>
          <a:prstGeom prst="rect">
            <a:avLst/>
          </a:prstGeom>
          <a:noFill/>
          <a:ln w="0">
            <a:noFill/>
            <a:prstDash val="solid"/>
          </a:ln>
        </p:spPr>
        <p:txBody>
          <a:bodyPr/>
          <a:lstStyle/>
          <a:p>
            <a:pPr>
              <a:defRPr sz="1575" b="1">
                <a:solidFill>
                  <a:srgbClr val="00338D"/>
                </a:solidFill>
                <a:latin typeface="微软雅黑"/>
                <a:ea typeface="微软雅黑"/>
                <a:cs typeface="微软雅黑"/>
              </a:defRPr>
            </a:pPr>
            <a:r>
              <a:rPr lang="zh-CN" sz="1600" b="1">
                <a:solidFill>
                  <a:srgbClr val="00338D"/>
                </a:solidFill>
                <a:latin typeface="微软雅黑" charset="0"/>
                <a:ea typeface="微软雅黑" charset="0"/>
                <a:cs typeface="微软雅黑"/>
              </a:rPr>
              <a:t>需求清单沟通</a:t>
            </a:r>
            <a:endParaRPr lang="zh-CN" sz="1600" b="1">
              <a:solidFill>
                <a:srgbClr val="00338D"/>
              </a:solidFill>
              <a:latin typeface="微软雅黑" charset="0"/>
              <a:ea typeface="微软雅黑" charset="0"/>
              <a:cs typeface="微软雅黑"/>
            </a:endParaRPr>
          </a:p>
        </p:txBody>
      </p:sp>
      <p:sp>
        <p:nvSpPr>
          <p:cNvPr id="17" name="milestone-focus-1"/>
          <p:cNvSpPr>
            <a:spLocks noGrp="1"/>
          </p:cNvSpPr>
          <p:nvPr/>
        </p:nvSpPr>
        <p:spPr>
          <a:xfrm>
            <a:off x="1295400" y="3291205"/>
            <a:ext cx="1409700" cy="520065"/>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sz="1400">
                <a:solidFill>
                  <a:srgbClr val="111827"/>
                </a:solidFill>
                <a:latin typeface="微软雅黑" charset="0"/>
                <a:ea typeface="微软雅黑" charset="0"/>
                <a:cs typeface="微软雅黑"/>
              </a:rPr>
              <a:t>明确模块范围、目标与基础功能清单</a:t>
            </a:r>
            <a:endParaRPr sz="1400">
              <a:solidFill>
                <a:srgbClr val="111827"/>
              </a:solidFill>
              <a:latin typeface="微软雅黑" charset="0"/>
              <a:ea typeface="微软雅黑" charset="0"/>
              <a:cs typeface="微软雅黑"/>
            </a:endParaRPr>
          </a:p>
        </p:txBody>
      </p:sp>
      <p:sp>
        <p:nvSpPr>
          <p:cNvPr id="18" name="milestone-rule-1"/>
          <p:cNvSpPr>
            <a:spLocks noGrp="1"/>
          </p:cNvSpPr>
          <p:nvPr/>
        </p:nvSpPr>
        <p:spPr>
          <a:xfrm>
            <a:off x="1295400" y="4017645"/>
            <a:ext cx="1409700" cy="0"/>
          </a:xfrm>
          <a:prstGeom prst="line">
            <a:avLst/>
          </a:prstGeom>
          <a:noFill/>
          <a:ln w="9525">
            <a:solidFill>
              <a:srgbClr val="BFD5F3"/>
            </a:solidFill>
            <a:prstDash val="solid"/>
          </a:ln>
        </p:spPr>
        <p:txBody>
          <a:bodyPr/>
          <a:lstStyle/>
          <a:p>
            <a:endParaRPr lang="en-GB"/>
          </a:p>
        </p:txBody>
      </p:sp>
      <p:sp>
        <p:nvSpPr>
          <p:cNvPr id="19" name="milestone-output-1"/>
          <p:cNvSpPr>
            <a:spLocks noGrp="1"/>
          </p:cNvSpPr>
          <p:nvPr/>
        </p:nvSpPr>
        <p:spPr>
          <a:xfrm>
            <a:off x="1295400" y="4112895"/>
            <a:ext cx="1409700" cy="361950"/>
          </a:xfrm>
          <a:prstGeom prst="rect">
            <a:avLst/>
          </a:prstGeom>
          <a:noFill/>
          <a:ln w="0">
            <a:noFill/>
            <a:prstDash val="solid"/>
          </a:ln>
        </p:spPr>
        <p:txBody>
          <a:bodyPr/>
          <a:lstStyle/>
          <a:p>
            <a:pPr>
              <a:defRPr sz="940">
                <a:solidFill>
                  <a:srgbClr val="334155"/>
                </a:solidFill>
                <a:latin typeface="微软雅黑"/>
                <a:ea typeface="微软雅黑"/>
                <a:cs typeface="微软雅黑"/>
              </a:defRPr>
            </a:pPr>
            <a:r>
              <a:rPr sz="1200">
                <a:solidFill>
                  <a:srgbClr val="334155"/>
                </a:solidFill>
                <a:latin typeface="微软雅黑" charset="0"/>
                <a:ea typeface="微软雅黑" charset="0"/>
                <a:cs typeface="微软雅黑"/>
              </a:rPr>
              <a:t>积分与权益边界、业务范围初稿</a:t>
            </a:r>
            <a:endParaRPr sz="1200">
              <a:solidFill>
                <a:srgbClr val="334155"/>
              </a:solidFill>
              <a:latin typeface="微软雅黑" charset="0"/>
              <a:ea typeface="微软雅黑" charset="0"/>
              <a:cs typeface="微软雅黑"/>
            </a:endParaRPr>
          </a:p>
        </p:txBody>
      </p:sp>
      <p:sp>
        <p:nvSpPr>
          <p:cNvPr id="20" name="step-dot-2"/>
          <p:cNvSpPr>
            <a:spLocks noGrp="1"/>
          </p:cNvSpPr>
          <p:nvPr/>
        </p:nvSpPr>
        <p:spPr>
          <a:xfrm>
            <a:off x="3924300" y="1900555"/>
            <a:ext cx="381000" cy="381000"/>
          </a:xfrm>
          <a:prstGeom prst="ellipse">
            <a:avLst/>
          </a:prstGeom>
          <a:solidFill>
            <a:srgbClr val="005EB8"/>
          </a:solidFill>
          <a:ln w="19050">
            <a:solidFill>
              <a:srgbClr val="FFFFFF"/>
            </a:solidFill>
            <a:prstDash val="solid"/>
          </a:ln>
        </p:spPr>
        <p:txBody>
          <a:bodyPr/>
          <a:lstStyle/>
          <a:p>
            <a:endParaRPr lang="en-GB"/>
          </a:p>
        </p:txBody>
      </p:sp>
      <p:sp>
        <p:nvSpPr>
          <p:cNvPr id="21" name="step-number-2"/>
          <p:cNvSpPr>
            <a:spLocks noGrp="1"/>
          </p:cNvSpPr>
          <p:nvPr/>
        </p:nvSpPr>
        <p:spPr>
          <a:xfrm>
            <a:off x="3924300" y="1940560"/>
            <a:ext cx="381000" cy="228600"/>
          </a:xfrm>
          <a:prstGeom prst="rect">
            <a:avLst/>
          </a:prstGeom>
          <a:noFill/>
          <a:ln w="0">
            <a:noFill/>
            <a:prstDash val="solid"/>
          </a:ln>
        </p:spPr>
        <p:txBody>
          <a:bodyPr/>
          <a:lstStyle/>
          <a:p>
            <a:pPr algn="ctr">
              <a:defRPr sz="1350" b="1">
                <a:solidFill>
                  <a:srgbClr val="FFFFFF"/>
                </a:solidFill>
                <a:latin typeface="Arial" panose="020B0604020202090204"/>
                <a:ea typeface="Arial" panose="020B0604020202090204"/>
                <a:cs typeface="Arial" panose="020B0604020202090204"/>
              </a:defRPr>
            </a:pPr>
            <a:r>
              <a:rPr sz="1400" b="1">
                <a:solidFill>
                  <a:srgbClr val="FFFFFF"/>
                </a:solidFill>
                <a:latin typeface="微软雅黑" charset="0"/>
                <a:ea typeface="微软雅黑" charset="0"/>
                <a:cs typeface="Arial" panose="020B0604020202090204"/>
              </a:rPr>
              <a:t>2</a:t>
            </a:r>
            <a:endParaRPr sz="1400" b="1">
              <a:solidFill>
                <a:srgbClr val="FFFFFF"/>
              </a:solidFill>
              <a:latin typeface="微软雅黑" charset="0"/>
              <a:ea typeface="微软雅黑" charset="0"/>
              <a:cs typeface="Arial" panose="020B0604020202090204"/>
            </a:endParaRPr>
          </a:p>
        </p:txBody>
      </p:sp>
      <p:sp>
        <p:nvSpPr>
          <p:cNvPr id="22" name="milestone-card-2"/>
          <p:cNvSpPr>
            <a:spLocks noGrp="1"/>
          </p:cNvSpPr>
          <p:nvPr/>
        </p:nvSpPr>
        <p:spPr>
          <a:xfrm>
            <a:off x="3219450" y="2510155"/>
            <a:ext cx="1676400" cy="2202815"/>
          </a:xfrm>
          <a:prstGeom prst="roundRect">
            <a:avLst>
              <a:gd name="adj" fmla="val 4545"/>
            </a:avLst>
          </a:prstGeom>
          <a:solidFill>
            <a:srgbClr val="EAF2FF"/>
          </a:solidFill>
          <a:ln w="9525">
            <a:solidFill>
              <a:srgbClr val="A9C4EA"/>
            </a:solidFill>
            <a:prstDash val="solid"/>
          </a:ln>
        </p:spPr>
        <p:style>
          <a:lnRef idx="0">
            <a:srgbClr val="FFFFFF"/>
          </a:lnRef>
          <a:fillRef idx="0">
            <a:srgbClr val="FFFFFF"/>
          </a:fillRef>
          <a:effectRef idx="4">
            <a:srgbClr val="FFFFFF"/>
          </a:effectRef>
          <a:fontRef idx="major"/>
        </p:style>
        <p:txBody>
          <a:bodyPr/>
          <a:lstStyle/>
          <a:p>
            <a:endParaRPr lang="en-GB"/>
          </a:p>
        </p:txBody>
      </p:sp>
      <p:sp>
        <p:nvSpPr>
          <p:cNvPr id="23" name="milestone-date-2"/>
          <p:cNvSpPr>
            <a:spLocks noGrp="1"/>
          </p:cNvSpPr>
          <p:nvPr/>
        </p:nvSpPr>
        <p:spPr>
          <a:xfrm>
            <a:off x="3352800" y="2643505"/>
            <a:ext cx="1409700" cy="228600"/>
          </a:xfrm>
          <a:prstGeom prst="rect">
            <a:avLst/>
          </a:prstGeom>
          <a:noFill/>
          <a:ln w="0">
            <a:noFill/>
            <a:prstDash val="solid"/>
          </a:ln>
        </p:spPr>
        <p:txBody>
          <a:bodyPr/>
          <a:lstStyle/>
          <a:p>
            <a:pPr>
              <a:defRPr sz="1200" b="1">
                <a:solidFill>
                  <a:srgbClr val="005EB8"/>
                </a:solidFill>
                <a:latin typeface="微软雅黑"/>
                <a:ea typeface="微软雅黑"/>
                <a:cs typeface="微软雅黑"/>
              </a:defRPr>
            </a:pPr>
            <a:r>
              <a:rPr lang="en-US" sz="1200" b="1">
                <a:solidFill>
                  <a:srgbClr val="005EB8"/>
                </a:solidFill>
                <a:latin typeface="微软雅黑" charset="0"/>
                <a:ea typeface="微软雅黑" charset="0"/>
                <a:cs typeface="微软雅黑" charset="0"/>
              </a:rPr>
              <a:t>6</a:t>
            </a:r>
            <a:r>
              <a:rPr sz="1200" b="1">
                <a:solidFill>
                  <a:srgbClr val="005EB8"/>
                </a:solidFill>
                <a:latin typeface="微软雅黑" charset="0"/>
                <a:ea typeface="微软雅黑" charset="0"/>
                <a:cs typeface="微软雅黑" charset="0"/>
              </a:rPr>
              <a:t>月</a:t>
            </a:r>
            <a:r>
              <a:rPr lang="en-US" sz="1200" b="1">
                <a:solidFill>
                  <a:srgbClr val="005EB8"/>
                </a:solidFill>
                <a:latin typeface="微软雅黑" charset="0"/>
                <a:ea typeface="微软雅黑" charset="0"/>
                <a:cs typeface="微软雅黑" charset="0"/>
              </a:rPr>
              <a:t>17</a:t>
            </a:r>
            <a:r>
              <a:rPr sz="1200" b="1">
                <a:solidFill>
                  <a:srgbClr val="005EB8"/>
                </a:solidFill>
                <a:latin typeface="微软雅黑" charset="0"/>
                <a:ea typeface="微软雅黑" charset="0"/>
                <a:cs typeface="微软雅黑" charset="0"/>
              </a:rPr>
              <a:t>日</a:t>
            </a:r>
            <a:endParaRPr sz="1200" b="1">
              <a:solidFill>
                <a:srgbClr val="005EB8"/>
              </a:solidFill>
              <a:latin typeface="微软雅黑" charset="0"/>
              <a:ea typeface="微软雅黑" charset="0"/>
              <a:cs typeface="微软雅黑" charset="0"/>
            </a:endParaRPr>
          </a:p>
        </p:txBody>
      </p:sp>
      <p:sp>
        <p:nvSpPr>
          <p:cNvPr id="24" name="milestone-title-2"/>
          <p:cNvSpPr>
            <a:spLocks noGrp="1"/>
          </p:cNvSpPr>
          <p:nvPr/>
        </p:nvSpPr>
        <p:spPr>
          <a:xfrm>
            <a:off x="3352800" y="2919730"/>
            <a:ext cx="1409700" cy="285750"/>
          </a:xfrm>
          <a:prstGeom prst="rect">
            <a:avLst/>
          </a:prstGeom>
          <a:noFill/>
          <a:ln w="0">
            <a:noFill/>
            <a:prstDash val="solid"/>
          </a:ln>
        </p:spPr>
        <p:txBody>
          <a:bodyPr/>
          <a:lstStyle/>
          <a:p>
            <a:pPr>
              <a:defRPr sz="1575" b="1">
                <a:solidFill>
                  <a:srgbClr val="00338D"/>
                </a:solidFill>
                <a:latin typeface="微软雅黑"/>
                <a:ea typeface="微软雅黑"/>
                <a:cs typeface="微软雅黑"/>
              </a:defRPr>
            </a:pPr>
            <a:r>
              <a:rPr lang="zh-CN" sz="1600" b="1">
                <a:solidFill>
                  <a:srgbClr val="00338D"/>
                </a:solidFill>
                <a:latin typeface="微软雅黑" charset="0"/>
                <a:ea typeface="微软雅黑" charset="0"/>
                <a:cs typeface="微软雅黑"/>
              </a:rPr>
              <a:t>功能清单确认</a:t>
            </a:r>
            <a:endParaRPr lang="zh-CN" sz="1600" b="1">
              <a:solidFill>
                <a:srgbClr val="00338D"/>
              </a:solidFill>
              <a:latin typeface="微软雅黑" charset="0"/>
              <a:ea typeface="微软雅黑" charset="0"/>
              <a:cs typeface="微软雅黑"/>
            </a:endParaRPr>
          </a:p>
        </p:txBody>
      </p:sp>
      <p:sp>
        <p:nvSpPr>
          <p:cNvPr id="25" name="milestone-focus-2"/>
          <p:cNvSpPr>
            <a:spLocks noGrp="1"/>
          </p:cNvSpPr>
          <p:nvPr/>
        </p:nvSpPr>
        <p:spPr>
          <a:xfrm>
            <a:off x="3352800" y="3291205"/>
            <a:ext cx="1409700" cy="438150"/>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lang="zh-CN" sz="1400">
                <a:solidFill>
                  <a:srgbClr val="111827"/>
                </a:solidFill>
                <a:latin typeface="微软雅黑" charset="0"/>
                <a:ea typeface="微软雅黑" charset="0"/>
                <a:cs typeface="微软雅黑"/>
              </a:rPr>
              <a:t>功能清单发送邮件</a:t>
            </a:r>
            <a:r>
              <a:rPr lang="en-US" altLang="zh-CN" sz="1400">
                <a:solidFill>
                  <a:srgbClr val="111827"/>
                </a:solidFill>
                <a:latin typeface="微软雅黑" charset="0"/>
                <a:ea typeface="微软雅黑" charset="0"/>
                <a:cs typeface="微软雅黑"/>
              </a:rPr>
              <a:t>，</a:t>
            </a:r>
            <a:r>
              <a:rPr lang="zh-CN" altLang="en-US" sz="1400">
                <a:solidFill>
                  <a:srgbClr val="111827"/>
                </a:solidFill>
                <a:latin typeface="微软雅黑" charset="0"/>
                <a:ea typeface="微软雅黑" charset="0"/>
                <a:cs typeface="微软雅黑"/>
              </a:rPr>
              <a:t>业务部门复核和确认</a:t>
            </a:r>
            <a:endParaRPr lang="zh-CN" altLang="en-US" sz="1400">
              <a:solidFill>
                <a:srgbClr val="111827"/>
              </a:solidFill>
              <a:latin typeface="微软雅黑" charset="0"/>
              <a:ea typeface="微软雅黑" charset="0"/>
              <a:cs typeface="微软雅黑"/>
            </a:endParaRPr>
          </a:p>
        </p:txBody>
      </p:sp>
      <p:sp>
        <p:nvSpPr>
          <p:cNvPr id="26" name="milestone-rule-2"/>
          <p:cNvSpPr>
            <a:spLocks noGrp="1"/>
          </p:cNvSpPr>
          <p:nvPr/>
        </p:nvSpPr>
        <p:spPr>
          <a:xfrm>
            <a:off x="3352800" y="4017645"/>
            <a:ext cx="1409700" cy="0"/>
          </a:xfrm>
          <a:prstGeom prst="line">
            <a:avLst/>
          </a:prstGeom>
          <a:noFill/>
          <a:ln w="9525">
            <a:solidFill>
              <a:srgbClr val="BFD5F3"/>
            </a:solidFill>
            <a:prstDash val="solid"/>
          </a:ln>
        </p:spPr>
        <p:txBody>
          <a:bodyPr/>
          <a:lstStyle/>
          <a:p>
            <a:endParaRPr lang="en-GB"/>
          </a:p>
        </p:txBody>
      </p:sp>
      <p:sp>
        <p:nvSpPr>
          <p:cNvPr id="27" name="milestone-output-2"/>
          <p:cNvSpPr>
            <a:spLocks noGrp="1"/>
          </p:cNvSpPr>
          <p:nvPr/>
        </p:nvSpPr>
        <p:spPr>
          <a:xfrm>
            <a:off x="3352800" y="4112895"/>
            <a:ext cx="1409700" cy="361950"/>
          </a:xfrm>
          <a:prstGeom prst="rect">
            <a:avLst/>
          </a:prstGeom>
          <a:noFill/>
          <a:ln w="0">
            <a:noFill/>
            <a:prstDash val="solid"/>
          </a:ln>
        </p:spPr>
        <p:txBody>
          <a:bodyPr/>
          <a:lstStyle/>
          <a:p>
            <a:pPr>
              <a:defRPr sz="940">
                <a:solidFill>
                  <a:srgbClr val="334155"/>
                </a:solidFill>
                <a:latin typeface="微软雅黑"/>
                <a:ea typeface="微软雅黑"/>
                <a:cs typeface="微软雅黑"/>
              </a:defRPr>
            </a:pPr>
            <a:r>
              <a:rPr sz="1200">
                <a:latin typeface="微软雅黑" charset="0"/>
                <a:ea typeface="微软雅黑" charset="0"/>
                <a:sym typeface="+mn-ea"/>
              </a:rPr>
              <a:t>积分与权益边界、业务范围初稿</a:t>
            </a:r>
            <a:endParaRPr sz="1200">
              <a:solidFill>
                <a:srgbClr val="334155"/>
              </a:solidFill>
              <a:latin typeface="微软雅黑" charset="0"/>
              <a:ea typeface="微软雅黑" charset="0"/>
              <a:cs typeface="微软雅黑"/>
            </a:endParaRPr>
          </a:p>
        </p:txBody>
      </p:sp>
      <p:sp>
        <p:nvSpPr>
          <p:cNvPr id="28" name="step-dot-3"/>
          <p:cNvSpPr>
            <a:spLocks noGrp="1"/>
          </p:cNvSpPr>
          <p:nvPr/>
        </p:nvSpPr>
        <p:spPr>
          <a:xfrm>
            <a:off x="5981700" y="1900555"/>
            <a:ext cx="381000" cy="381000"/>
          </a:xfrm>
          <a:prstGeom prst="ellipse">
            <a:avLst/>
          </a:prstGeom>
          <a:solidFill>
            <a:srgbClr val="00A3E0"/>
          </a:solidFill>
          <a:ln w="19050">
            <a:solidFill>
              <a:srgbClr val="FFFFFF"/>
            </a:solidFill>
            <a:prstDash val="solid"/>
          </a:ln>
        </p:spPr>
        <p:txBody>
          <a:bodyPr/>
          <a:lstStyle/>
          <a:p>
            <a:endParaRPr lang="en-GB"/>
          </a:p>
        </p:txBody>
      </p:sp>
      <p:sp>
        <p:nvSpPr>
          <p:cNvPr id="29" name="step-number-3"/>
          <p:cNvSpPr>
            <a:spLocks noGrp="1"/>
          </p:cNvSpPr>
          <p:nvPr/>
        </p:nvSpPr>
        <p:spPr>
          <a:xfrm>
            <a:off x="5981700" y="1940560"/>
            <a:ext cx="381000" cy="228600"/>
          </a:xfrm>
          <a:prstGeom prst="rect">
            <a:avLst/>
          </a:prstGeom>
          <a:noFill/>
          <a:ln w="0">
            <a:noFill/>
            <a:prstDash val="solid"/>
          </a:ln>
        </p:spPr>
        <p:txBody>
          <a:bodyPr/>
          <a:lstStyle/>
          <a:p>
            <a:pPr algn="ctr">
              <a:defRPr sz="1350" b="1">
                <a:solidFill>
                  <a:srgbClr val="FFFFFF"/>
                </a:solidFill>
                <a:latin typeface="Arial" panose="020B0604020202090204"/>
                <a:ea typeface="Arial" panose="020B0604020202090204"/>
                <a:cs typeface="Arial" panose="020B0604020202090204"/>
              </a:defRPr>
            </a:pPr>
            <a:r>
              <a:rPr sz="1400" b="1">
                <a:solidFill>
                  <a:srgbClr val="FFFFFF"/>
                </a:solidFill>
                <a:latin typeface="微软雅黑" charset="0"/>
                <a:ea typeface="微软雅黑" charset="0"/>
                <a:cs typeface="Arial" panose="020B0604020202090204"/>
              </a:rPr>
              <a:t>3</a:t>
            </a:r>
            <a:endParaRPr sz="1400" b="1">
              <a:solidFill>
                <a:srgbClr val="FFFFFF"/>
              </a:solidFill>
              <a:latin typeface="微软雅黑" charset="0"/>
              <a:ea typeface="微软雅黑" charset="0"/>
              <a:cs typeface="Arial" panose="020B0604020202090204"/>
            </a:endParaRPr>
          </a:p>
        </p:txBody>
      </p:sp>
      <p:sp>
        <p:nvSpPr>
          <p:cNvPr id="30" name="milestone-card-3"/>
          <p:cNvSpPr>
            <a:spLocks noGrp="1"/>
          </p:cNvSpPr>
          <p:nvPr/>
        </p:nvSpPr>
        <p:spPr>
          <a:xfrm>
            <a:off x="5276850" y="2510155"/>
            <a:ext cx="1676400" cy="2202815"/>
          </a:xfrm>
          <a:prstGeom prst="roundRect">
            <a:avLst>
              <a:gd name="adj" fmla="val 4545"/>
            </a:avLst>
          </a:prstGeom>
          <a:solidFill>
            <a:srgbClr val="EAF2FF"/>
          </a:solidFill>
          <a:ln w="9525">
            <a:solidFill>
              <a:srgbClr val="A9C4EA"/>
            </a:solidFill>
            <a:prstDash val="solid"/>
          </a:ln>
        </p:spPr>
        <p:style>
          <a:lnRef idx="0">
            <a:srgbClr val="FFFFFF"/>
          </a:lnRef>
          <a:fillRef idx="0">
            <a:srgbClr val="FFFFFF"/>
          </a:fillRef>
          <a:effectRef idx="4">
            <a:srgbClr val="FFFFFF"/>
          </a:effectRef>
          <a:fontRef idx="major"/>
        </p:style>
        <p:txBody>
          <a:bodyPr/>
          <a:lstStyle/>
          <a:p>
            <a:endParaRPr lang="en-GB"/>
          </a:p>
        </p:txBody>
      </p:sp>
      <p:sp>
        <p:nvSpPr>
          <p:cNvPr id="34" name="milestone-rule-3"/>
          <p:cNvSpPr>
            <a:spLocks noGrp="1"/>
          </p:cNvSpPr>
          <p:nvPr/>
        </p:nvSpPr>
        <p:spPr>
          <a:xfrm>
            <a:off x="5410200" y="4017645"/>
            <a:ext cx="1409700" cy="0"/>
          </a:xfrm>
          <a:prstGeom prst="line">
            <a:avLst/>
          </a:prstGeom>
          <a:noFill/>
          <a:ln w="9525">
            <a:solidFill>
              <a:srgbClr val="BFD5F3"/>
            </a:solidFill>
            <a:prstDash val="solid"/>
          </a:ln>
        </p:spPr>
        <p:txBody>
          <a:bodyPr/>
          <a:lstStyle/>
          <a:p>
            <a:endParaRPr lang="en-GB"/>
          </a:p>
        </p:txBody>
      </p:sp>
      <p:sp>
        <p:nvSpPr>
          <p:cNvPr id="36" name="step-dot-4"/>
          <p:cNvSpPr>
            <a:spLocks noGrp="1"/>
          </p:cNvSpPr>
          <p:nvPr/>
        </p:nvSpPr>
        <p:spPr>
          <a:xfrm>
            <a:off x="8039100" y="1900555"/>
            <a:ext cx="381000" cy="381000"/>
          </a:xfrm>
          <a:prstGeom prst="ellipse">
            <a:avLst/>
          </a:prstGeom>
          <a:solidFill>
            <a:srgbClr val="00338D"/>
          </a:solidFill>
          <a:ln w="19050">
            <a:solidFill>
              <a:srgbClr val="FFFFFF"/>
            </a:solidFill>
            <a:prstDash val="solid"/>
          </a:ln>
        </p:spPr>
        <p:txBody>
          <a:bodyPr/>
          <a:lstStyle/>
          <a:p>
            <a:endParaRPr lang="en-GB"/>
          </a:p>
        </p:txBody>
      </p:sp>
      <p:sp>
        <p:nvSpPr>
          <p:cNvPr id="37" name="step-number-4"/>
          <p:cNvSpPr>
            <a:spLocks noGrp="1"/>
          </p:cNvSpPr>
          <p:nvPr/>
        </p:nvSpPr>
        <p:spPr>
          <a:xfrm>
            <a:off x="8039100" y="1940560"/>
            <a:ext cx="381000" cy="228600"/>
          </a:xfrm>
          <a:prstGeom prst="rect">
            <a:avLst/>
          </a:prstGeom>
          <a:noFill/>
          <a:ln w="0">
            <a:noFill/>
            <a:prstDash val="solid"/>
          </a:ln>
        </p:spPr>
        <p:txBody>
          <a:bodyPr/>
          <a:lstStyle/>
          <a:p>
            <a:pPr algn="ctr">
              <a:defRPr sz="1350" b="1">
                <a:solidFill>
                  <a:srgbClr val="FFFFFF"/>
                </a:solidFill>
                <a:latin typeface="Arial" panose="020B0604020202090204"/>
                <a:ea typeface="Arial" panose="020B0604020202090204"/>
                <a:cs typeface="Arial" panose="020B0604020202090204"/>
              </a:defRPr>
            </a:pPr>
            <a:r>
              <a:rPr sz="1400" b="1">
                <a:solidFill>
                  <a:srgbClr val="FFFFFF"/>
                </a:solidFill>
                <a:latin typeface="微软雅黑" charset="0"/>
                <a:ea typeface="微软雅黑" charset="0"/>
                <a:cs typeface="Arial" panose="020B0604020202090204"/>
              </a:rPr>
              <a:t>4</a:t>
            </a:r>
            <a:endParaRPr sz="1400" b="1">
              <a:solidFill>
                <a:srgbClr val="FFFFFF"/>
              </a:solidFill>
              <a:latin typeface="微软雅黑" charset="0"/>
              <a:ea typeface="微软雅黑" charset="0"/>
              <a:cs typeface="Arial" panose="020B0604020202090204"/>
            </a:endParaRPr>
          </a:p>
        </p:txBody>
      </p:sp>
      <p:sp>
        <p:nvSpPr>
          <p:cNvPr id="38" name="milestone-card-4"/>
          <p:cNvSpPr>
            <a:spLocks noGrp="1"/>
          </p:cNvSpPr>
          <p:nvPr/>
        </p:nvSpPr>
        <p:spPr>
          <a:xfrm>
            <a:off x="7334250" y="2510155"/>
            <a:ext cx="1676400" cy="2202815"/>
          </a:xfrm>
          <a:prstGeom prst="roundRect">
            <a:avLst>
              <a:gd name="adj" fmla="val 4545"/>
            </a:avLst>
          </a:prstGeom>
          <a:solidFill>
            <a:srgbClr val="EAF2FF"/>
          </a:solidFill>
          <a:ln w="9525">
            <a:solidFill>
              <a:srgbClr val="A9C4EA"/>
            </a:solidFill>
            <a:prstDash val="solid"/>
          </a:ln>
        </p:spPr>
        <p:style>
          <a:lnRef idx="0">
            <a:srgbClr val="FFFFFF"/>
          </a:lnRef>
          <a:fillRef idx="0">
            <a:srgbClr val="FFFFFF"/>
          </a:fillRef>
          <a:effectRef idx="4">
            <a:srgbClr val="FFFFFF"/>
          </a:effectRef>
          <a:fontRef idx="major"/>
        </p:style>
        <p:txBody>
          <a:bodyPr/>
          <a:lstStyle/>
          <a:p>
            <a:endParaRPr lang="en-GB"/>
          </a:p>
        </p:txBody>
      </p:sp>
      <p:sp>
        <p:nvSpPr>
          <p:cNvPr id="39" name="milestone-date-4"/>
          <p:cNvSpPr>
            <a:spLocks noGrp="1"/>
          </p:cNvSpPr>
          <p:nvPr/>
        </p:nvSpPr>
        <p:spPr>
          <a:xfrm>
            <a:off x="7467600" y="2643505"/>
            <a:ext cx="1409700" cy="228600"/>
          </a:xfrm>
          <a:prstGeom prst="rect">
            <a:avLst/>
          </a:prstGeom>
          <a:noFill/>
          <a:ln w="0">
            <a:noFill/>
            <a:prstDash val="solid"/>
          </a:ln>
        </p:spPr>
        <p:txBody>
          <a:bodyPr/>
          <a:lstStyle/>
          <a:p>
            <a:pPr>
              <a:defRPr sz="1200" b="1">
                <a:solidFill>
                  <a:srgbClr val="005EB8"/>
                </a:solidFill>
                <a:latin typeface="微软雅黑"/>
                <a:ea typeface="微软雅黑"/>
                <a:cs typeface="微软雅黑"/>
              </a:defRPr>
            </a:pPr>
            <a:r>
              <a:rPr sz="1200" b="1">
                <a:solidFill>
                  <a:srgbClr val="005EB8"/>
                </a:solidFill>
                <a:latin typeface="微软雅黑" charset="0"/>
                <a:ea typeface="微软雅黑" charset="0"/>
                <a:cs typeface="微软雅黑" charset="0"/>
              </a:rPr>
              <a:t>7月15日</a:t>
            </a:r>
            <a:endParaRPr sz="1200" b="1">
              <a:solidFill>
                <a:srgbClr val="005EB8"/>
              </a:solidFill>
              <a:latin typeface="微软雅黑" charset="0"/>
              <a:ea typeface="微软雅黑" charset="0"/>
              <a:cs typeface="微软雅黑" charset="0"/>
            </a:endParaRPr>
          </a:p>
        </p:txBody>
      </p:sp>
      <p:sp>
        <p:nvSpPr>
          <p:cNvPr id="40" name="milestone-title-4"/>
          <p:cNvSpPr>
            <a:spLocks noGrp="1"/>
          </p:cNvSpPr>
          <p:nvPr/>
        </p:nvSpPr>
        <p:spPr>
          <a:xfrm>
            <a:off x="7467600" y="2919730"/>
            <a:ext cx="1409700" cy="285750"/>
          </a:xfrm>
          <a:prstGeom prst="rect">
            <a:avLst/>
          </a:prstGeom>
          <a:noFill/>
          <a:ln w="0">
            <a:noFill/>
            <a:prstDash val="solid"/>
          </a:ln>
        </p:spPr>
        <p:txBody>
          <a:bodyPr/>
          <a:lstStyle/>
          <a:p>
            <a:pPr>
              <a:defRPr sz="157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业务规则探讨</a:t>
            </a:r>
            <a:endParaRPr sz="1600" b="1">
              <a:solidFill>
                <a:srgbClr val="00338D"/>
              </a:solidFill>
              <a:latin typeface="微软雅黑" charset="0"/>
              <a:ea typeface="微软雅黑" charset="0"/>
              <a:cs typeface="微软雅黑"/>
            </a:endParaRPr>
          </a:p>
        </p:txBody>
      </p:sp>
      <p:sp>
        <p:nvSpPr>
          <p:cNvPr id="41" name="milestone-focus-4"/>
          <p:cNvSpPr>
            <a:spLocks noGrp="1"/>
          </p:cNvSpPr>
          <p:nvPr/>
        </p:nvSpPr>
        <p:spPr>
          <a:xfrm>
            <a:off x="7467600" y="3291205"/>
            <a:ext cx="1409700" cy="438150"/>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sz="1400">
                <a:solidFill>
                  <a:srgbClr val="111827"/>
                </a:solidFill>
                <a:latin typeface="微软雅黑" charset="0"/>
                <a:ea typeface="微软雅黑" charset="0"/>
                <a:cs typeface="微软雅黑"/>
              </a:rPr>
              <a:t>聚焦</a:t>
            </a:r>
            <a:r>
              <a:rPr lang="zh-CN" sz="1400">
                <a:solidFill>
                  <a:srgbClr val="111827"/>
                </a:solidFill>
                <a:latin typeface="微软雅黑" charset="0"/>
                <a:ea typeface="微软雅黑" charset="0"/>
                <a:cs typeface="微软雅黑"/>
              </a:rPr>
              <a:t>明确会员积分模块场景</a:t>
            </a:r>
            <a:r>
              <a:rPr lang="en-US" altLang="zh-CN" sz="1400">
                <a:solidFill>
                  <a:srgbClr val="111827"/>
                </a:solidFill>
                <a:latin typeface="微软雅黑" charset="0"/>
                <a:ea typeface="微软雅黑" charset="0"/>
                <a:cs typeface="微软雅黑"/>
              </a:rPr>
              <a:t>、</a:t>
            </a:r>
            <a:r>
              <a:rPr lang="zh-CN" altLang="en-US" sz="1400">
                <a:solidFill>
                  <a:srgbClr val="111827"/>
                </a:solidFill>
                <a:latin typeface="微软雅黑" charset="0"/>
                <a:ea typeface="微软雅黑" charset="0"/>
                <a:cs typeface="微软雅黑"/>
              </a:rPr>
              <a:t>规则</a:t>
            </a:r>
            <a:r>
              <a:rPr lang="en-US" altLang="zh-CN" sz="1400">
                <a:solidFill>
                  <a:srgbClr val="111827"/>
                </a:solidFill>
                <a:latin typeface="微软雅黑" charset="0"/>
                <a:ea typeface="微软雅黑" charset="0"/>
                <a:cs typeface="微软雅黑"/>
              </a:rPr>
              <a:t>、</a:t>
            </a:r>
            <a:r>
              <a:rPr lang="zh-CN" altLang="en-US" sz="1400">
                <a:solidFill>
                  <a:srgbClr val="111827"/>
                </a:solidFill>
                <a:latin typeface="微软雅黑" charset="0"/>
                <a:ea typeface="微软雅黑" charset="0"/>
                <a:cs typeface="微软雅黑"/>
              </a:rPr>
              <a:t>制度</a:t>
            </a:r>
            <a:endParaRPr lang="en-US" altLang="zh-CN" sz="1400">
              <a:solidFill>
                <a:srgbClr val="111827"/>
              </a:solidFill>
              <a:latin typeface="微软雅黑" charset="0"/>
              <a:ea typeface="微软雅黑" charset="0"/>
              <a:cs typeface="微软雅黑"/>
            </a:endParaRPr>
          </a:p>
        </p:txBody>
      </p:sp>
      <p:sp>
        <p:nvSpPr>
          <p:cNvPr id="42" name="milestone-rule-4"/>
          <p:cNvSpPr>
            <a:spLocks noGrp="1"/>
          </p:cNvSpPr>
          <p:nvPr/>
        </p:nvSpPr>
        <p:spPr>
          <a:xfrm>
            <a:off x="7467600" y="4017645"/>
            <a:ext cx="1409700" cy="0"/>
          </a:xfrm>
          <a:prstGeom prst="line">
            <a:avLst/>
          </a:prstGeom>
          <a:noFill/>
          <a:ln w="9525">
            <a:solidFill>
              <a:srgbClr val="BFD5F3"/>
            </a:solidFill>
            <a:prstDash val="solid"/>
          </a:ln>
        </p:spPr>
        <p:txBody>
          <a:bodyPr/>
          <a:lstStyle/>
          <a:p>
            <a:endParaRPr lang="en-GB"/>
          </a:p>
        </p:txBody>
      </p:sp>
      <p:sp>
        <p:nvSpPr>
          <p:cNvPr id="43" name="milestone-output-4"/>
          <p:cNvSpPr>
            <a:spLocks noGrp="1"/>
          </p:cNvSpPr>
          <p:nvPr/>
        </p:nvSpPr>
        <p:spPr>
          <a:xfrm>
            <a:off x="7467600" y="4112895"/>
            <a:ext cx="1409700" cy="361950"/>
          </a:xfrm>
          <a:prstGeom prst="rect">
            <a:avLst/>
          </a:prstGeom>
          <a:noFill/>
          <a:ln w="0">
            <a:noFill/>
            <a:prstDash val="solid"/>
          </a:ln>
        </p:spPr>
        <p:txBody>
          <a:bodyPr/>
          <a:lstStyle/>
          <a:p>
            <a:pPr>
              <a:defRPr sz="940">
                <a:solidFill>
                  <a:srgbClr val="334155"/>
                </a:solidFill>
                <a:latin typeface="微软雅黑"/>
                <a:ea typeface="微软雅黑"/>
                <a:cs typeface="微软雅黑"/>
              </a:defRPr>
            </a:pPr>
            <a:r>
              <a:rPr sz="1200">
                <a:solidFill>
                  <a:srgbClr val="334155"/>
                </a:solidFill>
                <a:latin typeface="微软雅黑" charset="0"/>
                <a:ea typeface="微软雅黑" charset="0"/>
                <a:cs typeface="微软雅黑"/>
              </a:rPr>
              <a:t>可配置规则清单、会议结论</a:t>
            </a:r>
            <a:endParaRPr sz="1200">
              <a:solidFill>
                <a:srgbClr val="334155"/>
              </a:solidFill>
              <a:latin typeface="微软雅黑" charset="0"/>
              <a:ea typeface="微软雅黑" charset="0"/>
              <a:cs typeface="微软雅黑"/>
            </a:endParaRPr>
          </a:p>
        </p:txBody>
      </p:sp>
      <p:sp>
        <p:nvSpPr>
          <p:cNvPr id="44" name="step-dot-5"/>
          <p:cNvSpPr>
            <a:spLocks noGrp="1"/>
          </p:cNvSpPr>
          <p:nvPr/>
        </p:nvSpPr>
        <p:spPr>
          <a:xfrm>
            <a:off x="10096500" y="1900555"/>
            <a:ext cx="381000" cy="381000"/>
          </a:xfrm>
          <a:prstGeom prst="ellipse">
            <a:avLst/>
          </a:prstGeom>
          <a:solidFill>
            <a:srgbClr val="FFC000"/>
          </a:solidFill>
          <a:ln w="19050">
            <a:solidFill>
              <a:srgbClr val="FFFFFF"/>
            </a:solidFill>
            <a:prstDash val="solid"/>
          </a:ln>
        </p:spPr>
        <p:txBody>
          <a:bodyPr/>
          <a:lstStyle/>
          <a:p>
            <a:endParaRPr lang="en-GB"/>
          </a:p>
        </p:txBody>
      </p:sp>
      <p:sp>
        <p:nvSpPr>
          <p:cNvPr id="45" name="step-number-5"/>
          <p:cNvSpPr>
            <a:spLocks noGrp="1"/>
          </p:cNvSpPr>
          <p:nvPr/>
        </p:nvSpPr>
        <p:spPr>
          <a:xfrm>
            <a:off x="10096500" y="1940560"/>
            <a:ext cx="381000" cy="228600"/>
          </a:xfrm>
          <a:prstGeom prst="rect">
            <a:avLst/>
          </a:prstGeom>
          <a:noFill/>
          <a:ln w="0">
            <a:noFill/>
            <a:prstDash val="solid"/>
          </a:ln>
        </p:spPr>
        <p:txBody>
          <a:bodyPr/>
          <a:lstStyle/>
          <a:p>
            <a:pPr algn="ctr">
              <a:defRPr sz="1350" b="1">
                <a:solidFill>
                  <a:srgbClr val="FFFFFF"/>
                </a:solidFill>
                <a:latin typeface="Arial" panose="020B0604020202090204"/>
                <a:ea typeface="Arial" panose="020B0604020202090204"/>
                <a:cs typeface="Arial" panose="020B0604020202090204"/>
              </a:defRPr>
            </a:pPr>
            <a:r>
              <a:rPr sz="1400" b="1">
                <a:solidFill>
                  <a:srgbClr val="FFFFFF"/>
                </a:solidFill>
                <a:latin typeface="微软雅黑" charset="0"/>
                <a:ea typeface="微软雅黑" charset="0"/>
                <a:cs typeface="Arial" panose="020B0604020202090204"/>
              </a:rPr>
              <a:t>5</a:t>
            </a:r>
            <a:endParaRPr sz="1400" b="1">
              <a:solidFill>
                <a:srgbClr val="FFFFFF"/>
              </a:solidFill>
              <a:latin typeface="微软雅黑" charset="0"/>
              <a:ea typeface="微软雅黑" charset="0"/>
              <a:cs typeface="Arial" panose="020B0604020202090204"/>
            </a:endParaRPr>
          </a:p>
        </p:txBody>
      </p:sp>
      <p:sp>
        <p:nvSpPr>
          <p:cNvPr id="46" name="milestone-card-5"/>
          <p:cNvSpPr>
            <a:spLocks noGrp="1"/>
          </p:cNvSpPr>
          <p:nvPr/>
        </p:nvSpPr>
        <p:spPr>
          <a:xfrm>
            <a:off x="9391650" y="2510155"/>
            <a:ext cx="1676400" cy="2202815"/>
          </a:xfrm>
          <a:prstGeom prst="roundRect">
            <a:avLst>
              <a:gd name="adj" fmla="val 4545"/>
            </a:avLst>
          </a:prstGeom>
          <a:solidFill>
            <a:srgbClr val="FFF3C4"/>
          </a:solidFill>
          <a:ln w="9525">
            <a:solidFill>
              <a:srgbClr val="FFC000"/>
            </a:solidFill>
            <a:prstDash val="solid"/>
          </a:ln>
        </p:spPr>
        <p:style>
          <a:lnRef idx="0">
            <a:srgbClr val="FFFFFF"/>
          </a:lnRef>
          <a:fillRef idx="0">
            <a:srgbClr val="FFFFFF"/>
          </a:fillRef>
          <a:effectRef idx="4">
            <a:srgbClr val="FFFFFF"/>
          </a:effectRef>
          <a:fontRef idx="major"/>
        </p:style>
        <p:txBody>
          <a:bodyPr/>
          <a:lstStyle/>
          <a:p>
            <a:endParaRPr lang="en-GB"/>
          </a:p>
        </p:txBody>
      </p:sp>
      <p:sp>
        <p:nvSpPr>
          <p:cNvPr id="47" name="milestone-date-5"/>
          <p:cNvSpPr>
            <a:spLocks noGrp="1"/>
          </p:cNvSpPr>
          <p:nvPr/>
        </p:nvSpPr>
        <p:spPr>
          <a:xfrm>
            <a:off x="9525000" y="2643505"/>
            <a:ext cx="1409700" cy="228600"/>
          </a:xfrm>
          <a:prstGeom prst="rect">
            <a:avLst/>
          </a:prstGeom>
          <a:noFill/>
          <a:ln w="0">
            <a:noFill/>
            <a:prstDash val="solid"/>
          </a:ln>
        </p:spPr>
        <p:txBody>
          <a:bodyPr/>
          <a:lstStyle/>
          <a:p>
            <a:pPr>
              <a:defRPr sz="1200" b="1">
                <a:solidFill>
                  <a:srgbClr val="8A5A00"/>
                </a:solidFill>
                <a:latin typeface="微软雅黑"/>
                <a:ea typeface="微软雅黑"/>
                <a:cs typeface="微软雅黑"/>
              </a:defRPr>
            </a:pPr>
            <a:r>
              <a:rPr sz="1200" b="1">
                <a:solidFill>
                  <a:srgbClr val="8A5A00"/>
                </a:solidFill>
                <a:latin typeface="微软雅黑" charset="0"/>
                <a:ea typeface="微软雅黑" charset="0"/>
                <a:cs typeface="微软雅黑" charset="0"/>
              </a:rPr>
              <a:t>7月17日前</a:t>
            </a:r>
            <a:endParaRPr sz="1200" b="1">
              <a:solidFill>
                <a:srgbClr val="8A5A00"/>
              </a:solidFill>
              <a:latin typeface="微软雅黑" charset="0"/>
              <a:ea typeface="微软雅黑" charset="0"/>
              <a:cs typeface="微软雅黑" charset="0"/>
            </a:endParaRPr>
          </a:p>
        </p:txBody>
      </p:sp>
      <p:sp>
        <p:nvSpPr>
          <p:cNvPr id="48" name="milestone-title-5"/>
          <p:cNvSpPr>
            <a:spLocks noGrp="1"/>
          </p:cNvSpPr>
          <p:nvPr/>
        </p:nvSpPr>
        <p:spPr>
          <a:xfrm>
            <a:off x="9525000" y="2919730"/>
            <a:ext cx="1409700" cy="285750"/>
          </a:xfrm>
          <a:prstGeom prst="rect">
            <a:avLst/>
          </a:prstGeom>
          <a:noFill/>
          <a:ln w="0">
            <a:noFill/>
            <a:prstDash val="solid"/>
          </a:ln>
        </p:spPr>
        <p:txBody>
          <a:bodyPr/>
          <a:lstStyle/>
          <a:p>
            <a:pPr>
              <a:defRPr sz="157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领导签字</a:t>
            </a:r>
            <a:endParaRPr sz="1600" b="1">
              <a:solidFill>
                <a:srgbClr val="00338D"/>
              </a:solidFill>
              <a:latin typeface="微软雅黑" charset="0"/>
              <a:ea typeface="微软雅黑" charset="0"/>
              <a:cs typeface="微软雅黑"/>
            </a:endParaRPr>
          </a:p>
        </p:txBody>
      </p:sp>
      <p:sp>
        <p:nvSpPr>
          <p:cNvPr id="49" name="milestone-focus-5"/>
          <p:cNvSpPr>
            <a:spLocks noGrp="1"/>
          </p:cNvSpPr>
          <p:nvPr/>
        </p:nvSpPr>
        <p:spPr>
          <a:xfrm>
            <a:off x="9525000" y="3291205"/>
            <a:ext cx="1409700" cy="438150"/>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sz="1400">
                <a:solidFill>
                  <a:srgbClr val="111827"/>
                </a:solidFill>
                <a:latin typeface="微软雅黑" charset="0"/>
                <a:ea typeface="微软雅黑" charset="0"/>
                <a:cs typeface="微软雅黑"/>
              </a:rPr>
              <a:t>明确签</a:t>
            </a:r>
            <a:r>
              <a:rPr lang="zh-CN" sz="1400">
                <a:solidFill>
                  <a:srgbClr val="111827"/>
                </a:solidFill>
                <a:latin typeface="微软雅黑" charset="0"/>
                <a:ea typeface="微软雅黑" charset="0"/>
                <a:cs typeface="微软雅黑"/>
              </a:rPr>
              <a:t>字</a:t>
            </a:r>
            <a:r>
              <a:rPr sz="1400">
                <a:solidFill>
                  <a:srgbClr val="111827"/>
                </a:solidFill>
                <a:latin typeface="微软雅黑" charset="0"/>
                <a:ea typeface="微软雅黑" charset="0"/>
                <a:cs typeface="微软雅黑"/>
              </a:rPr>
              <a:t>期限、</a:t>
            </a:r>
            <a:r>
              <a:rPr lang="zh-CN" sz="1400">
                <a:solidFill>
                  <a:srgbClr val="111827"/>
                </a:solidFill>
                <a:latin typeface="微软雅黑" charset="0"/>
                <a:ea typeface="微软雅黑" charset="0"/>
                <a:cs typeface="微软雅黑"/>
              </a:rPr>
              <a:t>需要部门负责人签字</a:t>
            </a:r>
            <a:endParaRPr lang="zh-CN" sz="1400">
              <a:solidFill>
                <a:srgbClr val="111827"/>
              </a:solidFill>
              <a:latin typeface="微软雅黑" charset="0"/>
              <a:ea typeface="微软雅黑" charset="0"/>
              <a:cs typeface="微软雅黑"/>
            </a:endParaRPr>
          </a:p>
        </p:txBody>
      </p:sp>
      <p:sp>
        <p:nvSpPr>
          <p:cNvPr id="50" name="milestone-rule-5"/>
          <p:cNvSpPr>
            <a:spLocks noGrp="1"/>
          </p:cNvSpPr>
          <p:nvPr/>
        </p:nvSpPr>
        <p:spPr>
          <a:xfrm>
            <a:off x="9525000" y="4017645"/>
            <a:ext cx="1409700" cy="0"/>
          </a:xfrm>
          <a:prstGeom prst="line">
            <a:avLst/>
          </a:prstGeom>
          <a:noFill/>
          <a:ln w="9525">
            <a:solidFill>
              <a:srgbClr val="E0A900"/>
            </a:solidFill>
            <a:prstDash val="solid"/>
          </a:ln>
        </p:spPr>
        <p:txBody>
          <a:bodyPr/>
          <a:lstStyle/>
          <a:p>
            <a:endParaRPr lang="en-GB"/>
          </a:p>
        </p:txBody>
      </p:sp>
      <p:sp>
        <p:nvSpPr>
          <p:cNvPr id="51" name="milestone-output-5"/>
          <p:cNvSpPr>
            <a:spLocks noGrp="1"/>
          </p:cNvSpPr>
          <p:nvPr/>
        </p:nvSpPr>
        <p:spPr>
          <a:xfrm>
            <a:off x="9525000" y="4112895"/>
            <a:ext cx="1409700" cy="361950"/>
          </a:xfrm>
          <a:prstGeom prst="rect">
            <a:avLst/>
          </a:prstGeom>
          <a:noFill/>
          <a:ln w="0">
            <a:noFill/>
            <a:prstDash val="solid"/>
          </a:ln>
        </p:spPr>
        <p:txBody>
          <a:bodyPr/>
          <a:lstStyle/>
          <a:p>
            <a:pPr>
              <a:defRPr sz="940">
                <a:solidFill>
                  <a:srgbClr val="334155"/>
                </a:solidFill>
                <a:latin typeface="微软雅黑"/>
                <a:ea typeface="微软雅黑"/>
                <a:cs typeface="微软雅黑"/>
              </a:defRPr>
            </a:pPr>
            <a:r>
              <a:rPr sz="1200">
                <a:solidFill>
                  <a:srgbClr val="334155"/>
                </a:solidFill>
                <a:latin typeface="微软雅黑" charset="0"/>
                <a:ea typeface="微软雅黑" charset="0"/>
                <a:cs typeface="微软雅黑"/>
              </a:rPr>
              <a:t>签批</a:t>
            </a:r>
            <a:r>
              <a:rPr lang="zh-CN" sz="1200">
                <a:solidFill>
                  <a:srgbClr val="334155"/>
                </a:solidFill>
                <a:latin typeface="微软雅黑" charset="0"/>
                <a:ea typeface="微软雅黑" charset="0"/>
                <a:cs typeface="微软雅黑"/>
              </a:rPr>
              <a:t>确认文件</a:t>
            </a:r>
            <a:endParaRPr lang="zh-CN" sz="1200">
              <a:solidFill>
                <a:srgbClr val="334155"/>
              </a:solidFill>
              <a:latin typeface="微软雅黑" charset="0"/>
              <a:ea typeface="微软雅黑" charset="0"/>
              <a:cs typeface="微软雅黑"/>
            </a:endParaRPr>
          </a:p>
        </p:txBody>
      </p:sp>
      <p:sp>
        <p:nvSpPr>
          <p:cNvPr id="52" name="会前输入-box"/>
          <p:cNvSpPr>
            <a:spLocks noGrp="1"/>
          </p:cNvSpPr>
          <p:nvPr/>
        </p:nvSpPr>
        <p:spPr>
          <a:xfrm>
            <a:off x="1009650" y="4902200"/>
            <a:ext cx="2990850" cy="914400"/>
          </a:xfrm>
          <a:prstGeom prst="roundRect">
            <a:avLst>
              <a:gd name="adj" fmla="val 6250"/>
            </a:avLst>
          </a:prstGeom>
          <a:solidFill>
            <a:srgbClr val="F1F5F9"/>
          </a:solidFill>
          <a:ln w="9525">
            <a:solidFill>
              <a:srgbClr val="D6DEE8"/>
            </a:solidFill>
            <a:prstDash val="solid"/>
          </a:ln>
        </p:spPr>
        <p:txBody>
          <a:bodyPr/>
          <a:lstStyle/>
          <a:p>
            <a:endParaRPr lang="en-GB"/>
          </a:p>
        </p:txBody>
      </p:sp>
      <p:sp>
        <p:nvSpPr>
          <p:cNvPr id="53" name="会前输入-bar"/>
          <p:cNvSpPr>
            <a:spLocks noGrp="1"/>
          </p:cNvSpPr>
          <p:nvPr/>
        </p:nvSpPr>
        <p:spPr>
          <a:xfrm>
            <a:off x="1009650" y="4902200"/>
            <a:ext cx="66675" cy="914400"/>
          </a:xfrm>
          <a:prstGeom prst="rect">
            <a:avLst/>
          </a:prstGeom>
          <a:solidFill>
            <a:srgbClr val="00338D"/>
          </a:solidFill>
          <a:ln w="0">
            <a:noFill/>
            <a:prstDash val="solid"/>
          </a:ln>
        </p:spPr>
        <p:txBody>
          <a:bodyPr/>
          <a:lstStyle/>
          <a:p>
            <a:endParaRPr lang="en-GB"/>
          </a:p>
        </p:txBody>
      </p:sp>
      <p:sp>
        <p:nvSpPr>
          <p:cNvPr id="54" name="会前输入-title"/>
          <p:cNvSpPr>
            <a:spLocks noGrp="1"/>
          </p:cNvSpPr>
          <p:nvPr/>
        </p:nvSpPr>
        <p:spPr>
          <a:xfrm>
            <a:off x="1219200" y="5026025"/>
            <a:ext cx="2571750" cy="228600"/>
          </a:xfrm>
          <a:prstGeom prst="rect">
            <a:avLst/>
          </a:prstGeom>
          <a:noFill/>
          <a:ln w="0">
            <a:noFill/>
            <a:prstDash val="solid"/>
          </a:ln>
        </p:spPr>
        <p:txBody>
          <a:bodyPr/>
          <a:lstStyle/>
          <a:p>
            <a:pPr>
              <a:defRPr sz="142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会前输入</a:t>
            </a:r>
            <a:endParaRPr sz="1600" b="1">
              <a:solidFill>
                <a:srgbClr val="00338D"/>
              </a:solidFill>
              <a:latin typeface="微软雅黑" charset="0"/>
              <a:ea typeface="微软雅黑" charset="0"/>
              <a:cs typeface="微软雅黑"/>
            </a:endParaRPr>
          </a:p>
        </p:txBody>
      </p:sp>
      <p:sp>
        <p:nvSpPr>
          <p:cNvPr id="55" name="会前输入-body"/>
          <p:cNvSpPr>
            <a:spLocks noGrp="1"/>
          </p:cNvSpPr>
          <p:nvPr/>
        </p:nvSpPr>
        <p:spPr>
          <a:xfrm>
            <a:off x="1219200" y="5340350"/>
            <a:ext cx="2571750" cy="381000"/>
          </a:xfrm>
          <a:prstGeom prst="rect">
            <a:avLst/>
          </a:prstGeom>
          <a:noFill/>
          <a:ln w="0">
            <a:noFill/>
            <a:prstDash val="solid"/>
          </a:ln>
        </p:spPr>
        <p:txBody>
          <a:bodyPr/>
          <a:lstStyle/>
          <a:p>
            <a:pPr>
              <a:defRPr sz="1090">
                <a:solidFill>
                  <a:srgbClr val="111827"/>
                </a:solidFill>
                <a:latin typeface="微软雅黑"/>
                <a:ea typeface="微软雅黑"/>
                <a:cs typeface="微软雅黑"/>
              </a:defRPr>
            </a:pPr>
            <a:r>
              <a:rPr sz="1200">
                <a:solidFill>
                  <a:srgbClr val="111827"/>
                </a:solidFill>
                <a:latin typeface="微软雅黑" charset="0"/>
                <a:ea typeface="微软雅黑" charset="0"/>
                <a:cs typeface="微软雅黑"/>
              </a:rPr>
              <a:t>需求说明书、蓝图评审意见、沟通纪要、</a:t>
            </a:r>
            <a:r>
              <a:rPr lang="zh-CN" sz="1200">
                <a:solidFill>
                  <a:srgbClr val="111827"/>
                </a:solidFill>
                <a:latin typeface="微软雅黑" charset="0"/>
                <a:ea typeface="微软雅黑" charset="0"/>
                <a:cs typeface="微软雅黑"/>
              </a:rPr>
              <a:t>场景</a:t>
            </a:r>
            <a:r>
              <a:rPr sz="1200">
                <a:solidFill>
                  <a:srgbClr val="111827"/>
                </a:solidFill>
                <a:latin typeface="微软雅黑" charset="0"/>
                <a:ea typeface="微软雅黑" charset="0"/>
                <a:cs typeface="微软雅黑"/>
              </a:rPr>
              <a:t>规则待确认清单</a:t>
            </a:r>
            <a:endParaRPr sz="1200">
              <a:solidFill>
                <a:srgbClr val="111827"/>
              </a:solidFill>
              <a:latin typeface="微软雅黑" charset="0"/>
              <a:ea typeface="微软雅黑" charset="0"/>
              <a:cs typeface="微软雅黑"/>
            </a:endParaRPr>
          </a:p>
        </p:txBody>
      </p:sp>
      <p:sp>
        <p:nvSpPr>
          <p:cNvPr id="56" name="会上重点-box"/>
          <p:cNvSpPr>
            <a:spLocks noGrp="1"/>
          </p:cNvSpPr>
          <p:nvPr/>
        </p:nvSpPr>
        <p:spPr>
          <a:xfrm>
            <a:off x="4324350" y="4902200"/>
            <a:ext cx="2990850" cy="914400"/>
          </a:xfrm>
          <a:prstGeom prst="roundRect">
            <a:avLst>
              <a:gd name="adj" fmla="val 6250"/>
            </a:avLst>
          </a:prstGeom>
          <a:solidFill>
            <a:srgbClr val="F1F5F9"/>
          </a:solidFill>
          <a:ln w="9525">
            <a:solidFill>
              <a:srgbClr val="D6DEE8"/>
            </a:solidFill>
            <a:prstDash val="solid"/>
          </a:ln>
        </p:spPr>
        <p:txBody>
          <a:bodyPr/>
          <a:lstStyle/>
          <a:p>
            <a:endParaRPr lang="en-GB"/>
          </a:p>
        </p:txBody>
      </p:sp>
      <p:sp>
        <p:nvSpPr>
          <p:cNvPr id="57" name="会上重点-bar"/>
          <p:cNvSpPr>
            <a:spLocks noGrp="1"/>
          </p:cNvSpPr>
          <p:nvPr/>
        </p:nvSpPr>
        <p:spPr>
          <a:xfrm>
            <a:off x="4324350" y="4902200"/>
            <a:ext cx="66675" cy="914400"/>
          </a:xfrm>
          <a:prstGeom prst="rect">
            <a:avLst/>
          </a:prstGeom>
          <a:solidFill>
            <a:srgbClr val="00A3E0"/>
          </a:solidFill>
          <a:ln w="0">
            <a:noFill/>
            <a:prstDash val="solid"/>
          </a:ln>
        </p:spPr>
        <p:txBody>
          <a:bodyPr/>
          <a:lstStyle/>
          <a:p>
            <a:endParaRPr lang="en-GB"/>
          </a:p>
        </p:txBody>
      </p:sp>
      <p:sp>
        <p:nvSpPr>
          <p:cNvPr id="58" name="会上重点-title"/>
          <p:cNvSpPr>
            <a:spLocks noGrp="1"/>
          </p:cNvSpPr>
          <p:nvPr/>
        </p:nvSpPr>
        <p:spPr>
          <a:xfrm>
            <a:off x="4533900" y="5026025"/>
            <a:ext cx="2571750" cy="228600"/>
          </a:xfrm>
          <a:prstGeom prst="rect">
            <a:avLst/>
          </a:prstGeom>
          <a:noFill/>
          <a:ln w="0">
            <a:noFill/>
            <a:prstDash val="solid"/>
          </a:ln>
        </p:spPr>
        <p:txBody>
          <a:bodyPr/>
          <a:lstStyle/>
          <a:p>
            <a:pPr>
              <a:defRPr sz="142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会上重点</a:t>
            </a:r>
            <a:endParaRPr sz="1600" b="1">
              <a:solidFill>
                <a:srgbClr val="00338D"/>
              </a:solidFill>
              <a:latin typeface="微软雅黑" charset="0"/>
              <a:ea typeface="微软雅黑" charset="0"/>
              <a:cs typeface="微软雅黑"/>
            </a:endParaRPr>
          </a:p>
        </p:txBody>
      </p:sp>
      <p:sp>
        <p:nvSpPr>
          <p:cNvPr id="59" name="会上重点-body"/>
          <p:cNvSpPr>
            <a:spLocks noGrp="1"/>
          </p:cNvSpPr>
          <p:nvPr/>
        </p:nvSpPr>
        <p:spPr>
          <a:xfrm>
            <a:off x="4533900" y="5340350"/>
            <a:ext cx="2571750" cy="381000"/>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lang="zh-CN" sz="1200">
                <a:latin typeface="微软雅黑" charset="0"/>
                <a:ea typeface="微软雅黑" charset="0"/>
                <a:sym typeface="+mn-ea"/>
              </a:rPr>
              <a:t>会员积分模块场景</a:t>
            </a:r>
            <a:r>
              <a:rPr lang="en-US" altLang="zh-CN" sz="1200">
                <a:latin typeface="微软雅黑" charset="0"/>
                <a:ea typeface="微软雅黑" charset="0"/>
                <a:sym typeface="+mn-ea"/>
              </a:rPr>
              <a:t>、</a:t>
            </a:r>
            <a:r>
              <a:rPr lang="zh-CN" altLang="en-US" sz="1200">
                <a:latin typeface="微软雅黑" charset="0"/>
                <a:ea typeface="微软雅黑" charset="0"/>
                <a:sym typeface="+mn-ea"/>
              </a:rPr>
              <a:t>规则</a:t>
            </a:r>
            <a:r>
              <a:rPr lang="en-US" altLang="zh-CN" sz="1200">
                <a:latin typeface="微软雅黑" charset="0"/>
                <a:ea typeface="微软雅黑" charset="0"/>
                <a:sym typeface="+mn-ea"/>
              </a:rPr>
              <a:t>、</a:t>
            </a:r>
            <a:r>
              <a:rPr lang="zh-CN" altLang="en-US" sz="1200">
                <a:latin typeface="微软雅黑" charset="0"/>
                <a:ea typeface="微软雅黑" charset="0"/>
                <a:sym typeface="+mn-ea"/>
              </a:rPr>
              <a:t>制度定义</a:t>
            </a:r>
            <a:endParaRPr lang="zh-CN" altLang="en-US" sz="1200">
              <a:latin typeface="微软雅黑" charset="0"/>
              <a:ea typeface="微软雅黑" charset="0"/>
              <a:sym typeface="+mn-ea"/>
            </a:endParaRPr>
          </a:p>
        </p:txBody>
      </p:sp>
      <p:sp>
        <p:nvSpPr>
          <p:cNvPr id="60" name="会后闭环-box"/>
          <p:cNvSpPr>
            <a:spLocks noGrp="1"/>
          </p:cNvSpPr>
          <p:nvPr/>
        </p:nvSpPr>
        <p:spPr>
          <a:xfrm>
            <a:off x="7639050" y="4902200"/>
            <a:ext cx="2990850" cy="914400"/>
          </a:xfrm>
          <a:prstGeom prst="roundRect">
            <a:avLst>
              <a:gd name="adj" fmla="val 6250"/>
            </a:avLst>
          </a:prstGeom>
          <a:solidFill>
            <a:srgbClr val="F1F5F9"/>
          </a:solidFill>
          <a:ln w="9525">
            <a:solidFill>
              <a:srgbClr val="D6DEE8"/>
            </a:solidFill>
            <a:prstDash val="solid"/>
          </a:ln>
        </p:spPr>
        <p:txBody>
          <a:bodyPr/>
          <a:lstStyle/>
          <a:p>
            <a:endParaRPr lang="en-GB"/>
          </a:p>
        </p:txBody>
      </p:sp>
      <p:sp>
        <p:nvSpPr>
          <p:cNvPr id="61" name="会后闭环-bar"/>
          <p:cNvSpPr>
            <a:spLocks noGrp="1"/>
          </p:cNvSpPr>
          <p:nvPr/>
        </p:nvSpPr>
        <p:spPr>
          <a:xfrm>
            <a:off x="7639050" y="4902200"/>
            <a:ext cx="66675" cy="914400"/>
          </a:xfrm>
          <a:prstGeom prst="rect">
            <a:avLst/>
          </a:prstGeom>
          <a:solidFill>
            <a:srgbClr val="0B66C3"/>
          </a:solidFill>
          <a:ln w="0">
            <a:noFill/>
            <a:prstDash val="solid"/>
          </a:ln>
        </p:spPr>
        <p:txBody>
          <a:bodyPr/>
          <a:lstStyle/>
          <a:p>
            <a:endParaRPr lang="en-GB"/>
          </a:p>
        </p:txBody>
      </p:sp>
      <p:sp>
        <p:nvSpPr>
          <p:cNvPr id="62" name="会后闭环-title"/>
          <p:cNvSpPr>
            <a:spLocks noGrp="1"/>
          </p:cNvSpPr>
          <p:nvPr/>
        </p:nvSpPr>
        <p:spPr>
          <a:xfrm>
            <a:off x="7848600" y="5026025"/>
            <a:ext cx="2571750" cy="228600"/>
          </a:xfrm>
          <a:prstGeom prst="rect">
            <a:avLst/>
          </a:prstGeom>
          <a:noFill/>
          <a:ln w="0">
            <a:noFill/>
            <a:prstDash val="solid"/>
          </a:ln>
        </p:spPr>
        <p:txBody>
          <a:bodyPr/>
          <a:lstStyle/>
          <a:p>
            <a:pPr>
              <a:defRPr sz="142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会后闭环</a:t>
            </a:r>
            <a:endParaRPr sz="1600" b="1">
              <a:solidFill>
                <a:srgbClr val="00338D"/>
              </a:solidFill>
              <a:latin typeface="微软雅黑" charset="0"/>
              <a:ea typeface="微软雅黑" charset="0"/>
              <a:cs typeface="微软雅黑"/>
            </a:endParaRPr>
          </a:p>
        </p:txBody>
      </p:sp>
      <p:sp>
        <p:nvSpPr>
          <p:cNvPr id="63" name="会后闭环-body"/>
          <p:cNvSpPr>
            <a:spLocks noGrp="1"/>
          </p:cNvSpPr>
          <p:nvPr/>
        </p:nvSpPr>
        <p:spPr>
          <a:xfrm>
            <a:off x="7848600" y="5340350"/>
            <a:ext cx="2571750" cy="476250"/>
          </a:xfrm>
          <a:prstGeom prst="rect">
            <a:avLst/>
          </a:prstGeom>
          <a:noFill/>
          <a:ln w="0">
            <a:noFill/>
            <a:prstDash val="solid"/>
          </a:ln>
        </p:spPr>
        <p:txBody>
          <a:bodyPr/>
          <a:lstStyle/>
          <a:p>
            <a:pPr>
              <a:defRPr sz="1090">
                <a:solidFill>
                  <a:srgbClr val="111827"/>
                </a:solidFill>
                <a:latin typeface="微软雅黑"/>
                <a:ea typeface="微软雅黑"/>
                <a:cs typeface="微软雅黑"/>
              </a:defRPr>
            </a:pPr>
            <a:r>
              <a:rPr lang="zh-CN" sz="1200">
                <a:solidFill>
                  <a:srgbClr val="111827"/>
                </a:solidFill>
                <a:latin typeface="微软雅黑" charset="0"/>
                <a:ea typeface="微软雅黑" charset="0"/>
                <a:cs typeface="微软雅黑"/>
              </a:rPr>
              <a:t>形成会议纪要</a:t>
            </a:r>
            <a:r>
              <a:rPr lang="en-US" altLang="zh-CN" sz="1200">
                <a:solidFill>
                  <a:srgbClr val="111827"/>
                </a:solidFill>
                <a:latin typeface="微软雅黑" charset="0"/>
                <a:ea typeface="微软雅黑" charset="0"/>
                <a:cs typeface="微软雅黑"/>
              </a:rPr>
              <a:t>，</a:t>
            </a:r>
            <a:r>
              <a:rPr lang="zh-CN" altLang="en-US" sz="1200">
                <a:solidFill>
                  <a:srgbClr val="111827"/>
                </a:solidFill>
                <a:latin typeface="微软雅黑" charset="0"/>
                <a:ea typeface="微软雅黑" charset="0"/>
                <a:cs typeface="微软雅黑"/>
              </a:rPr>
              <a:t>为后续开发</a:t>
            </a:r>
            <a:r>
              <a:rPr lang="en-US" altLang="zh-CN" sz="1200">
                <a:solidFill>
                  <a:srgbClr val="111827"/>
                </a:solidFill>
                <a:latin typeface="微软雅黑" charset="0"/>
                <a:ea typeface="微软雅黑" charset="0"/>
                <a:cs typeface="微软雅黑"/>
              </a:rPr>
              <a:t>、</a:t>
            </a:r>
            <a:r>
              <a:rPr lang="zh-CN" altLang="en-US" sz="1200">
                <a:solidFill>
                  <a:srgbClr val="111827"/>
                </a:solidFill>
                <a:latin typeface="微软雅黑" charset="0"/>
                <a:ea typeface="微软雅黑" charset="0"/>
                <a:cs typeface="微软雅黑"/>
              </a:rPr>
              <a:t>实施</a:t>
            </a:r>
            <a:r>
              <a:rPr lang="en-US" altLang="zh-CN" sz="1200">
                <a:solidFill>
                  <a:srgbClr val="111827"/>
                </a:solidFill>
                <a:latin typeface="微软雅黑" charset="0"/>
                <a:ea typeface="微软雅黑" charset="0"/>
                <a:cs typeface="微软雅黑"/>
              </a:rPr>
              <a:t>、</a:t>
            </a:r>
            <a:r>
              <a:rPr lang="zh-CN" altLang="en-US" sz="1200">
                <a:solidFill>
                  <a:srgbClr val="111827"/>
                </a:solidFill>
                <a:latin typeface="微软雅黑" charset="0"/>
                <a:ea typeface="微软雅黑" charset="0"/>
                <a:cs typeface="微软雅黑"/>
              </a:rPr>
              <a:t>落地提供依据</a:t>
            </a:r>
            <a:endParaRPr lang="zh-CN" altLang="en-US" sz="1200">
              <a:solidFill>
                <a:srgbClr val="111827"/>
              </a:solidFill>
              <a:latin typeface="微软雅黑" charset="0"/>
              <a:ea typeface="微软雅黑" charset="0"/>
              <a:cs typeface="微软雅黑"/>
            </a:endParaRPr>
          </a:p>
        </p:txBody>
      </p:sp>
      <p:sp>
        <p:nvSpPr>
          <p:cNvPr id="64" name="risk-note"/>
          <p:cNvSpPr>
            <a:spLocks noGrp="1"/>
          </p:cNvSpPr>
          <p:nvPr/>
        </p:nvSpPr>
        <p:spPr>
          <a:xfrm>
            <a:off x="1009650" y="5997575"/>
            <a:ext cx="9906000" cy="247650"/>
          </a:xfrm>
          <a:prstGeom prst="rect">
            <a:avLst/>
          </a:prstGeom>
          <a:noFill/>
          <a:ln w="0">
            <a:noFill/>
            <a:prstDash val="solid"/>
          </a:ln>
        </p:spPr>
        <p:txBody>
          <a:bodyPr/>
          <a:lstStyle/>
          <a:p>
            <a:pPr>
              <a:defRPr sz="1090">
                <a:solidFill>
                  <a:srgbClr val="C00000"/>
                </a:solidFill>
                <a:latin typeface="微软雅黑"/>
                <a:ea typeface="微软雅黑"/>
                <a:cs typeface="微软雅黑"/>
              </a:defRPr>
            </a:pPr>
            <a:r>
              <a:rPr sz="1400">
                <a:solidFill>
                  <a:srgbClr val="C00000"/>
                </a:solidFill>
                <a:latin typeface="微软雅黑" charset="0"/>
                <a:ea typeface="微软雅黑" charset="0"/>
                <a:cs typeface="微软雅黑" charset="0"/>
              </a:rPr>
              <a:t>提示：本次会议需把“业务共识”固化为系统可配置规则和运营管理制度，避免上线后因口径不清导致无法落地。</a:t>
            </a:r>
            <a:endParaRPr sz="1400">
              <a:solidFill>
                <a:srgbClr val="C00000"/>
              </a:solidFill>
              <a:latin typeface="微软雅黑" charset="0"/>
              <a:ea typeface="微软雅黑" charset="0"/>
              <a:cs typeface="微软雅黑" charset="0"/>
            </a:endParaRPr>
          </a:p>
        </p:txBody>
      </p:sp>
      <p:sp>
        <p:nvSpPr>
          <p:cNvPr id="77" name="milestone-date-2"/>
          <p:cNvSpPr>
            <a:spLocks noGrp="1"/>
          </p:cNvSpPr>
          <p:nvPr/>
        </p:nvSpPr>
        <p:spPr>
          <a:xfrm>
            <a:off x="5398135" y="2649855"/>
            <a:ext cx="1409700" cy="228600"/>
          </a:xfrm>
          <a:prstGeom prst="rect">
            <a:avLst/>
          </a:prstGeom>
          <a:noFill/>
          <a:ln w="0">
            <a:noFill/>
            <a:prstDash val="solid"/>
          </a:ln>
        </p:spPr>
        <p:txBody>
          <a:bodyPr/>
          <a:lstStyle/>
          <a:p>
            <a:pPr>
              <a:defRPr sz="1200" b="1">
                <a:solidFill>
                  <a:srgbClr val="005EB8"/>
                </a:solidFill>
                <a:latin typeface="微软雅黑"/>
                <a:ea typeface="微软雅黑"/>
                <a:cs typeface="微软雅黑"/>
              </a:defRPr>
            </a:pPr>
            <a:r>
              <a:rPr sz="1200" b="1">
                <a:solidFill>
                  <a:srgbClr val="005EB8"/>
                </a:solidFill>
                <a:latin typeface="微软雅黑" charset="0"/>
                <a:ea typeface="微软雅黑" charset="0"/>
                <a:cs typeface="微软雅黑" charset="0"/>
              </a:rPr>
              <a:t>7月8日</a:t>
            </a:r>
            <a:endParaRPr sz="1200" b="1">
              <a:solidFill>
                <a:srgbClr val="005EB8"/>
              </a:solidFill>
              <a:latin typeface="微软雅黑" charset="0"/>
              <a:ea typeface="微软雅黑" charset="0"/>
              <a:cs typeface="微软雅黑" charset="0"/>
            </a:endParaRPr>
          </a:p>
        </p:txBody>
      </p:sp>
      <p:sp>
        <p:nvSpPr>
          <p:cNvPr id="78" name="milestone-title-2"/>
          <p:cNvSpPr>
            <a:spLocks noGrp="1"/>
          </p:cNvSpPr>
          <p:nvPr/>
        </p:nvSpPr>
        <p:spPr>
          <a:xfrm>
            <a:off x="5398135" y="2926080"/>
            <a:ext cx="1409700" cy="285750"/>
          </a:xfrm>
          <a:prstGeom prst="rect">
            <a:avLst/>
          </a:prstGeom>
          <a:noFill/>
          <a:ln w="0">
            <a:noFill/>
            <a:prstDash val="solid"/>
          </a:ln>
        </p:spPr>
        <p:txBody>
          <a:bodyPr/>
          <a:lstStyle/>
          <a:p>
            <a:pPr>
              <a:defRPr sz="1575" b="1">
                <a:solidFill>
                  <a:srgbClr val="00338D"/>
                </a:solidFill>
                <a:latin typeface="微软雅黑"/>
                <a:ea typeface="微软雅黑"/>
                <a:cs typeface="微软雅黑"/>
              </a:defRPr>
            </a:pPr>
            <a:r>
              <a:rPr sz="1600" b="1">
                <a:solidFill>
                  <a:srgbClr val="00338D"/>
                </a:solidFill>
                <a:latin typeface="微软雅黑" charset="0"/>
                <a:ea typeface="微软雅黑" charset="0"/>
                <a:cs typeface="微软雅黑"/>
              </a:rPr>
              <a:t>蓝图评审</a:t>
            </a:r>
            <a:endParaRPr sz="1600" b="1">
              <a:solidFill>
                <a:srgbClr val="00338D"/>
              </a:solidFill>
              <a:latin typeface="微软雅黑" charset="0"/>
              <a:ea typeface="微软雅黑" charset="0"/>
              <a:cs typeface="微软雅黑"/>
            </a:endParaRPr>
          </a:p>
        </p:txBody>
      </p:sp>
      <p:sp>
        <p:nvSpPr>
          <p:cNvPr id="79" name="milestone-focus-2"/>
          <p:cNvSpPr>
            <a:spLocks noGrp="1"/>
          </p:cNvSpPr>
          <p:nvPr/>
        </p:nvSpPr>
        <p:spPr>
          <a:xfrm>
            <a:off x="5398135" y="3297555"/>
            <a:ext cx="1409700" cy="438150"/>
          </a:xfrm>
          <a:prstGeom prst="rect">
            <a:avLst/>
          </a:prstGeom>
          <a:noFill/>
          <a:ln w="0">
            <a:noFill/>
            <a:prstDash val="solid"/>
          </a:ln>
        </p:spPr>
        <p:txBody>
          <a:bodyPr/>
          <a:lstStyle/>
          <a:p>
            <a:pPr>
              <a:defRPr sz="1015">
                <a:solidFill>
                  <a:srgbClr val="111827"/>
                </a:solidFill>
                <a:latin typeface="微软雅黑"/>
                <a:ea typeface="微软雅黑"/>
                <a:cs typeface="微软雅黑"/>
              </a:defRPr>
            </a:pPr>
            <a:r>
              <a:rPr sz="1400">
                <a:solidFill>
                  <a:srgbClr val="111827"/>
                </a:solidFill>
                <a:latin typeface="微软雅黑" charset="0"/>
                <a:ea typeface="微软雅黑" charset="0"/>
                <a:cs typeface="微软雅黑"/>
              </a:rPr>
              <a:t>确认总体方案，</a:t>
            </a:r>
            <a:r>
              <a:rPr lang="zh-CN" sz="1400">
                <a:solidFill>
                  <a:srgbClr val="111827"/>
                </a:solidFill>
                <a:latin typeface="微软雅黑" charset="0"/>
                <a:ea typeface="微软雅黑" charset="0"/>
                <a:cs typeface="微软雅黑"/>
              </a:rPr>
              <a:t>明确整个模块实施路径</a:t>
            </a:r>
            <a:endParaRPr lang="zh-CN" sz="1400">
              <a:solidFill>
                <a:srgbClr val="111827"/>
              </a:solidFill>
              <a:latin typeface="微软雅黑" charset="0"/>
              <a:ea typeface="微软雅黑" charset="0"/>
              <a:cs typeface="微软雅黑"/>
            </a:endParaRPr>
          </a:p>
        </p:txBody>
      </p:sp>
      <p:sp>
        <p:nvSpPr>
          <p:cNvPr id="80" name="milestone-output-2"/>
          <p:cNvSpPr>
            <a:spLocks noGrp="1"/>
          </p:cNvSpPr>
          <p:nvPr/>
        </p:nvSpPr>
        <p:spPr>
          <a:xfrm>
            <a:off x="5398135" y="4119245"/>
            <a:ext cx="1409700" cy="361950"/>
          </a:xfrm>
          <a:prstGeom prst="rect">
            <a:avLst/>
          </a:prstGeom>
          <a:noFill/>
          <a:ln w="0">
            <a:noFill/>
            <a:prstDash val="solid"/>
          </a:ln>
        </p:spPr>
        <p:txBody>
          <a:bodyPr/>
          <a:lstStyle/>
          <a:p>
            <a:pPr>
              <a:defRPr sz="940">
                <a:solidFill>
                  <a:srgbClr val="334155"/>
                </a:solidFill>
                <a:latin typeface="微软雅黑"/>
                <a:ea typeface="微软雅黑"/>
                <a:cs typeface="微软雅黑"/>
              </a:defRPr>
            </a:pPr>
            <a:r>
              <a:rPr sz="1200">
                <a:solidFill>
                  <a:srgbClr val="334155"/>
                </a:solidFill>
                <a:latin typeface="微软雅黑" charset="0"/>
                <a:ea typeface="微软雅黑" charset="0"/>
                <a:cs typeface="微软雅黑"/>
              </a:rPr>
              <a:t>评审意见、待补充规则项</a:t>
            </a:r>
            <a:endParaRPr sz="1200">
              <a:solidFill>
                <a:srgbClr val="334155"/>
              </a:solidFill>
              <a:latin typeface="微软雅黑" charset="0"/>
              <a:ea typeface="微软雅黑" charset="0"/>
              <a:cs typeface="微软雅黑"/>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二、</a:t>
            </a:r>
            <a:r>
              <a:rPr lang="zh-CN" altLang="en-US">
                <a:solidFill>
                  <a:srgbClr val="00338D"/>
                </a:solidFill>
              </a:rPr>
              <a:t>业务规则专项讨论整体思路</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pSp>
        <p:nvGrpSpPr>
          <p:cNvPr id="22" name="Group 21"/>
          <p:cNvGrpSpPr/>
          <p:nvPr/>
        </p:nvGrpSpPr>
        <p:grpSpPr>
          <a:xfrm>
            <a:off x="1016122" y="1772446"/>
            <a:ext cx="10287247" cy="843431"/>
            <a:chOff x="2202015" y="1425207"/>
            <a:chExt cx="5913118" cy="470290"/>
          </a:xfrm>
        </p:grpSpPr>
        <p:sp>
          <p:nvSpPr>
            <p:cNvPr id="19" name="Chevron 51"/>
            <p:cNvSpPr/>
            <p:nvPr/>
          </p:nvSpPr>
          <p:spPr>
            <a:xfrm>
              <a:off x="4198454" y="1425207"/>
              <a:ext cx="1920240" cy="470290"/>
            </a:xfrm>
            <a:prstGeom prst="chevron">
              <a:avLst/>
            </a:prstGeom>
            <a:solidFill>
              <a:srgbClr val="0091DA"/>
            </a:solidFill>
            <a:ln w="12700" cap="flat" cmpd="sng" algn="ctr">
              <a:noFill/>
              <a:prstDash val="solid"/>
              <a:miter lim="800000"/>
            </a:ln>
            <a:effectLst/>
          </p:spPr>
          <p:txBody>
            <a:bodyPr lIns="54000" tIns="54000" rIns="54000" bIns="54000" rtlCol="0" anchor="ctr"/>
            <a:lstStyle/>
            <a:p>
              <a:pPr algn="ctr">
                <a:defRPr/>
              </a:pPr>
              <a:r>
                <a:rPr lang="zh-CN" altLang="en-US" b="1" kern="0">
                  <a:solidFill>
                    <a:srgbClr val="FFC000"/>
                  </a:solidFill>
                  <a:latin typeface="微软雅黑" panose="020B0503020204020204" pitchFamily="34" charset="-122"/>
                  <a:ea typeface="微软雅黑"/>
                </a:rPr>
                <a:t>规则</a:t>
              </a:r>
              <a:r>
                <a:rPr lang="zh-CN" altLang="en-US" b="1" kern="0">
                  <a:solidFill>
                    <a:srgbClr val="FFFFFF"/>
                  </a:solidFill>
                  <a:latin typeface="微软雅黑" panose="020B0503020204020204" pitchFamily="34" charset="-122"/>
                  <a:ea typeface="微软雅黑"/>
                </a:rPr>
                <a:t>定</a:t>
              </a:r>
              <a:endParaRPr lang="en-GB" b="1" kern="0" dirty="0">
                <a:solidFill>
                  <a:srgbClr val="FFFFFF"/>
                </a:solidFill>
                <a:latin typeface="微软雅黑" panose="020B0503020204020204" pitchFamily="34" charset="-122"/>
                <a:ea typeface="微软雅黑"/>
              </a:endParaRPr>
            </a:p>
          </p:txBody>
        </p:sp>
        <p:sp>
          <p:nvSpPr>
            <p:cNvPr id="20" name="Chevron 51"/>
            <p:cNvSpPr/>
            <p:nvPr/>
          </p:nvSpPr>
          <p:spPr>
            <a:xfrm>
              <a:off x="6194893" y="1425207"/>
              <a:ext cx="1920240" cy="47029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algn="ctr">
                <a:defRPr/>
              </a:pPr>
              <a:r>
                <a:rPr lang="zh-CN" altLang="en-US" b="1" kern="0">
                  <a:solidFill>
                    <a:srgbClr val="FFC000"/>
                  </a:solidFill>
                  <a:latin typeface="微软雅黑" panose="020B0503020204020204" pitchFamily="34" charset="-122"/>
                  <a:ea typeface="微软雅黑"/>
                </a:rPr>
                <a:t>制度</a:t>
              </a:r>
              <a:r>
                <a:rPr lang="zh-CN" altLang="en-US" b="1" kern="0">
                  <a:solidFill>
                    <a:srgbClr val="FFFFFF"/>
                  </a:solidFill>
                  <a:latin typeface="微软雅黑" panose="020B0503020204020204" pitchFamily="34" charset="-122"/>
                  <a:ea typeface="微软雅黑"/>
                </a:rPr>
                <a:t>定</a:t>
              </a:r>
              <a:endParaRPr lang="en-GB" b="1" kern="0" dirty="0">
                <a:solidFill>
                  <a:srgbClr val="FFFFFF"/>
                </a:solidFill>
                <a:latin typeface="微软雅黑" panose="020B0503020204020204" pitchFamily="34" charset="-122"/>
                <a:ea typeface="微软雅黑"/>
              </a:endParaRPr>
            </a:p>
          </p:txBody>
        </p:sp>
        <p:sp>
          <p:nvSpPr>
            <p:cNvPr id="21" name="Chevron 51"/>
            <p:cNvSpPr/>
            <p:nvPr/>
          </p:nvSpPr>
          <p:spPr>
            <a:xfrm>
              <a:off x="2202015" y="1425207"/>
              <a:ext cx="1920240" cy="470290"/>
            </a:xfrm>
            <a:prstGeom prst="chevron">
              <a:avLst/>
            </a:prstGeom>
            <a:solidFill>
              <a:srgbClr val="00338D"/>
            </a:solidFill>
            <a:ln w="12700" cap="flat" cmpd="sng" algn="ctr">
              <a:noFill/>
              <a:prstDash val="solid"/>
              <a:miter lim="800000"/>
            </a:ln>
            <a:effectLst/>
          </p:spPr>
          <p:txBody>
            <a:bodyPr lIns="54000" tIns="54000" rIns="54000" bIns="54000" rtlCol="0" anchor="ctr"/>
            <a:lstStyle/>
            <a:p>
              <a:pPr algn="ctr">
                <a:defRPr/>
              </a:pPr>
              <a:r>
                <a:rPr lang="zh-CN" altLang="en-US" b="1" kern="0">
                  <a:solidFill>
                    <a:srgbClr val="FFC000"/>
                  </a:solidFill>
                  <a:latin typeface="微软雅黑" panose="020B0503020204020204" pitchFamily="34" charset="-122"/>
                  <a:ea typeface="微软雅黑"/>
                </a:rPr>
                <a:t>场景</a:t>
              </a:r>
              <a:r>
                <a:rPr lang="zh-CN" altLang="en-US" b="1" kern="0">
                  <a:solidFill>
                    <a:srgbClr val="FFFFFF"/>
                  </a:solidFill>
                  <a:latin typeface="微软雅黑" panose="020B0503020204020204" pitchFamily="34" charset="-122"/>
                  <a:ea typeface="微软雅黑"/>
                </a:rPr>
                <a:t>定</a:t>
              </a:r>
              <a:endParaRPr lang="en-GB" b="1" kern="0" dirty="0">
                <a:solidFill>
                  <a:srgbClr val="FFFFFF"/>
                </a:solidFill>
                <a:latin typeface="微软雅黑" panose="020B0503020204020204" pitchFamily="34" charset="-122"/>
                <a:ea typeface="微软雅黑"/>
              </a:endParaRPr>
            </a:p>
          </p:txBody>
        </p:sp>
      </p:grpSp>
      <p:sp>
        <p:nvSpPr>
          <p:cNvPr id="23" name="文本框 11"/>
          <p:cNvSpPr txBox="1"/>
          <p:nvPr/>
        </p:nvSpPr>
        <p:spPr>
          <a:xfrm>
            <a:off x="1016122" y="1068632"/>
            <a:ext cx="10287247" cy="356574"/>
          </a:xfrm>
          <a:prstGeom prst="rect">
            <a:avLst/>
          </a:prstGeom>
          <a:solidFill>
            <a:srgbClr val="E3ECF8"/>
          </a:solidFill>
        </p:spPr>
        <p:txBody>
          <a:bodyPr wrap="square" lIns="54610" tIns="54610" rIns="54610" bIns="54610" rtlCol="0" anchor="ctr" anchorCtr="0">
            <a:noAutofit/>
          </a:bodyPr>
          <a:lstStyle/>
          <a:p>
            <a:pPr marL="285750" indent="-285750">
              <a:lnSpc>
                <a:spcPct val="120000"/>
              </a:lnSpc>
              <a:spcBef>
                <a:spcPts val="300"/>
              </a:spcBef>
              <a:buFont typeface="Arial" panose="020B0604020202090204" pitchFamily="34" charset="0"/>
              <a:buChar char="•"/>
              <a:defRPr/>
            </a:pPr>
            <a:r>
              <a:rPr lang="en-US" sz="1600" kern="0">
                <a:latin typeface="微软雅黑"/>
                <a:ea typeface="微软雅黑"/>
              </a:rPr>
              <a:t>会员积分模块不是单纯的系统功能建设，而是</a:t>
            </a:r>
            <a:r>
              <a:rPr lang="en-US" sz="1600" b="1" kern="0">
                <a:latin typeface="微软雅黑"/>
                <a:ea typeface="微软雅黑"/>
              </a:rPr>
              <a:t>客户运营</a:t>
            </a:r>
            <a:r>
              <a:rPr lang="en-US" sz="1600" kern="0">
                <a:latin typeface="微软雅黑"/>
                <a:ea typeface="微软雅黑"/>
              </a:rPr>
              <a:t>、</a:t>
            </a:r>
            <a:r>
              <a:rPr lang="en-US" sz="1600" b="1" kern="0">
                <a:latin typeface="微软雅黑"/>
                <a:ea typeface="微软雅黑"/>
              </a:rPr>
              <a:t>会员权益</a:t>
            </a:r>
            <a:r>
              <a:rPr lang="en-US" sz="1600" kern="0">
                <a:latin typeface="微软雅黑"/>
                <a:ea typeface="微软雅黑"/>
              </a:rPr>
              <a:t>、</a:t>
            </a:r>
            <a:r>
              <a:rPr lang="en-US" sz="1600" b="1" kern="0">
                <a:latin typeface="微软雅黑"/>
                <a:ea typeface="微软雅黑"/>
              </a:rPr>
              <a:t>积分管理</a:t>
            </a:r>
            <a:r>
              <a:rPr lang="en-US" sz="1600" kern="0">
                <a:latin typeface="微软雅黑"/>
                <a:ea typeface="微软雅黑"/>
              </a:rPr>
              <a:t>和</a:t>
            </a:r>
            <a:r>
              <a:rPr lang="en-US" sz="1600" b="1" kern="0">
                <a:latin typeface="微软雅黑"/>
                <a:ea typeface="微软雅黑"/>
              </a:rPr>
              <a:t>风险控制机制</a:t>
            </a:r>
            <a:r>
              <a:rPr lang="en-US" sz="1600" kern="0">
                <a:latin typeface="微软雅黑"/>
                <a:ea typeface="微软雅黑"/>
              </a:rPr>
              <a:t>的重构</a:t>
            </a:r>
            <a:endParaRPr lang="en-US" sz="1600" kern="0">
              <a:latin typeface="微软雅黑"/>
              <a:ea typeface="微软雅黑"/>
            </a:endParaRPr>
          </a:p>
        </p:txBody>
      </p:sp>
      <p:sp>
        <p:nvSpPr>
          <p:cNvPr id="24" name="文本框 11"/>
          <p:cNvSpPr txBox="1"/>
          <p:nvPr/>
        </p:nvSpPr>
        <p:spPr>
          <a:xfrm>
            <a:off x="1016122" y="3072426"/>
            <a:ext cx="3127615" cy="1511149"/>
          </a:xfrm>
          <a:prstGeom prst="rect">
            <a:avLst/>
          </a:prstGeom>
          <a:solidFill>
            <a:schemeClr val="bg1">
              <a:lumMod val="95000"/>
            </a:schemeClr>
          </a:solidFill>
        </p:spPr>
        <p:txBody>
          <a:bodyPr wrap="square" lIns="54610" tIns="54610" rIns="54610" bIns="54610" rtlCol="0" anchor="ctr" anchorCtr="0">
            <a:noAutofit/>
          </a:bodyPr>
          <a:lstStyle/>
          <a:p>
            <a:pPr marL="285750" indent="-285750">
              <a:spcAft>
                <a:spcPts val="600"/>
              </a:spcAft>
              <a:buFont typeface="Arial" panose="020B0604020202090204" pitchFamily="34" charset="0"/>
              <a:buChar char="•"/>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明确积分和权益用在</a:t>
            </a:r>
            <a:r>
              <a:rPr lang="zh-CN" altLang="en-US" sz="1600" b="1">
                <a:solidFill>
                  <a:srgbClr val="C00000"/>
                </a:solidFill>
                <a:latin typeface="微软雅黑"/>
                <a:ea typeface="微软雅黑"/>
                <a:cs typeface="微软雅黑"/>
              </a:rPr>
              <a:t>哪些业务</a:t>
            </a:r>
            <a:r>
              <a:rPr lang="zh-CN" altLang="en-US" sz="1600" b="1">
                <a:solidFill>
                  <a:srgbClr val="111827"/>
                </a:solidFill>
                <a:latin typeface="微软雅黑"/>
                <a:ea typeface="微软雅黑"/>
                <a:cs typeface="微软雅黑"/>
              </a:rPr>
              <a:t>场景</a:t>
            </a:r>
            <a:r>
              <a:rPr lang="zh-CN" altLang="en-US" sz="1600">
                <a:solidFill>
                  <a:srgbClr val="111827"/>
                </a:solidFill>
                <a:latin typeface="微软雅黑"/>
                <a:ea typeface="微软雅黑"/>
                <a:cs typeface="微软雅黑"/>
              </a:rPr>
              <a:t>：</a:t>
            </a:r>
            <a:endParaRPr lang="en-US" altLang="zh-CN" sz="1600">
              <a:solidFill>
                <a:srgbClr val="111827"/>
              </a:solidFill>
              <a:latin typeface="微软雅黑"/>
              <a:ea typeface="微软雅黑"/>
              <a:cs typeface="微软雅黑"/>
            </a:endParaRPr>
          </a:p>
          <a:p>
            <a:pPr marL="285750" indent="-285750">
              <a:spcAft>
                <a:spcPts val="600"/>
              </a:spcAft>
              <a:buFont typeface="Wingdings" panose="05000000000000000000" pitchFamily="2" charset="2"/>
              <a:buChar char="Ø"/>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会员准入、风险限制、营销消费、服务补偿等。</a:t>
            </a:r>
            <a:endParaRPr lang="zh-CN" altLang="en-US" sz="1600">
              <a:solidFill>
                <a:srgbClr val="111827"/>
              </a:solidFill>
              <a:latin typeface="微软雅黑"/>
              <a:ea typeface="微软雅黑"/>
              <a:cs typeface="微软雅黑"/>
            </a:endParaRPr>
          </a:p>
        </p:txBody>
      </p:sp>
      <p:sp>
        <p:nvSpPr>
          <p:cNvPr id="25" name="文本框 11"/>
          <p:cNvSpPr txBox="1"/>
          <p:nvPr/>
        </p:nvSpPr>
        <p:spPr>
          <a:xfrm>
            <a:off x="4595937" y="3072426"/>
            <a:ext cx="3127615" cy="1511149"/>
          </a:xfrm>
          <a:prstGeom prst="rect">
            <a:avLst/>
          </a:prstGeom>
          <a:solidFill>
            <a:schemeClr val="bg1">
              <a:lumMod val="95000"/>
            </a:schemeClr>
          </a:solidFill>
        </p:spPr>
        <p:txBody>
          <a:bodyPr wrap="square" lIns="54610" tIns="54610" rIns="54610" bIns="54610" rtlCol="0" anchor="ctr" anchorCtr="0">
            <a:noAutofit/>
          </a:bodyPr>
          <a:lstStyle/>
          <a:p>
            <a:pPr marL="285750" indent="-285750">
              <a:spcAft>
                <a:spcPts val="600"/>
              </a:spcAft>
              <a:buFont typeface="Arial" panose="020B0604020202090204" pitchFamily="34" charset="0"/>
              <a:buChar char="•"/>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明确各场景下</a:t>
            </a:r>
            <a:r>
              <a:rPr lang="zh-CN" altLang="en-US" sz="1600" b="1">
                <a:solidFill>
                  <a:srgbClr val="C00000"/>
                </a:solidFill>
                <a:latin typeface="微软雅黑"/>
                <a:ea typeface="微软雅黑"/>
              </a:rPr>
              <a:t>怎么</a:t>
            </a:r>
            <a:r>
              <a:rPr lang="zh-CN" altLang="en-US" sz="1600" b="1">
                <a:solidFill>
                  <a:srgbClr val="111827"/>
                </a:solidFill>
                <a:latin typeface="微软雅黑"/>
                <a:ea typeface="微软雅黑"/>
                <a:cs typeface="微软雅黑"/>
              </a:rPr>
              <a:t>发、</a:t>
            </a:r>
            <a:r>
              <a:rPr lang="zh-CN" altLang="en-US" sz="1600" b="1">
                <a:solidFill>
                  <a:srgbClr val="C00000"/>
                </a:solidFill>
                <a:latin typeface="微软雅黑"/>
                <a:ea typeface="微软雅黑"/>
              </a:rPr>
              <a:t>怎么</a:t>
            </a:r>
            <a:r>
              <a:rPr lang="zh-CN" altLang="en-US" sz="1600" b="1">
                <a:solidFill>
                  <a:srgbClr val="111827"/>
                </a:solidFill>
                <a:latin typeface="微软雅黑"/>
                <a:ea typeface="微软雅黑"/>
                <a:cs typeface="微软雅黑"/>
              </a:rPr>
              <a:t>兑、</a:t>
            </a:r>
            <a:r>
              <a:rPr lang="zh-CN" altLang="en-US" sz="1600" b="1">
                <a:solidFill>
                  <a:srgbClr val="C00000"/>
                </a:solidFill>
                <a:latin typeface="微软雅黑"/>
                <a:ea typeface="微软雅黑"/>
              </a:rPr>
              <a:t>怎么</a:t>
            </a:r>
            <a:r>
              <a:rPr lang="zh-CN" altLang="en-US" sz="1600" b="1">
                <a:solidFill>
                  <a:srgbClr val="111827"/>
                </a:solidFill>
                <a:latin typeface="微软雅黑"/>
                <a:ea typeface="微软雅黑"/>
                <a:cs typeface="微软雅黑"/>
              </a:rPr>
              <a:t>限制、</a:t>
            </a:r>
            <a:r>
              <a:rPr lang="zh-CN" altLang="en-US" sz="1600" b="1">
                <a:solidFill>
                  <a:srgbClr val="C00000"/>
                </a:solidFill>
                <a:latin typeface="微软雅黑"/>
                <a:ea typeface="微软雅黑"/>
              </a:rPr>
              <a:t>怎么</a:t>
            </a:r>
            <a:r>
              <a:rPr lang="zh-CN" altLang="en-US" sz="1600" b="1">
                <a:solidFill>
                  <a:srgbClr val="111827"/>
                </a:solidFill>
                <a:latin typeface="微软雅黑"/>
                <a:ea typeface="微软雅黑"/>
                <a:cs typeface="微软雅黑"/>
              </a:rPr>
              <a:t>结算</a:t>
            </a:r>
            <a:r>
              <a:rPr lang="zh-CN" altLang="en-US" sz="1600">
                <a:solidFill>
                  <a:srgbClr val="111827"/>
                </a:solidFill>
                <a:latin typeface="微软雅黑"/>
                <a:ea typeface="微软雅黑"/>
                <a:cs typeface="微软雅黑"/>
              </a:rPr>
              <a:t>：</a:t>
            </a:r>
            <a:endParaRPr lang="en-US" altLang="zh-CN" sz="1600">
              <a:solidFill>
                <a:srgbClr val="111827"/>
              </a:solidFill>
              <a:latin typeface="微软雅黑"/>
              <a:ea typeface="微软雅黑"/>
              <a:cs typeface="微软雅黑"/>
            </a:endParaRPr>
          </a:p>
          <a:p>
            <a:pPr marL="285750" indent="-285750">
              <a:spcAft>
                <a:spcPts val="600"/>
              </a:spcAft>
              <a:buFont typeface="Wingdings" panose="05000000000000000000" pitchFamily="2" charset="2"/>
              <a:buChar char="Ø"/>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形成业务规则和配置口径。</a:t>
            </a:r>
            <a:endParaRPr lang="en-US" sz="1600" kern="0">
              <a:latin typeface="微软雅黑"/>
              <a:ea typeface="微软雅黑"/>
            </a:endParaRPr>
          </a:p>
        </p:txBody>
      </p:sp>
      <p:sp>
        <p:nvSpPr>
          <p:cNvPr id="26" name="文本框 11"/>
          <p:cNvSpPr txBox="1"/>
          <p:nvPr/>
        </p:nvSpPr>
        <p:spPr>
          <a:xfrm>
            <a:off x="8175752" y="3072426"/>
            <a:ext cx="3127615" cy="1511149"/>
          </a:xfrm>
          <a:prstGeom prst="rect">
            <a:avLst/>
          </a:prstGeom>
          <a:solidFill>
            <a:schemeClr val="bg1">
              <a:lumMod val="95000"/>
            </a:schemeClr>
          </a:solidFill>
        </p:spPr>
        <p:txBody>
          <a:bodyPr wrap="square" lIns="54610" tIns="54610" rIns="54610" bIns="54610" rtlCol="0" anchor="ctr" anchorCtr="0">
            <a:noAutofit/>
          </a:bodyPr>
          <a:lstStyle/>
          <a:p>
            <a:pPr marL="285750" indent="-285750">
              <a:spcAft>
                <a:spcPts val="600"/>
              </a:spcAft>
              <a:buFont typeface="Arial" panose="020B0604020202090204" pitchFamily="34" charset="0"/>
              <a:buChar char="•"/>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明确</a:t>
            </a:r>
            <a:r>
              <a:rPr lang="zh-CN" altLang="en-US" sz="1600" b="1">
                <a:solidFill>
                  <a:srgbClr val="C00000"/>
                </a:solidFill>
                <a:latin typeface="微软雅黑"/>
                <a:ea typeface="微软雅黑"/>
              </a:rPr>
              <a:t>谁</a:t>
            </a:r>
            <a:r>
              <a:rPr lang="zh-CN" altLang="en-US" sz="1600" b="1">
                <a:solidFill>
                  <a:srgbClr val="111827"/>
                </a:solidFill>
                <a:latin typeface="微软雅黑"/>
                <a:ea typeface="微软雅黑"/>
                <a:cs typeface="微软雅黑"/>
              </a:rPr>
              <a:t>来管、</a:t>
            </a:r>
            <a:r>
              <a:rPr lang="zh-CN" altLang="en-US" sz="1600" b="1">
                <a:solidFill>
                  <a:srgbClr val="C00000"/>
                </a:solidFill>
                <a:latin typeface="微软雅黑"/>
                <a:ea typeface="微软雅黑"/>
              </a:rPr>
              <a:t>谁</a:t>
            </a:r>
            <a:r>
              <a:rPr lang="zh-CN" altLang="en-US" sz="1600" b="1">
                <a:solidFill>
                  <a:srgbClr val="111827"/>
                </a:solidFill>
                <a:latin typeface="微软雅黑"/>
                <a:ea typeface="微软雅黑"/>
                <a:cs typeface="微软雅黑"/>
              </a:rPr>
              <a:t>审批、</a:t>
            </a:r>
            <a:r>
              <a:rPr lang="zh-CN" altLang="en-US" sz="1600" b="1">
                <a:solidFill>
                  <a:srgbClr val="C00000"/>
                </a:solidFill>
                <a:latin typeface="微软雅黑"/>
                <a:ea typeface="微软雅黑"/>
              </a:rPr>
              <a:t>谁</a:t>
            </a:r>
            <a:r>
              <a:rPr lang="zh-CN" altLang="en-US" sz="1600" b="1">
                <a:solidFill>
                  <a:srgbClr val="111827"/>
                </a:solidFill>
                <a:latin typeface="微软雅黑"/>
                <a:ea typeface="微软雅黑"/>
                <a:cs typeface="微软雅黑"/>
              </a:rPr>
              <a:t>风控、</a:t>
            </a:r>
            <a:r>
              <a:rPr lang="zh-CN" altLang="en-US" sz="1600" b="1">
                <a:solidFill>
                  <a:srgbClr val="C00000"/>
                </a:solidFill>
                <a:latin typeface="微软雅黑"/>
                <a:ea typeface="微软雅黑"/>
              </a:rPr>
              <a:t>谁</a:t>
            </a:r>
            <a:r>
              <a:rPr lang="zh-CN" altLang="en-US" sz="1600" b="1">
                <a:solidFill>
                  <a:srgbClr val="111827"/>
                </a:solidFill>
                <a:latin typeface="微软雅黑"/>
                <a:ea typeface="微软雅黑"/>
                <a:cs typeface="微软雅黑"/>
              </a:rPr>
              <a:t>结算</a:t>
            </a:r>
            <a:r>
              <a:rPr lang="zh-CN" altLang="en-US" sz="1600">
                <a:solidFill>
                  <a:srgbClr val="111827"/>
                </a:solidFill>
                <a:latin typeface="微软雅黑"/>
                <a:ea typeface="微软雅黑"/>
                <a:cs typeface="微软雅黑"/>
              </a:rPr>
              <a:t>：</a:t>
            </a:r>
            <a:endParaRPr lang="en-US" altLang="zh-CN" sz="1600">
              <a:solidFill>
                <a:srgbClr val="111827"/>
              </a:solidFill>
              <a:latin typeface="微软雅黑"/>
              <a:ea typeface="微软雅黑"/>
              <a:cs typeface="微软雅黑"/>
            </a:endParaRPr>
          </a:p>
          <a:p>
            <a:pPr marL="285750" indent="-285750">
              <a:spcAft>
                <a:spcPts val="600"/>
              </a:spcAft>
              <a:buFont typeface="Wingdings" panose="05000000000000000000" pitchFamily="2" charset="2"/>
              <a:buChar char="Ø"/>
              <a:defRPr sz="1500" b="0">
                <a:solidFill>
                  <a:srgbClr val="111827"/>
                </a:solidFill>
                <a:latin typeface="微软雅黑"/>
                <a:ea typeface="微软雅黑"/>
                <a:cs typeface="微软雅黑"/>
              </a:defRPr>
            </a:pPr>
            <a:r>
              <a:rPr lang="zh-CN" altLang="en-US" sz="1600">
                <a:solidFill>
                  <a:srgbClr val="111827"/>
                </a:solidFill>
                <a:latin typeface="微软雅黑"/>
                <a:ea typeface="微软雅黑"/>
                <a:cs typeface="微软雅黑"/>
              </a:rPr>
              <a:t>固化职责分工、审批流程和运营制度。</a:t>
            </a:r>
            <a:endParaRPr lang="zh-CN" altLang="en-US" sz="1600">
              <a:solidFill>
                <a:srgbClr val="111827"/>
              </a:solidFill>
              <a:latin typeface="微软雅黑"/>
              <a:ea typeface="微软雅黑"/>
              <a:cs typeface="微软雅黑"/>
            </a:endParaRPr>
          </a:p>
        </p:txBody>
      </p:sp>
      <p:sp>
        <p:nvSpPr>
          <p:cNvPr id="28" name="文本框 11"/>
          <p:cNvSpPr txBox="1"/>
          <p:nvPr/>
        </p:nvSpPr>
        <p:spPr>
          <a:xfrm>
            <a:off x="952376" y="5040124"/>
            <a:ext cx="10287247" cy="749244"/>
          </a:xfrm>
          <a:prstGeom prst="rect">
            <a:avLst/>
          </a:prstGeom>
          <a:solidFill>
            <a:srgbClr val="E3ECF8"/>
          </a:solidFill>
        </p:spPr>
        <p:txBody>
          <a:bodyPr wrap="square" lIns="54610" tIns="54610" rIns="54610" bIns="54610" rtlCol="0" anchor="ctr" anchorCtr="0">
            <a:noAutofit/>
          </a:bodyPr>
          <a:lstStyle>
            <a:defPPr>
              <a:defRPr lang="en-US"/>
            </a:defPPr>
            <a:lvl1pPr marL="285750" indent="-285750">
              <a:lnSpc>
                <a:spcPct val="120000"/>
              </a:lnSpc>
              <a:spcBef>
                <a:spcPts val="300"/>
              </a:spcBef>
              <a:buFont typeface="Arial" panose="020B0604020202090204" pitchFamily="34" charset="0"/>
              <a:buChar char="•"/>
              <a:defRPr sz="1600" kern="0">
                <a:latin typeface="微软雅黑"/>
                <a:ea typeface="微软雅黑"/>
              </a:defRPr>
            </a:lvl1pPr>
          </a:lstStyle>
          <a:p>
            <a:pPr marL="0" indent="0">
              <a:buNone/>
            </a:pPr>
            <a:r>
              <a:rPr lang="en-US" b="1">
                <a:solidFill>
                  <a:srgbClr val="C00000"/>
                </a:solidFill>
              </a:rPr>
              <a:t>注：</a:t>
            </a:r>
            <a:r>
              <a:rPr lang="en-US"/>
              <a:t>本次专项讨论应先形成业务共识，再固化为系统配置规则和运营管理制度，避免系统上线后因场景不清、规则不明、职责不清导致无法落地</a:t>
            </a:r>
            <a:endParaRPr lang="en-US"/>
          </a:p>
        </p:txBody>
      </p:sp>
      <p:sp>
        <p:nvSpPr>
          <p:cNvPr id="29" name="Oval 20"/>
          <p:cNvSpPr/>
          <p:nvPr/>
        </p:nvSpPr>
        <p:spPr>
          <a:xfrm>
            <a:off x="1016122" y="1633494"/>
            <a:ext cx="365760" cy="365760"/>
          </a:xfrm>
          <a:prstGeom prst="ellipse">
            <a:avLst/>
          </a:prstGeom>
          <a:solidFill>
            <a:srgbClr val="BC204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endParaRPr kumimoji="0" lang="en-US" sz="1600" b="1"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Oval 20"/>
          <p:cNvSpPr/>
          <p:nvPr/>
        </p:nvSpPr>
        <p:spPr>
          <a:xfrm>
            <a:off x="4425790" y="1633494"/>
            <a:ext cx="365760" cy="365760"/>
          </a:xfrm>
          <a:prstGeom prst="ellipse">
            <a:avLst/>
          </a:prstGeom>
          <a:solidFill>
            <a:srgbClr val="BC204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1"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en-US" sz="1600" b="1"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Oval 20"/>
          <p:cNvSpPr/>
          <p:nvPr/>
        </p:nvSpPr>
        <p:spPr>
          <a:xfrm>
            <a:off x="7835459" y="1633494"/>
            <a:ext cx="365760" cy="365760"/>
          </a:xfrm>
          <a:prstGeom prst="ellipse">
            <a:avLst/>
          </a:prstGeom>
          <a:solidFill>
            <a:srgbClr val="BC204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1600" b="1" i="1"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3</a:t>
            </a:r>
            <a:endParaRPr kumimoji="0" lang="en-US" sz="1600" b="1"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三、</a:t>
            </a:r>
            <a:r>
              <a:rPr lang="zh-CN" altLang="en-US">
                <a:solidFill>
                  <a:srgbClr val="00338D"/>
                </a:solidFill>
              </a:rPr>
              <a:t>业务规则专项讨论整体思路</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框 11"/>
          <p:cNvSpPr txBox="1"/>
          <p:nvPr/>
        </p:nvSpPr>
        <p:spPr>
          <a:xfrm>
            <a:off x="1016123" y="1238520"/>
            <a:ext cx="3048549" cy="306672"/>
          </a:xfrm>
          <a:prstGeom prst="rect">
            <a:avLst/>
          </a:prstGeom>
          <a:solidFill>
            <a:schemeClr val="bg1">
              <a:lumMod val="95000"/>
            </a:schemeClr>
          </a:solidFill>
        </p:spPr>
        <p:txBody>
          <a:bodyPr wrap="square" lIns="54610" tIns="54610" rIns="54610" bIns="54610" rtlCol="0" anchor="ctr" anchorCtr="0">
            <a:noAutofit/>
          </a:bodyPr>
          <a:lstStyle/>
          <a:p>
            <a:pPr algn="ctr">
              <a:lnSpc>
                <a:spcPct val="120000"/>
              </a:lnSpc>
              <a:spcBef>
                <a:spcPts val="300"/>
              </a:spcBef>
              <a:defRPr/>
            </a:pPr>
            <a:r>
              <a:rPr lang="en-US" sz="1400" b="1" kern="0">
                <a:latin typeface="微软雅黑"/>
                <a:ea typeface="微软雅黑"/>
              </a:rPr>
              <a:t>阶段</a:t>
            </a:r>
            <a:endParaRPr lang="en-GB" sz="1400" b="1" kern="0" dirty="0">
              <a:latin typeface="微软雅黑"/>
              <a:ea typeface="微软雅黑"/>
            </a:endParaRPr>
          </a:p>
        </p:txBody>
      </p:sp>
      <p:sp>
        <p:nvSpPr>
          <p:cNvPr id="3" name="文本框 11"/>
          <p:cNvSpPr txBox="1"/>
          <p:nvPr/>
        </p:nvSpPr>
        <p:spPr>
          <a:xfrm>
            <a:off x="4571725" y="1238520"/>
            <a:ext cx="3048549" cy="306672"/>
          </a:xfrm>
          <a:prstGeom prst="rect">
            <a:avLst/>
          </a:prstGeom>
          <a:solidFill>
            <a:schemeClr val="bg1">
              <a:lumMod val="95000"/>
            </a:schemeClr>
          </a:solidFill>
        </p:spPr>
        <p:txBody>
          <a:bodyPr wrap="square" lIns="54610" tIns="54610" rIns="54610" bIns="54610" rtlCol="0" anchor="ctr" anchorCtr="0">
            <a:noAutofit/>
          </a:bodyPr>
          <a:lstStyle/>
          <a:p>
            <a:pPr algn="ctr">
              <a:lnSpc>
                <a:spcPct val="120000"/>
              </a:lnSpc>
              <a:spcBef>
                <a:spcPts val="300"/>
              </a:spcBef>
              <a:defRPr/>
            </a:pPr>
            <a:r>
              <a:rPr lang="en-US" sz="1400" b="1" kern="0">
                <a:latin typeface="微软雅黑"/>
                <a:ea typeface="微软雅黑"/>
              </a:rPr>
              <a:t>核心问题</a:t>
            </a:r>
            <a:endParaRPr lang="en-GB" sz="1400" b="1" kern="0" dirty="0">
              <a:latin typeface="微软雅黑"/>
              <a:ea typeface="微软雅黑"/>
            </a:endParaRPr>
          </a:p>
        </p:txBody>
      </p:sp>
      <p:sp>
        <p:nvSpPr>
          <p:cNvPr id="4" name="文本框 11"/>
          <p:cNvSpPr txBox="1"/>
          <p:nvPr/>
        </p:nvSpPr>
        <p:spPr>
          <a:xfrm>
            <a:off x="8127328" y="1238520"/>
            <a:ext cx="3048549" cy="306672"/>
          </a:xfrm>
          <a:prstGeom prst="rect">
            <a:avLst/>
          </a:prstGeom>
          <a:solidFill>
            <a:srgbClr val="00338D"/>
          </a:solidFill>
        </p:spPr>
        <p:txBody>
          <a:bodyPr wrap="square" lIns="54610" tIns="54610" rIns="54610" bIns="54610" rtlCol="0" anchor="ctr" anchorCtr="0">
            <a:noAutofit/>
          </a:bodyPr>
          <a:lstStyle/>
          <a:p>
            <a:pPr algn="ctr">
              <a:lnSpc>
                <a:spcPct val="120000"/>
              </a:lnSpc>
              <a:spcBef>
                <a:spcPts val="300"/>
              </a:spcBef>
              <a:defRPr/>
            </a:pPr>
            <a:r>
              <a:rPr lang="en-US" sz="1400" b="1" kern="0">
                <a:solidFill>
                  <a:schemeClr val="bg1"/>
                </a:solidFill>
                <a:latin typeface="微软雅黑"/>
                <a:ea typeface="微软雅黑"/>
              </a:rPr>
              <a:t>输出成果</a:t>
            </a:r>
            <a:endParaRPr lang="en-GB" sz="1400" b="1" kern="0" dirty="0">
              <a:solidFill>
                <a:schemeClr val="bg1"/>
              </a:solidFill>
              <a:latin typeface="微软雅黑"/>
              <a:ea typeface="微软雅黑"/>
            </a:endParaRPr>
          </a:p>
        </p:txBody>
      </p:sp>
      <p:sp>
        <p:nvSpPr>
          <p:cNvPr id="6" name="文本框 11"/>
          <p:cNvSpPr txBox="1"/>
          <p:nvPr/>
        </p:nvSpPr>
        <p:spPr>
          <a:xfrm>
            <a:off x="1016123" y="1948192"/>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一、场景层面</a:t>
            </a:r>
            <a:endParaRPr lang="en-GB" sz="1600" b="1" kern="0" dirty="0">
              <a:latin typeface="微软雅黑"/>
              <a:ea typeface="微软雅黑"/>
            </a:endParaRPr>
          </a:p>
        </p:txBody>
      </p:sp>
      <p:sp>
        <p:nvSpPr>
          <p:cNvPr id="7" name="文本框 11"/>
          <p:cNvSpPr txBox="1"/>
          <p:nvPr/>
        </p:nvSpPr>
        <p:spPr>
          <a:xfrm>
            <a:off x="1016123" y="3366117"/>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二、规则层面</a:t>
            </a:r>
            <a:endParaRPr lang="en-GB" sz="1600" b="1" kern="0" dirty="0">
              <a:latin typeface="微软雅黑"/>
              <a:ea typeface="微软雅黑"/>
            </a:endParaRPr>
          </a:p>
        </p:txBody>
      </p:sp>
      <p:sp>
        <p:nvSpPr>
          <p:cNvPr id="8" name="文本框 11"/>
          <p:cNvSpPr txBox="1"/>
          <p:nvPr/>
        </p:nvSpPr>
        <p:spPr>
          <a:xfrm>
            <a:off x="1016123" y="4790752"/>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三、制度层面</a:t>
            </a:r>
            <a:endParaRPr lang="en-GB" sz="1600" b="1" kern="0" dirty="0">
              <a:latin typeface="微软雅黑"/>
              <a:ea typeface="微软雅黑"/>
            </a:endParaRPr>
          </a:p>
        </p:txBody>
      </p:sp>
      <p:sp>
        <p:nvSpPr>
          <p:cNvPr id="9" name="文本框 11"/>
          <p:cNvSpPr txBox="1"/>
          <p:nvPr/>
        </p:nvSpPr>
        <p:spPr>
          <a:xfrm>
            <a:off x="4571725" y="1948192"/>
            <a:ext cx="3048549" cy="957050"/>
          </a:xfrm>
          <a:prstGeom prst="rect">
            <a:avLst/>
          </a:prstGeom>
          <a:solidFill>
            <a:srgbClr val="0070C0"/>
          </a:solidFill>
        </p:spPr>
        <p:txBody>
          <a:bodyPr wrap="square" lIns="54610" tIns="54610" rIns="54610" bIns="54610" rtlCol="0" anchor="ctr" anchorCtr="0">
            <a:noAutofit/>
          </a:bodyPr>
          <a:lstStyle/>
          <a:p>
            <a:pPr algn="ctr">
              <a:lnSpc>
                <a:spcPct val="120000"/>
              </a:lnSpc>
              <a:spcBef>
                <a:spcPts val="300"/>
              </a:spcBef>
              <a:defRPr/>
            </a:pPr>
            <a:r>
              <a:rPr lang="en-US" sz="1600" b="1" kern="0">
                <a:solidFill>
                  <a:schemeClr val="bg1"/>
                </a:solidFill>
                <a:latin typeface="微软雅黑"/>
                <a:ea typeface="微软雅黑"/>
              </a:rPr>
              <a:t>积分和权益</a:t>
            </a:r>
            <a:endParaRPr lang="en-US" sz="1600" b="1" kern="0">
              <a:solidFill>
                <a:schemeClr val="bg1"/>
              </a:solidFill>
              <a:latin typeface="微软雅黑"/>
              <a:ea typeface="微软雅黑"/>
            </a:endParaRPr>
          </a:p>
          <a:p>
            <a:pPr algn="ctr">
              <a:lnSpc>
                <a:spcPct val="120000"/>
              </a:lnSpc>
              <a:spcBef>
                <a:spcPts val="300"/>
              </a:spcBef>
              <a:defRPr/>
            </a:pPr>
            <a:r>
              <a:rPr lang="en-US" sz="1600" b="1" kern="0">
                <a:solidFill>
                  <a:srgbClr val="00338D"/>
                </a:solidFill>
                <a:highlight>
                  <a:srgbClr val="FFFF00"/>
                </a:highlight>
                <a:latin typeface="微软雅黑"/>
                <a:ea typeface="微软雅黑"/>
              </a:rPr>
              <a:t>用在哪些业务场景？</a:t>
            </a:r>
            <a:endParaRPr lang="en-GB" sz="1600" b="1" kern="0" dirty="0">
              <a:solidFill>
                <a:srgbClr val="00338D"/>
              </a:solidFill>
              <a:highlight>
                <a:srgbClr val="FFFF00"/>
              </a:highlight>
              <a:latin typeface="微软雅黑"/>
              <a:ea typeface="微软雅黑"/>
            </a:endParaRPr>
          </a:p>
        </p:txBody>
      </p:sp>
      <p:sp>
        <p:nvSpPr>
          <p:cNvPr id="10" name="文本框 11"/>
          <p:cNvSpPr txBox="1"/>
          <p:nvPr/>
        </p:nvSpPr>
        <p:spPr>
          <a:xfrm>
            <a:off x="4571725" y="3366117"/>
            <a:ext cx="3048549" cy="957050"/>
          </a:xfrm>
          <a:prstGeom prst="rect">
            <a:avLst/>
          </a:prstGeom>
          <a:solidFill>
            <a:srgbClr val="0070C0"/>
          </a:solidFill>
        </p:spPr>
        <p:txBody>
          <a:bodyPr wrap="square" lIns="54610" tIns="54610" rIns="54610" bIns="54610" rtlCol="0" anchor="ctr" anchorCtr="0">
            <a:noAutofit/>
          </a:bodyPr>
          <a:lstStyle/>
          <a:p>
            <a:pPr algn="ctr">
              <a:lnSpc>
                <a:spcPct val="120000"/>
              </a:lnSpc>
              <a:spcBef>
                <a:spcPts val="300"/>
              </a:spcBef>
              <a:defRPr/>
            </a:pPr>
            <a:r>
              <a:rPr lang="en-US" sz="1600" b="1" kern="0">
                <a:solidFill>
                  <a:schemeClr val="bg1"/>
                </a:solidFill>
                <a:latin typeface="微软雅黑"/>
                <a:ea typeface="微软雅黑"/>
              </a:rPr>
              <a:t>按什么标准</a:t>
            </a:r>
            <a:endParaRPr lang="en-US" sz="1600" b="1" kern="0">
              <a:solidFill>
                <a:schemeClr val="bg1"/>
              </a:solidFill>
              <a:latin typeface="微软雅黑"/>
              <a:ea typeface="微软雅黑"/>
            </a:endParaRPr>
          </a:p>
          <a:p>
            <a:pPr algn="ctr">
              <a:lnSpc>
                <a:spcPct val="120000"/>
              </a:lnSpc>
              <a:spcBef>
                <a:spcPts val="300"/>
              </a:spcBef>
              <a:defRPr/>
            </a:pPr>
            <a:r>
              <a:rPr lang="en-US" sz="1600" b="1" kern="0">
                <a:solidFill>
                  <a:srgbClr val="00338D"/>
                </a:solidFill>
                <a:highlight>
                  <a:srgbClr val="FFFF00"/>
                </a:highlight>
                <a:latin typeface="微软雅黑"/>
                <a:ea typeface="微软雅黑"/>
              </a:rPr>
              <a:t>发放/兑换/限制/结算？</a:t>
            </a:r>
            <a:endParaRPr lang="en-GB" sz="1600" b="1" kern="0" dirty="0">
              <a:solidFill>
                <a:srgbClr val="00338D"/>
              </a:solidFill>
              <a:highlight>
                <a:srgbClr val="FFFF00"/>
              </a:highlight>
              <a:latin typeface="微软雅黑"/>
              <a:ea typeface="微软雅黑"/>
            </a:endParaRPr>
          </a:p>
        </p:txBody>
      </p:sp>
      <p:sp>
        <p:nvSpPr>
          <p:cNvPr id="11" name="文本框 11"/>
          <p:cNvSpPr txBox="1"/>
          <p:nvPr/>
        </p:nvSpPr>
        <p:spPr>
          <a:xfrm>
            <a:off x="4571725" y="4790752"/>
            <a:ext cx="3048549" cy="957050"/>
          </a:xfrm>
          <a:prstGeom prst="rect">
            <a:avLst/>
          </a:prstGeom>
          <a:solidFill>
            <a:srgbClr val="0070C0"/>
          </a:solidFill>
        </p:spPr>
        <p:txBody>
          <a:bodyPr wrap="square" lIns="54610" tIns="54610" rIns="54610" bIns="54610" rtlCol="0" anchor="ctr" anchorCtr="0">
            <a:noAutofit/>
          </a:bodyPr>
          <a:lstStyle/>
          <a:p>
            <a:pPr algn="ctr">
              <a:lnSpc>
                <a:spcPct val="120000"/>
              </a:lnSpc>
              <a:spcBef>
                <a:spcPts val="300"/>
              </a:spcBef>
              <a:defRPr/>
            </a:pPr>
            <a:r>
              <a:rPr lang="en-US" sz="1600" b="1" kern="0">
                <a:solidFill>
                  <a:srgbClr val="00338D"/>
                </a:solidFill>
                <a:highlight>
                  <a:srgbClr val="FFFF00"/>
                </a:highlight>
                <a:latin typeface="微软雅黑"/>
                <a:ea typeface="微软雅黑"/>
              </a:rPr>
              <a:t>谁来管、谁审批、</a:t>
            </a:r>
            <a:endParaRPr lang="en-US" sz="1600" b="1" kern="0">
              <a:solidFill>
                <a:srgbClr val="00338D"/>
              </a:solidFill>
              <a:highlight>
                <a:srgbClr val="FFFF00"/>
              </a:highlight>
              <a:latin typeface="微软雅黑"/>
              <a:ea typeface="微软雅黑"/>
            </a:endParaRPr>
          </a:p>
          <a:p>
            <a:pPr algn="ctr">
              <a:lnSpc>
                <a:spcPct val="120000"/>
              </a:lnSpc>
              <a:spcBef>
                <a:spcPts val="300"/>
              </a:spcBef>
              <a:defRPr/>
            </a:pPr>
            <a:r>
              <a:rPr lang="en-US" sz="1600" b="1" kern="0">
                <a:solidFill>
                  <a:srgbClr val="00338D"/>
                </a:solidFill>
                <a:highlight>
                  <a:srgbClr val="FFFF00"/>
                </a:highlight>
                <a:latin typeface="微软雅黑"/>
                <a:ea typeface="微软雅黑"/>
              </a:rPr>
              <a:t>谁风控、谁结算？</a:t>
            </a:r>
            <a:endParaRPr lang="en-GB" sz="1600" b="1" kern="0" dirty="0">
              <a:solidFill>
                <a:srgbClr val="00338D"/>
              </a:solidFill>
              <a:highlight>
                <a:srgbClr val="FFFF00"/>
              </a:highlight>
              <a:latin typeface="微软雅黑"/>
              <a:ea typeface="微软雅黑"/>
            </a:endParaRPr>
          </a:p>
        </p:txBody>
      </p:sp>
      <p:sp>
        <p:nvSpPr>
          <p:cNvPr id="12" name="文本框 11"/>
          <p:cNvSpPr txBox="1"/>
          <p:nvPr/>
        </p:nvSpPr>
        <p:spPr>
          <a:xfrm>
            <a:off x="8127328" y="1948192"/>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场景清单、触发条件、涉及部门</a:t>
            </a:r>
            <a:endParaRPr lang="en-US" sz="1600" b="1" kern="0">
              <a:latin typeface="微软雅黑"/>
              <a:ea typeface="微软雅黑"/>
            </a:endParaRPr>
          </a:p>
        </p:txBody>
      </p:sp>
      <p:sp>
        <p:nvSpPr>
          <p:cNvPr id="13" name="文本框 11"/>
          <p:cNvSpPr txBox="1"/>
          <p:nvPr/>
        </p:nvSpPr>
        <p:spPr>
          <a:xfrm>
            <a:off x="8127328" y="3366117"/>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业务规则、参数口径、配置规则</a:t>
            </a:r>
            <a:endParaRPr lang="en-US" sz="1600" b="1" kern="0">
              <a:latin typeface="微软雅黑"/>
              <a:ea typeface="微软雅黑"/>
            </a:endParaRPr>
          </a:p>
        </p:txBody>
      </p:sp>
      <p:sp>
        <p:nvSpPr>
          <p:cNvPr id="14" name="文本框 11"/>
          <p:cNvSpPr txBox="1"/>
          <p:nvPr/>
        </p:nvSpPr>
        <p:spPr>
          <a:xfrm>
            <a:off x="8127328" y="4790752"/>
            <a:ext cx="3048549" cy="957050"/>
          </a:xfrm>
          <a:prstGeom prst="rect">
            <a:avLst/>
          </a:prstGeom>
          <a:solidFill>
            <a:srgbClr val="E3ECF8"/>
          </a:solidFill>
        </p:spPr>
        <p:txBody>
          <a:bodyPr wrap="square" lIns="54610" tIns="54610" rIns="54610" bIns="54610" rtlCol="0" anchor="ctr" anchorCtr="0">
            <a:noAutofit/>
          </a:bodyPr>
          <a:lstStyle/>
          <a:p>
            <a:pPr algn="ctr">
              <a:lnSpc>
                <a:spcPct val="120000"/>
              </a:lnSpc>
              <a:spcBef>
                <a:spcPts val="300"/>
              </a:spcBef>
              <a:defRPr/>
            </a:pPr>
            <a:r>
              <a:rPr lang="en-US" sz="1600" b="1" kern="0">
                <a:latin typeface="微软雅黑"/>
                <a:ea typeface="微软雅黑"/>
              </a:rPr>
              <a:t>管理制度、职责分工、审批流程</a:t>
            </a:r>
            <a:endParaRPr lang="en-US" sz="1600" b="1" kern="0">
              <a:latin typeface="微软雅黑"/>
              <a:ea typeface="微软雅黑"/>
            </a:endParaRPr>
          </a:p>
        </p:txBody>
      </p:sp>
      <p:sp>
        <p:nvSpPr>
          <p:cNvPr id="15" name="文本框 112"/>
          <p:cNvSpPr txBox="1"/>
          <p:nvPr>
            <p:custDataLst>
              <p:tags r:id="rId1"/>
            </p:custDataLst>
          </p:nvPr>
        </p:nvSpPr>
        <p:spPr>
          <a:xfrm>
            <a:off x="3236288" y="1744457"/>
            <a:ext cx="1081909" cy="523219"/>
          </a:xfrm>
          <a:prstGeom prst="roundRect">
            <a:avLst/>
          </a:prstGeom>
          <a:solidFill>
            <a:srgbClr val="EAAA00"/>
          </a:solidFill>
          <a:ln>
            <a:noFill/>
            <a:prstDash val="dash"/>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charset="0"/>
                <a:ea typeface="微软雅黑" charset="0"/>
                <a:cs typeface="+mn-cs"/>
                <a:sym typeface="+mn-ea"/>
              </a:rPr>
              <a:t>积分用在哪里？</a:t>
            </a:r>
            <a:endParaRPr kumimoji="0" lang="zh-CN" altLang="en-US" sz="1400" b="1" i="0" u="none" strike="noStrike" kern="1200" cap="none" spc="0" normalizeH="0" baseline="0" noProof="0" dirty="0">
              <a:ln>
                <a:noFill/>
              </a:ln>
              <a:solidFill>
                <a:prstClr val="white"/>
              </a:solidFill>
              <a:effectLst/>
              <a:uLnTx/>
              <a:uFillTx/>
              <a:latin typeface="微软雅黑" charset="0"/>
              <a:ea typeface="微软雅黑" charset="0"/>
              <a:cs typeface="+mn-cs"/>
              <a:sym typeface="+mn-ea"/>
            </a:endParaRPr>
          </a:p>
        </p:txBody>
      </p:sp>
      <p:sp>
        <p:nvSpPr>
          <p:cNvPr id="16" name="文本框 112"/>
          <p:cNvSpPr txBox="1"/>
          <p:nvPr>
            <p:custDataLst>
              <p:tags r:id="rId2"/>
            </p:custDataLst>
          </p:nvPr>
        </p:nvSpPr>
        <p:spPr>
          <a:xfrm>
            <a:off x="3236288" y="3167390"/>
            <a:ext cx="1081909" cy="523219"/>
          </a:xfrm>
          <a:prstGeom prst="roundRect">
            <a:avLst/>
          </a:prstGeom>
          <a:solidFill>
            <a:srgbClr val="EAAA00"/>
          </a:solidFill>
          <a:ln>
            <a:noFill/>
            <a:prstDash val="dash"/>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prstClr val="white"/>
                </a:solidFill>
                <a:latin typeface="微软雅黑" charset="0"/>
                <a:ea typeface="微软雅黑" charset="0"/>
                <a:sym typeface="+mn-ea"/>
              </a:rPr>
              <a:t>积分</a:t>
            </a:r>
            <a:endParaRPr lang="en-US" altLang="zh-CN" sz="1400" b="1">
              <a:solidFill>
                <a:prstClr val="white"/>
              </a:solidFill>
              <a:latin typeface="微软雅黑" charset="0"/>
              <a:ea typeface="微软雅黑" charset="0"/>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prstClr val="white"/>
                </a:solidFill>
                <a:latin typeface="微软雅黑" charset="0"/>
                <a:ea typeface="微软雅黑" charset="0"/>
                <a:sym typeface="+mn-ea"/>
              </a:rPr>
              <a:t>怎么用？</a:t>
            </a:r>
            <a:endParaRPr kumimoji="0" lang="zh-CN" altLang="en-US" sz="1400" b="1" i="0" u="none" strike="noStrike" kern="1200" cap="none" spc="0" normalizeH="0" baseline="0" noProof="0" dirty="0">
              <a:ln>
                <a:noFill/>
              </a:ln>
              <a:solidFill>
                <a:prstClr val="white"/>
              </a:solidFill>
              <a:effectLst/>
              <a:uLnTx/>
              <a:uFillTx/>
              <a:latin typeface="微软雅黑" charset="0"/>
              <a:ea typeface="微软雅黑" charset="0"/>
              <a:cs typeface="+mn-cs"/>
              <a:sym typeface="+mn-ea"/>
            </a:endParaRPr>
          </a:p>
        </p:txBody>
      </p:sp>
      <p:sp>
        <p:nvSpPr>
          <p:cNvPr id="17" name="文本框 112"/>
          <p:cNvSpPr txBox="1"/>
          <p:nvPr>
            <p:custDataLst>
              <p:tags r:id="rId3"/>
            </p:custDataLst>
          </p:nvPr>
        </p:nvSpPr>
        <p:spPr>
          <a:xfrm>
            <a:off x="3236288" y="4590323"/>
            <a:ext cx="1081909" cy="523219"/>
          </a:xfrm>
          <a:prstGeom prst="roundRect">
            <a:avLst/>
          </a:prstGeom>
          <a:solidFill>
            <a:srgbClr val="EAAA00"/>
          </a:solidFill>
          <a:ln>
            <a:noFill/>
            <a:prstDash val="dash"/>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微软雅黑" charset="0"/>
                <a:ea typeface="微软雅黑" charset="0"/>
                <a:cs typeface="+mn-cs"/>
                <a:sym typeface="+mn-ea"/>
              </a:rPr>
              <a:t>谁来管？</a:t>
            </a:r>
            <a:endParaRPr kumimoji="0" lang="en-US" altLang="zh-CN" sz="1400" b="1" i="0" u="none" strike="noStrike" kern="1200" cap="none" spc="0" normalizeH="0" baseline="0" noProof="0">
              <a:ln>
                <a:noFill/>
              </a:ln>
              <a:solidFill>
                <a:prstClr val="white"/>
              </a:solidFill>
              <a:effectLst/>
              <a:uLnTx/>
              <a:uFillTx/>
              <a:latin typeface="微软雅黑" charset="0"/>
              <a:ea typeface="微软雅黑" charset="0"/>
              <a:cs typeface="+mn-cs"/>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prstClr val="white"/>
                </a:solidFill>
                <a:latin typeface="微软雅黑" charset="0"/>
                <a:ea typeface="微软雅黑" charset="0"/>
                <a:sym typeface="+mn-ea"/>
              </a:rPr>
              <a:t>怎么控？</a:t>
            </a:r>
            <a:endParaRPr kumimoji="0" lang="zh-CN" altLang="en-US" sz="1400" b="1" i="0" u="none" strike="noStrike" kern="1200" cap="none" spc="0" normalizeH="0" baseline="0" noProof="0" dirty="0">
              <a:ln>
                <a:noFill/>
              </a:ln>
              <a:solidFill>
                <a:prstClr val="white"/>
              </a:solidFill>
              <a:effectLst/>
              <a:uLnTx/>
              <a:uFillTx/>
              <a:latin typeface="微软雅黑" charset="0"/>
              <a:ea typeface="微软雅黑" charset="0"/>
              <a:cs typeface="+mn-c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四、专项讨论框架总览</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aphicFrame>
        <p:nvGraphicFramePr>
          <p:cNvPr id="19" name="Table 18"/>
          <p:cNvGraphicFramePr>
            <a:graphicFrameLocks noGrp="1"/>
          </p:cNvGraphicFramePr>
          <p:nvPr/>
        </p:nvGraphicFramePr>
        <p:xfrm>
          <a:off x="995363" y="1735437"/>
          <a:ext cx="10627686" cy="4497841"/>
        </p:xfrm>
        <a:graphic>
          <a:graphicData uri="http://schemas.openxmlformats.org/drawingml/2006/table">
            <a:tbl>
              <a:tblPr firstRow="1" bandRow="1"/>
              <a:tblGrid>
                <a:gridCol w="1321642"/>
                <a:gridCol w="1792008"/>
                <a:gridCol w="5129653"/>
                <a:gridCol w="2384383"/>
              </a:tblGrid>
              <a:tr h="454021">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层级</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分类</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输出成果</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0872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srgbClr val="111827"/>
                          </a:solidFill>
                          <a:latin typeface="微软雅黑"/>
                          <a:ea typeface="微软雅黑"/>
                          <a:cs typeface="微软雅黑"/>
                        </a:rPr>
                        <a:t>一、场景层面</a:t>
                      </a:r>
                      <a:endParaRPr lang="zh-CN"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1. </a:t>
                      </a:r>
                      <a:r>
                        <a:rPr lang="zh-CN" altLang="en-US" sz="1400" b="1">
                          <a:solidFill>
                            <a:srgbClr val="00338D"/>
                          </a:solidFill>
                          <a:latin typeface="微软雅黑"/>
                          <a:ea typeface="微软雅黑"/>
                          <a:cs typeface="微软雅黑"/>
                        </a:rPr>
                        <a:t>会员准入类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2. </a:t>
                      </a:r>
                      <a:r>
                        <a:rPr lang="zh-CN" altLang="en-US" sz="1400" b="1">
                          <a:solidFill>
                            <a:srgbClr val="00338D"/>
                          </a:solidFill>
                          <a:latin typeface="微软雅黑"/>
                          <a:ea typeface="微软雅黑"/>
                          <a:cs typeface="微软雅黑"/>
                        </a:rPr>
                        <a:t>风险限制类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3. </a:t>
                      </a:r>
                      <a:r>
                        <a:rPr lang="zh-CN" altLang="en-US" sz="1400" b="1">
                          <a:solidFill>
                            <a:srgbClr val="00338D"/>
                          </a:solidFill>
                          <a:latin typeface="微软雅黑"/>
                          <a:ea typeface="微软雅黑"/>
                          <a:cs typeface="微软雅黑"/>
                        </a:rPr>
                        <a:t>营销消费类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4. </a:t>
                      </a:r>
                      <a:r>
                        <a:rPr lang="zh-CN" altLang="en-US" sz="1400" b="1">
                          <a:solidFill>
                            <a:srgbClr val="00338D"/>
                          </a:solidFill>
                          <a:latin typeface="微软雅黑"/>
                          <a:ea typeface="微软雅黑"/>
                          <a:cs typeface="微软雅黑"/>
                        </a:rPr>
                        <a:t>服务补偿类</a:t>
                      </a:r>
                      <a:endParaRPr lang="zh-CN" altLang="en-US" sz="1400" b="0">
                        <a:solidFill>
                          <a:srgbClr val="00338D"/>
                        </a:solidFill>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90204" pitchFamily="34" charset="0"/>
                        <a:buNone/>
                        <a:defRPr/>
                      </a:pPr>
                      <a:r>
                        <a:rPr lang="zh-CN" altLang="en-US" sz="1400" b="0">
                          <a:solidFill>
                            <a:srgbClr val="111827"/>
                          </a:solidFill>
                          <a:latin typeface="微软雅黑"/>
                          <a:ea typeface="微软雅黑"/>
                          <a:cs typeface="微软雅黑"/>
                        </a:rPr>
                        <a:t>会员身份认证</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信息完善、会员黑名单</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注销、会员冻结</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扣分、营销活动触发、消费积分、第三方礼券、员工权益、城服维修补偿积分等</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sz="1400" b="1" kern="0">
                          <a:solidFill>
                            <a:schemeClr val="tx1"/>
                          </a:solidFill>
                          <a:latin typeface="微软雅黑"/>
                          <a:ea typeface="微软雅黑"/>
                          <a:cs typeface="+mn-cs"/>
                        </a:rPr>
                        <a:t>场景清单</a:t>
                      </a:r>
                      <a:endParaRPr lang="en-US" sz="1400" b="1" kern="0">
                        <a:solidFill>
                          <a:schemeClr val="tx1"/>
                        </a:solidFill>
                        <a:latin typeface="微软雅黑"/>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sz="1400" b="1" kern="0">
                          <a:solidFill>
                            <a:schemeClr val="tx1"/>
                          </a:solidFill>
                          <a:latin typeface="微软雅黑"/>
                          <a:ea typeface="微软雅黑"/>
                          <a:cs typeface="+mn-cs"/>
                        </a:rPr>
                        <a:t>触发条件</a:t>
                      </a:r>
                      <a:endParaRPr lang="en-US" sz="1400" b="1" kern="0">
                        <a:solidFill>
                          <a:schemeClr val="tx1"/>
                        </a:solidFill>
                        <a:latin typeface="微软雅黑"/>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sz="1400" b="1" kern="0">
                          <a:solidFill>
                            <a:schemeClr val="tx1"/>
                          </a:solidFill>
                          <a:latin typeface="微软雅黑"/>
                          <a:ea typeface="微软雅黑"/>
                          <a:cs typeface="+mn-cs"/>
                        </a:rPr>
                        <a:t>涉及部门</a:t>
                      </a:r>
                      <a:endParaRPr lang="en-US" sz="1400" b="1" kern="0">
                        <a:solidFill>
                          <a:schemeClr val="tx1"/>
                        </a:solidFill>
                        <a:latin typeface="微软雅黑"/>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52933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a:solidFill>
                            <a:srgbClr val="111827"/>
                          </a:solidFill>
                          <a:latin typeface="微软雅黑"/>
                          <a:ea typeface="微软雅黑"/>
                          <a:cs typeface="微软雅黑"/>
                        </a:rPr>
                        <a:t>二、规则层面</a:t>
                      </a:r>
                      <a:endParaRPr lang="zh-CN"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1. </a:t>
                      </a:r>
                      <a:r>
                        <a:rPr lang="zh-CN" altLang="en-US" sz="1400" b="1">
                          <a:solidFill>
                            <a:srgbClr val="00338D"/>
                          </a:solidFill>
                          <a:latin typeface="微软雅黑"/>
                          <a:ea typeface="微软雅黑"/>
                          <a:cs typeface="微软雅黑"/>
                        </a:rPr>
                        <a:t>权限数据类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2. </a:t>
                      </a:r>
                      <a:r>
                        <a:rPr lang="zh-CN" altLang="en-US" sz="1400" b="1">
                          <a:solidFill>
                            <a:srgbClr val="00338D"/>
                          </a:solidFill>
                          <a:latin typeface="微软雅黑"/>
                          <a:ea typeface="微软雅黑"/>
                          <a:cs typeface="微软雅黑"/>
                        </a:rPr>
                        <a:t>会员管理类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3. </a:t>
                      </a:r>
                      <a:r>
                        <a:rPr lang="zh-CN" altLang="en-US" sz="1400" b="1">
                          <a:solidFill>
                            <a:srgbClr val="00338D"/>
                          </a:solidFill>
                          <a:latin typeface="微软雅黑"/>
                          <a:ea typeface="微软雅黑"/>
                          <a:cs typeface="微软雅黑"/>
                        </a:rPr>
                        <a:t>积分运营类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4. </a:t>
                      </a:r>
                      <a:r>
                        <a:rPr lang="zh-CN" altLang="en-US" sz="1400" b="1">
                          <a:solidFill>
                            <a:srgbClr val="00338D"/>
                          </a:solidFill>
                          <a:latin typeface="微软雅黑"/>
                          <a:ea typeface="微软雅黑"/>
                          <a:cs typeface="微软雅黑"/>
                        </a:rPr>
                        <a:t>权益配置类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5. </a:t>
                      </a:r>
                      <a:r>
                        <a:rPr lang="zh-CN" altLang="en-US" sz="1400" b="1">
                          <a:solidFill>
                            <a:srgbClr val="00338D"/>
                          </a:solidFill>
                          <a:latin typeface="微软雅黑"/>
                          <a:ea typeface="微软雅黑"/>
                          <a:cs typeface="微软雅黑"/>
                        </a:rPr>
                        <a:t>风控管理类</a:t>
                      </a:r>
                      <a:endParaRPr lang="en-US" altLang="zh-CN"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6. </a:t>
                      </a:r>
                      <a:r>
                        <a:rPr lang="zh-CN" altLang="en-US" sz="1400" b="1">
                          <a:solidFill>
                            <a:srgbClr val="00338D"/>
                          </a:solidFill>
                          <a:latin typeface="微软雅黑"/>
                          <a:ea typeface="微软雅黑"/>
                          <a:cs typeface="微软雅黑"/>
                        </a:rPr>
                        <a:t>服务补偿类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7. </a:t>
                      </a:r>
                      <a:r>
                        <a:rPr lang="zh-CN" altLang="en-US" sz="1400" b="1">
                          <a:solidFill>
                            <a:srgbClr val="00338D"/>
                          </a:solidFill>
                          <a:latin typeface="微软雅黑"/>
                          <a:ea typeface="微软雅黑"/>
                          <a:cs typeface="微软雅黑"/>
                        </a:rPr>
                        <a:t>外部合作类</a:t>
                      </a:r>
                      <a:endParaRPr lang="zh-CN" altLang="en-US" sz="1400" b="0">
                        <a:solidFill>
                          <a:srgbClr val="00338D"/>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90204" pitchFamily="34" charset="0"/>
                        <a:buNone/>
                        <a:defRPr sz="1030" b="0">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权限及数据管理、会员成长值、标签库、积分发放及兑换、积分有效期、碳积分、权益配置、积分风控、礼券核销及结算等</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业务规则</a:t>
                      </a:r>
                      <a:endParaRPr lang="zh-CN" altLang="en-US" sz="1400" b="1" kern="0">
                        <a:solidFill>
                          <a:schemeClr val="tx1"/>
                        </a:solidFill>
                        <a:latin typeface="微软雅黑"/>
                        <a:ea typeface="微软雅黑"/>
                        <a:cs typeface="+mn-cs"/>
                      </a:endParaRPr>
                    </a:p>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参数口径</a:t>
                      </a:r>
                      <a:endParaRPr lang="zh-CN" altLang="en-US" sz="1400" b="1" kern="0">
                        <a:solidFill>
                          <a:schemeClr val="tx1"/>
                        </a:solidFill>
                        <a:latin typeface="微软雅黑"/>
                        <a:ea typeface="微软雅黑"/>
                        <a:cs typeface="+mn-cs"/>
                      </a:endParaRPr>
                    </a:p>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配置规则</a:t>
                      </a:r>
                      <a:endParaRPr lang="zh-CN" altLang="en-US" sz="1400" b="1" kern="0" dirty="0">
                        <a:solidFill>
                          <a:schemeClr val="tx1"/>
                        </a:solidFill>
                        <a:latin typeface="微软雅黑"/>
                        <a:ea typeface="微软雅黑"/>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18963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rgbClr val="111827"/>
                          </a:solidFill>
                          <a:latin typeface="微软雅黑"/>
                          <a:ea typeface="微软雅黑"/>
                          <a:cs typeface="微软雅黑"/>
                        </a:rPr>
                        <a:t>三、制度层面</a:t>
                      </a:r>
                      <a:endParaRPr lang="zh-CN" altLang="en-US" sz="1400" b="1" kern="120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1. </a:t>
                      </a:r>
                      <a:r>
                        <a:rPr lang="zh-CN" altLang="en-US" sz="1400" b="1">
                          <a:solidFill>
                            <a:srgbClr val="00338D"/>
                          </a:solidFill>
                          <a:latin typeface="微软雅黑"/>
                          <a:ea typeface="微软雅黑"/>
                          <a:cs typeface="微软雅黑"/>
                        </a:rPr>
                        <a:t>组织职责类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2. </a:t>
                      </a:r>
                      <a:r>
                        <a:rPr lang="zh-CN" altLang="en-US" sz="1400" b="1">
                          <a:solidFill>
                            <a:srgbClr val="00338D"/>
                          </a:solidFill>
                          <a:latin typeface="微软雅黑"/>
                          <a:ea typeface="微软雅黑"/>
                          <a:cs typeface="微软雅黑"/>
                        </a:rPr>
                        <a:t>清结算类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3. </a:t>
                      </a:r>
                      <a:r>
                        <a:rPr lang="zh-CN" altLang="en-US" sz="1400" b="1">
                          <a:solidFill>
                            <a:srgbClr val="00338D"/>
                          </a:solidFill>
                          <a:latin typeface="微软雅黑"/>
                          <a:ea typeface="微软雅黑"/>
                          <a:cs typeface="微软雅黑"/>
                        </a:rPr>
                        <a:t>权限审批类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4. </a:t>
                      </a:r>
                      <a:r>
                        <a:rPr lang="zh-CN" altLang="en-US" sz="1400" b="1">
                          <a:solidFill>
                            <a:srgbClr val="00338D"/>
                          </a:solidFill>
                          <a:latin typeface="微软雅黑"/>
                          <a:ea typeface="微软雅黑"/>
                          <a:cs typeface="微软雅黑"/>
                        </a:rPr>
                        <a:t>运营风控类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5. </a:t>
                      </a:r>
                      <a:r>
                        <a:rPr lang="zh-CN" altLang="en-US" sz="1400" b="1">
                          <a:solidFill>
                            <a:srgbClr val="00338D"/>
                          </a:solidFill>
                          <a:latin typeface="微软雅黑"/>
                          <a:ea typeface="微软雅黑"/>
                          <a:cs typeface="微软雅黑"/>
                        </a:rPr>
                        <a:t>合规管理类</a:t>
                      </a:r>
                      <a:endParaRPr lang="zh-CN" altLang="en-US" sz="1400" b="1">
                        <a:solidFill>
                          <a:srgbClr val="00338D"/>
                        </a:solidFill>
                        <a:latin typeface="微软雅黑"/>
                        <a:ea typeface="微软雅黑"/>
                        <a:cs typeface="微软雅黑"/>
                      </a:endParaRPr>
                    </a:p>
                    <a:p>
                      <a:pPr algn="l">
                        <a:defRPr sz="1350" b="1">
                          <a:solidFill>
                            <a:srgbClr val="111827"/>
                          </a:solidFill>
                          <a:latin typeface="微软雅黑"/>
                          <a:ea typeface="微软雅黑"/>
                          <a:cs typeface="微软雅黑"/>
                        </a:defRPr>
                      </a:pPr>
                      <a:r>
                        <a:rPr lang="en-US" altLang="zh-CN" sz="1400" b="1">
                          <a:solidFill>
                            <a:srgbClr val="00338D"/>
                          </a:solidFill>
                          <a:latin typeface="微软雅黑"/>
                          <a:ea typeface="微软雅黑"/>
                          <a:cs typeface="微软雅黑"/>
                        </a:rPr>
                        <a:t>6. </a:t>
                      </a:r>
                      <a:r>
                        <a:rPr lang="zh-CN" altLang="en-US" sz="1400" b="1">
                          <a:solidFill>
                            <a:srgbClr val="00338D"/>
                          </a:solidFill>
                          <a:latin typeface="微软雅黑"/>
                          <a:ea typeface="微软雅黑"/>
                          <a:cs typeface="微软雅黑"/>
                        </a:rPr>
                        <a:t>系统落地类</a:t>
                      </a:r>
                      <a:endParaRPr lang="zh-CN" altLang="en-US" sz="1400" b="0" dirty="0">
                        <a:solidFill>
                          <a:srgbClr val="00338D"/>
                        </a:solidFill>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90204" pitchFamily="34" charset="0"/>
                        <a:buNone/>
                        <a:defRPr/>
                      </a:pPr>
                      <a:r>
                        <a:rPr lang="zh-CN" altLang="en-US" sz="1400" b="0">
                          <a:solidFill>
                            <a:srgbClr val="111827"/>
                          </a:solidFill>
                          <a:latin typeface="微软雅黑"/>
                          <a:ea typeface="微软雅黑"/>
                          <a:cs typeface="微软雅黑"/>
                        </a:rPr>
                        <a:t>业务组织架构及运营职责分工、清结算及风控制度、积分发放</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调整审批制度、日报预警制度、合规机制、系统功能调整确认等</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管理制度</a:t>
                      </a:r>
                      <a:endParaRPr lang="zh-CN" altLang="en-US" sz="1400" b="1" kern="0">
                        <a:solidFill>
                          <a:schemeClr val="tx1"/>
                        </a:solidFill>
                        <a:latin typeface="微软雅黑"/>
                        <a:ea typeface="微软雅黑"/>
                        <a:cs typeface="+mn-cs"/>
                      </a:endParaRPr>
                    </a:p>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职责分工</a:t>
                      </a:r>
                      <a:endParaRPr lang="zh-CN" altLang="en-US" sz="1400" b="1" kern="0">
                        <a:solidFill>
                          <a:schemeClr val="tx1"/>
                        </a:solidFill>
                        <a:latin typeface="微软雅黑"/>
                        <a:ea typeface="微软雅黑"/>
                        <a:cs typeface="+mn-cs"/>
                      </a:endParaRPr>
                    </a:p>
                    <a:p>
                      <a:pPr algn="ctr">
                        <a:defRPr sz="1350" b="1">
                          <a:solidFill>
                            <a:srgbClr val="003B8E"/>
                          </a:solidFill>
                          <a:latin typeface="微软雅黑"/>
                          <a:ea typeface="微软雅黑"/>
                          <a:cs typeface="微软雅黑"/>
                        </a:defRPr>
                      </a:pPr>
                      <a:r>
                        <a:rPr lang="zh-CN" altLang="en-US" sz="1400" b="1" kern="0">
                          <a:solidFill>
                            <a:schemeClr val="tx1"/>
                          </a:solidFill>
                          <a:latin typeface="微软雅黑"/>
                          <a:ea typeface="微软雅黑"/>
                          <a:cs typeface="+mn-cs"/>
                        </a:rPr>
                        <a:t>审批流程</a:t>
                      </a:r>
                      <a:endParaRPr lang="zh-CN" altLang="en-US" sz="1400" b="1" kern="0">
                        <a:solidFill>
                          <a:schemeClr val="tx1"/>
                        </a:solidFill>
                        <a:latin typeface="微软雅黑"/>
                        <a:ea typeface="微软雅黑"/>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0" name="文本框 11"/>
          <p:cNvSpPr txBox="1"/>
          <p:nvPr/>
        </p:nvSpPr>
        <p:spPr>
          <a:xfrm>
            <a:off x="995363" y="1012785"/>
            <a:ext cx="10606926" cy="519976"/>
          </a:xfrm>
          <a:prstGeom prst="rect">
            <a:avLst/>
          </a:prstGeom>
          <a:solidFill>
            <a:srgbClr val="E3ECF8"/>
          </a:solidFill>
        </p:spPr>
        <p:txBody>
          <a:bodyPr wrap="square" lIns="54610" tIns="54610" rIns="54610" bIns="54610" rtlCol="0" anchor="ctr" anchorCtr="0">
            <a:noAutofit/>
          </a:bodyPr>
          <a:lstStyle>
            <a:defPPr>
              <a:defRPr lang="en-US"/>
            </a:defPPr>
            <a:lvl1pPr marL="285750" indent="-285750">
              <a:lnSpc>
                <a:spcPct val="120000"/>
              </a:lnSpc>
              <a:spcBef>
                <a:spcPts val="300"/>
              </a:spcBef>
              <a:buFont typeface="Arial" panose="020B0604020202090204" pitchFamily="34" charset="0"/>
              <a:buChar char="•"/>
              <a:defRPr sz="1600" kern="0">
                <a:latin typeface="微软雅黑"/>
                <a:ea typeface="微软雅黑"/>
              </a:defRPr>
            </a:lvl1pPr>
          </a:lstStyle>
          <a:p>
            <a:pPr marL="0" indent="0">
              <a:buNone/>
            </a:pPr>
            <a:r>
              <a:rPr lang="en-US" sz="1400" b="1">
                <a:solidFill>
                  <a:srgbClr val="C00000"/>
                </a:solidFill>
              </a:rPr>
              <a:t>注：</a:t>
            </a:r>
            <a:r>
              <a:rPr lang="zh-CN" altLang="en-US" sz="1400" b="1">
                <a:solidFill>
                  <a:srgbClr val="003B8E"/>
                </a:solidFill>
                <a:cs typeface="微软雅黑"/>
              </a:rPr>
              <a:t>讨论顺序建议：</a:t>
            </a:r>
            <a:r>
              <a:rPr lang="zh-CN" altLang="en-US" sz="1400">
                <a:solidFill>
                  <a:srgbClr val="003B8E"/>
                </a:solidFill>
                <a:cs typeface="微软雅黑"/>
              </a:rPr>
              <a:t>先把“用在哪些场景”定清楚，再把“每个场景的规则和参数”定清楚，最后形成“谁负责、怎么审批、怎么结算、怎么风控”的制度安排。</a:t>
            </a:r>
            <a:endParaRPr lang="zh-CN" altLang="en-US" sz="1400">
              <a:solidFill>
                <a:srgbClr val="003B8E"/>
              </a:solidFill>
              <a:cs typeface="微软雅黑"/>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、场景层面（</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1/2</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aphicFrame>
        <p:nvGraphicFramePr>
          <p:cNvPr id="2" name="Table 1"/>
          <p:cNvGraphicFramePr>
            <a:graphicFrameLocks noGrp="1"/>
          </p:cNvGraphicFramePr>
          <p:nvPr/>
        </p:nvGraphicFramePr>
        <p:xfrm>
          <a:off x="729144" y="1179854"/>
          <a:ext cx="10996009" cy="5226571"/>
        </p:xfrm>
        <a:graphic>
          <a:graphicData uri="http://schemas.openxmlformats.org/drawingml/2006/table">
            <a:tbl>
              <a:tblPr firstRow="1" bandRow="1"/>
              <a:tblGrid>
                <a:gridCol w="368323"/>
                <a:gridCol w="1321642"/>
                <a:gridCol w="2291787"/>
                <a:gridCol w="462987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a:latin typeface="微软雅黑" panose="020B0503020204020204" pitchFamily="34" charset="-122"/>
                          <a:ea typeface="微软雅黑" panose="020B0503020204020204" pitchFamily="34" charset="-122"/>
                        </a:rPr>
                        <a:t>1</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b="1">
                          <a:latin typeface="微软雅黑" panose="020B0503020204020204" pitchFamily="34" charset="-122"/>
                          <a:ea typeface="微软雅黑" panose="020B0503020204020204" pitchFamily="34" charset="-122"/>
                          <a:sym typeface="+mn-ea"/>
                        </a:rPr>
                        <a:t>会员准入类</a:t>
                      </a:r>
                      <a:endParaRPr lang="zh-CN" altLang="en-US" sz="1400" b="1"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会员身份认证</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信息完善场景</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梳理游客、住户、商户、业主、员工等不同身份的注册、认证、信息完善路径；</a:t>
                      </a:r>
                      <a:endParaRPr lang="en-US" altLang="zh-CN" sz="1400" b="0">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明确商业用户是否轻量注册，住户信息是否由一体化同步，身份完善后是否触发权益升级</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zh-CN" altLang="en-US" sz="1400" b="0">
                          <a:latin typeface="微软雅黑" panose="020B0503020204020204" pitchFamily="34" charset="-122"/>
                          <a:ea typeface="微软雅黑" panose="020B0503020204020204" pitchFamily="34" charset="-122"/>
                        </a:rPr>
                        <a:t>不强制用户必须实名身份认证</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对于非认证住户可以做引导</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比如完成认证可以享受对应权益</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763260">
                <a:tc>
                  <a:txBody>
                    <a:bodyPr/>
                    <a:lstStyle/>
                    <a:p>
                      <a:pPr algn="ctr">
                        <a:buNone/>
                      </a:pPr>
                      <a:r>
                        <a:rPr lang="en-US" altLang="en-US" sz="1400" b="0" dirty="0">
                          <a:latin typeface="微软雅黑" panose="020B0503020204020204" pitchFamily="34" charset="-122"/>
                          <a:ea typeface="微软雅黑" panose="020B0503020204020204" pitchFamily="34" charset="-122"/>
                        </a:rPr>
                        <a:t>2</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b="1">
                          <a:solidFill>
                            <a:srgbClr val="111827"/>
                          </a:solidFill>
                          <a:latin typeface="微软雅黑"/>
                          <a:ea typeface="微软雅黑"/>
                          <a:cs typeface="微软雅黑"/>
                        </a:rPr>
                        <a:t>风险限制类</a:t>
                      </a:r>
                      <a:endParaRPr lang="zh-TW"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会员黑名单</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注销场景</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rPr>
                        <a:t>梳理适用场景、触发条件、行为清单、合同依据及法律风险</a:t>
                      </a:r>
                      <a:endParaRPr lang="zh-CN" altLang="en-US" sz="1400" b="0" kern="1200">
                        <a:solidFill>
                          <a:schemeClr val="tx1"/>
                        </a:solidFill>
                        <a:latin typeface="微软雅黑" panose="020B0503020204020204" pitchFamily="34" charset="-122"/>
                        <a:ea typeface="微软雅黑" panose="020B0503020204020204" pitchFamily="34" charset="-122"/>
                        <a:cs typeface="+mn-cs"/>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rPr>
                        <a:t>明确黑名单用户是否无法注册或登录，已注册用户加入黑名单后是否冻结服务权限</a:t>
                      </a:r>
                      <a:endParaRPr lang="zh-CN" altLang="en-US" sz="1400" b="0" kern="1200">
                        <a:solidFill>
                          <a:schemeClr val="tx1"/>
                        </a:solidFill>
                        <a:latin typeface="微软雅黑" panose="020B0503020204020204" pitchFamily="34" charset="-122"/>
                        <a:ea typeface="微软雅黑" panose="020B0503020204020204" pitchFamily="34" charset="-122"/>
                        <a:cs typeface="+mn-cs"/>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rPr>
                        <a:t>明确会员注销后积分、权益、优惠券、历史记录如何处理</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r>
                        <a:rPr lang="zh-CN" altLang="en-US" sz="1400">
                          <a:latin typeface="微软雅黑" panose="020B0503020204020204" pitchFamily="34" charset="-122"/>
                          <a:ea typeface="微软雅黑" panose="020B0503020204020204" pitchFamily="34" charset="-122"/>
                          <a:sym typeface="+mn-ea"/>
                        </a:rPr>
                        <a:t>1. 针对违规用户（长期欠租、恶意刷积分等），限制使用系统服务，不过需要谨慎。在合规的前提下做限制</a:t>
                      </a:r>
                      <a:endParaRPr lang="zh-CN" altLang="en-US" sz="1400">
                        <a:latin typeface="微软雅黑" panose="020B0503020204020204" pitchFamily="34" charset="-122"/>
                        <a:ea typeface="微软雅黑" panose="020B0503020204020204" pitchFamily="34" charset="-122"/>
                        <a:sym typeface="+mn-ea"/>
                      </a:endParaRPr>
                    </a:p>
                    <a:p>
                      <a:pPr marL="0" indent="0" algn="l">
                        <a:buFont typeface="Wingdings" panose="05000000000000000000" pitchFamily="2" charset="2"/>
                        <a:buNone/>
                      </a:pPr>
                      <a:r>
                        <a:rPr lang="zh-CN" altLang="en-US" sz="1400">
                          <a:latin typeface="微软雅黑" panose="020B0503020204020204" pitchFamily="34" charset="-122"/>
                          <a:ea typeface="微软雅黑" panose="020B0503020204020204" pitchFamily="34" charset="-122"/>
                          <a:sym typeface="+mn-ea"/>
                        </a:rPr>
                        <a:t>2. 会员注销：提示积分、权益、优惠券也会清空</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r>
                        <a:rPr lang="en-US" sz="1400" b="0">
                          <a:latin typeface="微软雅黑" panose="020B0503020204020204" pitchFamily="34" charset="-122"/>
                          <a:ea typeface="微软雅黑" panose="020B0503020204020204" pitchFamily="34" charset="-122"/>
                        </a:rPr>
                        <a:t>3</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会员冻结</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扣分场景</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梳理冻结、扣分的适用场景、触发条件、行为清单、合同依据及法律风险；</a:t>
                      </a:r>
                      <a:endParaRPr lang="en-US" altLang="zh-CN" sz="1400" b="0">
                        <a:latin typeface="微软雅黑" panose="020B0503020204020204" pitchFamily="34" charset="-122"/>
                        <a:ea typeface="微软雅黑" panose="020B0503020204020204" pitchFamily="34" charset="-122"/>
                      </a:endParaRPr>
                    </a:p>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明确冻结后会员是否无法使用积分、领取权益</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en-US" altLang="zh-CN" sz="1400">
                          <a:latin typeface="微软雅黑" panose="020B0503020204020204" pitchFamily="34" charset="-122"/>
                          <a:ea typeface="微软雅黑" panose="020B0503020204020204" pitchFamily="34" charset="-122"/>
                          <a:sym typeface="+mn-ea"/>
                        </a:rPr>
                        <a:t>1. </a:t>
                      </a:r>
                      <a:r>
                        <a:rPr lang="zh-CN" altLang="en-US" sz="1400">
                          <a:latin typeface="微软雅黑" panose="020B0503020204020204" pitchFamily="34" charset="-122"/>
                          <a:ea typeface="微软雅黑" panose="020B0503020204020204" pitchFamily="34" charset="-122"/>
                          <a:sym typeface="+mn-ea"/>
                        </a:rPr>
                        <a:t>不建议做扣分的动作</a:t>
                      </a:r>
                      <a:endParaRPr lang="zh-CN" altLang="en-US" sz="1400">
                        <a:latin typeface="微软雅黑" panose="020B0503020204020204" pitchFamily="34" charset="-122"/>
                        <a:ea typeface="微软雅黑" panose="020B0503020204020204" pitchFamily="34" charset="-122"/>
                        <a:sym typeface="+mn-ea"/>
                      </a:endParaRPr>
                    </a:p>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en-US" altLang="zh-CN" sz="1400">
                          <a:latin typeface="微软雅黑" panose="020B0503020204020204" pitchFamily="34" charset="-122"/>
                          <a:ea typeface="微软雅黑" panose="020B0503020204020204" pitchFamily="34" charset="-122"/>
                          <a:sym typeface="+mn-ea"/>
                        </a:rPr>
                        <a:t>2. </a:t>
                      </a:r>
                      <a:r>
                        <a:rPr lang="zh-CN" altLang="en-US" sz="1400">
                          <a:latin typeface="微软雅黑" panose="020B0503020204020204" pitchFamily="34" charset="-122"/>
                          <a:ea typeface="微软雅黑" panose="020B0503020204020204" pitchFamily="34" charset="-122"/>
                          <a:sym typeface="+mn-ea"/>
                        </a:rPr>
                        <a:t>针对</a:t>
                      </a:r>
                      <a:r>
                        <a:rPr lang="zh-CN" altLang="en-US" sz="1400" dirty="0">
                          <a:latin typeface="微软雅黑" panose="020B0503020204020204" pitchFamily="34" charset="-122"/>
                          <a:ea typeface="微软雅黑" panose="020B0503020204020204" pitchFamily="34" charset="-122"/>
                          <a:sym typeface="+mn-ea"/>
                        </a:rPr>
                        <a:t>违规用户可冻结积分账户</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无法使用积分和权益</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buNone/>
                      </a:pPr>
                      <a:r>
                        <a:rPr lang="en-US" altLang="en-US" sz="1400" b="0" dirty="0">
                          <a:latin typeface="微软雅黑" panose="020B0503020204020204" pitchFamily="34" charset="-122"/>
                          <a:ea typeface="微软雅黑" panose="020B0503020204020204" pitchFamily="34" charset="-122"/>
                        </a:rPr>
                        <a:t>4</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营销消费类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营销活动触发场景</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梳理营销活动触发条件，如新会员注册、实名认证、长期未核销、特定标签人群、活动报名等，以提高用户粘性和积分消耗</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sz="1400">
                          <a:latin typeface="微软雅黑" panose="020B0503020204020204" pitchFamily="34" charset="-122"/>
                          <a:ea typeface="微软雅黑" panose="020B0503020204020204" pitchFamily="34" charset="-122"/>
                          <a:sym typeface="+mn-ea"/>
                        </a:rPr>
                        <a:t>新会员注册</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新入住</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满足特定标签</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发放优惠或者积分</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、场景层面（</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2/2</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aphicFrame>
        <p:nvGraphicFramePr>
          <p:cNvPr id="2" name="Table 1"/>
          <p:cNvGraphicFramePr>
            <a:graphicFrameLocks noGrp="1"/>
          </p:cNvGraphicFramePr>
          <p:nvPr/>
        </p:nvGraphicFramePr>
        <p:xfrm>
          <a:off x="729144" y="1179854"/>
          <a:ext cx="11002795" cy="5047326"/>
        </p:xfrm>
        <a:graphic>
          <a:graphicData uri="http://schemas.openxmlformats.org/drawingml/2006/table">
            <a:tbl>
              <a:tblPr firstRow="1" bandRow="1"/>
              <a:tblGrid>
                <a:gridCol w="368323"/>
                <a:gridCol w="1325880"/>
                <a:gridCol w="2295144"/>
                <a:gridCol w="4626864"/>
                <a:gridCol w="2386584"/>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dirty="0">
                          <a:latin typeface="微软雅黑" panose="020B0503020204020204" pitchFamily="34" charset="-122"/>
                          <a:ea typeface="微软雅黑" panose="020B0503020204020204" pitchFamily="34" charset="-122"/>
                        </a:rPr>
                        <a:t>5</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营销消费类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消费积分场景</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梳理第三方礼券、商业引流、员工折扣、达人认证、商业历史积分兑换城服服务等场景，明确合作方、成本承担及结算规则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altLang="zh-CN" sz="1400">
                          <a:latin typeface="微软雅黑" panose="020B0503020204020204" pitchFamily="34" charset="-122"/>
                          <a:ea typeface="微软雅黑" panose="020B0503020204020204" pitchFamily="34" charset="-122"/>
                          <a:sym typeface="+mn-ea"/>
                        </a:rPr>
                        <a:t>1. </a:t>
                      </a:r>
                      <a:r>
                        <a:rPr lang="zh-CN" altLang="en-US" sz="1400">
                          <a:latin typeface="微软雅黑" panose="020B0503020204020204" pitchFamily="34" charset="-122"/>
                          <a:ea typeface="微软雅黑" panose="020B0503020204020204" pitchFamily="34" charset="-122"/>
                          <a:sym typeface="+mn-ea"/>
                        </a:rPr>
                        <a:t>兑换虚拟礼券</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服务类</a:t>
                      </a:r>
                      <a:r>
                        <a:rPr lang="en-US" altLang="zh-CN" sz="1400">
                          <a:latin typeface="微软雅黑" panose="020B0503020204020204" pitchFamily="34" charset="-122"/>
                          <a:ea typeface="微软雅黑" panose="020B0503020204020204" pitchFamily="34" charset="-122"/>
                          <a:sym typeface="+mn-ea"/>
                        </a:rPr>
                        <a:t>；</a:t>
                      </a:r>
                      <a:endParaRPr lang="en-US" altLang="zh-CN" sz="1400">
                        <a:latin typeface="微软雅黑" panose="020B0503020204020204" pitchFamily="34" charset="-122"/>
                        <a:ea typeface="微软雅黑" panose="020B0503020204020204" pitchFamily="34" charset="-122"/>
                        <a:sym typeface="+mn-ea"/>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altLang="zh-CN" sz="1400">
                          <a:latin typeface="微软雅黑" panose="020B0503020204020204" pitchFamily="34" charset="-122"/>
                          <a:ea typeface="微软雅黑" panose="020B0503020204020204" pitchFamily="34" charset="-122"/>
                          <a:sym typeface="+mn-ea"/>
                        </a:rPr>
                        <a:t>2. </a:t>
                      </a:r>
                      <a:r>
                        <a:rPr lang="zh-CN" altLang="en-US" sz="1400">
                          <a:latin typeface="微软雅黑" panose="020B0503020204020204" pitchFamily="34" charset="-122"/>
                          <a:ea typeface="微软雅黑" panose="020B0503020204020204" pitchFamily="34" charset="-122"/>
                          <a:sym typeface="+mn-ea"/>
                        </a:rPr>
                        <a:t>兑换实物礼券</a:t>
                      </a:r>
                      <a:r>
                        <a:rPr lang="en-US" altLang="zh-CN" sz="1400">
                          <a:latin typeface="微软雅黑" panose="020B0503020204020204" pitchFamily="34" charset="-122"/>
                          <a:ea typeface="微软雅黑" panose="020B0503020204020204" pitchFamily="34" charset="-122"/>
                          <a:sym typeface="+mn-ea"/>
                        </a:rPr>
                        <a:t>；</a:t>
                      </a:r>
                      <a:endParaRPr lang="zh-CN" altLang="en-US" sz="1400">
                        <a:latin typeface="微软雅黑" panose="020B0503020204020204" pitchFamily="34" charset="-122"/>
                        <a:ea typeface="微软雅黑" panose="020B0503020204020204" pitchFamily="34" charset="-122"/>
                        <a:sym typeface="+mn-ea"/>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altLang="zh-CN" sz="1400">
                          <a:latin typeface="微软雅黑" panose="020B0503020204020204" pitchFamily="34" charset="-122"/>
                          <a:ea typeface="微软雅黑" panose="020B0503020204020204" pitchFamily="34" charset="-122"/>
                          <a:sym typeface="+mn-ea"/>
                        </a:rPr>
                        <a:t>3. </a:t>
                      </a:r>
                      <a:r>
                        <a:rPr lang="zh-CN" altLang="en-US" sz="1400">
                          <a:latin typeface="微软雅黑" panose="020B0503020204020204" pitchFamily="34" charset="-122"/>
                          <a:ea typeface="微软雅黑" panose="020B0503020204020204" pitchFamily="34" charset="-122"/>
                          <a:sym typeface="+mn-ea"/>
                        </a:rPr>
                        <a:t>兑换第三方礼券</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视频会员等</a:t>
                      </a:r>
                      <a:r>
                        <a:rPr lang="en-US" altLang="zh-CN" sz="1400">
                          <a:latin typeface="微软雅黑" panose="020B0503020204020204" pitchFamily="34" charset="-122"/>
                          <a:ea typeface="微软雅黑" panose="020B0503020204020204" pitchFamily="34" charset="-122"/>
                          <a:sym typeface="+mn-ea"/>
                        </a:rPr>
                        <a:t>；</a:t>
                      </a:r>
                      <a:endParaRPr lang="en-US" altLang="zh-CN"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140549">
                <a:tc>
                  <a:txBody>
                    <a:bodyPr/>
                    <a:lstStyle/>
                    <a:p>
                      <a:pPr algn="ctr">
                        <a:buNone/>
                      </a:pPr>
                      <a:r>
                        <a:rPr lang="en-US" altLang="en-US" sz="1400" b="0" dirty="0">
                          <a:latin typeface="微软雅黑" panose="020B0503020204020204" pitchFamily="34" charset="-122"/>
                          <a:ea typeface="微软雅黑" panose="020B0503020204020204" pitchFamily="34" charset="-122"/>
                        </a:rPr>
                        <a:t>6</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第三方礼券</a:t>
                      </a:r>
                      <a:r>
                        <a:rPr lang="en-US" altLang="zh-CN" sz="1400" b="0">
                          <a:solidFill>
                            <a:srgbClr val="111827"/>
                          </a:solidFill>
                          <a:latin typeface="微软雅黑"/>
                          <a:ea typeface="微软雅黑"/>
                          <a:cs typeface="微软雅黑"/>
                        </a:rPr>
                        <a:t>/</a:t>
                      </a:r>
                      <a:r>
                        <a:rPr lang="zh-CN" altLang="en-US" sz="1400" b="0">
                          <a:solidFill>
                            <a:srgbClr val="111827"/>
                          </a:solidFill>
                          <a:latin typeface="微软雅黑"/>
                          <a:ea typeface="微软雅黑"/>
                          <a:cs typeface="微软雅黑"/>
                        </a:rPr>
                        <a:t>外部合作权益场景</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sym typeface="+mn-ea"/>
                        </a:rPr>
                        <a:t>梳理外部合作方发券、平台引流、商户分成、住户优惠等场景，明确券从哪里来、谁承担成本、如何核销、如何结算</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r>
                        <a:rPr lang="zh-CN" altLang="en-US" sz="1400" dirty="0">
                          <a:latin typeface="微软雅黑" panose="020B0503020204020204" pitchFamily="34" charset="-122"/>
                          <a:ea typeface="微软雅黑" panose="020B0503020204020204" pitchFamily="34" charset="-122"/>
                          <a:sym typeface="+mn-ea"/>
                        </a:rPr>
                        <a:t>第三方礼券建议采用卡券密钥的形式</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发放卡券密钥</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去第三方平台核销</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更加灵活</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983848">
                <a:tc>
                  <a:txBody>
                    <a:bodyPr/>
                    <a:lstStyle/>
                    <a:p>
                      <a:pPr algn="ctr">
                        <a:buNone/>
                      </a:pPr>
                      <a:r>
                        <a:rPr lang="en-US" altLang="en-US" sz="1400" b="0" dirty="0">
                          <a:latin typeface="微软雅黑" panose="020B0503020204020204" pitchFamily="34" charset="-122"/>
                          <a:ea typeface="微软雅黑" panose="020B0503020204020204" pitchFamily="34" charset="-122"/>
                        </a:rPr>
                        <a:t>7</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l">
                        <a:defRPr sz="1350" b="1">
                          <a:solidFill>
                            <a:srgbClr val="111827"/>
                          </a:solidFill>
                          <a:latin typeface="微软雅黑"/>
                          <a:ea typeface="微软雅黑"/>
                          <a:cs typeface="微软雅黑"/>
                        </a:defRPr>
                      </a:pPr>
                      <a:r>
                        <a:rPr lang="zh-CN" altLang="en-US" sz="1400" b="0">
                          <a:latin typeface="微软雅黑" panose="020B0503020204020204" pitchFamily="34" charset="-122"/>
                          <a:ea typeface="微软雅黑" panose="020B0503020204020204" pitchFamily="34" charset="-122"/>
                        </a:rPr>
                        <a:t>员工权益场景</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a:latin typeface="微软雅黑" panose="020B0503020204020204" pitchFamily="34" charset="-122"/>
                          <a:ea typeface="微软雅黑" panose="020B0503020204020204" pitchFamily="34" charset="-122"/>
                        </a:rPr>
                        <a:t>明确是否面向全集团员工开放员工权益，员工身份是否作为独立会员类型，员工折扣、员工权益是否与客户权益隔离，成本由谁承担</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145894">
                <a:tc>
                  <a:txBody>
                    <a:bodyPr/>
                    <a:lstStyle/>
                    <a:p>
                      <a:pPr algn="ctr">
                        <a:buNone/>
                      </a:pPr>
                      <a:r>
                        <a:rPr lang="en-US" altLang="en-US" sz="1400" b="0" dirty="0">
                          <a:latin typeface="微软雅黑" panose="020B0503020204020204" pitchFamily="34" charset="-122"/>
                          <a:ea typeface="微软雅黑" panose="020B0503020204020204" pitchFamily="34" charset="-122"/>
                        </a:rPr>
                        <a:t>8</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服务补偿类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城服维修补偿积分场景 </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针对一次维修不好、二次维修仍未解决、维修超时等场景，梳理是否发放积分或权益补偿，明确触发条件、补偿标准、成本承担及客户安抚机制</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2</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、规则层面（</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1/3</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aphicFrame>
        <p:nvGraphicFramePr>
          <p:cNvPr id="2" name="Table 1"/>
          <p:cNvGraphicFramePr>
            <a:graphicFrameLocks noGrp="1"/>
          </p:cNvGraphicFramePr>
          <p:nvPr/>
        </p:nvGraphicFramePr>
        <p:xfrm>
          <a:off x="729144" y="1179854"/>
          <a:ext cx="11000594" cy="5457988"/>
        </p:xfrm>
        <a:graphic>
          <a:graphicData uri="http://schemas.openxmlformats.org/drawingml/2006/table">
            <a:tbl>
              <a:tblPr firstRow="1" bandRow="1"/>
              <a:tblGrid>
                <a:gridCol w="368323"/>
                <a:gridCol w="1325880"/>
                <a:gridCol w="2295144"/>
                <a:gridCol w="462686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a:latin typeface="微软雅黑" panose="020B0503020204020204" pitchFamily="34" charset="-122"/>
                          <a:ea typeface="微软雅黑" panose="020B0503020204020204" pitchFamily="34" charset="-122"/>
                        </a:rPr>
                        <a:t>1</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权限数据类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权限及数据管理规则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梳理会员信息查看、导出、跨部门授权、积分发放及调整等功能</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数据权限，建立分级分权、审批留痕和多级复核机制，形成系统运营管理规则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zh-CN" altLang="en-US" sz="1400">
                          <a:latin typeface="微软雅黑" panose="020B0503020204020204" pitchFamily="34" charset="-122"/>
                          <a:ea typeface="微软雅黑" panose="020B0503020204020204" pitchFamily="34" charset="-122"/>
                          <a:sym typeface="+mn-ea"/>
                        </a:rPr>
                        <a:t>系统支持根据角色配置对应菜单</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按钮权限</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组织权限</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374775">
                <a:tc>
                  <a:txBody>
                    <a:bodyPr/>
                    <a:lstStyle/>
                    <a:p>
                      <a:pPr algn="ctr">
                        <a:buNone/>
                      </a:pPr>
                      <a:r>
                        <a:rPr lang="en-US" altLang="en-US" sz="1400" b="0" dirty="0">
                          <a:latin typeface="微软雅黑" panose="020B0503020204020204" pitchFamily="34" charset="-122"/>
                          <a:ea typeface="微软雅黑" panose="020B0503020204020204" pitchFamily="34" charset="-122"/>
                        </a:rPr>
                        <a:t>2</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b="1">
                          <a:solidFill>
                            <a:srgbClr val="111827"/>
                          </a:solidFill>
                          <a:latin typeface="微软雅黑"/>
                          <a:ea typeface="微软雅黑"/>
                          <a:cs typeface="微软雅黑"/>
                        </a:rPr>
                        <a:t>会员管理类</a:t>
                      </a:r>
                      <a:endParaRPr lang="zh-TW"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会员成长值规则</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 typeface="Arial" panose="020B0604020202090204" pitchFamily="34" charset="0"/>
                        <a:buChar char="•"/>
                      </a:pPr>
                      <a:r>
                        <a:rPr lang="zh-CN" altLang="en-US" sz="1400">
                          <a:effectLst/>
                          <a:latin typeface="微软雅黑" panose="020B0503020204020204" pitchFamily="34" charset="-122"/>
                          <a:ea typeface="微软雅黑" panose="020B0503020204020204" pitchFamily="34" charset="-122"/>
                          <a:sym typeface="+mn-ea"/>
                        </a:rPr>
                        <a:t>会员划分几个等级</a:t>
                      </a:r>
                      <a:r>
                        <a:rPr lang="en-US" altLang="zh-CN" sz="1400">
                          <a:effectLst/>
                          <a:latin typeface="微软雅黑" panose="020B0503020204020204" pitchFamily="34" charset="-122"/>
                          <a:ea typeface="微软雅黑" panose="020B0503020204020204" pitchFamily="34" charset="-122"/>
                          <a:sym typeface="+mn-ea"/>
                        </a:rPr>
                        <a:t>，</a:t>
                      </a:r>
                      <a:r>
                        <a:rPr lang="zh-CN" altLang="en-US" sz="1400">
                          <a:effectLst/>
                          <a:latin typeface="微软雅黑" panose="020B0503020204020204" pitchFamily="34" charset="-122"/>
                          <a:ea typeface="微软雅黑" panose="020B0503020204020204" pitchFamily="34" charset="-122"/>
                          <a:sym typeface="+mn-ea"/>
                        </a:rPr>
                        <a:t>对应等级名称</a:t>
                      </a:r>
                      <a:r>
                        <a:rPr lang="en-US" altLang="zh-CN" sz="1400">
                          <a:effectLst/>
                          <a:latin typeface="微软雅黑" panose="020B0503020204020204" pitchFamily="34" charset="-122"/>
                          <a:ea typeface="微软雅黑" panose="020B0503020204020204" pitchFamily="34" charset="-122"/>
                          <a:sym typeface="+mn-ea"/>
                        </a:rPr>
                        <a:t>；</a:t>
                      </a:r>
                      <a:endParaRPr lang="en-US" altLang="zh-CN" sz="1400">
                        <a:effectLst/>
                        <a:latin typeface="微软雅黑" panose="020B0503020204020204" pitchFamily="34" charset="-122"/>
                        <a:ea typeface="微软雅黑" panose="020B0503020204020204" pitchFamily="34" charset="-122"/>
                        <a:sym typeface="+mn-ea"/>
                      </a:endParaRPr>
                    </a:p>
                    <a:p>
                      <a:pPr marL="285750" indent="-285750" algn="l">
                        <a:buFont typeface="Arial" panose="020B0604020202090204" pitchFamily="34" charset="0"/>
                        <a:buChar char="•"/>
                      </a:pPr>
                      <a:r>
                        <a:rPr lang="zh-CN" altLang="en-US" sz="1400">
                          <a:effectLst/>
                          <a:latin typeface="微软雅黑" panose="020B0503020204020204" pitchFamily="34" charset="-122"/>
                          <a:ea typeface="微软雅黑" panose="020B0503020204020204" pitchFamily="34" charset="-122"/>
                          <a:sym typeface="+mn-ea"/>
                        </a:rPr>
                        <a:t>每个会员等级需要多少成长值，以及成长值规则定义</a:t>
                      </a:r>
                      <a:r>
                        <a:rPr lang="en-US" altLang="zh-CN" sz="1400">
                          <a:effectLst/>
                          <a:latin typeface="微软雅黑" panose="020B0503020204020204" pitchFamily="34" charset="-122"/>
                          <a:ea typeface="微软雅黑" panose="020B0503020204020204" pitchFamily="34" charset="-122"/>
                          <a:sym typeface="+mn-ea"/>
                        </a:rPr>
                        <a:t>（</a:t>
                      </a:r>
                      <a:r>
                        <a:rPr lang="zh-CN" altLang="en-US" sz="1400">
                          <a:effectLst/>
                          <a:latin typeface="微软雅黑" panose="020B0503020204020204" pitchFamily="34" charset="-122"/>
                          <a:ea typeface="微软雅黑" panose="020B0503020204020204" pitchFamily="34" charset="-122"/>
                          <a:sym typeface="+mn-ea"/>
                        </a:rPr>
                        <a:t>积分比例</a:t>
                      </a:r>
                      <a:r>
                        <a:rPr lang="en-US" altLang="zh-CN" sz="1400">
                          <a:effectLst/>
                          <a:latin typeface="微软雅黑" panose="020B0503020204020204" pitchFamily="34" charset="-122"/>
                          <a:ea typeface="微软雅黑" panose="020B0503020204020204" pitchFamily="34" charset="-122"/>
                          <a:sym typeface="+mn-ea"/>
                        </a:rPr>
                        <a:t>、</a:t>
                      </a:r>
                      <a:r>
                        <a:rPr lang="zh-CN" altLang="en-US" sz="1400">
                          <a:effectLst/>
                          <a:latin typeface="微软雅黑" panose="020B0503020204020204" pitchFamily="34" charset="-122"/>
                          <a:ea typeface="微软雅黑" panose="020B0503020204020204" pitchFamily="34" charset="-122"/>
                          <a:sym typeface="+mn-ea"/>
                        </a:rPr>
                        <a:t>居住时长等</a:t>
                      </a:r>
                      <a:r>
                        <a:rPr lang="en-US" altLang="zh-CN" sz="1400">
                          <a:effectLst/>
                          <a:latin typeface="微软雅黑" panose="020B0503020204020204" pitchFamily="34" charset="-122"/>
                          <a:ea typeface="微软雅黑" panose="020B0503020204020204" pitchFamily="34" charset="-122"/>
                          <a:sym typeface="+mn-ea"/>
                        </a:rPr>
                        <a:t>）；</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buFont typeface="Arial" panose="020B0604020202090204" pitchFamily="34" charset="0"/>
                        <a:buNone/>
                      </a:pPr>
                      <a:r>
                        <a:rPr lang="en-US" altLang="zh-CN" sz="1400">
                          <a:effectLst/>
                          <a:latin typeface="微软雅黑" panose="020B0503020204020204" pitchFamily="34" charset="-122"/>
                          <a:ea typeface="微软雅黑" panose="020B0503020204020204" pitchFamily="34" charset="-122"/>
                          <a:sym typeface="+mn-ea"/>
                        </a:rPr>
                        <a:t>1. </a:t>
                      </a:r>
                      <a:r>
                        <a:rPr lang="zh-CN" altLang="en-US" sz="1400">
                          <a:effectLst/>
                          <a:latin typeface="微软雅黑" panose="020B0503020204020204" pitchFamily="34" charset="-122"/>
                          <a:ea typeface="微软雅黑" panose="020B0503020204020204" pitchFamily="34" charset="-122"/>
                          <a:sym typeface="+mn-ea"/>
                        </a:rPr>
                        <a:t>建议</a:t>
                      </a:r>
                      <a:r>
                        <a:rPr lang="en-US" altLang="zh-CN" sz="1400">
                          <a:effectLst/>
                          <a:latin typeface="微软雅黑" panose="020B0503020204020204" pitchFamily="34" charset="-122"/>
                          <a:ea typeface="微软雅黑" panose="020B0503020204020204" pitchFamily="34" charset="-122"/>
                          <a:sym typeface="+mn-ea"/>
                        </a:rPr>
                        <a:t>3</a:t>
                      </a:r>
                      <a:r>
                        <a:rPr lang="zh-CN" altLang="en-US" sz="1400">
                          <a:effectLst/>
                          <a:latin typeface="微软雅黑" panose="020B0503020204020204" pitchFamily="34" charset="-122"/>
                          <a:ea typeface="微软雅黑" panose="020B0503020204020204" pitchFamily="34" charset="-122"/>
                          <a:sym typeface="+mn-ea"/>
                        </a:rPr>
                        <a:t>或者</a:t>
                      </a:r>
                      <a:r>
                        <a:rPr lang="en-US" altLang="zh-CN" sz="1400">
                          <a:effectLst/>
                          <a:latin typeface="微软雅黑" panose="020B0503020204020204" pitchFamily="34" charset="-122"/>
                          <a:ea typeface="微软雅黑" panose="020B0503020204020204" pitchFamily="34" charset="-122"/>
                          <a:sym typeface="+mn-ea"/>
                        </a:rPr>
                        <a:t>4</a:t>
                      </a:r>
                      <a:r>
                        <a:rPr lang="zh-CN" altLang="en-US" sz="1400">
                          <a:effectLst/>
                          <a:latin typeface="微软雅黑" panose="020B0503020204020204" pitchFamily="34" charset="-122"/>
                          <a:ea typeface="微软雅黑" panose="020B0503020204020204" pitchFamily="34" charset="-122"/>
                          <a:sym typeface="+mn-ea"/>
                        </a:rPr>
                        <a:t>个等级</a:t>
                      </a:r>
                      <a:endParaRPr lang="zh-CN" altLang="en-US" sz="1400">
                        <a:effectLst/>
                        <a:latin typeface="微软雅黑" panose="020B0503020204020204" pitchFamily="34" charset="-122"/>
                        <a:ea typeface="微软雅黑" panose="020B0503020204020204" pitchFamily="34" charset="-122"/>
                        <a:sym typeface="+mn-ea"/>
                      </a:endParaRPr>
                    </a:p>
                    <a:p>
                      <a:pPr indent="0" algn="l">
                        <a:buFont typeface="Arial" panose="020B0604020202090204" pitchFamily="34" charset="0"/>
                        <a:buNone/>
                      </a:pPr>
                      <a:r>
                        <a:rPr lang="en-US" altLang="zh-CN" sz="1400">
                          <a:latin typeface="微软雅黑" panose="020B0503020204020204" pitchFamily="34" charset="-122"/>
                          <a:ea typeface="微软雅黑" panose="020B0503020204020204" pitchFamily="34" charset="-122"/>
                          <a:sym typeface="+mn-ea"/>
                        </a:rPr>
                        <a:t>2. </a:t>
                      </a:r>
                      <a:r>
                        <a:rPr lang="zh-CN" altLang="en-US" sz="1400">
                          <a:latin typeface="微软雅黑" panose="020B0503020204020204" pitchFamily="34" charset="-122"/>
                          <a:ea typeface="微软雅黑" panose="020B0503020204020204" pitchFamily="34" charset="-122"/>
                          <a:sym typeface="+mn-ea"/>
                        </a:rPr>
                        <a:t>等级成长规则前期简化</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按照积分数每积多少分对应多少成长值</a:t>
                      </a:r>
                      <a:r>
                        <a:rPr lang="en-US" altLang="zh-CN" sz="1400">
                          <a:latin typeface="微软雅黑" panose="020B0503020204020204" pitchFamily="34" charset="-122"/>
                          <a:ea typeface="微软雅黑" panose="020B0503020204020204" pitchFamily="34" charset="-122"/>
                          <a:sym typeface="+mn-ea"/>
                        </a:rPr>
                        <a:t>】</a:t>
                      </a:r>
                      <a:endParaRPr lang="en-US" altLang="zh-CN" sz="1400">
                        <a:latin typeface="微软雅黑" panose="020B0503020204020204" pitchFamily="34" charset="-122"/>
                        <a:ea typeface="微软雅黑" panose="020B0503020204020204" pitchFamily="34" charset="-122"/>
                        <a:sym typeface="+mn-ea"/>
                      </a:endParaRPr>
                    </a:p>
                    <a:p>
                      <a:pPr indent="0" algn="l">
                        <a:buFont typeface="Arial" panose="020B0604020202090204" pitchFamily="34" charset="0"/>
                        <a:buNone/>
                      </a:pPr>
                      <a:r>
                        <a:rPr lang="en-US" altLang="zh-CN" sz="1400" dirty="0">
                          <a:latin typeface="微软雅黑" panose="020B0503020204020204" pitchFamily="34" charset="-122"/>
                          <a:ea typeface="微软雅黑" panose="020B0503020204020204" pitchFamily="34" charset="-122"/>
                          <a:sym typeface="+mn-ea"/>
                        </a:rPr>
                        <a:t>3. </a:t>
                      </a:r>
                      <a:r>
                        <a:rPr lang="zh-CN" altLang="en-US" sz="1400" dirty="0">
                          <a:latin typeface="微软雅黑" panose="020B0503020204020204" pitchFamily="34" charset="-122"/>
                          <a:ea typeface="微软雅黑" panose="020B0503020204020204" pitchFamily="34" charset="-122"/>
                          <a:sym typeface="+mn-ea"/>
                        </a:rPr>
                        <a:t>成长值不做扣减</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r>
                        <a:rPr lang="en-US" sz="1400" b="0">
                          <a:latin typeface="微软雅黑" panose="020B0503020204020204" pitchFamily="34" charset="-122"/>
                          <a:ea typeface="微软雅黑" panose="020B0503020204020204" pitchFamily="34" charset="-122"/>
                        </a:rPr>
                        <a:t>3</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标签库管理规则</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明确标签新增、维护、审核、下线机制及权限隔离方式；一线部门以使用和反馈为主，统筹部门定期收集反馈并更新标签库</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buNone/>
                      </a:pPr>
                      <a:r>
                        <a:rPr lang="en-US" altLang="en-US" sz="1400" b="0" dirty="0">
                          <a:latin typeface="微软雅黑" panose="020B0503020204020204" pitchFamily="34" charset="-122"/>
                          <a:ea typeface="微软雅黑" panose="020B0503020204020204" pitchFamily="34" charset="-122"/>
                        </a:rPr>
                        <a:t>4</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积分运营类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积分发放及兑换规则</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dirty="0">
                          <a:latin typeface="微软雅黑" panose="020B0503020204020204" pitchFamily="34" charset="-122"/>
                          <a:ea typeface="微软雅黑" panose="020B0503020204020204" pitchFamily="34" charset="-122"/>
                          <a:sym typeface="+mn-ea"/>
                        </a:rPr>
                        <a:t>积分的命名</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比如龙湖</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龙珠</a:t>
                      </a:r>
                      <a:r>
                        <a:rPr lang="en-US" altLang="zh-CN" sz="1400" dirty="0">
                          <a:latin typeface="微软雅黑" panose="020B0503020204020204" pitchFamily="34" charset="-122"/>
                          <a:ea typeface="微软雅黑" panose="020B0503020204020204" pitchFamily="34" charset="-122"/>
                          <a:sym typeface="+mn-ea"/>
                        </a:rPr>
                        <a:t>）</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dirty="0">
                          <a:latin typeface="微软雅黑" panose="020B0503020204020204" pitchFamily="34" charset="-122"/>
                          <a:ea typeface="微软雅黑" panose="020B0503020204020204" pitchFamily="34" charset="-122"/>
                          <a:sym typeface="+mn-ea"/>
                        </a:rPr>
                        <a:t>积分发放</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发放规则以及审批机制</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dirty="0">
                          <a:latin typeface="微软雅黑" panose="020B0503020204020204" pitchFamily="34" charset="-122"/>
                          <a:ea typeface="微软雅黑" panose="020B0503020204020204" pitchFamily="34" charset="-122"/>
                          <a:sym typeface="+mn-ea"/>
                        </a:rPr>
                        <a:t>积分的兑换比例</a:t>
                      </a:r>
                      <a:endParaRPr lang="zh-CN" altLang="en-US" sz="1400" dirty="0">
                        <a:latin typeface="微软雅黑" panose="020B0503020204020204" pitchFamily="34" charset="-122"/>
                        <a:ea typeface="微软雅黑" panose="020B0503020204020204" pitchFamily="34" charset="-122"/>
                        <a:sym typeface="+mn-ea"/>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rPr>
                        <a:t>是否支持积分清零</a:t>
                      </a:r>
                      <a:r>
                        <a:rPr lang="en-US" altLang="zh-CN" sz="1400" b="0" kern="1200" dirty="0">
                          <a:solidFill>
                            <a:schemeClr val="tx1"/>
                          </a:solidFill>
                          <a:latin typeface="微软雅黑" panose="020B0503020204020204" pitchFamily="34" charset="-122"/>
                          <a:ea typeface="微软雅黑" panose="020B0503020204020204" pitchFamily="34" charset="-122"/>
                          <a:cs typeface="+mn-cs"/>
                          <a:sym typeface="+mn-ea"/>
                        </a:rPr>
                        <a:t>（</a:t>
                      </a:r>
                      <a:r>
                        <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rPr>
                        <a:t>商业</a:t>
                      </a:r>
                      <a:r>
                        <a:rPr lang="en-US" altLang="zh-CN" sz="1400" b="0" kern="1200" dirty="0">
                          <a:solidFill>
                            <a:schemeClr val="tx1"/>
                          </a:solidFill>
                          <a:latin typeface="微软雅黑" panose="020B0503020204020204" pitchFamily="34" charset="-122"/>
                          <a:ea typeface="微软雅黑" panose="020B0503020204020204" pitchFamily="34" charset="-122"/>
                          <a:cs typeface="+mn-cs"/>
                          <a:sym typeface="+mn-ea"/>
                        </a:rPr>
                        <a:t>）</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dirty="0">
                          <a:latin typeface="微软雅黑" panose="020B0503020204020204" pitchFamily="34" charset="-122"/>
                          <a:ea typeface="微软雅黑" panose="020B0503020204020204" pitchFamily="34" charset="-122"/>
                          <a:sym typeface="+mn-ea"/>
                        </a:rPr>
                        <a:t>积分的通用价值定义</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sz="1400" dirty="0">
                          <a:latin typeface="微软雅黑" panose="020B0503020204020204" pitchFamily="34" charset="-122"/>
                          <a:ea typeface="微软雅黑" panose="020B0503020204020204" pitchFamily="34" charset="-122"/>
                          <a:sym typeface="+mn-ea"/>
                        </a:rPr>
                        <a:t>定义积分统一价值</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一积分统一对应多少人民币</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2</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、规则层面（</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2/3</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graphicFrame>
        <p:nvGraphicFramePr>
          <p:cNvPr id="2" name="Table 1"/>
          <p:cNvGraphicFramePr>
            <a:graphicFrameLocks noGrp="1"/>
          </p:cNvGraphicFramePr>
          <p:nvPr/>
        </p:nvGraphicFramePr>
        <p:xfrm>
          <a:off x="729144" y="1179854"/>
          <a:ext cx="11000594" cy="5078751"/>
        </p:xfrm>
        <a:graphic>
          <a:graphicData uri="http://schemas.openxmlformats.org/drawingml/2006/table">
            <a:tbl>
              <a:tblPr firstRow="1" bandRow="1"/>
              <a:tblGrid>
                <a:gridCol w="368323"/>
                <a:gridCol w="1325880"/>
                <a:gridCol w="2295144"/>
                <a:gridCol w="462686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dirty="0">
                          <a:latin typeface="微软雅黑" panose="020B0503020204020204" pitchFamily="34" charset="-122"/>
                          <a:ea typeface="微软雅黑" panose="020B0503020204020204" pitchFamily="34" charset="-122"/>
                        </a:rPr>
                        <a:t>5</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积分运营类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积分有效期规则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明确不同客群、不同积分类型是否设置有效期；商业积分可延续原有有效期规则，住户端积分是否不设置有效期、仅阶段性提醒兑换</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615440">
                <a:tc>
                  <a:txBody>
                    <a:bodyPr/>
                    <a:lstStyle/>
                    <a:p>
                      <a:pPr algn="ctr">
                        <a:buNone/>
                      </a:pPr>
                      <a:r>
                        <a:rPr lang="en-US" altLang="en-US" sz="1400" b="0" dirty="0">
                          <a:latin typeface="微软雅黑" panose="020B0503020204020204" pitchFamily="34" charset="-122"/>
                          <a:ea typeface="微软雅黑" panose="020B0503020204020204" pitchFamily="34" charset="-122"/>
                        </a:rPr>
                        <a:t>6</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碳积分兑换及发放规则</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sym typeface="+mn-ea"/>
                        </a:rPr>
                        <a:t>明确碳积分与消费积分换算比例，结合绿色低碳政策导向和“十五五”相关要求，研究是否设置高于普通积分的兑换系数</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r>
                        <a:rPr lang="zh-CN" altLang="en-US" sz="1400" dirty="0">
                          <a:latin typeface="微软雅黑" panose="020B0503020204020204" pitchFamily="34" charset="-122"/>
                          <a:ea typeface="微软雅黑" panose="020B0503020204020204" pitchFamily="34" charset="-122"/>
                          <a:sym typeface="+mn-ea"/>
                        </a:rPr>
                        <a:t>系统支持配置</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前期需要确定兑换比例</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r>
                        <a:rPr lang="en-US" sz="1400" b="0" dirty="0">
                          <a:latin typeface="微软雅黑" panose="020B0503020204020204" pitchFamily="34" charset="-122"/>
                          <a:ea typeface="微软雅黑" panose="020B0503020204020204" pitchFamily="34" charset="-122"/>
                        </a:rPr>
                        <a:t>7</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权益配置类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权益配置规则</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明确不同会员等级、不同身份标签对应的权益类型、发放条件、展示规则和成本承担方式；解决权益清结算成本归属问题</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843138">
                <a:tc>
                  <a:txBody>
                    <a:bodyPr/>
                    <a:lstStyle/>
                    <a:p>
                      <a:pPr algn="ctr">
                        <a:buNone/>
                      </a:pPr>
                      <a:r>
                        <a:rPr lang="en-US" altLang="en-US" sz="1400" b="0" dirty="0">
                          <a:latin typeface="微软雅黑" panose="020B0503020204020204" pitchFamily="34" charset="-122"/>
                          <a:ea typeface="微软雅黑" panose="020B0503020204020204" pitchFamily="34" charset="-122"/>
                        </a:rPr>
                        <a:t>8</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风控管理类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积分风控规则</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设置单会员单日</a:t>
                      </a:r>
                      <a:r>
                        <a:rPr lang="en-US" altLang="zh-CN" sz="1400" b="0" kern="1200">
                          <a:solidFill>
                            <a:schemeClr val="tx1"/>
                          </a:solidFill>
                          <a:effectLst/>
                          <a:latin typeface="微软雅黑" panose="020B0503020204020204" pitchFamily="34" charset="-122"/>
                          <a:ea typeface="微软雅黑" panose="020B0503020204020204" pitchFamily="34" charset="-122"/>
                          <a:cs typeface="+mn-cs"/>
                        </a:rPr>
                        <a:t>/</a:t>
                      </a: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单月领取积分上限、消费积分上限、异常兑分预警、活动超额预警等规则</a:t>
                      </a:r>
                      <a:endParaRPr lang="zh-CN" altLang="en-US" sz="1400" b="0" kern="1200">
                        <a:solidFill>
                          <a:schemeClr val="tx1"/>
                        </a:solidFill>
                        <a:effectLst/>
                        <a:latin typeface="微软雅黑" panose="020B0503020204020204" pitchFamily="34" charset="-122"/>
                        <a:ea typeface="微软雅黑" panose="020B0503020204020204" pitchFamily="34" charset="-122"/>
                        <a:cs typeface="+mn-cs"/>
                      </a:endParaRPr>
                    </a:p>
                    <a:p>
                      <a:pPr marL="285750" indent="-285750" algn="l">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sym typeface="+mn-ea"/>
                        </a:rPr>
                        <a:t>触发风控</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预警</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拦截且预警的场景</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sz="1400">
                          <a:latin typeface="微软雅黑" panose="020B0503020204020204" pitchFamily="34" charset="-122"/>
                          <a:ea typeface="微软雅黑" panose="020B0503020204020204" pitchFamily="34" charset="-122"/>
                          <a:sym typeface="+mn-ea"/>
                        </a:rPr>
                        <a:t>前期只做异常</a:t>
                      </a:r>
                      <a:r>
                        <a:rPr lang="zh-CN" altLang="en-US" sz="1400" dirty="0">
                          <a:latin typeface="微软雅黑" panose="020B0503020204020204" pitchFamily="34" charset="-122"/>
                          <a:ea typeface="微软雅黑" panose="020B0503020204020204" pitchFamily="34" charset="-122"/>
                          <a:sym typeface="+mn-ea"/>
                        </a:rPr>
                        <a:t>风控的预警</a:t>
                      </a: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lvl="0">
              <a:defRPr/>
            </a:pPr>
            <a:r>
              <a:rPr lang="en-US" altLang="zh-CN">
                <a:solidFill>
                  <a:srgbClr val="00338D"/>
                </a:solidFill>
              </a:rPr>
              <a:t>2</a:t>
            </a:r>
            <a:r>
              <a:rPr lang="zh-CN" altLang="en-US">
                <a:solidFill>
                  <a:srgbClr val="00338D"/>
                </a:solidFill>
              </a:rPr>
              <a:t>、规则层面（</a:t>
            </a:r>
            <a:r>
              <a:rPr lang="en-US" altLang="zh-CN">
                <a:solidFill>
                  <a:srgbClr val="00338D"/>
                </a:solidFill>
              </a:rPr>
              <a:t>3/3</a:t>
            </a:r>
            <a:r>
              <a:rPr lang="zh-CN" altLang="en-US">
                <a:solidFill>
                  <a:srgbClr val="00338D"/>
                </a:solidFill>
              </a:rPr>
              <a:t>）</a:t>
            </a:r>
            <a:endParaRPr lang="en-GB" dirty="0">
              <a:solidFill>
                <a:srgbClr val="00338D"/>
              </a:solidFill>
            </a:endParaRPr>
          </a:p>
        </p:txBody>
      </p:sp>
      <p:graphicFrame>
        <p:nvGraphicFramePr>
          <p:cNvPr id="2" name="Table 1"/>
          <p:cNvGraphicFramePr>
            <a:graphicFrameLocks noGrp="1"/>
          </p:cNvGraphicFramePr>
          <p:nvPr/>
        </p:nvGraphicFramePr>
        <p:xfrm>
          <a:off x="729144" y="1179854"/>
          <a:ext cx="11000594" cy="3544413"/>
        </p:xfrm>
        <a:graphic>
          <a:graphicData uri="http://schemas.openxmlformats.org/drawingml/2006/table">
            <a:tbl>
              <a:tblPr firstRow="1" bandRow="1"/>
              <a:tblGrid>
                <a:gridCol w="481965"/>
                <a:gridCol w="1212238"/>
                <a:gridCol w="2295144"/>
                <a:gridCol w="462686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dirty="0">
                          <a:latin typeface="微软雅黑" panose="020B0503020204020204" pitchFamily="34" charset="-122"/>
                          <a:ea typeface="微软雅黑" panose="020B0503020204020204" pitchFamily="34" charset="-122"/>
                        </a:rPr>
                        <a:t>9</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服务补偿类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城服维修补偿积分规则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明确维修超时、一次维修不好、二次维修仍未解决等场景下的积分或权益补偿标准，提前设定游戏规则，避免临时人工判断</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767378">
                <a:tc>
                  <a:txBody>
                    <a:bodyPr/>
                    <a:lstStyle/>
                    <a:p>
                      <a:pPr algn="ctr">
                        <a:buNone/>
                      </a:pPr>
                      <a:r>
                        <a:rPr lang="en-US" altLang="en-US" sz="1400" b="0" dirty="0">
                          <a:latin typeface="微软雅黑" panose="020B0503020204020204" pitchFamily="34" charset="-122"/>
                          <a:ea typeface="微软雅黑" panose="020B0503020204020204" pitchFamily="34" charset="-122"/>
                        </a:rPr>
                        <a:t>10</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b="1">
                          <a:solidFill>
                            <a:srgbClr val="111827"/>
                          </a:solidFill>
                          <a:latin typeface="微软雅黑"/>
                          <a:ea typeface="微软雅黑"/>
                          <a:cs typeface="微软雅黑"/>
                        </a:rPr>
                        <a:t>外部合作类</a:t>
                      </a:r>
                      <a:endParaRPr lang="zh-TW"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第三方礼券核销及结算规则</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sym typeface="+mn-ea"/>
                        </a:rPr>
                        <a:t>明确外部礼券发放、领取、核销、库存、分成、成本承担及结算周期，避免营销活动上线后无法对账</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r>
                        <a:rPr lang="zh-CN" altLang="en-US" sz="1400" dirty="0">
                          <a:latin typeface="微软雅黑" panose="020B0503020204020204" pitchFamily="34" charset="-122"/>
                          <a:ea typeface="微软雅黑" panose="020B0503020204020204" pitchFamily="34" charset="-122"/>
                          <a:sym typeface="+mn-ea"/>
                        </a:rPr>
                        <a:t>第三方礼券建议采用卡券密钥的形式</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发放卡券密钥</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去第三方平台核销</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更加灵活</a:t>
                      </a:r>
                      <a:endParaRPr lang="zh-CN" altLang="en-US" sz="1400" dirty="0">
                        <a:latin typeface="微软雅黑" panose="020B0503020204020204" pitchFamily="34" charset="-122"/>
                        <a:ea typeface="微软雅黑" panose="020B0503020204020204" pitchFamily="34" charset="-122"/>
                        <a:sym typeface="+mn-ea"/>
                      </a:endParaRPr>
                    </a:p>
                    <a:p>
                      <a:pPr marL="0" indent="0" algn="l">
                        <a:buFont typeface="Wingdings" panose="05000000000000000000" pitchFamily="2" charset="2"/>
                        <a:buNone/>
                      </a:pP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lvl="0">
              <a:defRPr/>
            </a:pPr>
            <a:r>
              <a:rPr lang="en-US" altLang="zh-CN">
                <a:solidFill>
                  <a:srgbClr val="00338D"/>
                </a:solidFill>
              </a:rPr>
              <a:t>3</a:t>
            </a:r>
            <a:r>
              <a:rPr lang="zh-CN" altLang="en-US">
                <a:solidFill>
                  <a:srgbClr val="00338D"/>
                </a:solidFill>
              </a:rPr>
              <a:t>、制度层面（</a:t>
            </a:r>
            <a:r>
              <a:rPr lang="en-US" altLang="zh-CN">
                <a:solidFill>
                  <a:srgbClr val="00338D"/>
                </a:solidFill>
              </a:rPr>
              <a:t>1/2</a:t>
            </a:r>
            <a:r>
              <a:rPr lang="zh-CN" altLang="en-US">
                <a:solidFill>
                  <a:srgbClr val="00338D"/>
                </a:solidFill>
              </a:rPr>
              <a:t>）</a:t>
            </a:r>
            <a:endParaRPr lang="en-GB" dirty="0">
              <a:solidFill>
                <a:srgbClr val="00338D"/>
              </a:solidFill>
            </a:endParaRPr>
          </a:p>
        </p:txBody>
      </p:sp>
      <p:graphicFrame>
        <p:nvGraphicFramePr>
          <p:cNvPr id="2" name="Table 1"/>
          <p:cNvGraphicFramePr>
            <a:graphicFrameLocks noGrp="1"/>
          </p:cNvGraphicFramePr>
          <p:nvPr/>
        </p:nvGraphicFramePr>
        <p:xfrm>
          <a:off x="729144" y="1179854"/>
          <a:ext cx="11000594" cy="5079035"/>
        </p:xfrm>
        <a:graphic>
          <a:graphicData uri="http://schemas.openxmlformats.org/drawingml/2006/table">
            <a:tbl>
              <a:tblPr firstRow="1" bandRow="1"/>
              <a:tblGrid>
                <a:gridCol w="368323"/>
                <a:gridCol w="1325880"/>
                <a:gridCol w="2295144"/>
                <a:gridCol w="462686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a:latin typeface="微软雅黑" panose="020B0503020204020204" pitchFamily="34" charset="-122"/>
                          <a:ea typeface="微软雅黑" panose="020B0503020204020204" pitchFamily="34" charset="-122"/>
                        </a:rPr>
                        <a:t>1</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组织职责类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业务组织架构及运营职责分工</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明确会员积分日常运营统筹部门、各业务板块责任人、专项小组组成，以及财务、审计法务、数营、安技、业务部门的职责边界</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zh-CN" altLang="en-US" sz="1400">
                          <a:latin typeface="微软雅黑" panose="020B0503020204020204" pitchFamily="34" charset="-122"/>
                          <a:ea typeface="微软雅黑" panose="020B0503020204020204" pitchFamily="34" charset="-122"/>
                          <a:sym typeface="+mn-ea"/>
                        </a:rPr>
                        <a:t>系统支持按照角色配置对应菜单权限</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按钮权限</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组织权限</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146810">
                <a:tc>
                  <a:txBody>
                    <a:bodyPr/>
                    <a:lstStyle/>
                    <a:p>
                      <a:pPr algn="ctr">
                        <a:buNone/>
                      </a:pPr>
                      <a:r>
                        <a:rPr lang="en-US" altLang="en-US" sz="1400" b="0" dirty="0">
                          <a:latin typeface="微软雅黑" panose="020B0503020204020204" pitchFamily="34" charset="-122"/>
                          <a:ea typeface="微软雅黑" panose="020B0503020204020204" pitchFamily="34" charset="-122"/>
                        </a:rPr>
                        <a:t>2</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b="1">
                          <a:solidFill>
                            <a:srgbClr val="111827"/>
                          </a:solidFill>
                          <a:latin typeface="微软雅黑"/>
                          <a:ea typeface="微软雅黑"/>
                          <a:cs typeface="微软雅黑"/>
                        </a:rPr>
                        <a:t>清结算类</a:t>
                      </a:r>
                      <a:endParaRPr lang="zh-TW"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清结算及风控制度</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sym typeface="+mn-ea"/>
                        </a:rPr>
                        <a:t>成立会员积分清结算专项小组，纳入财务部参与，明确发分、兑分、成本承担、对账、报表、异常调整、营销额度及预警拦截规则</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Font typeface="Wingdings" panose="05000000000000000000" pitchFamily="2" charset="2"/>
                        <a:buNone/>
                      </a:pP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058545">
                <a:tc>
                  <a:txBody>
                    <a:bodyPr/>
                    <a:lstStyle/>
                    <a:p>
                      <a:pPr algn="ctr"/>
                      <a:r>
                        <a:rPr lang="en-US" sz="1400" b="0">
                          <a:latin typeface="微软雅黑" panose="020B0503020204020204" pitchFamily="34" charset="-122"/>
                          <a:ea typeface="微软雅黑" panose="020B0503020204020204" pitchFamily="34" charset="-122"/>
                        </a:rPr>
                        <a:t>3</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rgbClr val="111827"/>
                          </a:solidFill>
                          <a:latin typeface="微软雅黑"/>
                          <a:ea typeface="微软雅黑"/>
                          <a:cs typeface="+mn-cs"/>
                        </a:rPr>
                        <a:t>权限审批类</a:t>
                      </a:r>
                      <a:endParaRPr lang="zh-CN" altLang="en-US" sz="1400" b="1" kern="1200" dirty="0">
                        <a:solidFill>
                          <a:srgbClr val="111827"/>
                        </a:solidFill>
                        <a:latin typeface="微软雅黑"/>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积分发放、调整审批制度</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建立积分发放、积分调整、临时兑换规则配置的闭环审批和权限制度；积分手动调整需提交审核，大额或敏感操作需多级复核</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sz="1400">
                          <a:latin typeface="微软雅黑" panose="020B0503020204020204" pitchFamily="34" charset="-122"/>
                          <a:ea typeface="微软雅黑" panose="020B0503020204020204" pitchFamily="34" charset="-122"/>
                          <a:sym typeface="+mn-ea"/>
                        </a:rPr>
                        <a:t>建议由最终的统筹部门</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096645">
                <a:tc>
                  <a:txBody>
                    <a:bodyPr/>
                    <a:lstStyle/>
                    <a:p>
                      <a:pPr algn="ctr">
                        <a:buNone/>
                      </a:pPr>
                      <a:r>
                        <a:rPr lang="en-US" altLang="en-US" sz="1400" b="0" dirty="0">
                          <a:latin typeface="微软雅黑" panose="020B0503020204020204" pitchFamily="34" charset="-122"/>
                          <a:ea typeface="微软雅黑" panose="020B0503020204020204" pitchFamily="34" charset="-122"/>
                        </a:rPr>
                        <a:t>4</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运营风控类</a:t>
                      </a:r>
                      <a:endParaRPr lang="zh-CN" altLang="en-US" sz="1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风控预警及日报制度</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定义积分异常发放、异常兑分、额度预警、活动超额等规则，研究与企业微信打通，形成业务</a:t>
                      </a:r>
                      <a:r>
                        <a:rPr lang="en-US" altLang="zh-CN" sz="1400" b="0" kern="1200">
                          <a:solidFill>
                            <a:schemeClr val="tx1"/>
                          </a:solidFill>
                          <a:effectLst/>
                          <a:latin typeface="微软雅黑" panose="020B0503020204020204" pitchFamily="34" charset="-122"/>
                          <a:ea typeface="微软雅黑" panose="020B0503020204020204" pitchFamily="34" charset="-122"/>
                          <a:cs typeface="+mn-cs"/>
                        </a:rPr>
                        <a:t>/</a:t>
                      </a:r>
                      <a:r>
                        <a:rPr lang="zh-CN" altLang="en-US" sz="1400" b="0" kern="1200">
                          <a:solidFill>
                            <a:schemeClr val="tx1"/>
                          </a:solidFill>
                          <a:effectLst/>
                          <a:latin typeface="微软雅黑" panose="020B0503020204020204" pitchFamily="34" charset="-122"/>
                          <a:ea typeface="微软雅黑" panose="020B0503020204020204" pitchFamily="34" charset="-122"/>
                          <a:cs typeface="+mn-cs"/>
                        </a:rPr>
                        <a:t>管理层日报或预警推送机制</a:t>
                      </a: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en-US" sz="1400">
                          <a:latin typeface="微软雅黑" panose="020B0503020204020204" pitchFamily="34" charset="-122"/>
                          <a:ea typeface="微软雅黑" panose="020B0503020204020204" pitchFamily="34" charset="-122"/>
                          <a:sym typeface="+mn-ea"/>
                        </a:rPr>
                        <a:t>触发风控发送企业微信消息通知</a:t>
                      </a: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lvl="0">
              <a:defRPr/>
            </a:pPr>
            <a:r>
              <a:rPr lang="en-US" altLang="zh-CN">
                <a:solidFill>
                  <a:srgbClr val="00338D"/>
                </a:solidFill>
              </a:rPr>
              <a:t>3</a:t>
            </a:r>
            <a:r>
              <a:rPr lang="zh-CN" altLang="en-US">
                <a:solidFill>
                  <a:srgbClr val="00338D"/>
                </a:solidFill>
              </a:rPr>
              <a:t>、制度层面（</a:t>
            </a:r>
            <a:r>
              <a:rPr lang="en-US" altLang="zh-CN">
                <a:solidFill>
                  <a:srgbClr val="00338D"/>
                </a:solidFill>
              </a:rPr>
              <a:t>2/2</a:t>
            </a:r>
            <a:r>
              <a:rPr lang="zh-CN" altLang="en-US">
                <a:solidFill>
                  <a:srgbClr val="00338D"/>
                </a:solidFill>
              </a:rPr>
              <a:t>）</a:t>
            </a:r>
            <a:endParaRPr lang="en-GB" dirty="0">
              <a:solidFill>
                <a:srgbClr val="00338D"/>
              </a:solidFill>
            </a:endParaRPr>
          </a:p>
        </p:txBody>
      </p:sp>
      <p:graphicFrame>
        <p:nvGraphicFramePr>
          <p:cNvPr id="2" name="Table 1"/>
          <p:cNvGraphicFramePr>
            <a:graphicFrameLocks noGrp="1"/>
          </p:cNvGraphicFramePr>
          <p:nvPr/>
        </p:nvGraphicFramePr>
        <p:xfrm>
          <a:off x="729144" y="1179854"/>
          <a:ext cx="11000594" cy="4996658"/>
        </p:xfrm>
        <a:graphic>
          <a:graphicData uri="http://schemas.openxmlformats.org/drawingml/2006/table">
            <a:tbl>
              <a:tblPr firstRow="1" bandRow="1"/>
              <a:tblGrid>
                <a:gridCol w="368323"/>
                <a:gridCol w="1325880"/>
                <a:gridCol w="2295144"/>
                <a:gridCol w="4626864"/>
                <a:gridCol w="2384383"/>
              </a:tblGrid>
              <a:tr h="52346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序号</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400">
                          <a:latin typeface="微软雅黑" panose="020B0503020204020204" pitchFamily="34" charset="-122"/>
                          <a:ea typeface="微软雅黑" panose="020B0503020204020204" pitchFamily="34" charset="-122"/>
                        </a:rPr>
                        <a:t>分类</a:t>
                      </a:r>
                      <a:endParaRPr lang="en-US" sz="14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讨论主题</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讨论内容</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400" b="1" kern="1200">
                          <a:solidFill>
                            <a:schemeClr val="lt1"/>
                          </a:solidFill>
                          <a:latin typeface="微软雅黑" panose="020B0503020204020204" pitchFamily="34" charset="-122"/>
                          <a:ea typeface="微软雅黑" panose="020B0503020204020204" pitchFamily="34" charset="-122"/>
                          <a:cs typeface="+mn-cs"/>
                        </a:rPr>
                        <a:t>项目组建议</a:t>
                      </a:r>
                      <a:endParaRPr lang="en-US" sz="1400" b="1" kern="1200" dirty="0">
                        <a:solidFill>
                          <a:schemeClr val="lt1"/>
                        </a:solidFill>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r>
              <a:tr h="1253567">
                <a:tc>
                  <a:txBody>
                    <a:bodyPr/>
                    <a:lstStyle/>
                    <a:p>
                      <a:pPr algn="ctr"/>
                      <a:r>
                        <a:rPr lang="en-US" sz="1400" b="0" dirty="0">
                          <a:latin typeface="微软雅黑" panose="020B0503020204020204" pitchFamily="34" charset="-122"/>
                          <a:ea typeface="微软雅黑" panose="020B0503020204020204" pitchFamily="34" charset="-122"/>
                        </a:rPr>
                        <a:t>5</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a:solidFill>
                            <a:schemeClr val="tx1"/>
                          </a:solidFill>
                          <a:effectLst/>
                          <a:latin typeface="微软雅黑" panose="020B0503020204020204" pitchFamily="34" charset="-122"/>
                          <a:ea typeface="微软雅黑" panose="020B0503020204020204" pitchFamily="34" charset="-122"/>
                          <a:cs typeface="+mn-cs"/>
                        </a:rPr>
                        <a:t> 运营维护类</a:t>
                      </a:r>
                      <a:endParaRPr lang="zh-CN" altLang="en-US" sz="1400" b="1" kern="120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标签库及会员等级管理制度</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lang="zh-CN" altLang="en-US" sz="1400" b="0">
                          <a:latin typeface="微软雅黑" panose="020B0503020204020204" pitchFamily="34" charset="-122"/>
                          <a:ea typeface="微软雅黑" panose="020B0503020204020204" pitchFamily="34" charset="-122"/>
                        </a:rPr>
                        <a:t>建立标签库维护机制和会员等级调整机制，明确标签更新频率、审批方式、权限隔离方式，以及会员等级名称、权益展示规则</a:t>
                      </a:r>
                      <a:endParaRPr lang="zh-CN" altLang="en-US" sz="1400" b="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767378">
                <a:tc>
                  <a:txBody>
                    <a:bodyPr/>
                    <a:lstStyle/>
                    <a:p>
                      <a:pPr algn="ctr">
                        <a:buNone/>
                      </a:pPr>
                      <a:r>
                        <a:rPr lang="en-US" altLang="en-US" sz="1400" b="0" dirty="0">
                          <a:latin typeface="微软雅黑" panose="020B0503020204020204" pitchFamily="34" charset="-122"/>
                          <a:ea typeface="微软雅黑" panose="020B0503020204020204" pitchFamily="34" charset="-122"/>
                        </a:rPr>
                        <a:t>6</a:t>
                      </a:r>
                      <a:endParaRPr lang="en-US"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b="1">
                          <a:solidFill>
                            <a:srgbClr val="111827"/>
                          </a:solidFill>
                          <a:latin typeface="微软雅黑"/>
                          <a:ea typeface="微软雅黑"/>
                          <a:cs typeface="微软雅黑"/>
                        </a:rPr>
                        <a:t>合规管理类</a:t>
                      </a:r>
                      <a:endParaRPr lang="zh-TW" altLang="en-US" sz="1400" b="1">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l">
                        <a:defRPr sz="1350" b="1">
                          <a:solidFill>
                            <a:srgbClr val="111827"/>
                          </a:solidFill>
                          <a:latin typeface="微软雅黑"/>
                          <a:ea typeface="微软雅黑"/>
                          <a:cs typeface="微软雅黑"/>
                        </a:defRPr>
                      </a:pPr>
                      <a:r>
                        <a:rPr lang="zh-CN" altLang="en-US" sz="1400" b="0">
                          <a:solidFill>
                            <a:srgbClr val="111827"/>
                          </a:solidFill>
                          <a:latin typeface="微软雅黑"/>
                          <a:ea typeface="微软雅黑"/>
                          <a:cs typeface="微软雅黑"/>
                        </a:rPr>
                        <a:t>黑名单、冻结、扣分合规机制</a:t>
                      </a:r>
                      <a:endParaRPr lang="zh-CN" altLang="en-US" sz="1400" b="0">
                        <a:solidFill>
                          <a:srgbClr val="111827"/>
                        </a:solidFill>
                        <a:latin typeface="微软雅黑"/>
                        <a:ea typeface="微软雅黑"/>
                        <a:cs typeface="微软雅黑"/>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defRPr sz="1030" b="0">
                          <a:solidFill>
                            <a:srgbClr val="111827"/>
                          </a:solidFill>
                          <a:latin typeface="微软雅黑"/>
                          <a:ea typeface="微软雅黑"/>
                          <a:cs typeface="微软雅黑"/>
                        </a:defRPr>
                      </a:pPr>
                      <a:r>
                        <a:rPr lang="zh-CN" altLang="en-US" sz="1400" b="0" kern="1200">
                          <a:solidFill>
                            <a:schemeClr val="tx1"/>
                          </a:solidFill>
                          <a:latin typeface="微软雅黑" panose="020B0503020204020204" pitchFamily="34" charset="-122"/>
                          <a:ea typeface="微软雅黑" panose="020B0503020204020204" pitchFamily="34" charset="-122"/>
                          <a:cs typeface="+mn-cs"/>
                          <a:sym typeface="+mn-ea"/>
                        </a:rPr>
                        <a:t>明确相关功能需具备合同依据、制度依据或政府主管部门授权；涉及非法转租、欠租、违规使用等场景，应与审计法务部充分论证</a:t>
                      </a:r>
                      <a:endParaRPr lang="zh-CN" altLang="en-US" sz="140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Wingdings" panose="05000000000000000000" pitchFamily="2" charset="2"/>
                        <a:buNone/>
                      </a:pPr>
                      <a:endParaRPr lang="zh-CN" altLang="en-US" sz="1400" dirty="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1452245">
                <a:tc>
                  <a:txBody>
                    <a:bodyPr/>
                    <a:lstStyle/>
                    <a:p>
                      <a:pPr algn="ctr"/>
                      <a:r>
                        <a:rPr lang="en-US" sz="1400" b="0" dirty="0">
                          <a:latin typeface="微软雅黑" panose="020B0503020204020204" pitchFamily="34" charset="-122"/>
                          <a:ea typeface="微软雅黑" panose="020B0503020204020204" pitchFamily="34" charset="-122"/>
                        </a:rPr>
                        <a:t>7</a:t>
                      </a:r>
                      <a:endParaRPr 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1" kern="1200">
                          <a:solidFill>
                            <a:srgbClr val="111827"/>
                          </a:solidFill>
                          <a:latin typeface="微软雅黑"/>
                          <a:ea typeface="微软雅黑"/>
                          <a:cs typeface="+mn-cs"/>
                        </a:rPr>
                        <a:t>系统落地类</a:t>
                      </a:r>
                      <a:endParaRPr lang="zh-CN" altLang="en-US" sz="1400" b="1" kern="1200" dirty="0">
                        <a:solidFill>
                          <a:srgbClr val="111827"/>
                        </a:solidFill>
                        <a:latin typeface="微软雅黑"/>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a:buFont typeface="Arial" panose="020B0604020202090204" pitchFamily="34" charset="0"/>
                        <a:buNone/>
                      </a:pPr>
                      <a:r>
                        <a:rPr lang="zh-CN" altLang="en-US" sz="1400" b="0">
                          <a:latin typeface="微软雅黑" panose="020B0503020204020204" pitchFamily="34" charset="-122"/>
                          <a:ea typeface="微软雅黑" panose="020B0503020204020204" pitchFamily="34" charset="-122"/>
                        </a:rPr>
                        <a:t>系统功能调整确认</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spcAft>
                          <a:spcPts val="600"/>
                        </a:spcAft>
                        <a:buFont typeface="Arial" panose="020B0604020202090204" pitchFamily="34" charset="0"/>
                        <a:buChar char="•"/>
                      </a:pPr>
                      <a:r>
                        <a:rPr lang="zh-CN" altLang="en-US" sz="1400" b="0">
                          <a:latin typeface="微软雅黑" panose="020B0503020204020204" pitchFamily="34" charset="-122"/>
                          <a:ea typeface="微软雅黑" panose="020B0503020204020204" pitchFamily="34" charset="-122"/>
                        </a:rPr>
                        <a:t>根据评审意见确认开发调整项，包括数据导出留痕、报表导出审批、权益</a:t>
                      </a:r>
                      <a:r>
                        <a:rPr lang="en-US" altLang="zh-CN" sz="1400" b="0">
                          <a:latin typeface="微软雅黑" panose="020B0503020204020204" pitchFamily="34" charset="-122"/>
                          <a:ea typeface="微软雅黑" panose="020B0503020204020204" pitchFamily="34" charset="-122"/>
                        </a:rPr>
                        <a:t>/</a:t>
                      </a:r>
                      <a:r>
                        <a:rPr lang="zh-CN" altLang="en-US" sz="1400" b="0">
                          <a:latin typeface="微软雅黑" panose="020B0503020204020204" pitchFamily="34" charset="-122"/>
                          <a:ea typeface="微软雅黑" panose="020B0503020204020204" pitchFamily="34" charset="-122"/>
                        </a:rPr>
                        <a:t>商品创建修改审批、小程序端不展示已过期优惠券、积分报表企微通知、积分有效期配置、“补偿积分”文案调整为“发放积分”等</a:t>
                      </a:r>
                      <a:endParaRPr lang="zh-CN" altLang="en-US" sz="1400" b="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90204" pitchFamily="34" charset="0"/>
                        <a:buNone/>
                        <a:defRPr/>
                      </a:pPr>
                      <a:endParaRPr lang="zh-CN" altLang="en-US" sz="1400">
                        <a:latin typeface="微软雅黑" panose="020B0503020204020204" pitchFamily="34" charset="-122"/>
                        <a:ea typeface="微软雅黑" panose="020B0503020204020204" pitchFamily="34" charset="-122"/>
                        <a:sym typeface="+mn-ea"/>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878840" y="3019425"/>
            <a:ext cx="10445750" cy="1736725"/>
          </a:xfrm>
          <a:prstGeom prst="rect">
            <a:avLst/>
          </a:prstGeom>
          <a:solidFill>
            <a:srgbClr val="0070C0">
              <a:alpha val="82000"/>
            </a:srgbClr>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zh-CN" altLang="en-US" sz="1500" dirty="0" err="1">
              <a:solidFill>
                <a:schemeClr val="bg1"/>
              </a:solidFill>
            </a:endParaRPr>
          </a:p>
        </p:txBody>
      </p:sp>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五、评审注意事项</a:t>
            </a:r>
            <a:endPar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endParaRPr>
          </a:p>
        </p:txBody>
      </p:sp>
      <p:grpSp>
        <p:nvGrpSpPr>
          <p:cNvPr id="13" name="Group 12"/>
          <p:cNvGrpSpPr/>
          <p:nvPr>
            <p:custDataLst>
              <p:tags r:id="rId1"/>
            </p:custDataLst>
          </p:nvPr>
        </p:nvGrpSpPr>
        <p:grpSpPr>
          <a:xfrm>
            <a:off x="1173432" y="1585957"/>
            <a:ext cx="9844405" cy="568325"/>
            <a:chOff x="1330912" y="2003787"/>
            <a:chExt cx="9844405" cy="568325"/>
          </a:xfrm>
        </p:grpSpPr>
        <p:sp>
          <p:nvSpPr>
            <p:cNvPr id="3" name="Rectangle 4"/>
            <p:cNvSpPr/>
            <p:nvPr>
              <p:custDataLst>
                <p:tags r:id="rId2"/>
              </p:custDataLst>
            </p:nvPr>
          </p:nvSpPr>
          <p:spPr>
            <a:xfrm>
              <a:off x="3936317" y="2003787"/>
              <a:ext cx="7239000" cy="568325"/>
            </a:xfrm>
            <a:prstGeom prst="rect">
              <a:avLst/>
            </a:prstGeom>
            <a:solidFill>
              <a:srgbClr val="EAF1FA"/>
            </a:solidFill>
            <a:ln w="9525" cap="flat" cmpd="sng" algn="ctr">
              <a:noFill/>
              <a:prstDash val="dash"/>
              <a:miter lim="800000"/>
            </a:ln>
            <a:effectLst/>
          </p:spPr>
          <p:txBody>
            <a:bodyPr lIns="54000" tIns="54000" rIns="54000" bIns="54000" rtlCol="0" anchor="ctr"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rPr>
                <a:t>本次为项目蓝图方案确认，为项目落地实施核心确认环节，本次确认内容将作为后续项目开发、落地及验收的核心依据。</a:t>
              </a:r>
              <a:endPar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endParaRPr>
            </a:p>
          </p:txBody>
        </p:sp>
        <p:sp>
          <p:nvSpPr>
            <p:cNvPr id="6" name="Rectangle 47"/>
            <p:cNvSpPr/>
            <p:nvPr>
              <p:custDataLst>
                <p:tags r:id="rId3"/>
              </p:custDataLst>
            </p:nvPr>
          </p:nvSpPr>
          <p:spPr>
            <a:xfrm>
              <a:off x="1330912" y="2003787"/>
              <a:ext cx="2334895" cy="559435"/>
            </a:xfrm>
            <a:prstGeom prst="rect">
              <a:avLst/>
            </a:prstGeom>
            <a:solidFill>
              <a:sysClr val="window" lastClr="FFFFFF">
                <a:lumMod val="95000"/>
              </a:sysClr>
            </a:solidFill>
            <a:ln w="6350" cap="flat" cmpd="sng" algn="ctr">
              <a:solidFill>
                <a:srgbClr val="000000">
                  <a:lumMod val="75000"/>
                  <a:lumOff val="25000"/>
                </a:srgbClr>
              </a:solid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rPr>
                <a:t>蓝图确认阶段说明</a:t>
              </a:r>
              <a:endPar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endParaRPr>
            </a:p>
          </p:txBody>
        </p:sp>
      </p:grpSp>
      <p:grpSp>
        <p:nvGrpSpPr>
          <p:cNvPr id="14" name="Group 13"/>
          <p:cNvGrpSpPr/>
          <p:nvPr>
            <p:custDataLst>
              <p:tags r:id="rId4"/>
            </p:custDataLst>
          </p:nvPr>
        </p:nvGrpSpPr>
        <p:grpSpPr>
          <a:xfrm>
            <a:off x="1173432" y="2364115"/>
            <a:ext cx="9845040" cy="570230"/>
            <a:chOff x="1330912" y="2664000"/>
            <a:chExt cx="9845040" cy="570230"/>
          </a:xfrm>
        </p:grpSpPr>
        <p:sp>
          <p:nvSpPr>
            <p:cNvPr id="7" name="Rectangle 6"/>
            <p:cNvSpPr/>
            <p:nvPr>
              <p:custDataLst>
                <p:tags r:id="rId5"/>
              </p:custDataLst>
            </p:nvPr>
          </p:nvSpPr>
          <p:spPr>
            <a:xfrm>
              <a:off x="3936317" y="2664000"/>
              <a:ext cx="7239635" cy="569595"/>
            </a:xfrm>
            <a:prstGeom prst="rect">
              <a:avLst/>
            </a:prstGeom>
            <a:solidFill>
              <a:srgbClr val="EAF1FA"/>
            </a:solidFill>
            <a:ln w="9525" cap="flat" cmpd="sng" algn="ctr">
              <a:noFill/>
              <a:prstDash val="dash"/>
              <a:miter lim="800000"/>
            </a:ln>
            <a:effectLst/>
          </p:spPr>
          <p:txBody>
            <a:bodyPr lIns="54000" tIns="54000" rIns="54000" bIns="54000" rtlCol="0" anchor="ctr"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rPr>
                <a:t>我方线下邀约业务部门人员，面对面同步讲解项目原型及蓝图方案；沟通结束后，我方将邮件同步原型链接、蓝图方案文档资料，供业务部门留存核对</a:t>
              </a:r>
              <a:endPar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endParaRPr>
            </a:p>
          </p:txBody>
        </p:sp>
        <p:sp>
          <p:nvSpPr>
            <p:cNvPr id="8" name="Rectangle 47"/>
            <p:cNvSpPr/>
            <p:nvPr>
              <p:custDataLst>
                <p:tags r:id="rId6"/>
              </p:custDataLst>
            </p:nvPr>
          </p:nvSpPr>
          <p:spPr>
            <a:xfrm>
              <a:off x="1330912" y="2664000"/>
              <a:ext cx="2334895" cy="570230"/>
            </a:xfrm>
            <a:prstGeom prst="rect">
              <a:avLst/>
            </a:prstGeom>
            <a:solidFill>
              <a:sysClr val="window" lastClr="FFFFFF">
                <a:lumMod val="95000"/>
              </a:sysClr>
            </a:solidFill>
            <a:ln w="6350" cap="flat" cmpd="sng" algn="ctr">
              <a:solidFill>
                <a:srgbClr val="000000">
                  <a:lumMod val="75000"/>
                  <a:lumOff val="25000"/>
                </a:srgbClr>
              </a:solid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rPr>
                <a:t>线下沟通确认方式</a:t>
              </a:r>
              <a:endPar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endParaRPr>
            </a:p>
          </p:txBody>
        </p:sp>
      </p:grpSp>
      <p:grpSp>
        <p:nvGrpSpPr>
          <p:cNvPr id="15" name="Group 14"/>
          <p:cNvGrpSpPr/>
          <p:nvPr>
            <p:custDataLst>
              <p:tags r:id="rId7"/>
            </p:custDataLst>
          </p:nvPr>
        </p:nvGrpSpPr>
        <p:grpSpPr>
          <a:xfrm>
            <a:off x="1173432" y="3154973"/>
            <a:ext cx="9844405" cy="568960"/>
            <a:chOff x="1330912" y="3324213"/>
            <a:chExt cx="9844405" cy="568960"/>
          </a:xfrm>
        </p:grpSpPr>
        <p:sp>
          <p:nvSpPr>
            <p:cNvPr id="4" name="Rectangle 8"/>
            <p:cNvSpPr/>
            <p:nvPr>
              <p:custDataLst>
                <p:tags r:id="rId8"/>
              </p:custDataLst>
            </p:nvPr>
          </p:nvSpPr>
          <p:spPr>
            <a:xfrm>
              <a:off x="3936317" y="3324213"/>
              <a:ext cx="7239000" cy="568960"/>
            </a:xfrm>
            <a:prstGeom prst="rect">
              <a:avLst/>
            </a:prstGeom>
            <a:solidFill>
              <a:srgbClr val="EAF1FA"/>
            </a:solidFill>
            <a:ln w="9525" cap="flat" cmpd="sng" algn="ctr">
              <a:noFill/>
              <a:prstDash val="dash"/>
              <a:miter lim="800000"/>
            </a:ln>
            <a:effectLst/>
          </p:spPr>
          <p:txBody>
            <a:bodyPr lIns="54000" tIns="54000" rIns="54000" bIns="54000" rtlCol="0" anchor="ctr"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rPr>
                <a:t>业务部门对同步的原型及蓝图方案无异议的，在【蓝图方案确认签字文件】完成签字确认，</a:t>
              </a:r>
              <a:r>
                <a:rPr lang="en-US" sz="1600" b="1">
                  <a:solidFill>
                    <a:srgbClr val="FF0000"/>
                  </a:solidFill>
                  <a:latin typeface="微软雅黑" charset="0"/>
                  <a:ea typeface="微软雅黑" charset="0"/>
                  <a:sym typeface="+mn-ea"/>
                </a:rPr>
                <a:t>由业务骨干自行找各自领导签字</a:t>
              </a:r>
              <a:r>
                <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rPr>
                <a:t>。</a:t>
              </a:r>
              <a:endPar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endParaRPr>
            </a:p>
          </p:txBody>
        </p:sp>
        <p:sp>
          <p:nvSpPr>
            <p:cNvPr id="10" name="Rectangle 47"/>
            <p:cNvSpPr/>
            <p:nvPr>
              <p:custDataLst>
                <p:tags r:id="rId9"/>
              </p:custDataLst>
            </p:nvPr>
          </p:nvSpPr>
          <p:spPr>
            <a:xfrm>
              <a:off x="1330912" y="3324213"/>
              <a:ext cx="2334895" cy="559435"/>
            </a:xfrm>
            <a:prstGeom prst="rect">
              <a:avLst/>
            </a:prstGeom>
            <a:solidFill>
              <a:sysClr val="window" lastClr="FFFFFF">
                <a:lumMod val="95000"/>
              </a:sysClr>
            </a:solidFill>
            <a:ln w="6350" cap="flat" cmpd="sng" algn="ctr">
              <a:solidFill>
                <a:srgbClr val="000000">
                  <a:lumMod val="75000"/>
                  <a:lumOff val="25000"/>
                </a:srgbClr>
              </a:solid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rPr>
                <a:t>确认签字生效</a:t>
              </a:r>
              <a:endPar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endParaRPr>
            </a:p>
          </p:txBody>
        </p:sp>
      </p:grpSp>
      <p:grpSp>
        <p:nvGrpSpPr>
          <p:cNvPr id="16" name="Group 15"/>
          <p:cNvGrpSpPr/>
          <p:nvPr>
            <p:custDataLst>
              <p:tags r:id="rId10"/>
            </p:custDataLst>
          </p:nvPr>
        </p:nvGrpSpPr>
        <p:grpSpPr>
          <a:xfrm>
            <a:off x="1173432" y="3958530"/>
            <a:ext cx="9844405" cy="568960"/>
            <a:chOff x="1330912" y="4033460"/>
            <a:chExt cx="9844405" cy="568960"/>
          </a:xfrm>
        </p:grpSpPr>
        <p:sp>
          <p:nvSpPr>
            <p:cNvPr id="11" name="Rectangle 10"/>
            <p:cNvSpPr/>
            <p:nvPr>
              <p:custDataLst>
                <p:tags r:id="rId11"/>
              </p:custDataLst>
            </p:nvPr>
          </p:nvSpPr>
          <p:spPr>
            <a:xfrm>
              <a:off x="3936317" y="4033460"/>
              <a:ext cx="7239000" cy="568960"/>
            </a:xfrm>
            <a:prstGeom prst="rect">
              <a:avLst/>
            </a:prstGeom>
            <a:solidFill>
              <a:srgbClr val="EAF1FA"/>
            </a:solidFill>
            <a:ln w="9525" cap="flat" cmpd="sng" algn="ctr">
              <a:noFill/>
              <a:prstDash val="dash"/>
              <a:miter lim="800000"/>
            </a:ln>
            <a:effectLst/>
          </p:spPr>
          <p:txBody>
            <a:bodyPr lIns="54000" tIns="54000" rIns="54000" bIns="54000" rtlCol="0" anchor="ctr"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rPr>
                <a:t>若业务部门对方案存在优化、调整需求，可整理清单并通过邮件反馈，我方将另行对接核对，优化方案后再次沟通同步，进行最终签字确认。</a:t>
              </a:r>
              <a:endParaRPr kumimoji="0" lang="zh-CN" altLang="en-US" sz="1600" b="0" i="0" u="none" strike="noStrike" kern="0" cap="none" spc="0" normalizeH="0" baseline="0" noProof="0" dirty="0" err="1">
                <a:ln>
                  <a:noFill/>
                </a:ln>
                <a:solidFill>
                  <a:srgbClr val="00338D"/>
                </a:solidFill>
                <a:effectLst/>
                <a:uLnTx/>
                <a:uFillTx/>
                <a:latin typeface="微软雅黑" charset="0"/>
                <a:ea typeface="微软雅黑" charset="0"/>
                <a:cs typeface="+mn-cs"/>
              </a:endParaRPr>
            </a:p>
          </p:txBody>
        </p:sp>
        <p:sp>
          <p:nvSpPr>
            <p:cNvPr id="12" name="Rectangle 47"/>
            <p:cNvSpPr/>
            <p:nvPr>
              <p:custDataLst>
                <p:tags r:id="rId12"/>
              </p:custDataLst>
            </p:nvPr>
          </p:nvSpPr>
          <p:spPr>
            <a:xfrm>
              <a:off x="1330912" y="4033460"/>
              <a:ext cx="2334895" cy="568960"/>
            </a:xfrm>
            <a:prstGeom prst="rect">
              <a:avLst/>
            </a:prstGeom>
            <a:solidFill>
              <a:sysClr val="window" lastClr="FFFFFF">
                <a:lumMod val="95000"/>
              </a:sysClr>
            </a:solidFill>
            <a:ln w="6350" cap="flat" cmpd="sng" algn="ctr">
              <a:solidFill>
                <a:srgbClr val="000000">
                  <a:lumMod val="75000"/>
                  <a:lumOff val="25000"/>
                </a:srgbClr>
              </a:solid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rPr>
                <a:t>调整需求处理流程</a:t>
              </a:r>
              <a:endParaRPr kumimoji="0" lang="zh-CN" altLang="en-US" sz="1600" b="1" i="0" u="none" strike="noStrike" kern="0" cap="none" spc="0" normalizeH="0" baseline="0" noProof="0">
                <a:ln>
                  <a:noFill/>
                </a:ln>
                <a:solidFill>
                  <a:prstClr val="black"/>
                </a:solidFill>
                <a:effectLst/>
                <a:uLnTx/>
                <a:uFillTx/>
                <a:latin typeface="微软雅黑" charset="0"/>
                <a:ea typeface="微软雅黑" charset="0"/>
                <a:cs typeface="+mn-c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774" y="1167848"/>
            <a:ext cx="4452730" cy="452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感谢！</a:t>
            </a:r>
            <a:endParaRPr kumimoji="0" lang="en-US" sz="96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ADV_TOP" val="493.4643"/>
  <p:tag name="ADV_LEFT" val="175.979"/>
  <p:tag name="ADV_HEIGHT" val="29.19685"/>
  <p:tag name="ADV_WIDTH" val="610.7717"/>
  <p:tag name="ADV_COPYRIGHT" val="TRUE"/>
</p:tagLst>
</file>

<file path=ppt/tags/tag2.xml><?xml version="1.0" encoding="utf-8"?>
<p:tagLst xmlns:p="http://schemas.openxmlformats.org/presentationml/2006/main">
  <p:tag name="ADV_TOP" val="493.4643"/>
  <p:tag name="ADV_LEFT" val="175.979"/>
  <p:tag name="ADV_HEIGHT" val="29.19685"/>
  <p:tag name="ADV_WIDTH" val="610.7717"/>
  <p:tag name="ADV_COPYRIGHT" val="TRUE"/>
</p:tagLst>
</file>

<file path=ppt/tags/tag3.xml><?xml version="1.0" encoding="utf-8"?>
<p:tagLst xmlns:p="http://schemas.openxmlformats.org/presentationml/2006/main">
  <p:tag name="ADV_TOP" val="493.4643"/>
  <p:tag name="ADV_LEFT" val="175.979"/>
  <p:tag name="ADV_HEIGHT" val="29.19685"/>
  <p:tag name="ADV_WIDTH" val="610.7717"/>
  <p:tag name="ADV_COPYRIGHT" val="TRU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3B8VcOYfTJiMFx2jVW7mWg"/>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4uWjOUqYx1o.HBg.fRbAjg"/>
</p:tagLst>
</file>

<file path=ppt/tags/tag9.xml><?xml version="1.0" encoding="utf-8"?>
<p:tagLst xmlns:p="http://schemas.openxmlformats.org/presentationml/2006/main">
  <p:tag name="ADV_TOP" val="497.6471"/>
  <p:tag name="ADV_LEFT" val="121.9184"/>
  <p:tag name="ADV_HEIGHT" val="29.19685"/>
  <p:tag name="ADV_WIDTH" val="538.937"/>
  <p:tag name="ADV_COPYRIGHT" val="TRU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3B8VcOYfTJiMFx2jVW7mWg"/>
</p:tagLst>
</file>

<file path=ppt/tags/tag12.xml><?xml version="1.0" encoding="utf-8"?>
<p:tagLst xmlns:p="http://schemas.openxmlformats.org/presentationml/2006/main">
  <p:tag name="ADV_TOP" val="497.6471"/>
  <p:tag name="ADV_LEFT" val="121.9184"/>
  <p:tag name="ADV_HEIGHT" val="29.19685"/>
  <p:tag name="ADV_WIDTH" val="538.937"/>
  <p:tag name="ADV_COPYRIGHT" val="TRU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4uWjOUqYx1o.HBg.fRbAjg"/>
</p:tagLst>
</file>

<file path=ppt/tags/tag15.xml><?xml version="1.0" encoding="utf-8"?>
<p:tagLst xmlns:p="http://schemas.openxmlformats.org/presentationml/2006/main">
  <p:tag name="ADV_TOP" val="497.6471"/>
  <p:tag name="ADV_LEFT" val="121.9184"/>
  <p:tag name="ADV_HEIGHT" val="29.19685"/>
  <p:tag name="ADV_WIDTH" val="538.937"/>
  <p:tag name="ADV_COPYRIGHT" val="TRU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ADV_TOP" val="493.4643"/>
  <p:tag name="ADV_LEFT" val="175.979"/>
  <p:tag name="ADV_HEIGHT" val="29.19685"/>
  <p:tag name="ADV_WIDTH" val="610.7717"/>
  <p:tag name="ADV_COPYRIGHT" val="TRUE"/>
</p:tagLst>
</file>

<file path=ppt/tags/tag18.xml><?xml version="1.0" encoding="utf-8"?>
<p:tagLst xmlns:p="http://schemas.openxmlformats.org/presentationml/2006/main">
  <p:tag name="ADV_TOP" val="493.4643"/>
  <p:tag name="ADV_LEFT" val="175.979"/>
  <p:tag name="ADV_HEIGHT" val="29.19685"/>
  <p:tag name="ADV_WIDTH" val="610.7717"/>
  <p:tag name="ADV_COPYRIGHT" val="TRUE"/>
</p:tagLst>
</file>

<file path=ppt/tags/tag19.xml><?xml version="1.0" encoding="utf-8"?>
<p:tagLst xmlns:p="http://schemas.openxmlformats.org/presentationml/2006/main">
  <p:tag name="ADV_TOP" val="493.4643"/>
  <p:tag name="ADV_LEFT" val="175.979"/>
  <p:tag name="ADV_HEIGHT" val="29.19685"/>
  <p:tag name="ADV_WIDTH" val="610.7717"/>
  <p:tag name="ADV_COPYRIGHT" val="TRUE"/>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THINKCELLSHAPEDONOTDELETE" val="t3B8VcOYfTJiMFx2jVW7mWg"/>
</p:tagLst>
</file>

<file path=ppt/tags/tag23.xml><?xml version="1.0" encoding="utf-8"?>
<p:tagLst xmlns:p="http://schemas.openxmlformats.org/presentationml/2006/main">
  <p:tag name="THINKCELLSHAPEDONOTDELETE" val="thinkcellActiveDocDoNotDelete"/>
</p:tagLst>
</file>

<file path=ppt/tags/tag24.xml><?xml version="1.0" encoding="utf-8"?>
<p:tagLst xmlns:p="http://schemas.openxmlformats.org/presentationml/2006/main">
  <p:tag name="THINKCELLSHAPEDONOTDELETE" val="thinkcellActiveDocDoNotDelete"/>
</p:tagLst>
</file>

<file path=ppt/tags/tag25.xml><?xml version="1.0" encoding="utf-8"?>
<p:tagLst xmlns:p="http://schemas.openxmlformats.org/presentationml/2006/main">
  <p:tag name="ADV_TOP" val="493.4643"/>
  <p:tag name="ADV_LEFT" val="175.979"/>
  <p:tag name="ADV_HEIGHT" val="29.19685"/>
  <p:tag name="ADV_WIDTH" val="610.7717"/>
  <p:tag name="ADV_COPYRIGHT" val="TRUE"/>
</p:tagLst>
</file>

<file path=ppt/tags/tag26.xml><?xml version="1.0" encoding="utf-8"?>
<p:tagLst xmlns:p="http://schemas.openxmlformats.org/presentationml/2006/main">
  <p:tag name="ADV_TOP" val="493.4643"/>
  <p:tag name="ADV_LEFT" val="175.979"/>
  <p:tag name="ADV_HEIGHT" val="29.19685"/>
  <p:tag name="ADV_WIDTH" val="610.7717"/>
  <p:tag name="ADV_COPYRIGHT" val="TRUE"/>
</p:tagLst>
</file>

<file path=ppt/tags/tag27.xml><?xml version="1.0" encoding="utf-8"?>
<p:tagLst xmlns:p="http://schemas.openxmlformats.org/presentationml/2006/main">
  <p:tag name="ADV_TOP" val="493.4643"/>
  <p:tag name="ADV_LEFT" val="175.979"/>
  <p:tag name="ADV_HEIGHT" val="29.19685"/>
  <p:tag name="ADV_WIDTH" val="610.7717"/>
  <p:tag name="ADV_COPYRIGHT" val="TRUE"/>
</p:tagLst>
</file>

<file path=ppt/tags/tag28.xml><?xml version="1.0" encoding="utf-8"?>
<p:tagLst xmlns:p="http://schemas.openxmlformats.org/presentationml/2006/main">
  <p:tag name="THINKCELLSHAPEDONOTDELETE" val="thinkcellActiveDocDoNotDelete"/>
</p:tagLst>
</file>

<file path=ppt/tags/tag29.xml><?xml version="1.0" encoding="utf-8"?>
<p:tagLst xmlns:p="http://schemas.openxmlformats.org/presentationml/2006/main">
  <p:tag name="THINKCELLSHAPEDONOTDELETE" val="thinkcellActiveDocDoNotDelete"/>
</p:tagLst>
</file>

<file path=ppt/tags/tag30.xml><?xml version="1.0" encoding="utf-8"?>
<p:tagLst xmlns:p="http://schemas.openxmlformats.org/presentationml/2006/main">
  <p:tag name="THINKCELLSHAPEDONOTDELETE" val="t3B8VcOYfTJiMFx2jVW7mWg"/>
</p:tagLst>
</file>

<file path=ppt/tags/tag31.xml><?xml version="1.0" encoding="utf-8"?>
<p:tagLst xmlns:p="http://schemas.openxmlformats.org/presentationml/2006/main">
  <p:tag name="THINKCELLSHAPEDONOTDELETE" val="thinkcellActiveDocDoNotDelete"/>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TABLE_ENDDRAG_ORIGIN_RECT" val="455*401"/>
  <p:tag name="TABLE_ENDDRAG_RECT" val="40*90*455*401"/>
  <p:tag name="KSO_WM_BEAUTIFY_FLAG" val=""/>
</p:tagLst>
</file>

<file path=ppt/tags/tag83.xml><?xml version="1.0" encoding="utf-8"?>
<p:tagLst xmlns:p="http://schemas.openxmlformats.org/presentationml/2006/main">
  <p:tag name="TABLE_ENDDRAG_ORIGIN_RECT" val="431*412"/>
  <p:tag name="TABLE_ENDDRAG_RECT" val="506*90*431*412"/>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TABLE_ENDDRAG_ORIGIN_RECT" val="242*227"/>
  <p:tag name="TABLE_ENDDRAG_RECT" val="31*272*242*227"/>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TABLE_ENDDRAG_ORIGIN_RECT" val="258*147"/>
  <p:tag name="TABLE_ENDDRAG_RECT" val="320*342*258*147"/>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TABLE_ENDDRAG_ORIGIN_RECT" val="257*43"/>
  <p:tag name="TABLE_ENDDRAG_RECT" val="303*283*257*43"/>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TABLE_ENDDRAG_ORIGIN_RECT" val="396*291"/>
  <p:tag name="TABLE_ENDDRAG_RECT" val="64*232*396*291"/>
</p:tagLst>
</file>

<file path=ppt/tags/tag136.xml><?xml version="1.0" encoding="utf-8"?>
<p:tagLst xmlns:p="http://schemas.openxmlformats.org/presentationml/2006/main">
  <p:tag name="TABLE_ENDDRAG_ORIGIN_RECT" val="385*271"/>
  <p:tag name="TABLE_ENDDRAG_RECT" val="514*233*385*271"/>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2.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3.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4.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5.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6.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7.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8.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49.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50.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51.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52.xml><?xml version="1.0" encoding="utf-8"?>
<p:tagLst xmlns:p="http://schemas.openxmlformats.org/presentationml/2006/main">
  <p:tag name="KSO_WM_DIAGRAM_VIRTUALLY_FRAME" val="{&quot;height&quot;:231.6167716535433,&quot;left&quot;:92.39622047244093,&quot;top&quot;:124.87850393700788,&quot;width&quot;:775.1999999999999}"/>
</p:tagLst>
</file>

<file path=ppt/tags/tag156.xml><?xml version="1.0" encoding="utf-8"?>
<p:tagLst xmlns:p="http://schemas.openxmlformats.org/presentationml/2006/main">
  <p:tag name="THINKCELLUNDODONOTDELETE" val="0"/>
</p:tagLst>
</file>

<file path=ppt/theme/theme1.xml><?xml version="1.0" encoding="utf-8"?>
<a:theme xmlns:a="http://schemas.openxmlformats.org/drawingml/2006/main" name="7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自定义 1">
      <a:majorFont>
        <a:latin typeface="KPMG Extralight"/>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5G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0d5dwoi">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ln>
          <a:solidFill>
            <a:srgbClr val="FF9999"/>
          </a:solidFill>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rtlCol="0" anchor="ctr">
        <a:noAutofit/>
      </a:bodyPr>
      <a:lstStyle>
        <a:defPPr marR="0" algn="ctr" defTabSz="914400" rtl="0" eaLnBrk="0" fontAlgn="base" latinLnBrk="0" hangingPunct="0">
          <a:lnSpc>
            <a:spcPct val="100000"/>
          </a:lnSpc>
          <a:spcBef>
            <a:spcPct val="20000"/>
          </a:spcBef>
          <a:spcAft>
            <a:spcPct val="0"/>
          </a:spcAft>
          <a:buClrTx/>
          <a:buSzTx/>
          <a:defRPr kumimoji="1" sz="2000" b="1" dirty="0" smtClean="0">
            <a:latin typeface="+mn-lt"/>
            <a:ea typeface="+mn-ea"/>
            <a:cs typeface="微软雅黑" panose="020B0503020204020204" pitchFamily="34" charset="-122"/>
            <a:sym typeface="Calibri" panose="020F050202020403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5G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0d5dwoi">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sz="1600" dirty="0" smtClean="0">
            <a:latin typeface="Arial" panose="020B0604020202090204" pitchFamily="34" charset="0"/>
            <a:ea typeface="宋体" pitchFamily="2" charset="-122"/>
          </a:defRPr>
        </a:defPPr>
      </a:lstStyle>
    </a:spDef>
    <a:lnDef>
      <a:spPr bwMode="auto">
        <a:ln>
          <a:solidFill>
            <a:srgbClr val="FF9999"/>
          </a:solidFill>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rtlCol="0" anchor="ctr">
        <a:noAutofit/>
      </a:bodyPr>
      <a:lstStyle>
        <a:defPPr marR="0" algn="ctr" defTabSz="914400" rtl="0" eaLnBrk="0" fontAlgn="base" latinLnBrk="0" hangingPunct="0">
          <a:lnSpc>
            <a:spcPct val="100000"/>
          </a:lnSpc>
          <a:spcBef>
            <a:spcPct val="20000"/>
          </a:spcBef>
          <a:spcAft>
            <a:spcPct val="0"/>
          </a:spcAft>
          <a:buClrTx/>
          <a:buSzTx/>
          <a:defRPr kumimoji="1" sz="2000" b="1" dirty="0" smtClean="0">
            <a:latin typeface="+mn-lt"/>
            <a:ea typeface="+mn-ea"/>
            <a:cs typeface="微软雅黑" panose="020B0503020204020204" pitchFamily="34" charset="-122"/>
            <a:sym typeface="Calibri" panose="020F050202020403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55.xml"/></Relationships>
</file>

<file path=customXml/item1.xml><?xml version="1.0" encoding="utf-8"?>
<p:properties xmlns:xsi="http://www.w3.org/2001/XMLSchema-instance" xmlns:p="http://schemas.microsoft.com/office/2006/metadata/properties" xmlns:pc="http://schemas.microsoft.com/office/infopath/2007/PartnerControls">
  <documentManagement>
    <PublishingExpirationDate xmlns="http://schemas.microsoft.com/sharepoint/v3" xsi:nil="true"/>
    <PublishingStartDate xmlns="http://schemas.microsoft.com/sharepoint/v3" xsi:nil="true"/>
    <Email_x0020_From xmlns="1EB9234B-3EF0-4438-85C1-29115B6A0884" xsi:nil="true"/>
    <Email_x0020_Importance xmlns="1EB9234B-3EF0-4438-85C1-29115B6A0884" xsi:nil="true"/>
    <Email_x0020_Subject xmlns="1EB9234B-3EF0-4438-85C1-29115B6A0884" xsi:nil="true"/>
    <Email_x0020_Cc xmlns="1EB9234B-3EF0-4438-85C1-29115B6A0884" xsi:nil="true"/>
    <Email_x0020_DateTime xmlns="1EB9234B-3EF0-4438-85C1-29115B6A0884" xsi:nil="true"/>
    <Email_x0020_To xmlns="1EB9234B-3EF0-4438-85C1-29115B6A0884" xsi:nil="true"/>
    <Display xmlns="1EB9234B-3EF0-4438-85C1-29115B6A0884">true</Displa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ma="http://schemas.microsoft.com/office/2006/metadata/properties/metaAttributes" xmlns:ct="http://schemas.microsoft.com/office/2006/metadata/contentType" ct:_="" ma:contentTypeName="Document" ma:versionID="6517f2a19c7926be7f13e765facea42a" ma:contentTypeID="0x0101002AB2D2FD19F34B4C81FB877218B32E98" ma:_="" ma:contentTypeVersion="" ma:contentTypeDescription="Create a new document." ma:contentTypeScope="">
  <xsd:schema xmlns:p="http://schemas.microsoft.com/office/2006/metadata/properties" xmlns:xs="http://www.w3.org/2001/XMLSchema" xmlns:xsd="http://www.w3.org/2001/XMLSchema" xmlns:ns1="http://schemas.microsoft.com/sharepoint/v3" xmlns:ns2="1EB9234B-3EF0-4438-85C1-29115B6A0884" xmlns:ns3="61c59613-fa3d-49ac-a488-29be1c5cd5ec" ma:root="true" ma:fieldsID="8fade61f09b4dd69c711cb280a1f546f" ns1:_="" ns3:_="" targetNamespace="http://schemas.microsoft.com/office/2006/metadata/properties" ns2:_="">
    <xsd:import namespace="http://schemas.microsoft.com/sharepoint/v3"/>
    <xsd:import namespace="1EB9234B-3EF0-4438-85C1-29115B6A0884"/>
    <xsd:import namespace="61c59613-fa3d-49ac-a488-29be1c5cd5ec"/>
    <xsd:element name="properties">
      <xsd:complexType>
        <xsd:sequence>
          <xsd:element name="documentManagement">
            <xsd:complexType>
              <xsd:all>
                <xsd:element minOccurs="0" ref="ns1:PublishingStartDate"/>
                <xsd:element minOccurs="0" ref="ns1:PublishingExpirationDate"/>
                <xsd:element minOccurs="0" ref="ns2:Email_x0020_Subject"/>
                <xsd:element minOccurs="0" ref="ns2:Email_x0020_From"/>
                <xsd:element minOccurs="0" ref="ns2:Email_x0020_To"/>
                <xsd:element minOccurs="0" ref="ns2:Email_x0020_Cc"/>
                <xsd:element minOccurs="0" ref="ns2:Email_x0020_DateTime"/>
                <xsd:element minOccurs="0" ref="ns2:Email_x0020_Importance"/>
                <xsd:element minOccurs="0" ref="ns2:Display"/>
                <xsd:element minOccurs="0" ref="ns3:SharedWithUsers"/>
              </xsd:all>
            </xsd:complexType>
          </xsd:element>
        </xsd:sequence>
      </xsd:complexType>
    </xsd:element>
  </xsd:schema>
  <xsd:schema xmlns:dms="http://schemas.microsoft.com/office/2006/documentManagement/types" xmlns:xs="http://www.w3.org/2001/XMLSchema" xmlns:xsd="http://www.w3.org/2001/XMLSchema" xmlns:pc="http://schemas.microsoft.com/office/infopath/2007/PartnerControls" elementFormDefault="qualified" targetNamespace="http://schemas.microsoft.com/sharepoint/v3">
    <xsd:import namespace="http://schemas.microsoft.com/office/2006/documentManagement/types"/>
    <xsd:import namespace="http://schemas.microsoft.com/office/infopath/2007/PartnerControls"/>
    <xsd:element ma:description="Scheduling Start Date is a site column created by the Publishing feature. It is used to specify the date and time on which this page will first appear to site visitors." ma:internalName="PublishingStartDate" ma:displayName="Scheduling Start Date" name="PublishingStartDate" ma:index="4" nillable="true">
      <xsd:simpleType>
        <xsd:restriction base="dms:Unknown"/>
      </xsd:simpleType>
    </xsd:element>
    <xsd:element ma:description="Scheduling End Date is a site column created by the Publishing feature. It is used to specify the date and time on which this page will no longer appear to site visitors." ma:internalName="PublishingExpirationDate" ma:displayName="Scheduling End Date" name="PublishingExpirationDate" ma:index="5" nillable="true">
      <xsd:simpleType>
        <xsd:restriction base="dms:Unknown"/>
      </xsd:simpleType>
    </xsd:element>
  </xsd:schema>
  <xsd:schema xmlns:dms="http://schemas.microsoft.com/office/2006/documentManagement/types" xmlns:xs="http://www.w3.org/2001/XMLSchema" xmlns:xsd="http://www.w3.org/2001/XMLSchema" xmlns:pc="http://schemas.microsoft.com/office/infopath/2007/PartnerControls" elementFormDefault="qualified" targetNamespace="1EB9234B-3EF0-4438-85C1-29115B6A0884">
    <xsd:import namespace="http://schemas.microsoft.com/office/2006/documentManagement/types"/>
    <xsd:import namespace="http://schemas.microsoft.com/office/infopath/2007/PartnerControls"/>
    <xsd:element ma:internalName="Email_x0020_Subject" ma:readOnly="false" ma:displayName="Email Subject" name="Email_x0020_Subject" ma:index="6" nillable="true">
      <xsd:simpleType>
        <xsd:restriction base="dms:Text">
          <xsd:maxLength value="255"/>
        </xsd:restriction>
      </xsd:simpleType>
    </xsd:element>
    <xsd:element ma:internalName="Email_x0020_From" ma:readOnly="false" ma:displayName="Email From" name="Email_x0020_From" ma:index="7" nillable="true">
      <xsd:simpleType>
        <xsd:restriction base="dms:Text">
          <xsd:maxLength value="255"/>
        </xsd:restriction>
      </xsd:simpleType>
    </xsd:element>
    <xsd:element ma:internalName="Email_x0020_To" ma:readOnly="false" ma:displayName="Email To" name="Email_x0020_To" ma:index="8" nillable="true">
      <xsd:simpleType>
        <xsd:restriction base="dms:Text">
          <xsd:maxLength value="255"/>
        </xsd:restriction>
      </xsd:simpleType>
    </xsd:element>
    <xsd:element ma:internalName="Email_x0020_Cc" ma:readOnly="false" ma:displayName="Email Cc" name="Email_x0020_Cc" ma:index="9" nillable="true">
      <xsd:simpleType>
        <xsd:restriction base="dms:Text">
          <xsd:maxLength value="255"/>
        </xsd:restriction>
      </xsd:simpleType>
    </xsd:element>
    <xsd:element ma:internalName="Email_x0020_DateTime" ma:readOnly="false" ma:displayName="Email DateTime" name="Email_x0020_DateTime" ma:index="10" ma:format="DateTime" nillable="true">
      <xsd:simpleType>
        <xsd:restriction base="dms:DateTime"/>
      </xsd:simpleType>
    </xsd:element>
    <xsd:element ma:internalName="Email_x0020_Importance" ma:readOnly="false" ma:displayName="Email Importance" name="Email_x0020_Importance" ma:index="11" nillable="true">
      <xsd:simpleType>
        <xsd:restriction base="dms:Text">
          <xsd:maxLength value="255"/>
        </xsd:restriction>
      </xsd:simpleType>
    </xsd:element>
    <xsd:element ma:internalName="Display" ma:displayName="Display" name="Display" ma:index="16" ma:default="1" nillable="true">
      <xsd:simpleType>
        <xsd:restriction base="dms:Boolean"/>
      </xsd:simpleType>
    </xsd:element>
  </xsd:schema>
  <xsd:schema xmlns:dms="http://schemas.microsoft.com/office/2006/documentManagement/types" xmlns:xs="http://www.w3.org/2001/XMLSchema" xmlns:xsd="http://www.w3.org/2001/XMLSchema" xmlns:pc="http://schemas.microsoft.com/office/infopath/2007/PartnerControls" elementFormDefault="qualified" targetNamespace="61c59613-fa3d-49ac-a488-29be1c5cd5ec">
    <xsd:import namespace="http://schemas.microsoft.com/office/2006/documentManagement/types"/>
    <xsd:import namespace="http://schemas.microsoft.com/office/infopath/2007/PartnerControls"/>
    <xsd:element ma:internalName="SharedWithUsers" ma:readOnly="true" ma:displayName="Shared With" name="SharedWithUsers" ma:index="17" nillable="true">
      <xsd:complexType>
        <xsd:complexContent>
          <xsd:extension base="dms:UserMulti">
            <xsd:sequence>
              <xsd:element maxOccurs="unbounded" minOccurs="0" name="UserInfo">
                <xsd:complexType>
                  <xsd:sequence>
                    <xsd:element minOccurs="0" name="DisplayName" type="xsd:string"/>
                    <xsd:element minOccurs="0" name="AccountId" type="dms:UserId" nillable="true"/>
                    <xsd:element minOccurs="0" name="AccountType" type="xsd:string"/>
                  </xsd:sequence>
                </xsd:complexType>
              </xsd:element>
            </xsd:sequence>
          </xsd:extension>
        </xsd:complexContent>
      </xsd:complexType>
    </xsd:element>
  </xsd:schema>
  <xsd:schema xmlns="http://schemas.openxmlformats.org/package/2006/metadata/core-properties" xmlns:xsi="http://www.w3.org/2001/XMLSchema-instance" xmlns:dcterms="http://purl.org/dc/terms/" xmlns:odoc="http://schemas.microsoft.com/internal/obd" xmlns:xsd="http://www.w3.org/2001/XMLSchema" xmlns:dc="http://purl.org/dc/elements/1.1/" blockDefault="#all" elementFormDefault="qualified" targetNamespace="http://schemas.openxmlformats.org/package/2006/metadata/core-properties" attributeFormDefault="unqualified">
    <xsd:import schemaLocation="http://dublincore.org/schemas/xmls/qdc/2003/04/02/dc.xsd" namespace="http://purl.org/dc/elements/1.1/"/>
    <xsd:import schemaLocation="http://dublincore.org/schemas/xmls/qdc/2003/04/02/dcterms.xsd" namespace="http://purl.org/dc/terms/"/>
    <xsd:element name="coreProperties" type="CT_coreProperties"/>
    <xsd:complexType name="CT_coreProperties">
      <xsd:all>
        <xsd:element maxOccurs="1" minOccurs="0" ref="dc:creator"/>
        <xsd:element maxOccurs="1" minOccurs="0" ref="dcterms:created"/>
        <xsd:element maxOccurs="1" minOccurs="0" ref="dc:identifier"/>
        <xsd:element maxOccurs="1" minOccurs="0" ma:displayName="Content Type" name="contentType" ma:index="12" type="xsd:string"/>
        <xsd:element maxOccurs="1" minOccurs="0" ref="dc:title" ma:displayName="Title" ma:index="3"/>
        <xsd:element maxOccurs="1" minOccurs="0" ref="dc:subject"/>
        <xsd:element maxOccurs="1" minOccurs="0" ref="dc:description"/>
        <xsd:element maxOccurs="1" minOccurs="0" name="keywords" type="xsd:string"/>
        <xsd:element maxOccurs="1" minOccurs="0" ref="dc:language"/>
        <xsd:element maxOccurs="1" minOccurs="0" name="category" type="xsd:string"/>
        <xsd:element maxOccurs="1" minOccurs="0" name="version" type="xsd:string"/>
        <xsd:element maxOccurs="1" minOccurs="0" name="revision" type="xsd:string">
          <xsd:annotation>
            <xsd:documentation>
                        This value indicates the number of saves or revisions. The application is responsible for updating this value after each revision.
                    </xsd:documentation>
          </xsd:annotation>
        </xsd:element>
        <xsd:element maxOccurs="1" minOccurs="0" name="lastModifiedBy" type="xsd:string"/>
        <xsd:element maxOccurs="1" minOccurs="0" ref="dcterms:modified"/>
        <xsd:element maxOccurs="1" minOccurs="0" name="contentStatus" type="xsd:string"/>
      </xsd:all>
    </xsd:complexType>
  </xsd:schema>
  <xs:schema xmlns:xs="http://www.w3.org/2001/XMLSchema" xmlns:pc="http://schemas.microsoft.com/office/infopath/2007/PartnerControls" elementFormDefault="qualified" targetNamespace="http://schemas.microsoft.com/office/infopath/2007/PartnerControls" attributeFormDefault="un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Props153.xml><?xml version="1.0" encoding="utf-8"?>
<ds:datastoreItem xmlns:ds="http://schemas.openxmlformats.org/officeDocument/2006/customXml" ds:itemID="{A6AB9A83-368B-41D4-97FA-E9F00DB82C03}">
  <ds:schemaRefs/>
</ds:datastoreItem>
</file>

<file path=customXml/itemProps154.xml><?xml version="1.0" encoding="utf-8"?>
<ds:datastoreItem xmlns:ds="http://schemas.openxmlformats.org/officeDocument/2006/customXml" ds:itemID="{E6514A09-765E-4393-80CA-D13DCB2DA4A4}">
  <ds:schemaRefs/>
</ds:datastoreItem>
</file>

<file path=customXml/itemProps155.xml><?xml version="1.0" encoding="utf-8"?>
<ds:datastoreItem xmlns:ds="http://schemas.openxmlformats.org/officeDocument/2006/customXml" ds:itemID="{AC59C3E5-A26C-48CE-BFC2-80A5CA8DEA11}">
  <ds:schemaRefs/>
</ds:datastoreItem>
</file>

<file path=docProps/app.xml><?xml version="1.0" encoding="utf-8"?>
<Properties xmlns="http://schemas.openxmlformats.org/officeDocument/2006/extended-properties" xmlns:vt="http://schemas.openxmlformats.org/officeDocument/2006/docPropsVTypes">
  <TotalTime>0</TotalTime>
  <Words>7165</Words>
  <Application>WPS 文字</Application>
  <PresentationFormat>Widescreen</PresentationFormat>
  <Paragraphs>1289</Paragraphs>
  <Slides>21</Slides>
  <Notes>19</Notes>
  <HiddenSlides>0</HiddenSlides>
  <MMClips>0</MMClips>
  <ScaleCrop>false</ScaleCrop>
  <HeadingPairs>
    <vt:vector size="8" baseType="variant">
      <vt:variant>
        <vt:lpstr>已用的字体</vt:lpstr>
      </vt:variant>
      <vt:variant>
        <vt:i4>27</vt:i4>
      </vt:variant>
      <vt:variant>
        <vt:lpstr>主题</vt:lpstr>
      </vt:variant>
      <vt:variant>
        <vt:i4>10</vt:i4>
      </vt:variant>
      <vt:variant>
        <vt:lpstr>嵌入 OLE 服务器</vt:lpstr>
      </vt:variant>
      <vt:variant>
        <vt:i4>13</vt:i4>
      </vt:variant>
      <vt:variant>
        <vt:lpstr>幻灯片标题</vt:lpstr>
      </vt:variant>
      <vt:variant>
        <vt:i4>21</vt:i4>
      </vt:variant>
    </vt:vector>
  </HeadingPairs>
  <TitlesOfParts>
    <vt:vector size="71" baseType="lpstr">
      <vt:lpstr>Arial</vt:lpstr>
      <vt:lpstr>宋体</vt:lpstr>
      <vt:lpstr>Wingdings</vt:lpstr>
      <vt:lpstr>微软雅黑</vt:lpstr>
      <vt:lpstr>汉仪旗黑</vt:lpstr>
      <vt:lpstr>Arial</vt:lpstr>
      <vt:lpstr>Univers for KPMG</vt:lpstr>
      <vt:lpstr>黑体</vt:lpstr>
      <vt:lpstr>微软雅黑</vt:lpstr>
      <vt:lpstr>华文楷体</vt:lpstr>
      <vt:lpstr>汉仪书宋二KW</vt:lpstr>
      <vt:lpstr>Calibri</vt:lpstr>
      <vt:lpstr>Helvetica Neue</vt:lpstr>
      <vt:lpstr>等线</vt:lpstr>
      <vt:lpstr>微软雅黑</vt:lpstr>
      <vt:lpstr>Segoe UI Black</vt:lpstr>
      <vt:lpstr>Wingdings</vt:lpstr>
      <vt:lpstr>Thonburi</vt:lpstr>
      <vt:lpstr>汉仪中黑KW</vt:lpstr>
      <vt:lpstr>KPMG Extralight</vt:lpstr>
      <vt:lpstr>苹方-简</vt:lpstr>
      <vt:lpstr>微软雅黑</vt:lpstr>
      <vt:lpstr>汉仪中等线KW</vt:lpstr>
      <vt:lpstr>KPMG Bold</vt:lpstr>
      <vt:lpstr>宋体</vt:lpstr>
      <vt:lpstr>Arial Unicode MS</vt:lpstr>
      <vt:lpstr>等线</vt:lpstr>
      <vt:lpstr>7_KPMG_Talkbook_4x3_1021_2015</vt:lpstr>
      <vt:lpstr>KPMG_Widescreen_16:9 02/02/2016</vt:lpstr>
      <vt:lpstr>1_KPMG_Widescreen_16:9 02/02/2016</vt:lpstr>
      <vt:lpstr>2_KPMG_Widescreen_16:9 02/02/2016</vt:lpstr>
      <vt:lpstr>4_KPMG_Widescreen_16:9 02/02/2016</vt:lpstr>
      <vt:lpstr>1_5G模板</vt:lpstr>
      <vt:lpstr>1_KPMG Widescreen [16:9] Feb 2022</vt:lpstr>
      <vt:lpstr>1_KPMG_Talkbook_4x3_1021_2015</vt:lpstr>
      <vt:lpstr>2_5G模板</vt:lpstr>
      <vt:lpstr>2_KPMG_Talkbook_4x3_1021_2015</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KPMG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category>KPMG Confidential</cp:category>
  <cp:lastModifiedBy>这一刻</cp:lastModifiedBy>
  <cp:revision>6943</cp:revision>
  <cp:lastPrinted>2026-07-15T01:28:17Z</cp:lastPrinted>
  <dcterms:created xsi:type="dcterms:W3CDTF">2026-07-15T01:28:17Z</dcterms:created>
  <dcterms:modified xsi:type="dcterms:W3CDTF">2026-07-15T01:28:17Z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2052-12.1.25895.25895</vt:lpwstr>
  </property>
  <property fmtid="{D5CDD505-2E9C-101B-9397-08002B2CF9AE}" pid="4" name="ContentTypeId">
    <vt:lpwstr>0x0101002AB2D2FD19F34B4C81FB877218B32E98</vt:lpwstr>
  </property>
  <property fmtid="{D5CDD505-2E9C-101B-9397-08002B2CF9AE}" pid="5" name="ICV">
    <vt:lpwstr>C3AA4FCFEF200400CD49CA69B1D0537C_42</vt:lpwstr>
  </property>
</Properties>
</file>