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552450"/>
          </a:xfrm>
          <a:prstGeom prst="rect">
            <a:avLst/>
          </a:prstGeom>
          <a:solidFill>
            <a:srgbClr val="F6F6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61925"/>
            <a:ext cx="1524000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用户注册流程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552450"/>
            <a:ext cx="4000500" cy="552450"/>
          </a:xfrm>
          <a:prstGeom prst="rect">
            <a:avLst/>
          </a:prstGeom>
          <a:solidFill>
            <a:srgbClr val="DFF5FF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95850" y="552450"/>
            <a:ext cx="4000500" cy="552450"/>
          </a:xfrm>
          <a:prstGeom prst="rect">
            <a:avLst/>
          </a:prstGeom>
          <a:solidFill>
            <a:srgbClr val="DDFBEE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96350" y="552450"/>
            <a:ext cx="4095750" cy="552450"/>
          </a:xfrm>
          <a:prstGeom prst="rect">
            <a:avLst/>
          </a:prstGeom>
          <a:solidFill>
            <a:srgbClr val="F2FFD8"/>
          </a:solidFill>
          <a:ln w="9525">
            <a:solidFill>
              <a:srgbClr val="A8DB4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92100" y="552450"/>
            <a:ext cx="2247900" cy="552450"/>
          </a:xfrm>
          <a:prstGeom prst="rect">
            <a:avLst/>
          </a:prstGeom>
          <a:solidFill>
            <a:srgbClr val="FFF9D6"/>
          </a:solidFill>
          <a:ln w="9525">
            <a:solidFill>
              <a:srgbClr val="FFE2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C端用户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958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会员中心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96350" y="714375"/>
            <a:ext cx="409575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实名认证/风控服务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92100" y="714375"/>
            <a:ext cx="22479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运营管理端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" y="552450"/>
            <a:ext cx="552450" cy="773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1104900"/>
            <a:ext cx="14344650" cy="7181850"/>
          </a:xfrm>
          <a:prstGeom prst="rect">
            <a:avLst/>
          </a:prstGeom>
          <a:solidFill>
            <a:srgbClr val="F3F8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95850" y="552450"/>
            <a:ext cx="11430" cy="7734300"/>
          </a:xfrm>
          <a:prstGeom prst="rect">
            <a:avLst/>
          </a:prstGeom>
          <a:solidFill>
            <a:srgbClr val="25C9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96350" y="552450"/>
            <a:ext cx="11430" cy="7734300"/>
          </a:xfrm>
          <a:prstGeom prst="rect">
            <a:avLst/>
          </a:prstGeom>
          <a:solidFill>
            <a:srgbClr val="A8D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992100" y="552450"/>
            <a:ext cx="11430" cy="7734300"/>
          </a:xfrm>
          <a:prstGeom prst="rect">
            <a:avLst/>
          </a:prstGeom>
          <a:solidFill>
            <a:srgbClr val="FFE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2900" y="361950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2900" y="619125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4825" y="152400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注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册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申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请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校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验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" y="401955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实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名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处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理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建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档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" y="6534150"/>
            <a:ext cx="228600" cy="1619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员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状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态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营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476500" y="1524000"/>
            <a:ext cx="914400" cy="419100"/>
          </a:xfrm>
          <a:prstGeom prst="roundRect">
            <a:avLst>
              <a:gd name="adj" fmla="val 2500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552700" y="1571625"/>
            <a:ext cx="762000" cy="3238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开始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24175" y="1943100"/>
            <a:ext cx="19050" cy="34290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2876550" y="22669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095500" y="23812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171700" y="24288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注册申请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安荟邻/好社区/安邻充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810000" y="2667000"/>
            <a:ext cx="1476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5267325" y="26193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195763" y="25431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233863" y="25717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注册申请</a:t>
            </a: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381625" y="2381250"/>
            <a:ext cx="1333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457825" y="2428875"/>
            <a:ext cx="1181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黑名单校验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715125" y="2667000"/>
            <a:ext cx="38100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7077075" y="26193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553200" y="25431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591300" y="25717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未命中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191375" y="238125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267575" y="2428875"/>
            <a:ext cx="12763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形成会员</a:t>
            </a:r>
          </a:p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基础用户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620125" y="2667000"/>
            <a:ext cx="2047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648950" y="26193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291638" y="25431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329738" y="25717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实名申请</a:t>
            </a:r>
          </a:p>
        </p:txBody>
      </p:sp>
      <p:sp>
        <p:nvSpPr>
          <p:cNvPr id="45" name="菱形 44"/>
          <p:cNvSpPr>
            <a:spLocks noGrp="1"/>
          </p:cNvSpPr>
          <p:nvPr/>
        </p:nvSpPr>
        <p:spPr>
          <a:xfrm>
            <a:off x="10763250" y="2190750"/>
            <a:ext cx="1200150" cy="990600"/>
          </a:xfrm>
          <a:prstGeom prst="diamond">
            <a:avLst/>
          </a:prstGeom>
          <a:solidFill>
            <a:srgbClr val="FFF7D9"/>
          </a:solidFill>
          <a:ln w="19050">
            <a:solidFill>
              <a:srgbClr val="FFC63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1087291" y="2418588"/>
            <a:ext cx="552069" cy="53492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是否通过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实名认证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1963400" y="2667000"/>
            <a:ext cx="137160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13315950" y="26193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2296775" y="25431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2334875" y="25717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是</a:t>
            </a: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3430250" y="238125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3506450" y="2428875"/>
            <a:ext cx="12763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认证成功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更新会员状态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1353800" y="3181350"/>
            <a:ext cx="19050" cy="105727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10963275" y="3624263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1001375" y="3652838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否</a:t>
            </a: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2403475" y="397510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FF0F0"/>
          </a:solidFill>
          <a:ln w="20955">
            <a:solidFill>
              <a:srgbClr val="FF6B6B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2579370" y="4022725"/>
            <a:ext cx="9906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认证失败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通知C端用户</a:t>
            </a: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5953125" y="4619625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029325" y="4667250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会员中心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沉淀会员档案、身份</a:t>
            </a: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4135100" y="2971800"/>
            <a:ext cx="19050" cy="240982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667625" y="5372100"/>
            <a:ext cx="6381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任意多边形 62"/>
          <p:cNvSpPr>
            <a:spLocks noGrp="1"/>
          </p:cNvSpPr>
          <p:nvPr/>
        </p:nvSpPr>
        <p:spPr>
          <a:xfrm>
            <a:off x="7667625" y="53244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0506075" y="52482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10544175" y="52768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状态同步</a:t>
            </a: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658100" y="5210175"/>
            <a:ext cx="19050" cy="155257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667625" y="6753225"/>
            <a:ext cx="15716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任意多边形 67"/>
          <p:cNvSpPr>
            <a:spLocks noGrp="1"/>
          </p:cNvSpPr>
          <p:nvPr/>
        </p:nvSpPr>
        <p:spPr>
          <a:xfrm>
            <a:off x="9220200" y="67056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101013" y="66294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139113" y="66579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赋能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9334500" y="6477000"/>
            <a:ext cx="161925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410700" y="6524625"/>
            <a:ext cx="14668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黑/白名单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限制注册或优先权益</a:t>
            </a: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0953750" y="6762750"/>
            <a:ext cx="2381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任意多边形 73"/>
          <p:cNvSpPr>
            <a:spLocks noGrp="1"/>
          </p:cNvSpPr>
          <p:nvPr/>
        </p:nvSpPr>
        <p:spPr>
          <a:xfrm>
            <a:off x="11172825" y="67151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10720388" y="66389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0758488" y="66675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管理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11287125" y="6477000"/>
            <a:ext cx="161925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11363325" y="6524625"/>
            <a:ext cx="14668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冻结/解冻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停用或恢复积分权益</a:t>
            </a: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12906375" y="6762750"/>
            <a:ext cx="4286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13315950" y="67151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12768263" y="66389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12806363" y="66675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管理</a:t>
            </a: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13430250" y="6477000"/>
            <a:ext cx="1428750" cy="552450"/>
          </a:xfrm>
          <a:prstGeom prst="roundRect">
            <a:avLst>
              <a:gd name="adj" fmla="val 2069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13506450" y="6524625"/>
            <a:ext cx="127635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运营后台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2476500" y="7023100"/>
            <a:ext cx="1295400" cy="711200"/>
          </a:xfrm>
          <a:prstGeom prst="roundRect">
            <a:avLst>
              <a:gd name="adj" fmla="val 25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  <p:txBody>
          <a:bodyPr/>
          <a:p>
            <a:r>
              <a:rPr lang="en-US" altLang="zh-CN"/>
              <a:t>     </a:t>
            </a:r>
            <a:endParaRPr lang="en-US" altLang="zh-CN"/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2618105" y="7187565"/>
            <a:ext cx="975995" cy="3581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/>
              <a:t>名单状态通</a:t>
            </a:r>
            <a:r>
              <a:rPr lang="zh-CN" altLang="en-US"/>
              <a:t>知</a:t>
            </a:r>
            <a:endParaRPr lang="zh-CN" altLang="en-US"/>
          </a:p>
        </p:txBody>
      </p:sp>
      <p:cxnSp>
        <p:nvCxnSpPr>
          <p:cNvPr id="90" name="直接连接符 89"/>
          <p:cNvCxnSpPr>
            <a:stCxn id="53" idx="2"/>
          </p:cNvCxnSpPr>
          <p:nvPr/>
        </p:nvCxnSpPr>
        <p:spPr>
          <a:xfrm flipH="1" flipV="1">
            <a:off x="3803650" y="4214495"/>
            <a:ext cx="7559675" cy="241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任意多边形 9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04590" y="415988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cxnSp>
        <p:nvCxnSpPr>
          <p:cNvPr id="94" name="肘形连接符 93"/>
          <p:cNvCxnSpPr>
            <a:stCxn id="71" idx="2"/>
          </p:cNvCxnSpPr>
          <p:nvPr/>
        </p:nvCxnSpPr>
        <p:spPr>
          <a:xfrm rot="5400000">
            <a:off x="6887845" y="3982720"/>
            <a:ext cx="171450" cy="63404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肘形连接符 94"/>
          <p:cNvCxnSpPr>
            <a:stCxn id="77" idx="2"/>
          </p:cNvCxnSpPr>
          <p:nvPr>
            <p:custDataLst>
              <p:tags r:id="rId2"/>
            </p:custDataLst>
          </p:nvPr>
        </p:nvCxnSpPr>
        <p:spPr>
          <a:xfrm rot="5400000">
            <a:off x="7684770" y="3186430"/>
            <a:ext cx="531495" cy="82931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552450"/>
          </a:xfrm>
          <a:prstGeom prst="rect">
            <a:avLst/>
          </a:prstGeom>
          <a:solidFill>
            <a:srgbClr val="F6F6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61925"/>
            <a:ext cx="1524000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会员注销流程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552450"/>
            <a:ext cx="4000500" cy="552450"/>
          </a:xfrm>
          <a:prstGeom prst="rect">
            <a:avLst/>
          </a:prstGeom>
          <a:solidFill>
            <a:srgbClr val="DFF5FF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95850" y="552450"/>
            <a:ext cx="4000500" cy="552450"/>
          </a:xfrm>
          <a:prstGeom prst="rect">
            <a:avLst/>
          </a:prstGeom>
          <a:solidFill>
            <a:srgbClr val="DDFBEE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96350" y="552450"/>
            <a:ext cx="4095750" cy="552450"/>
          </a:xfrm>
          <a:prstGeom prst="rect">
            <a:avLst/>
          </a:prstGeom>
          <a:solidFill>
            <a:srgbClr val="F2FFD8"/>
          </a:solidFill>
          <a:ln w="9525">
            <a:solidFill>
              <a:srgbClr val="A8DB4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92100" y="552450"/>
            <a:ext cx="2247900" cy="552450"/>
          </a:xfrm>
          <a:prstGeom prst="rect">
            <a:avLst/>
          </a:prstGeom>
          <a:solidFill>
            <a:srgbClr val="FFF9D6"/>
          </a:solidFill>
          <a:ln w="9525">
            <a:solidFill>
              <a:srgbClr val="FFE2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C端用户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958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会员中心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96350" y="714375"/>
            <a:ext cx="409575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工单/权益服务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92100" y="714375"/>
            <a:ext cx="22479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运营管理端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" y="552450"/>
            <a:ext cx="552450" cy="773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1104900"/>
            <a:ext cx="14344650" cy="7181850"/>
          </a:xfrm>
          <a:prstGeom prst="rect">
            <a:avLst/>
          </a:prstGeom>
          <a:solidFill>
            <a:srgbClr val="F3F8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95850" y="552450"/>
            <a:ext cx="11430" cy="7734300"/>
          </a:xfrm>
          <a:prstGeom prst="rect">
            <a:avLst/>
          </a:prstGeom>
          <a:solidFill>
            <a:srgbClr val="25C9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96350" y="552450"/>
            <a:ext cx="11430" cy="7734300"/>
          </a:xfrm>
          <a:prstGeom prst="rect">
            <a:avLst/>
          </a:prstGeom>
          <a:solidFill>
            <a:srgbClr val="A8D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992100" y="552450"/>
            <a:ext cx="11430" cy="7734300"/>
          </a:xfrm>
          <a:prstGeom prst="rect">
            <a:avLst/>
          </a:prstGeom>
          <a:solidFill>
            <a:srgbClr val="FFE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2900" y="361950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2900" y="619125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4825" y="152400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注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销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申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请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身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份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校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验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" y="401955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条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件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确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认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处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理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" y="6534150"/>
            <a:ext cx="228600" cy="1619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注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销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归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档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停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用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333625" y="1571625"/>
            <a:ext cx="1238250" cy="514350"/>
          </a:xfrm>
          <a:prstGeom prst="roundRect">
            <a:avLst>
              <a:gd name="adj" fmla="val 22222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409825" y="1619250"/>
            <a:ext cx="108585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注销申请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43225" y="2085975"/>
            <a:ext cx="19050" cy="29527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2895600" y="23622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333625" y="2476500"/>
            <a:ext cx="1238250" cy="552450"/>
          </a:xfrm>
          <a:prstGeom prst="roundRect">
            <a:avLst>
              <a:gd name="adj" fmla="val 2069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409825" y="2524125"/>
            <a:ext cx="108585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提交身份证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信息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571875" y="2743200"/>
            <a:ext cx="228600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5838825" y="26955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362450" y="26193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400550" y="26479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身份校验</a:t>
            </a:r>
          </a:p>
        </p:txBody>
      </p:sp>
      <p:sp>
        <p:nvSpPr>
          <p:cNvPr id="33" name="菱形 32"/>
          <p:cNvSpPr>
            <a:spLocks noGrp="1"/>
          </p:cNvSpPr>
          <p:nvPr/>
        </p:nvSpPr>
        <p:spPr>
          <a:xfrm>
            <a:off x="5953125" y="2266950"/>
            <a:ext cx="1200150" cy="990600"/>
          </a:xfrm>
          <a:prstGeom prst="diamond">
            <a:avLst/>
          </a:prstGeom>
          <a:solidFill>
            <a:srgbClr val="FFF7D9"/>
          </a:solidFill>
          <a:ln w="19050">
            <a:solidFill>
              <a:srgbClr val="FFC63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277166" y="2494788"/>
            <a:ext cx="552069" cy="53492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身份是否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一致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53275" y="2743200"/>
            <a:ext cx="270510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9839325" y="26955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53400" y="26193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191500" y="26479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否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9953625" y="2476500"/>
            <a:ext cx="1476375" cy="552450"/>
          </a:xfrm>
          <a:prstGeom prst="roundRect">
            <a:avLst>
              <a:gd name="adj" fmla="val 20690"/>
            </a:avLst>
          </a:prstGeom>
          <a:solidFill>
            <a:srgbClr val="FFF0F0"/>
          </a:solidFill>
          <a:ln w="20955">
            <a:solidFill>
              <a:srgbClr val="FF6B6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029825" y="2524125"/>
            <a:ext cx="1323975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取消注销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身份信息不一致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543675" y="3257550"/>
            <a:ext cx="19050" cy="88582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6496050" y="41243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153150" y="3614738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191250" y="3643313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是</a:t>
            </a: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095500" y="447675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171700" y="4524375"/>
            <a:ext cx="13716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确认清除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543675" y="4238625"/>
            <a:ext cx="19050" cy="53340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3810000" y="4762500"/>
            <a:ext cx="26479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3810000" y="47148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781550" y="46386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819650" y="46672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通知确认</a:t>
            </a: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953625" y="4238625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0029825" y="4286250"/>
            <a:ext cx="13716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处理未完成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工单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553200" y="4229100"/>
            <a:ext cx="34004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9944100" y="4238625"/>
            <a:ext cx="19050" cy="29527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9896475" y="44196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853363" y="4252913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891463" y="4281488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未完成工单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1477625" y="4524375"/>
            <a:ext cx="4286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1887200" y="44767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11339513" y="44005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11377613" y="44291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完成后</a:t>
            </a: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12001500" y="4238625"/>
            <a:ext cx="161925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2077700" y="4286250"/>
            <a:ext cx="14668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权益确认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清除权益/取消注销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2847975" y="5067300"/>
            <a:ext cx="19050" cy="16954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2857500" y="6753225"/>
            <a:ext cx="3000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任意多边形 66"/>
          <p:cNvSpPr>
            <a:spLocks noGrp="1"/>
          </p:cNvSpPr>
          <p:nvPr/>
        </p:nvSpPr>
        <p:spPr>
          <a:xfrm>
            <a:off x="5838825" y="67056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4005263" y="66294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4043363" y="66579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确认</a:t>
            </a: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5334000" y="6477000"/>
            <a:ext cx="161925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5410200" y="6524625"/>
            <a:ext cx="14668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注销完成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保留注销数据存档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6953250" y="6762750"/>
            <a:ext cx="19050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任意多边形 72"/>
          <p:cNvSpPr>
            <a:spLocks noGrp="1"/>
          </p:cNvSpPr>
          <p:nvPr/>
        </p:nvSpPr>
        <p:spPr>
          <a:xfrm>
            <a:off x="7124700" y="67151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6696075" y="66389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6734175" y="66675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归档</a:t>
            </a: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7239000" y="647700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7315200" y="6524625"/>
            <a:ext cx="13716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账号状态</a:t>
            </a:r>
          </a:p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标记已注销</a:t>
            </a: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8763000" y="6762750"/>
            <a:ext cx="1095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任意多边形 78"/>
          <p:cNvSpPr>
            <a:spLocks noGrp="1"/>
          </p:cNvSpPr>
          <p:nvPr/>
        </p:nvSpPr>
        <p:spPr>
          <a:xfrm>
            <a:off x="9839325" y="67151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8958263" y="66389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8996363" y="66675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停用</a:t>
            </a: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9953625" y="647700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10029825" y="6524625"/>
            <a:ext cx="13716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不可恢复登录</a:t>
            </a: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11477625" y="6762750"/>
            <a:ext cx="266700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14135100" y="6772275"/>
            <a:ext cx="19050" cy="7048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任意多边形 85"/>
          <p:cNvSpPr>
            <a:spLocks noGrp="1"/>
          </p:cNvSpPr>
          <p:nvPr/>
        </p:nvSpPr>
        <p:spPr>
          <a:xfrm>
            <a:off x="14087475" y="74580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87" name="圆角矩形 86"/>
          <p:cNvSpPr>
            <a:spLocks noGrp="1"/>
          </p:cNvSpPr>
          <p:nvPr/>
        </p:nvSpPr>
        <p:spPr>
          <a:xfrm>
            <a:off x="13668375" y="7572375"/>
            <a:ext cx="952500" cy="419100"/>
          </a:xfrm>
          <a:prstGeom prst="roundRect">
            <a:avLst>
              <a:gd name="adj" fmla="val 25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3744575" y="7620000"/>
            <a:ext cx="800100" cy="3238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552450"/>
          </a:xfrm>
          <a:prstGeom prst="rect">
            <a:avLst/>
          </a:prstGeom>
          <a:solidFill>
            <a:srgbClr val="F6F6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61925"/>
            <a:ext cx="1524000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权益管理流程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552450"/>
            <a:ext cx="4000500" cy="552450"/>
          </a:xfrm>
          <a:prstGeom prst="rect">
            <a:avLst/>
          </a:prstGeom>
          <a:solidFill>
            <a:srgbClr val="DFF5FF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95850" y="552450"/>
            <a:ext cx="4000500" cy="552450"/>
          </a:xfrm>
          <a:prstGeom prst="rect">
            <a:avLst/>
          </a:prstGeom>
          <a:solidFill>
            <a:srgbClr val="DDFBEE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96350" y="552450"/>
            <a:ext cx="4095750" cy="552450"/>
          </a:xfrm>
          <a:prstGeom prst="rect">
            <a:avLst/>
          </a:prstGeom>
          <a:solidFill>
            <a:srgbClr val="F2FFD8"/>
          </a:solidFill>
          <a:ln w="9525">
            <a:solidFill>
              <a:srgbClr val="A8DB4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92100" y="552450"/>
            <a:ext cx="2247900" cy="552450"/>
          </a:xfrm>
          <a:prstGeom prst="rect">
            <a:avLst/>
          </a:prstGeom>
          <a:solidFill>
            <a:srgbClr val="FFF9D6"/>
          </a:solidFill>
          <a:ln w="9525">
            <a:solidFill>
              <a:srgbClr val="FFE2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C端用户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958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权益中心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96350" y="714375"/>
            <a:ext cx="409575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会员权益账户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92100" y="714375"/>
            <a:ext cx="22479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运营管理端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" y="552450"/>
            <a:ext cx="552450" cy="773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1104900"/>
            <a:ext cx="14344650" cy="7181850"/>
          </a:xfrm>
          <a:prstGeom prst="rect">
            <a:avLst/>
          </a:prstGeom>
          <a:solidFill>
            <a:srgbClr val="F3F8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95850" y="552450"/>
            <a:ext cx="11430" cy="7734300"/>
          </a:xfrm>
          <a:prstGeom prst="rect">
            <a:avLst/>
          </a:prstGeom>
          <a:solidFill>
            <a:srgbClr val="25C9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96350" y="552450"/>
            <a:ext cx="11430" cy="7734300"/>
          </a:xfrm>
          <a:prstGeom prst="rect">
            <a:avLst/>
          </a:prstGeom>
          <a:solidFill>
            <a:srgbClr val="A8D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992100" y="552450"/>
            <a:ext cx="11430" cy="7734300"/>
          </a:xfrm>
          <a:prstGeom prst="rect">
            <a:avLst/>
          </a:prstGeom>
          <a:solidFill>
            <a:srgbClr val="FFE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2900" y="361950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2900" y="619125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4825" y="152400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权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益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配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置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展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示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" y="401955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领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取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账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户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同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步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" y="6534150"/>
            <a:ext cx="228600" cy="1619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使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用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销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撤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销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3430250" y="152400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506450" y="1571625"/>
            <a:ext cx="12763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权益发放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实物/服务/虚拟权益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668125" y="1809750"/>
            <a:ext cx="1666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11668125" y="17621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149138" y="16859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187238" y="17145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配置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953625" y="152400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29825" y="157162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启用/禁用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禁用后C端不展示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667625" y="1809750"/>
            <a:ext cx="228600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658100" y="1819275"/>
            <a:ext cx="19050" cy="46672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7610475" y="22669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267575" y="1966913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305675" y="1995488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发布</a:t>
            </a: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5953125" y="23812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029325" y="24288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权益卡片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名称/内容/条件/有效期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810000" y="2667000"/>
            <a:ext cx="2047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3810000" y="26193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481513" y="25431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519613" y="25717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展示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095500" y="23812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171700" y="24288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权益展示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等级/员工/身份权益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667625" y="2667000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9839325" y="26193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410575" y="25431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448675" y="25717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领取</a:t>
            </a: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9953625" y="2381250"/>
            <a:ext cx="15240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0029825" y="2428875"/>
            <a:ext cx="13716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会员权益账户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关联会员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706100" y="2971800"/>
            <a:ext cx="19050" cy="155257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810000" y="4514850"/>
            <a:ext cx="6810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3810000" y="44672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862763" y="43910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900863" y="44196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到账通知</a:t>
            </a: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2095500" y="4238625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2171700" y="4286250"/>
            <a:ext cx="1371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权益领取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状态：已领取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2847975" y="4791075"/>
            <a:ext cx="19050" cy="49530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2800350" y="52673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457450" y="49530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2495550" y="49815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去使用</a:t>
            </a: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2095500" y="5381625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2171700" y="5429250"/>
            <a:ext cx="1371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展示核销码</a:t>
            </a: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3619500" y="5648325"/>
            <a:ext cx="63341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944100" y="4791075"/>
            <a:ext cx="19050" cy="77152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任意多边形 64"/>
          <p:cNvSpPr>
            <a:spLocks noGrp="1"/>
          </p:cNvSpPr>
          <p:nvPr/>
        </p:nvSpPr>
        <p:spPr>
          <a:xfrm>
            <a:off x="9896475" y="47910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0"/>
                </a:moveTo>
                <a:lnTo>
                  <a:pt x="0" y="11430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9553575" y="5091113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9591675" y="5119688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扫码核销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9953625" y="4238625"/>
            <a:ext cx="1714500" cy="552450"/>
          </a:xfrm>
          <a:prstGeom prst="roundRect">
            <a:avLst>
              <a:gd name="adj" fmla="val 20690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10029825" y="4286250"/>
            <a:ext cx="15621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会员权益核销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展示核销信息</a:t>
            </a: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1668125" y="4505325"/>
            <a:ext cx="2381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任意多边形 70"/>
          <p:cNvSpPr>
            <a:spLocks noGrp="1"/>
          </p:cNvSpPr>
          <p:nvPr/>
        </p:nvSpPr>
        <p:spPr>
          <a:xfrm>
            <a:off x="11887200" y="44577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11434763" y="43815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11472863" y="44100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确认核销</a:t>
            </a: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12001500" y="4238625"/>
            <a:ext cx="1428750" cy="552450"/>
          </a:xfrm>
          <a:prstGeom prst="roundRect">
            <a:avLst>
              <a:gd name="adj" fmla="val 20690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12077700" y="4286250"/>
            <a:ext cx="127635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状态更新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已核销</a:t>
            </a: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12706350" y="4791075"/>
            <a:ext cx="19050" cy="197167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12715875" y="6753225"/>
            <a:ext cx="6191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任意多边形 77"/>
          <p:cNvSpPr>
            <a:spLocks noGrp="1"/>
          </p:cNvSpPr>
          <p:nvPr/>
        </p:nvSpPr>
        <p:spPr>
          <a:xfrm>
            <a:off x="13315950" y="67056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12673013" y="66294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12711113" y="66579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撤销</a:t>
            </a: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13430250" y="6477000"/>
            <a:ext cx="1428750" cy="552450"/>
          </a:xfrm>
          <a:prstGeom prst="roundRect">
            <a:avLst>
              <a:gd name="adj" fmla="val 2069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13506450" y="6524625"/>
            <a:ext cx="127635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撤回核销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录入撤销原因</a:t>
            </a: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7667625" y="6753225"/>
            <a:ext cx="57626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7658100" y="5953125"/>
            <a:ext cx="19050" cy="80962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3619500" y="5943600"/>
            <a:ext cx="3952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任意多边形 85"/>
          <p:cNvSpPr>
            <a:spLocks noGrp="1"/>
          </p:cNvSpPr>
          <p:nvPr/>
        </p:nvSpPr>
        <p:spPr>
          <a:xfrm>
            <a:off x="3619500" y="58959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5243513" y="58197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5281613" y="58483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恢复去使用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552450"/>
          </a:xfrm>
          <a:prstGeom prst="rect">
            <a:avLst/>
          </a:prstGeom>
          <a:solidFill>
            <a:srgbClr val="F6F6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61925"/>
            <a:ext cx="1524000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优惠券管理流程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552450"/>
            <a:ext cx="4000500" cy="552450"/>
          </a:xfrm>
          <a:prstGeom prst="rect">
            <a:avLst/>
          </a:prstGeom>
          <a:solidFill>
            <a:srgbClr val="DFF5FF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95850" y="552450"/>
            <a:ext cx="4000500" cy="552450"/>
          </a:xfrm>
          <a:prstGeom prst="rect">
            <a:avLst/>
          </a:prstGeom>
          <a:solidFill>
            <a:srgbClr val="DDFBEE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96350" y="552450"/>
            <a:ext cx="4095750" cy="552450"/>
          </a:xfrm>
          <a:prstGeom prst="rect">
            <a:avLst/>
          </a:prstGeom>
          <a:solidFill>
            <a:srgbClr val="F2FFD8"/>
          </a:solidFill>
          <a:ln w="9525">
            <a:solidFill>
              <a:srgbClr val="A8DB4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92100" y="552450"/>
            <a:ext cx="2247900" cy="552450"/>
          </a:xfrm>
          <a:prstGeom prst="rect">
            <a:avLst/>
          </a:prstGeom>
          <a:solidFill>
            <a:srgbClr val="FFF9D6"/>
          </a:solidFill>
          <a:ln w="9525">
            <a:solidFill>
              <a:srgbClr val="FFE2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C端用户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958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优惠券中心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96350" y="714375"/>
            <a:ext cx="409575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核销/券账户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92100" y="714375"/>
            <a:ext cx="22479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运营管理端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" y="552450"/>
            <a:ext cx="552450" cy="773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1104900"/>
            <a:ext cx="14344650" cy="7181850"/>
          </a:xfrm>
          <a:prstGeom prst="rect">
            <a:avLst/>
          </a:prstGeom>
          <a:solidFill>
            <a:srgbClr val="F3F8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95850" y="552450"/>
            <a:ext cx="11430" cy="7734300"/>
          </a:xfrm>
          <a:prstGeom prst="rect">
            <a:avLst/>
          </a:prstGeom>
          <a:solidFill>
            <a:srgbClr val="25C9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96350" y="552450"/>
            <a:ext cx="11430" cy="7734300"/>
          </a:xfrm>
          <a:prstGeom prst="rect">
            <a:avLst/>
          </a:prstGeom>
          <a:solidFill>
            <a:srgbClr val="A8D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992100" y="552450"/>
            <a:ext cx="11430" cy="7734300"/>
          </a:xfrm>
          <a:prstGeom prst="rect">
            <a:avLst/>
          </a:prstGeom>
          <a:solidFill>
            <a:srgbClr val="FFE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2900" y="361950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2900" y="619125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4825" y="152400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创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建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发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放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展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示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" y="401955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领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取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冻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结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使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用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" y="6534150"/>
            <a:ext cx="228600" cy="1619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销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管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理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状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态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同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步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3430250" y="152400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506450" y="1571625"/>
            <a:ext cx="12763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优惠券创建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满减/折扣/抵扣/体验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668125" y="1809750"/>
            <a:ext cx="1666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11668125" y="17621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149138" y="16859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187238" y="17145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创建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953625" y="152400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29825" y="157162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优惠券发放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活动/等级/批量发放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667625" y="1809750"/>
            <a:ext cx="228600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658100" y="1819275"/>
            <a:ext cx="19050" cy="46672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7610475" y="22669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267575" y="1966913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305675" y="1995488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发放</a:t>
            </a: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5953125" y="23812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029325" y="24288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优惠券领取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会员主动领取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810000" y="2667000"/>
            <a:ext cx="2047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3810000" y="26193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481513" y="25431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519613" y="25717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领取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2095500" y="23812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171700" y="24288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优惠券查看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待使用/已使用/已过期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658100" y="2971800"/>
            <a:ext cx="19050" cy="13144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667625" y="4276725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9839325" y="42291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410575" y="41529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448675" y="41814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状态同步</a:t>
            </a: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9953625" y="400050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029825" y="404812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冻结/解冻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异常券不可用/恢复</a:t>
            </a: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2095500" y="476250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2171700" y="481012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线上核销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自动校验并抵扣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3810000" y="5048250"/>
            <a:ext cx="2047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5838825" y="50006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4481513" y="49244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4519613" y="49530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或</a:t>
            </a: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5953125" y="476250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6029325" y="481012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线下核销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出示券码/二维码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667625" y="5048250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9839325" y="50006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410575" y="49244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448675" y="49530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核销</a:t>
            </a: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9953625" y="476250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0029825" y="481012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券助手扫描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实时同步会员系统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1668125" y="5048250"/>
            <a:ext cx="2381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任意多边形 65"/>
          <p:cNvSpPr>
            <a:spLocks noGrp="1"/>
          </p:cNvSpPr>
          <p:nvPr/>
        </p:nvSpPr>
        <p:spPr>
          <a:xfrm>
            <a:off x="11887200" y="50006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1434763" y="49244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11472863" y="49530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状态更新</a:t>
            </a: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12001500" y="4762500"/>
            <a:ext cx="123825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12077700" y="4810125"/>
            <a:ext cx="10858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已使用</a:t>
            </a: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12611100" y="5353050"/>
            <a:ext cx="19050" cy="140970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12620625" y="6753225"/>
            <a:ext cx="714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任意多边形 72"/>
          <p:cNvSpPr>
            <a:spLocks noGrp="1"/>
          </p:cNvSpPr>
          <p:nvPr/>
        </p:nvSpPr>
        <p:spPr>
          <a:xfrm>
            <a:off x="13315950" y="67056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12625388" y="66294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12663488" y="66579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撤销</a:t>
            </a: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13430250" y="6477000"/>
            <a:ext cx="1428750" cy="552450"/>
          </a:xfrm>
          <a:prstGeom prst="roundRect">
            <a:avLst>
              <a:gd name="adj" fmla="val 2069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13506450" y="6524625"/>
            <a:ext cx="127635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核销管理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退款/错误撤销</a:t>
            </a: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4135100" y="7029450"/>
            <a:ext cx="19050" cy="44767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任意多边形 78"/>
          <p:cNvSpPr>
            <a:spLocks noGrp="1"/>
          </p:cNvSpPr>
          <p:nvPr/>
        </p:nvSpPr>
        <p:spPr>
          <a:xfrm>
            <a:off x="14087475" y="74580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80" name="圆角矩形 79"/>
          <p:cNvSpPr>
            <a:spLocks noGrp="1"/>
          </p:cNvSpPr>
          <p:nvPr/>
        </p:nvSpPr>
        <p:spPr>
          <a:xfrm>
            <a:off x="13668375" y="7572375"/>
            <a:ext cx="952500" cy="419100"/>
          </a:xfrm>
          <a:prstGeom prst="roundRect">
            <a:avLst>
              <a:gd name="adj" fmla="val 25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13744575" y="7620000"/>
            <a:ext cx="800100" cy="3238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552450"/>
          </a:xfrm>
          <a:prstGeom prst="rect">
            <a:avLst/>
          </a:prstGeom>
          <a:solidFill>
            <a:srgbClr val="F6F6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61925"/>
            <a:ext cx="1524000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积分中心流程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552450"/>
            <a:ext cx="4000500" cy="552450"/>
          </a:xfrm>
          <a:prstGeom prst="rect">
            <a:avLst/>
          </a:prstGeom>
          <a:solidFill>
            <a:srgbClr val="DFF5FF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95850" y="552450"/>
            <a:ext cx="4000500" cy="552450"/>
          </a:xfrm>
          <a:prstGeom prst="rect">
            <a:avLst/>
          </a:prstGeom>
          <a:solidFill>
            <a:srgbClr val="DDFBEE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96350" y="552450"/>
            <a:ext cx="4095750" cy="552450"/>
          </a:xfrm>
          <a:prstGeom prst="rect">
            <a:avLst/>
          </a:prstGeom>
          <a:solidFill>
            <a:srgbClr val="F2FFD8"/>
          </a:solidFill>
          <a:ln w="9525">
            <a:solidFill>
              <a:srgbClr val="A8DB4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92100" y="552450"/>
            <a:ext cx="2247900" cy="552450"/>
          </a:xfrm>
          <a:prstGeom prst="rect">
            <a:avLst/>
          </a:prstGeom>
          <a:solidFill>
            <a:srgbClr val="FFF9D6"/>
          </a:solidFill>
          <a:ln w="9525">
            <a:solidFill>
              <a:srgbClr val="FFE2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C端用户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958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积分中心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96350" y="714375"/>
            <a:ext cx="409575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优惠券/异业平台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92100" y="714375"/>
            <a:ext cx="22479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运营管理端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" y="552450"/>
            <a:ext cx="552450" cy="773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1104900"/>
            <a:ext cx="14344650" cy="7181850"/>
          </a:xfrm>
          <a:prstGeom prst="rect">
            <a:avLst/>
          </a:prstGeom>
          <a:solidFill>
            <a:srgbClr val="F3F8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95850" y="552450"/>
            <a:ext cx="11430" cy="7734300"/>
          </a:xfrm>
          <a:prstGeom prst="rect">
            <a:avLst/>
          </a:prstGeom>
          <a:solidFill>
            <a:srgbClr val="25C9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96350" y="552450"/>
            <a:ext cx="11430" cy="7734300"/>
          </a:xfrm>
          <a:prstGeom prst="rect">
            <a:avLst/>
          </a:prstGeom>
          <a:solidFill>
            <a:srgbClr val="A8D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992100" y="552450"/>
            <a:ext cx="11430" cy="7734300"/>
          </a:xfrm>
          <a:prstGeom prst="rect">
            <a:avLst/>
          </a:prstGeom>
          <a:solidFill>
            <a:srgbClr val="FFE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2900" y="361950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2900" y="619125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4825" y="152400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账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户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展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示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兑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换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" y="401955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兑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入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兑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出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同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步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" y="6534150"/>
            <a:ext cx="228600" cy="1619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账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户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管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理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控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095500" y="1524000"/>
            <a:ext cx="1714500" cy="552450"/>
          </a:xfrm>
          <a:prstGeom prst="roundRect">
            <a:avLst>
              <a:gd name="adj" fmla="val 2069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171700" y="1571625"/>
            <a:ext cx="15621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积分账户展示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总余额/可用/冻结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43225" y="2076450"/>
            <a:ext cx="19050" cy="400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2895600" y="24574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286000" y="2571750"/>
            <a:ext cx="1333500" cy="552450"/>
          </a:xfrm>
          <a:prstGeom prst="roundRect">
            <a:avLst>
              <a:gd name="adj" fmla="val 2069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362200" y="2619375"/>
            <a:ext cx="11811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积分兑换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选择代金券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619500" y="2838450"/>
            <a:ext cx="2238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5838825" y="27908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386263" y="27146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424363" y="27432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确认兑换</a:t>
            </a: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953125" y="2571750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029325" y="2619375"/>
            <a:ext cx="1371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实时扣减积分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477125" y="2838450"/>
            <a:ext cx="23812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9839325" y="27908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315325" y="271462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353425" y="274320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发券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9953625" y="2571750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029825" y="2619375"/>
            <a:ext cx="1371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优惠券模块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代金券到账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2095500" y="4333875"/>
            <a:ext cx="1714500" cy="552450"/>
          </a:xfrm>
          <a:prstGeom prst="roundRect">
            <a:avLst>
              <a:gd name="adj" fmla="val 2069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171700" y="4381500"/>
            <a:ext cx="15621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积分兑入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异业积分兑入安居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810000" y="4600575"/>
            <a:ext cx="2047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5838825" y="45529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481513" y="44767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519613" y="45053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校验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5953125" y="4333875"/>
            <a:ext cx="1714500" cy="552450"/>
          </a:xfrm>
          <a:prstGeom prst="roundRect">
            <a:avLst>
              <a:gd name="adj" fmla="val 20690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6029325" y="4381500"/>
            <a:ext cx="15621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异业平台校验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按比例换算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667625" y="4600575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9839325" y="45529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410575" y="44767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448675" y="45053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入账</a:t>
            </a: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9953625" y="4333875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029825" y="4381500"/>
            <a:ext cx="1371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兑入结果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余额刷新</a:t>
            </a: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2095500" y="5762625"/>
            <a:ext cx="1714500" cy="552450"/>
          </a:xfrm>
          <a:prstGeom prst="roundRect">
            <a:avLst>
              <a:gd name="adj" fmla="val 2069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2171700" y="5810250"/>
            <a:ext cx="15621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积分兑出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兑换异业平台积分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3810000" y="6029325"/>
            <a:ext cx="2047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5838825" y="59817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481513" y="59055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4519613" y="59340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规则确认</a:t>
            </a: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5953125" y="5762625"/>
            <a:ext cx="1714500" cy="552450"/>
          </a:xfrm>
          <a:prstGeom prst="roundRect">
            <a:avLst>
              <a:gd name="adj" fmla="val 20690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029325" y="5810250"/>
            <a:ext cx="15621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平台规则确认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展示兑换比例</a:t>
            </a: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667625" y="6029325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任意多边形 63"/>
          <p:cNvSpPr>
            <a:spLocks noGrp="1"/>
          </p:cNvSpPr>
          <p:nvPr/>
        </p:nvSpPr>
        <p:spPr>
          <a:xfrm>
            <a:off x="9839325" y="59817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8410575" y="59055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8448675" y="59340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发放</a:t>
            </a: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9953625" y="5762625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10029825" y="5810250"/>
            <a:ext cx="1371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兑出结果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记录兑换流水</a:t>
            </a: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11477625" y="4600575"/>
            <a:ext cx="1857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任意多边形 69"/>
          <p:cNvSpPr>
            <a:spLocks noGrp="1"/>
          </p:cNvSpPr>
          <p:nvPr/>
        </p:nvSpPr>
        <p:spPr>
          <a:xfrm>
            <a:off x="13315950" y="45529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2053888" y="44767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12091988" y="45053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运营管理</a:t>
            </a: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13430250" y="4333875"/>
            <a:ext cx="1428750" cy="552450"/>
          </a:xfrm>
          <a:prstGeom prst="roundRect">
            <a:avLst>
              <a:gd name="adj" fmla="val 2069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13506450" y="4381500"/>
            <a:ext cx="127635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积分账户管理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多端同步</a:t>
            </a: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13239750" y="5286375"/>
            <a:ext cx="876300" cy="476250"/>
          </a:xfrm>
          <a:prstGeom prst="roundRect">
            <a:avLst>
              <a:gd name="adj" fmla="val 24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3315950" y="5334000"/>
            <a:ext cx="7239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过期提醒</a:t>
            </a: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14192250" y="5286375"/>
            <a:ext cx="876300" cy="476250"/>
          </a:xfrm>
          <a:prstGeom prst="roundRect">
            <a:avLst>
              <a:gd name="adj" fmla="val 24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14268450" y="5334000"/>
            <a:ext cx="72390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积分调整</a:t>
            </a: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13573125" y="6238875"/>
            <a:ext cx="1238250" cy="476250"/>
          </a:xfrm>
          <a:prstGeom prst="roundRect">
            <a:avLst>
              <a:gd name="adj" fmla="val 24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13649325" y="6286500"/>
            <a:ext cx="108585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冻结/解冻</a:t>
            </a: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3677900" y="4876800"/>
            <a:ext cx="1333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13668375" y="4886325"/>
            <a:ext cx="19050" cy="400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任意多边形 82"/>
          <p:cNvSpPr>
            <a:spLocks noGrp="1"/>
          </p:cNvSpPr>
          <p:nvPr/>
        </p:nvSpPr>
        <p:spPr>
          <a:xfrm>
            <a:off x="13620750" y="51720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14239875" y="4876800"/>
            <a:ext cx="3905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14620875" y="4886325"/>
            <a:ext cx="19050" cy="400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任意多边形 85"/>
          <p:cNvSpPr>
            <a:spLocks noGrp="1"/>
          </p:cNvSpPr>
          <p:nvPr/>
        </p:nvSpPr>
        <p:spPr>
          <a:xfrm>
            <a:off x="14573250" y="51720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14192250" y="5753100"/>
            <a:ext cx="4381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4182725" y="5762625"/>
            <a:ext cx="19050" cy="4762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任意多边形 88"/>
          <p:cNvSpPr>
            <a:spLocks noGrp="1"/>
          </p:cNvSpPr>
          <p:nvPr/>
        </p:nvSpPr>
        <p:spPr>
          <a:xfrm>
            <a:off x="14135100" y="61245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552450"/>
          </a:xfrm>
          <a:prstGeom prst="rect">
            <a:avLst/>
          </a:prstGeom>
          <a:solidFill>
            <a:srgbClr val="F6F6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61925"/>
            <a:ext cx="1524000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清结算管理流程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552450"/>
            <a:ext cx="4000500" cy="552450"/>
          </a:xfrm>
          <a:prstGeom prst="rect">
            <a:avLst/>
          </a:prstGeom>
          <a:solidFill>
            <a:srgbClr val="DFF5FF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95850" y="552450"/>
            <a:ext cx="4000500" cy="552450"/>
          </a:xfrm>
          <a:prstGeom prst="rect">
            <a:avLst/>
          </a:prstGeom>
          <a:solidFill>
            <a:srgbClr val="DDFBEE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96350" y="552450"/>
            <a:ext cx="4095750" cy="552450"/>
          </a:xfrm>
          <a:prstGeom prst="rect">
            <a:avLst/>
          </a:prstGeom>
          <a:solidFill>
            <a:srgbClr val="F2FFD8"/>
          </a:solidFill>
          <a:ln w="9525">
            <a:solidFill>
              <a:srgbClr val="A8DB4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92100" y="552450"/>
            <a:ext cx="2247900" cy="552450"/>
          </a:xfrm>
          <a:prstGeom prst="rect">
            <a:avLst/>
          </a:prstGeom>
          <a:solidFill>
            <a:srgbClr val="FFF9D6"/>
          </a:solidFill>
          <a:ln w="9525">
            <a:solidFill>
              <a:srgbClr val="FFE2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C端用户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958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清结算中心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96350" y="714375"/>
            <a:ext cx="409575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积分/优惠券系统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92100" y="714375"/>
            <a:ext cx="22479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运营管理端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" y="552450"/>
            <a:ext cx="552450" cy="773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1104900"/>
            <a:ext cx="14344650" cy="7181850"/>
          </a:xfrm>
          <a:prstGeom prst="rect">
            <a:avLst/>
          </a:prstGeom>
          <a:solidFill>
            <a:srgbClr val="F3F8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95850" y="552450"/>
            <a:ext cx="11430" cy="7734300"/>
          </a:xfrm>
          <a:prstGeom prst="rect">
            <a:avLst/>
          </a:prstGeom>
          <a:solidFill>
            <a:srgbClr val="25C9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96350" y="552450"/>
            <a:ext cx="11430" cy="7734300"/>
          </a:xfrm>
          <a:prstGeom prst="rect">
            <a:avLst/>
          </a:prstGeom>
          <a:solidFill>
            <a:srgbClr val="A8D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992100" y="552450"/>
            <a:ext cx="11430" cy="7734300"/>
          </a:xfrm>
          <a:prstGeom prst="rect">
            <a:avLst/>
          </a:prstGeom>
          <a:solidFill>
            <a:srgbClr val="FFE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2900" y="361950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2900" y="619125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4825" y="152400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日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清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数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据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汇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总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" y="401955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有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效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期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批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处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理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" y="6534150"/>
            <a:ext cx="228600" cy="1619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预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警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通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知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归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档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953125" y="1476375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29325" y="1524000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积分发分清算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按主体/来源统计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67625" y="1762125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9839325" y="17145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410575" y="16383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448675" y="16668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生成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953625" y="1476375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29825" y="1524000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发分日清明细表</a:t>
            </a: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5953125" y="2524125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29325" y="2571750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积分兑分清算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按兑分场景统计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67625" y="2809875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9839325" y="27622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10575" y="26860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448675" y="27146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生成</a:t>
            </a: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9953625" y="2524125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029825" y="2571750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兑分日清明细表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953125" y="40957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029325" y="41433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积分有效期计算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每笔标注到期日期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667625" y="4381500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9839325" y="43338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410575" y="42576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448675" y="42862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触发</a:t>
            </a: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9953625" y="409575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0029825" y="4143375"/>
            <a:ext cx="12763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过期提醒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30天/15天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1382375" y="4381500"/>
            <a:ext cx="523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11887200" y="43338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1291888" y="42576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329988" y="42862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到期</a:t>
            </a: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12001500" y="409575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2077700" y="4143375"/>
            <a:ext cx="12763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过期清零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同步积分明细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0658475" y="4686300"/>
            <a:ext cx="19050" cy="64770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3810000" y="5324475"/>
            <a:ext cx="6762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3810000" y="52768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838950" y="52006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877050" y="52292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发送消息</a:t>
            </a: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2095500" y="5048250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171700" y="5095875"/>
            <a:ext cx="1371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过期提醒消息</a:t>
            </a: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5953125" y="581025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6029325" y="5857875"/>
            <a:ext cx="1562100" cy="476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优惠券结算批处理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统计当日核销</a:t>
            </a: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667625" y="6086475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任意多边形 62"/>
          <p:cNvSpPr>
            <a:spLocks noGrp="1"/>
          </p:cNvSpPr>
          <p:nvPr/>
        </p:nvSpPr>
        <p:spPr>
          <a:xfrm>
            <a:off x="9839325" y="60388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8410575" y="59626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8448675" y="59912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统计</a:t>
            </a: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9953625" y="581025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0029825" y="5857875"/>
            <a:ext cx="1562100" cy="476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核销统计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金额/商户/业务线</a:t>
            </a: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11668125" y="6086475"/>
            <a:ext cx="1666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任意多边形 68"/>
          <p:cNvSpPr>
            <a:spLocks noGrp="1"/>
          </p:cNvSpPr>
          <p:nvPr/>
        </p:nvSpPr>
        <p:spPr>
          <a:xfrm>
            <a:off x="13315950" y="60388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12149138" y="59626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2187238" y="59912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异常预警</a:t>
            </a: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13430250" y="5810250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13506450" y="5857875"/>
            <a:ext cx="1276350" cy="476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异常预警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通知管理员处理</a:t>
            </a: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14135100" y="6381750"/>
            <a:ext cx="19050" cy="109537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任意多边形 74"/>
          <p:cNvSpPr>
            <a:spLocks noGrp="1"/>
          </p:cNvSpPr>
          <p:nvPr/>
        </p:nvSpPr>
        <p:spPr>
          <a:xfrm>
            <a:off x="14087475" y="74580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3744575" y="6843713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13782675" y="6872288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归档</a:t>
            </a: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13668375" y="7572375"/>
            <a:ext cx="952500" cy="419100"/>
          </a:xfrm>
          <a:prstGeom prst="roundRect">
            <a:avLst>
              <a:gd name="adj" fmla="val 25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13744575" y="7620000"/>
            <a:ext cx="800100" cy="3238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5240000" cy="552450"/>
          </a:xfrm>
          <a:prstGeom prst="rect">
            <a:avLst/>
          </a:prstGeom>
          <a:solidFill>
            <a:srgbClr val="F6F6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61925"/>
            <a:ext cx="15240000" cy="2476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风控管理流程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552450"/>
            <a:ext cx="4000500" cy="552450"/>
          </a:xfrm>
          <a:prstGeom prst="rect">
            <a:avLst/>
          </a:prstGeom>
          <a:solidFill>
            <a:srgbClr val="DFF5FF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95850" y="552450"/>
            <a:ext cx="4000500" cy="552450"/>
          </a:xfrm>
          <a:prstGeom prst="rect">
            <a:avLst/>
          </a:prstGeom>
          <a:solidFill>
            <a:srgbClr val="DDFBEE"/>
          </a:solidFill>
          <a:ln w="9525">
            <a:solidFill>
              <a:srgbClr val="25C9F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896350" y="552450"/>
            <a:ext cx="4095750" cy="552450"/>
          </a:xfrm>
          <a:prstGeom prst="rect">
            <a:avLst/>
          </a:prstGeom>
          <a:solidFill>
            <a:srgbClr val="F2FFD8"/>
          </a:solidFill>
          <a:ln w="9525">
            <a:solidFill>
              <a:srgbClr val="A8DB4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992100" y="552450"/>
            <a:ext cx="2247900" cy="552450"/>
          </a:xfrm>
          <a:prstGeom prst="rect">
            <a:avLst/>
          </a:prstGeom>
          <a:solidFill>
            <a:srgbClr val="FFF9D6"/>
          </a:solidFill>
          <a:ln w="9525">
            <a:solidFill>
              <a:srgbClr val="FFE23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C端用户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95850" y="714375"/>
            <a:ext cx="40005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风控中心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96350" y="714375"/>
            <a:ext cx="409575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积分交易/发分主体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992100" y="714375"/>
            <a:ext cx="2247900" cy="209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运营管理端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" y="552450"/>
            <a:ext cx="552450" cy="77343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1104900"/>
            <a:ext cx="14344650" cy="7181850"/>
          </a:xfrm>
          <a:prstGeom prst="rect">
            <a:avLst/>
          </a:prstGeom>
          <a:solidFill>
            <a:srgbClr val="F3F8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95850" y="552450"/>
            <a:ext cx="11430" cy="7734300"/>
          </a:xfrm>
          <a:prstGeom prst="rect">
            <a:avLst/>
          </a:prstGeom>
          <a:solidFill>
            <a:srgbClr val="25C9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96350" y="552450"/>
            <a:ext cx="11430" cy="7734300"/>
          </a:xfrm>
          <a:prstGeom prst="rect">
            <a:avLst/>
          </a:prstGeom>
          <a:solidFill>
            <a:srgbClr val="A8DB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992100" y="552450"/>
            <a:ext cx="11430" cy="7734300"/>
          </a:xfrm>
          <a:prstGeom prst="rect">
            <a:avLst/>
          </a:prstGeom>
          <a:solidFill>
            <a:srgbClr val="FFE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42900" y="361950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42900" y="6191250"/>
            <a:ext cx="14897100" cy="9525"/>
          </a:xfrm>
          <a:prstGeom prst="rect">
            <a:avLst/>
          </a:prstGeom>
          <a:solidFill>
            <a:srgbClr val="A7B4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4825" y="152400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规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则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配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置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监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控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" y="4019550"/>
            <a:ext cx="228600" cy="18097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拦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截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预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警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处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理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" y="6534150"/>
            <a:ext cx="228600" cy="1619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审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核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恢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复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与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通</a:t>
            </a:r>
          </a:p>
          <a:p>
            <a:pPr algn="ctr">
              <a:defRPr sz="112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知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953125" y="1476375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29325" y="1524000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会员风控规则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限额/IP/设备多账号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67625" y="1762125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9839325" y="17145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410575" y="16383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448675" y="16668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监控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953625" y="1476375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29825" y="1524000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发分主体风控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单日/月上限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801350" y="2066925"/>
            <a:ext cx="19050" cy="3619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0753725" y="240982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9953625" y="2524125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029825" y="2571750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主体实时监控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接近上限自动预警</a:t>
            </a: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5953125" y="40957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E8FFF8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29325" y="41433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规则触发监控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限额/IP/设备刷分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667625" y="4381500"/>
            <a:ext cx="2190750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9839325" y="43338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410575" y="42576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448675" y="42862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触发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9953625" y="40957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FF0F0"/>
          </a:solidFill>
          <a:ln w="20955">
            <a:solidFill>
              <a:srgbClr val="FF6B6B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0029825" y="41433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自动拦截/限制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拦截交易/限制活动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668125" y="4381500"/>
            <a:ext cx="16668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13315950" y="43338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2149138" y="4257675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2187238" y="4286250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预警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13430250" y="4095750"/>
            <a:ext cx="1428750" cy="590550"/>
          </a:xfrm>
          <a:prstGeom prst="roundRect">
            <a:avLst>
              <a:gd name="adj" fmla="val 19355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3506450" y="4143375"/>
            <a:ext cx="127635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预警通知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站内信/邮件推送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3810000" y="4381500"/>
            <a:ext cx="6048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3810000" y="43338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1" name="圆角矩形 50"/>
          <p:cNvSpPr>
            <a:spLocks noGrp="1"/>
          </p:cNvSpPr>
          <p:nvPr/>
        </p:nvSpPr>
        <p:spPr>
          <a:xfrm>
            <a:off x="2095500" y="4095750"/>
            <a:ext cx="1714500" cy="590550"/>
          </a:xfrm>
          <a:prstGeom prst="roundRect">
            <a:avLst>
              <a:gd name="adj" fmla="val 19355"/>
            </a:avLst>
          </a:prstGeom>
          <a:solidFill>
            <a:srgbClr val="FFF0F0"/>
          </a:solidFill>
          <a:ln w="20955">
            <a:solidFill>
              <a:srgbClr val="FF6B6B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2171700" y="4143375"/>
            <a:ext cx="1562100" cy="4953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交易被拦截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积分交易不可继续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0801350" y="4686300"/>
            <a:ext cx="19050" cy="121920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3810000" y="5895975"/>
            <a:ext cx="690562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3810000" y="58483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0" y="57150"/>
                </a:moveTo>
                <a:lnTo>
                  <a:pt x="114300" y="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910388" y="577215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948488" y="580072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站内信</a:t>
            </a: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2095500" y="5619750"/>
            <a:ext cx="1714500" cy="571500"/>
          </a:xfrm>
          <a:prstGeom prst="roundRect">
            <a:avLst>
              <a:gd name="adj" fmla="val 20000"/>
            </a:avLst>
          </a:prstGeom>
          <a:solidFill>
            <a:srgbClr val="E6FAFF"/>
          </a:solidFill>
          <a:ln w="20955">
            <a:solidFill>
              <a:srgbClr val="25C9F2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2171700" y="5667375"/>
            <a:ext cx="1562100" cy="476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接收风控通知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展示限制原因</a:t>
            </a: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4135100" y="4686300"/>
            <a:ext cx="19050" cy="50482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任意多边形 60"/>
          <p:cNvSpPr>
            <a:spLocks noGrp="1"/>
          </p:cNvSpPr>
          <p:nvPr/>
        </p:nvSpPr>
        <p:spPr>
          <a:xfrm>
            <a:off x="14087475" y="5172075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2" name="圆角矩形 61"/>
          <p:cNvSpPr>
            <a:spLocks noGrp="1"/>
          </p:cNvSpPr>
          <p:nvPr/>
        </p:nvSpPr>
        <p:spPr>
          <a:xfrm>
            <a:off x="13430250" y="5286375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13506450" y="5334000"/>
            <a:ext cx="1276350" cy="476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预警处理流程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已查看/处理中/已解决</a:t>
            </a: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4135100" y="5857875"/>
            <a:ext cx="19050" cy="619125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任意多边形 64"/>
          <p:cNvSpPr>
            <a:spLocks noGrp="1"/>
          </p:cNvSpPr>
          <p:nvPr/>
        </p:nvSpPr>
        <p:spPr>
          <a:xfrm>
            <a:off x="14087475" y="645795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3744575" y="6081713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3782675" y="6110288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审核</a:t>
            </a: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13430250" y="6572250"/>
            <a:ext cx="1428750" cy="571500"/>
          </a:xfrm>
          <a:prstGeom prst="roundRect">
            <a:avLst>
              <a:gd name="adj" fmla="val 20000"/>
            </a:avLst>
          </a:prstGeom>
          <a:solidFill>
            <a:srgbClr val="FFFBE0"/>
          </a:solidFill>
          <a:ln w="20955">
            <a:solidFill>
              <a:srgbClr val="FFE23B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13506450" y="6619875"/>
            <a:ext cx="1276350" cy="4762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手动解除限制</a:t>
            </a:r>
          </a:p>
          <a:p>
            <a:pPr algn="ctr">
              <a:defRPr sz="940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审核并保留原因</a:t>
            </a: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0810875" y="6848475"/>
            <a:ext cx="2619375" cy="190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0801350" y="4686300"/>
            <a:ext cx="19050" cy="2076450"/>
          </a:xfrm>
          <a:prstGeom prst="rect">
            <a:avLst/>
          </a:prstGeom>
          <a:solidFill>
            <a:srgbClr val="5361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任意多边形 71"/>
          <p:cNvSpPr>
            <a:spLocks noGrp="1"/>
          </p:cNvSpPr>
          <p:nvPr/>
        </p:nvSpPr>
        <p:spPr>
          <a:xfrm>
            <a:off x="10753725" y="4686300"/>
            <a:ext cx="114300" cy="114300"/>
          </a:xfrm>
          <a:custGeom>
            <a:avLst/>
            <a:gdLst/>
            <a:ahLst/>
            <a:cxnLst/>
            <a:pathLst>
              <a:path w="114300" h="114300">
                <a:moveTo>
                  <a:pt x="57150" y="0"/>
                </a:moveTo>
                <a:lnTo>
                  <a:pt x="0" y="11430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536170"/>
          </a:solidFill>
          <a:ln w="0">
            <a:solidFill>
              <a:srgbClr val="536170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10410825" y="5638800"/>
            <a:ext cx="8001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10448925" y="5667375"/>
            <a:ext cx="723900" cy="1524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825">
                <a:solidFill>
                  <a:srgbClr val="4B55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恢复权限</a:t>
            </a: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9953625" y="6572250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F4FFE0"/>
          </a:solidFill>
          <a:ln w="20955">
            <a:solidFill>
              <a:srgbClr val="A8DB45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0029825" y="6619875"/>
            <a:ext cx="1371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恢复正常</a:t>
            </a:r>
          </a:p>
          <a:p>
            <a:pPr algn="ctr">
              <a:defRPr sz="975" b="1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交易权限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WPS 表格</Application>
  <PresentationFormat>Converted Presentation</PresentationFormat>
  <Paragraphs>581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勇哥</cp:lastModifiedBy>
  <cp:revision>1</cp:revision>
  <dcterms:created xsi:type="dcterms:W3CDTF">2026-07-07T01:59:10Z</dcterms:created>
  <dcterms:modified xsi:type="dcterms:W3CDTF">2026-07-07T01:59:10Z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1785ECF4EA86551B6E5D4C6A9B64BA9B_42</vt:lpwstr>
  </property>
  <property fmtid="{D5CDD505-2E9C-101B-9397-08002B2CF9AE}" pid="3" name="KSOProductBuildVer">
    <vt:lpwstr>2052-6.7.1.8828</vt:lpwstr>
  </property>
</Properties>
</file>