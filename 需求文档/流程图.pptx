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8" Type="http://schemas.openxmlformats.org/officeDocument/2006/relationships/notesSlide" Target="../notesSlides/notesSlide3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800600" y="171450"/>
            <a:ext cx="2590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用户注册流程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352550"/>
            <a:ext cx="10725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43400" y="76200"/>
            <a:ext cx="19050" cy="67246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14450" y="8001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10450" y="8001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运营管理端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76250" y="316230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3286125"/>
            <a:ext cx="828675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895475" y="2466975"/>
            <a:ext cx="19050" cy="171450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895475" y="2466975"/>
            <a:ext cx="714375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457450" y="23526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24300" y="2428875"/>
            <a:ext cx="7620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33900" y="23145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菱形 16"/>
          <p:cNvSpPr>
            <a:spLocks noGrp="1"/>
          </p:cNvSpPr>
          <p:nvPr/>
        </p:nvSpPr>
        <p:spPr>
          <a:xfrm>
            <a:off x="4914900" y="1924050"/>
            <a:ext cx="1333500" cy="10096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C6BEA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88280" y="2105787"/>
            <a:ext cx="586740" cy="62598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黑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名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48400" y="2428875"/>
            <a:ext cx="819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915150" y="23145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62700" y="2095500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否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765800" y="3063875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648585" y="3105150"/>
            <a:ext cx="1351915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628900" y="3200400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拒绝注册/登录</a:t>
            </a:r>
            <a:endParaRPr sz="15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590800" y="3476625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通知C端用户</a:t>
            </a:r>
            <a:endParaRPr sz="82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895475" y="4181475"/>
            <a:ext cx="714375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457450" y="40671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968750" y="4206875"/>
            <a:ext cx="8382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654550" y="40925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菱形 35"/>
          <p:cNvSpPr>
            <a:spLocks noGrp="1"/>
          </p:cNvSpPr>
          <p:nvPr/>
        </p:nvSpPr>
        <p:spPr>
          <a:xfrm>
            <a:off x="4972050" y="3714750"/>
            <a:ext cx="1333500" cy="10096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C6BEA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345430" y="3896487"/>
            <a:ext cx="586740" cy="62598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</a:t>
            </a: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审核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305550" y="4200525"/>
            <a:ext cx="7620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915150" y="40862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515100" y="3810000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724650" y="50292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886450" y="4791075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否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628900" y="4883150"/>
            <a:ext cx="137160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2693035" y="4978400"/>
            <a:ext cx="121221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认证失败</a:t>
            </a:r>
            <a:endParaRPr sz="15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693035" y="5254625"/>
            <a:ext cx="121221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通知C端用户</a:t>
            </a:r>
            <a:endParaRPr sz="82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858250" y="2133600"/>
            <a:ext cx="1238250" cy="31432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953500" y="341947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会员中心</a:t>
            </a:r>
            <a:endParaRPr sz="15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972550" y="3762375"/>
            <a:ext cx="1009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注册成功形成会员</a:t>
            </a:r>
            <a:endParaRPr sz="78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实名认证成功</a:t>
            </a:r>
            <a:endParaRPr sz="78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更新会员状态</a:t>
            </a:r>
            <a:endParaRPr sz="78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324850" y="2428875"/>
            <a:ext cx="4000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572500" y="23145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324850" y="4200525"/>
            <a:ext cx="4000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572500" y="40862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0420350" y="2038350"/>
            <a:ext cx="13525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0534650" y="212407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黑名单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0750550" y="2400300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无法注册/登录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已注册则冻结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所有服务权限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0420350" y="3171825"/>
            <a:ext cx="13525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0534650" y="3257550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白名单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10775950" y="3533775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优先参与活动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专属客服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特殊权益叠加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0420350" y="4305300"/>
            <a:ext cx="1352550" cy="9715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10534650" y="439102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 / 解冻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0763250" y="4667250"/>
            <a:ext cx="104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冻结违规会员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停用积分/权益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解冻填写原因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恢复正常权限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096500" y="2447925"/>
            <a:ext cx="1905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0134600" y="23336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0096500" y="3581400"/>
            <a:ext cx="1905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10134600" y="34671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10096500" y="4791075"/>
            <a:ext cx="1905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10134600" y="46767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62000" y="6248400"/>
            <a:ext cx="1047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说明：注册成功后形成会员中心用户；实名认证成功更新会员状态；管理员基于会员中心进行黑/白名单、冻结/解冻管理。</a:t>
            </a:r>
            <a:endParaRPr sz="105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3" name="矩形 7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47950" y="2152650"/>
            <a:ext cx="13525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819400" y="22669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注册申请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62250" y="26289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安荟邻 / 好社区 / 安邻充 / 异构系统</a:t>
            </a:r>
            <a:endParaRPr sz="84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74" name="肘形连接符 73"/>
          <p:cNvCxnSpPr>
            <a:stCxn id="17" idx="2"/>
            <a:endCxn id="27" idx="3"/>
          </p:cNvCxnSpPr>
          <p:nvPr/>
        </p:nvCxnSpPr>
        <p:spPr>
          <a:xfrm rot="5400000">
            <a:off x="4552950" y="2381250"/>
            <a:ext cx="476250" cy="1581150"/>
          </a:xfrm>
          <a:prstGeom prst="bentConnector2">
            <a:avLst/>
          </a:prstGeom>
          <a:ln w="19050" cap="flat" cmpd="sng">
            <a:solidFill>
              <a:schemeClr val="tx2">
                <a:lumMod val="50000"/>
                <a:lumOff val="50000"/>
              </a:schemeClr>
            </a:solidFill>
            <a:prstDash val="solid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肘形连接符 75"/>
          <p:cNvCxnSpPr/>
          <p:nvPr>
            <p:custDataLst>
              <p:tags r:id="rId2"/>
            </p:custDataLst>
          </p:nvPr>
        </p:nvCxnSpPr>
        <p:spPr>
          <a:xfrm rot="5400000">
            <a:off x="4616450" y="4184650"/>
            <a:ext cx="476250" cy="1581150"/>
          </a:xfrm>
          <a:prstGeom prst="bentConnector2">
            <a:avLst/>
          </a:prstGeom>
          <a:ln w="19050" cap="flat" cmpd="sng">
            <a:solidFill>
              <a:schemeClr val="tx2">
                <a:lumMod val="50000"/>
                <a:lumOff val="50000"/>
              </a:schemeClr>
            </a:solidFill>
            <a:prstDash val="solid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矩形 7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628900" y="3917950"/>
            <a:ext cx="13525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819400" y="39814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实名申请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857500" y="4343400"/>
            <a:ext cx="1047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</a:t>
            </a:r>
            <a:r>
              <a:rPr lang="zh-CN"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住</a:t>
            </a:r>
            <a:r>
              <a:rPr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户；非员工、非住户</a:t>
            </a:r>
            <a:endParaRPr sz="84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219950" y="2095500"/>
            <a:ext cx="11239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315200" y="2276475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注册成功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9" name="矩形 7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219950" y="3857625"/>
            <a:ext cx="11239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315200" y="405765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认证成功</a:t>
            </a:r>
            <a:endParaRPr sz="18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800600" y="171450"/>
            <a:ext cx="2590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会员注销流程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352550"/>
            <a:ext cx="10725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43400" y="76200"/>
            <a:ext cx="19050" cy="67246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14450" y="8001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10450" y="8001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运营管理端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35050" y="2219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92275" y="2371725"/>
            <a:ext cx="771525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368550" y="22574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616200" y="219710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注销申请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78100" y="25590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提交身份证信息</a:t>
            </a:r>
            <a:endParaRPr sz="84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21100" y="2359025"/>
            <a:ext cx="819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45000" y="22574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368550" y="3784600"/>
            <a:ext cx="1562100" cy="6477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463800" y="3870325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处理工单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463800" y="41465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完成未关闭工单后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再发起注销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368550" y="4737100"/>
            <a:ext cx="1562100" cy="990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463800" y="4937125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权益确认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463800" y="52133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确认清除权益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或取消注销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菱形 22"/>
          <p:cNvSpPr>
            <a:spLocks noGrp="1"/>
          </p:cNvSpPr>
          <p:nvPr/>
        </p:nvSpPr>
        <p:spPr>
          <a:xfrm>
            <a:off x="4711700" y="1901825"/>
            <a:ext cx="1257300" cy="990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C6BEA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88306" y="2099945"/>
            <a:ext cx="704088" cy="594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身份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一致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969000" y="2397125"/>
            <a:ext cx="6477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521450" y="22828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21400" y="206375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49900" y="2959100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否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368550" y="2959100"/>
            <a:ext cx="1562100" cy="5524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463800" y="3044825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取消注销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463800" y="3321050"/>
            <a:ext cx="1371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身份证与会员信息不一致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菱形 34"/>
          <p:cNvSpPr>
            <a:spLocks noGrp="1"/>
          </p:cNvSpPr>
          <p:nvPr/>
        </p:nvSpPr>
        <p:spPr>
          <a:xfrm>
            <a:off x="6788150" y="1901825"/>
            <a:ext cx="1257300" cy="990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C6BEA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64756" y="2099945"/>
            <a:ext cx="704088" cy="594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未完成</a:t>
            </a:r>
            <a:endParaRPr sz="14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工单</a:t>
            </a:r>
            <a:endParaRPr sz="14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045450" y="2397125"/>
            <a:ext cx="438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388350" y="22828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083550" y="1974850"/>
            <a:ext cx="38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否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626350" y="2959100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菱形 43"/>
          <p:cNvSpPr>
            <a:spLocks noGrp="1"/>
          </p:cNvSpPr>
          <p:nvPr/>
        </p:nvSpPr>
        <p:spPr>
          <a:xfrm>
            <a:off x="8559800" y="1901825"/>
            <a:ext cx="1257300" cy="990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C6BEA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836406" y="2099945"/>
            <a:ext cx="704088" cy="594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未使用</a:t>
            </a:r>
            <a:endParaRPr sz="14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</a:t>
            </a:r>
            <a:endParaRPr sz="14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817100" y="2397125"/>
            <a:ext cx="4762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198100" y="22828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931400" y="1949450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315450" y="2911475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0369550" y="2006600"/>
            <a:ext cx="1200150" cy="103759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464800" y="2092325"/>
            <a:ext cx="100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注销完成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464800" y="2368550"/>
            <a:ext cx="100965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保留注销数据存档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账号状态标记为“已注销”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不可恢复登录</a:t>
            </a:r>
            <a:endParaRPr sz="79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62000" y="6515100"/>
            <a:ext cx="1047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说明：存在未完成工单或未使用权益时，流程退回C端用户处理/确认；满足注销条件后保留数据归档，账号不可恢复登录。</a:t>
            </a:r>
            <a:endParaRPr sz="105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8" name="肘形连接符 57"/>
          <p:cNvCxnSpPr>
            <a:stCxn id="23" idx="2"/>
            <a:endCxn id="32" idx="3"/>
          </p:cNvCxnSpPr>
          <p:nvPr/>
        </p:nvCxnSpPr>
        <p:spPr>
          <a:xfrm rot="5400000">
            <a:off x="4464050" y="2359025"/>
            <a:ext cx="342900" cy="140970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35" idx="2"/>
          </p:cNvCxnSpPr>
          <p:nvPr>
            <p:custDataLst>
              <p:tags r:id="rId1"/>
            </p:custDataLst>
          </p:nvPr>
        </p:nvCxnSpPr>
        <p:spPr>
          <a:xfrm rot="5400000">
            <a:off x="5108575" y="1790700"/>
            <a:ext cx="1206500" cy="340995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stCxn id="44" idx="2"/>
          </p:cNvCxnSpPr>
          <p:nvPr>
            <p:custDataLst>
              <p:tags r:id="rId2"/>
            </p:custDataLst>
          </p:nvPr>
        </p:nvCxnSpPr>
        <p:spPr>
          <a:xfrm rot="5400000">
            <a:off x="5581650" y="1275715"/>
            <a:ext cx="1990725" cy="522287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菱形 6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838700" y="5051425"/>
            <a:ext cx="1257300" cy="990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2C6BEA"/>
            </a:solidFill>
          </a:ln>
        </p:spPr>
      </p:sp>
      <p:sp>
        <p:nvSpPr>
          <p:cNvPr id="62" name="矩形 6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115306" y="5249545"/>
            <a:ext cx="704088" cy="594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</a:t>
            </a:r>
            <a:endParaRPr lang="zh-CN"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清</a:t>
            </a:r>
            <a:r>
              <a:rPr lang="zh-CN"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除</a:t>
            </a:r>
            <a:endParaRPr lang="zh-CN"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4006850" y="5546725"/>
            <a:ext cx="8382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61" idx="3"/>
            <a:endCxn id="53" idx="2"/>
          </p:cNvCxnSpPr>
          <p:nvPr>
            <p:custDataLst>
              <p:tags r:id="rId5"/>
            </p:custDataLst>
          </p:nvPr>
        </p:nvCxnSpPr>
        <p:spPr>
          <a:xfrm flipV="1">
            <a:off x="6096000" y="3044190"/>
            <a:ext cx="4873625" cy="250253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矩形 6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877050" y="5222875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645150" y="6026150"/>
            <a:ext cx="40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否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9" name="肘形连接符 68"/>
          <p:cNvCxnSpPr>
            <a:stCxn id="61" idx="2"/>
            <a:endCxn id="32" idx="1"/>
          </p:cNvCxnSpPr>
          <p:nvPr/>
        </p:nvCxnSpPr>
        <p:spPr>
          <a:xfrm rot="5400000" flipH="1">
            <a:off x="2514600" y="3089275"/>
            <a:ext cx="2806700" cy="3098800"/>
          </a:xfrm>
          <a:prstGeom prst="bentConnector4">
            <a:avLst>
              <a:gd name="adj1" fmla="val -8484"/>
              <a:gd name="adj2" fmla="val 115471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800600" y="171450"/>
            <a:ext cx="2590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权益管理流程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981075"/>
            <a:ext cx="10725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43400" y="76200"/>
            <a:ext cx="19050" cy="67246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14450" y="561975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10450" y="561975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运营管理端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37433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3867150"/>
            <a:ext cx="9334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1200150"/>
            <a:ext cx="1485900" cy="7810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91350" y="1285875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权益发放</a:t>
            </a:r>
            <a:endParaRPr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991350" y="1562100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实物权益 / 服务权益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虚拟权益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77050" y="2724150"/>
            <a:ext cx="1524000" cy="6413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972300" y="2809875"/>
            <a:ext cx="1333500" cy="187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启用 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72300" y="3086100"/>
            <a:ext cx="1333500" cy="2971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禁用的权益继续可使</a:t>
            </a: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</a:t>
            </a:r>
            <a:endParaRPr lang="zh-CN"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896350" y="2701925"/>
            <a:ext cx="1562100" cy="6413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91600" y="2752725"/>
            <a:ext cx="1371600" cy="187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未履约干预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91600" y="3028950"/>
            <a:ext cx="1371600" cy="2971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触发人工干预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催办短信通知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822575" y="2962275"/>
            <a:ext cx="1428750" cy="725805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2943225" y="303847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权益卡片</a:t>
            </a:r>
            <a:endParaRPr sz="116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981325" y="3286125"/>
            <a:ext cx="1162050" cy="39179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权益名称、权益内容</a:t>
            </a:r>
            <a:endParaRPr sz="78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领取条件、有效期</a:t>
            </a:r>
            <a:endParaRPr sz="78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8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剩余名额（如有）</a:t>
            </a:r>
            <a:endParaRPr sz="78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847975" y="3848100"/>
            <a:ext cx="14287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943225" y="39338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权益领取</a:t>
            </a:r>
            <a:endParaRPr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943225" y="42100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状态更新为“已领取”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038725" y="40767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962525" y="3855085"/>
            <a:ext cx="1562100" cy="678815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038725" y="38925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会员权益账户</a:t>
            </a:r>
            <a:endParaRPr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038725" y="4178300"/>
            <a:ext cx="1359535" cy="374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领取后关联至会员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权益账户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857500" y="5708650"/>
            <a:ext cx="1428750" cy="6413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952750" y="57943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权益通知</a:t>
            </a:r>
            <a:endParaRPr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2952750" y="6070600"/>
            <a:ext cx="123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领取后发送站内信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62000" y="6489700"/>
            <a:ext cx="1047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说明：运营端配置权益类型并控制启用/禁用；C端按权益分类展示卡片，领取后写入会员权益账户并通过站内信通知。</a:t>
            </a:r>
            <a:endParaRPr sz="105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819400" y="2057400"/>
            <a:ext cx="1428750" cy="72644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2971800" y="21653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权益展示</a:t>
            </a:r>
            <a:endParaRPr sz="14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933700" y="2489200"/>
            <a:ext cx="12954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会员等级权益 / 员工权益 / 身份权益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7" name="肘形连接符 56"/>
          <p:cNvCxnSpPr>
            <a:stCxn id="11" idx="1"/>
            <a:endCxn id="55" idx="0"/>
          </p:cNvCxnSpPr>
          <p:nvPr/>
        </p:nvCxnSpPr>
        <p:spPr>
          <a:xfrm rot="10800000" flipV="1">
            <a:off x="3533775" y="1590675"/>
            <a:ext cx="3362325" cy="46672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2060575" y="2314575"/>
            <a:ext cx="0" cy="271653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2073275" y="2327275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>
            <p:custDataLst>
              <p:tags r:id="rId2"/>
            </p:custDataLst>
          </p:nvPr>
        </p:nvCxnSpPr>
        <p:spPr>
          <a:xfrm>
            <a:off x="2073275" y="3260725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>
            <p:custDataLst>
              <p:tags r:id="rId3"/>
            </p:custDataLst>
          </p:nvPr>
        </p:nvCxnSpPr>
        <p:spPr>
          <a:xfrm>
            <a:off x="2063750" y="4171950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矩形 6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953000" y="2765425"/>
            <a:ext cx="1524000" cy="6413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63" name="矩形 6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48250" y="2851150"/>
            <a:ext cx="1333500" cy="187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禁用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048250" y="3127375"/>
            <a:ext cx="1333500" cy="2971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禁用后C端不展示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已领取未使用仍可用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5" name="肘形连接符 64"/>
          <p:cNvCxnSpPr>
            <a:stCxn id="62" idx="0"/>
            <a:endCxn id="11" idx="2"/>
          </p:cNvCxnSpPr>
          <p:nvPr/>
        </p:nvCxnSpPr>
        <p:spPr>
          <a:xfrm rot="16200000">
            <a:off x="6284913" y="1411288"/>
            <a:ext cx="784225" cy="1924050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 flipH="1">
            <a:off x="7629525" y="2083435"/>
            <a:ext cx="9525" cy="64071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肘形连接符 9"/>
          <p:cNvCxnSpPr/>
          <p:nvPr/>
        </p:nvCxnSpPr>
        <p:spPr>
          <a:xfrm>
            <a:off x="7638415" y="2370455"/>
            <a:ext cx="2038985" cy="39179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>
            <p:custDataLst>
              <p:tags r:id="rId7"/>
            </p:custDataLst>
          </p:nvPr>
        </p:nvCxnSpPr>
        <p:spPr>
          <a:xfrm>
            <a:off x="4276725" y="4210050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844800" y="4714875"/>
            <a:ext cx="14287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940050" y="48006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</a:t>
            </a:r>
            <a:endParaRPr lang="zh-CN"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940050" y="5076825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展示核销码，去使</a:t>
            </a: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</a:t>
            </a:r>
            <a:endParaRPr lang="zh-CN"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035550" y="49434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9350" y="4721860"/>
            <a:ext cx="1562100" cy="678815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035550" y="47593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会员权益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</a:t>
            </a:r>
            <a:endParaRPr lang="zh-CN"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5035550" y="5045075"/>
            <a:ext cx="1359535" cy="374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扫权益码，展示相应核销信息，确定核</a:t>
            </a: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</a:t>
            </a:r>
            <a:endParaRPr lang="zh-CN"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28" name="直接箭头连接符 27"/>
          <p:cNvCxnSpPr/>
          <p:nvPr>
            <p:custDataLst>
              <p:tags r:id="rId15"/>
            </p:custDataLst>
          </p:nvPr>
        </p:nvCxnSpPr>
        <p:spPr>
          <a:xfrm>
            <a:off x="2060575" y="5038725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>
            <p:custDataLst>
              <p:tags r:id="rId16"/>
            </p:custDataLst>
          </p:nvPr>
        </p:nvCxnSpPr>
        <p:spPr>
          <a:xfrm>
            <a:off x="4273550" y="5076825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7305675" y="49149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229475" y="4693285"/>
            <a:ext cx="1562100" cy="678815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37" name="矩形 36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7305675" y="4730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</a:t>
            </a:r>
            <a:endParaRPr lang="zh-CN"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7305675" y="5016500"/>
            <a:ext cx="1359535" cy="374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状态更新为“已</a:t>
            </a:r>
            <a:r>
              <a:rPr lang="zh-CN">
                <a:sym typeface="+mn-ea"/>
              </a:rPr>
              <a:t>核销</a:t>
            </a:r>
            <a:r>
              <a:rPr>
                <a:sym typeface="+mn-ea"/>
              </a:rPr>
              <a:t>”</a:t>
            </a:r>
            <a:endParaRPr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39" name="直接箭头连接符 38"/>
          <p:cNvCxnSpPr/>
          <p:nvPr>
            <p:custDataLst>
              <p:tags r:id="rId21"/>
            </p:custDataLst>
          </p:nvPr>
        </p:nvCxnSpPr>
        <p:spPr>
          <a:xfrm>
            <a:off x="6543675" y="5048250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矩形 52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9554210" y="490601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9478010" y="4684395"/>
            <a:ext cx="1562100" cy="678815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67" name="矩形 66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554210" y="472186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撤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回核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</a:t>
            </a:r>
            <a:endParaRPr lang="zh-CN"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9554210" y="5007610"/>
            <a:ext cx="1359535" cy="374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ym typeface="+mn-ea"/>
              </a:rPr>
              <a:t>针对已核销记录执行撤销，录入撤销原因后记录恢复为“</a:t>
            </a:r>
            <a:r>
              <a:rPr lang="zh-CN">
                <a:sym typeface="+mn-ea"/>
              </a:rPr>
              <a:t>去使用</a:t>
            </a:r>
            <a:r>
              <a:rPr>
                <a:sym typeface="+mn-ea"/>
              </a:rPr>
              <a:t>”</a:t>
            </a:r>
            <a:endParaRPr>
              <a:sym typeface="+mn-ea"/>
            </a:endParaRPr>
          </a:p>
        </p:txBody>
      </p:sp>
      <p:cxnSp>
        <p:nvCxnSpPr>
          <p:cNvPr id="69" name="直接箭头连接符 68"/>
          <p:cNvCxnSpPr/>
          <p:nvPr>
            <p:custDataLst>
              <p:tags r:id="rId26"/>
            </p:custDataLst>
          </p:nvPr>
        </p:nvCxnSpPr>
        <p:spPr>
          <a:xfrm>
            <a:off x="8792210" y="5039360"/>
            <a:ext cx="73660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肘形连接符 70"/>
          <p:cNvCxnSpPr>
            <a:stCxn id="68" idx="2"/>
            <a:endCxn id="15" idx="2"/>
          </p:cNvCxnSpPr>
          <p:nvPr/>
        </p:nvCxnSpPr>
        <p:spPr>
          <a:xfrm rot="5400000">
            <a:off x="6887845" y="2053590"/>
            <a:ext cx="18415" cy="6675120"/>
          </a:xfrm>
          <a:prstGeom prst="bentConnector3">
            <a:avLst>
              <a:gd name="adj1" fmla="val 1391379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肘形连接符 71"/>
          <p:cNvCxnSpPr>
            <a:stCxn id="38" idx="2"/>
            <a:endCxn id="50" idx="3"/>
          </p:cNvCxnSpPr>
          <p:nvPr/>
        </p:nvCxnSpPr>
        <p:spPr>
          <a:xfrm rot="5400000">
            <a:off x="5817235" y="3860165"/>
            <a:ext cx="638175" cy="369951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629150" y="171450"/>
            <a:ext cx="2933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优惠券管理流程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352550"/>
            <a:ext cx="10725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43400" y="76200"/>
            <a:ext cx="19050" cy="67246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14450" y="8001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10450" y="8001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运营管理端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402844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53000" y="1545590"/>
            <a:ext cx="1466850" cy="96266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048250" y="170815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优惠券创建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48250" y="1984375"/>
            <a:ext cx="1276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电商：满减/折扣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线下：抵扣/体验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跨场：通用抵扣券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19850" y="2032000"/>
            <a:ext cx="6286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953250" y="19177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19950" y="1555750"/>
            <a:ext cx="1365885" cy="9525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315200" y="1631950"/>
            <a:ext cx="1504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优惠券发放</a:t>
            </a:r>
            <a:endParaRPr sz="116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80300" y="1879600"/>
            <a:ext cx="1428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运营活动自动发放</a:t>
            </a:r>
            <a:endParaRPr sz="72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会员等级定向发放</a:t>
            </a:r>
            <a:endParaRPr sz="72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手动批量发放</a:t>
            </a:r>
            <a:endParaRPr sz="72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C端券中心领取</a:t>
            </a:r>
            <a:endParaRPr sz="72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85200" y="2946400"/>
            <a:ext cx="91440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31250" y="303212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31250" y="3308350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异常券/规则错误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冻结后不可用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99625" y="2946400"/>
            <a:ext cx="91440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794875" y="303212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解冻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794875" y="3308350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问题解决后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恢复使用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857500" y="4254500"/>
            <a:ext cx="142875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952750" y="43402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优惠券领取</a:t>
            </a:r>
            <a:endParaRPr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952750" y="46164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支持会员主动领取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844800" y="3375025"/>
            <a:ext cx="1400175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3197225" y="34607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通知C端</a:t>
            </a:r>
            <a:endParaRPr sz="11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197225" y="3736975"/>
            <a:ext cx="723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提示优惠券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不可使用</a:t>
            </a:r>
            <a:r>
              <a:rPr lang="en-US"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/</a:t>
            </a:r>
            <a:r>
              <a:rPr lang="zh-CN" altLang="en-US"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禁</a:t>
            </a:r>
            <a:r>
              <a:rPr lang="zh-CN" altLang="en-US"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</a:t>
            </a:r>
            <a:endParaRPr lang="zh-CN" altLang="en-US"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857500" y="4997450"/>
            <a:ext cx="14287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952750" y="50831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线上核销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2952750" y="53594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自在安居APP/线上商城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自动校验条件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符合则自动抵扣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2857500" y="5835650"/>
            <a:ext cx="1428750" cy="6858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2952750" y="592137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线下核销</a:t>
            </a:r>
            <a:endParaRPr sz="11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2952750" y="61976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出示券码/二维码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券助手扫描核销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实时同步会员系统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4286250" y="6178550"/>
            <a:ext cx="5905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4781550" y="60642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315200" y="5143500"/>
            <a:ext cx="1752600" cy="1219835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410450" y="5466715"/>
            <a:ext cx="1562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状态更新</a:t>
            </a:r>
            <a:endParaRPr sz="15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7410450" y="5742940"/>
            <a:ext cx="1562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线上/线下核销后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优惠券状态更新为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“已使用”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795000" y="2936875"/>
            <a:ext cx="958850" cy="619125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10614025" y="3013075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核销管理</a:t>
            </a:r>
            <a:endParaRPr sz="116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0928350" y="3260725"/>
            <a:ext cx="10668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退款/核销错误时</a:t>
            </a:r>
            <a:endParaRPr sz="72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管理员发起撤销</a:t>
            </a:r>
            <a:endParaRPr sz="72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62000" y="6623050"/>
            <a:ext cx="1047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说明：运营端创建并发放多类型优惠券；C端查看、领取并线上/线下核销；管理端支持核销撤销及冻结/解冻。</a:t>
            </a:r>
            <a:endParaRPr sz="105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77" name="直接箭头连接符 76"/>
          <p:cNvCxnSpPr/>
          <p:nvPr>
            <p:custDataLst>
              <p:tags r:id="rId1"/>
            </p:custDataLst>
          </p:nvPr>
        </p:nvCxnSpPr>
        <p:spPr>
          <a:xfrm flipV="1">
            <a:off x="10115550" y="2489200"/>
            <a:ext cx="0" cy="45085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肘形连接符 77"/>
          <p:cNvCxnSpPr>
            <a:stCxn id="79" idx="2"/>
          </p:cNvCxnSpPr>
          <p:nvPr>
            <p:custDataLst>
              <p:tags r:id="rId2"/>
            </p:custDataLst>
          </p:nvPr>
        </p:nvCxnSpPr>
        <p:spPr>
          <a:xfrm rot="5400000">
            <a:off x="7193280" y="-463550"/>
            <a:ext cx="203200" cy="614680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267825" y="1555750"/>
            <a:ext cx="2200275" cy="9525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80" name="矩形 7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639300" y="1631950"/>
            <a:ext cx="1504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</a:t>
            </a:r>
            <a:endParaRPr sz="116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045700" y="1933575"/>
            <a:ext cx="97853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生成优惠</a:t>
            </a:r>
            <a:r>
              <a:rPr lang="zh-CN" sz="72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卷</a:t>
            </a:r>
            <a:endParaRPr lang="zh-CN" sz="72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82" name="直接箭头连接符 81"/>
          <p:cNvCxnSpPr/>
          <p:nvPr>
            <p:custDataLst>
              <p:tags r:id="rId6"/>
            </p:custDataLst>
          </p:nvPr>
        </p:nvCxnSpPr>
        <p:spPr>
          <a:xfrm>
            <a:off x="8623300" y="2032000"/>
            <a:ext cx="64452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矩形 8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838450" y="2384425"/>
            <a:ext cx="1428750" cy="6096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048000" y="2498725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</a:t>
            </a:r>
            <a:r>
              <a:rPr sz="14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查看</a:t>
            </a:r>
            <a:endParaRPr sz="14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717800" y="2809875"/>
            <a:ext cx="16764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待使用 / 已使用 / 已过期 / 不可用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84" name="直接箭头连接符 83"/>
          <p:cNvCxnSpPr/>
          <p:nvPr>
            <p:custDataLst>
              <p:tags r:id="rId8"/>
            </p:custDataLst>
          </p:nvPr>
        </p:nvCxnSpPr>
        <p:spPr>
          <a:xfrm flipV="1">
            <a:off x="11156950" y="2498725"/>
            <a:ext cx="0" cy="45085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肘形连接符 84"/>
          <p:cNvCxnSpPr>
            <a:stCxn id="21" idx="2"/>
            <a:endCxn id="42" idx="3"/>
          </p:cNvCxnSpPr>
          <p:nvPr>
            <p:custDataLst>
              <p:tags r:id="rId9"/>
            </p:custDataLst>
          </p:nvPr>
        </p:nvCxnSpPr>
        <p:spPr>
          <a:xfrm rot="5400000">
            <a:off x="6581775" y="1219200"/>
            <a:ext cx="123825" cy="479742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肘形连接符 85"/>
          <p:cNvCxnSpPr>
            <a:stCxn id="26" idx="2"/>
          </p:cNvCxnSpPr>
          <p:nvPr>
            <p:custDataLst>
              <p:tags r:id="rId10"/>
            </p:custDataLst>
          </p:nvPr>
        </p:nvCxnSpPr>
        <p:spPr>
          <a:xfrm rot="5400000">
            <a:off x="7153910" y="685165"/>
            <a:ext cx="132080" cy="587375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肘形连接符 86"/>
          <p:cNvCxnSpPr>
            <a:stCxn id="39" idx="3"/>
          </p:cNvCxnSpPr>
          <p:nvPr>
            <p:custDataLst>
              <p:tags r:id="rId11"/>
            </p:custDataLst>
          </p:nvPr>
        </p:nvCxnSpPr>
        <p:spPr>
          <a:xfrm flipV="1">
            <a:off x="4286250" y="2517775"/>
            <a:ext cx="6424930" cy="2041525"/>
          </a:xfrm>
          <a:prstGeom prst="bentConnector3">
            <a:avLst>
              <a:gd name="adj1" fmla="val 100009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1438275" y="2686050"/>
            <a:ext cx="0" cy="358140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endCxn id="83" idx="1"/>
          </p:cNvCxnSpPr>
          <p:nvPr>
            <p:custDataLst>
              <p:tags r:id="rId12"/>
            </p:custDataLst>
          </p:nvPr>
        </p:nvCxnSpPr>
        <p:spPr>
          <a:xfrm>
            <a:off x="1438275" y="2689225"/>
            <a:ext cx="140017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>
            <p:custDataLst>
              <p:tags r:id="rId13"/>
            </p:custDataLst>
          </p:nvPr>
        </p:nvCxnSpPr>
        <p:spPr>
          <a:xfrm>
            <a:off x="1438275" y="4559300"/>
            <a:ext cx="140017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>
            <p:custDataLst>
              <p:tags r:id="rId14"/>
            </p:custDataLst>
          </p:nvPr>
        </p:nvCxnSpPr>
        <p:spPr>
          <a:xfrm>
            <a:off x="1438275" y="5311775"/>
            <a:ext cx="140017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>
            <p:custDataLst>
              <p:tags r:id="rId15"/>
            </p:custDataLst>
          </p:nvPr>
        </p:nvCxnSpPr>
        <p:spPr>
          <a:xfrm>
            <a:off x="1438275" y="6229350"/>
            <a:ext cx="140017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>
            <p:custDataLst>
              <p:tags r:id="rId16"/>
            </p:custDataLst>
          </p:nvPr>
        </p:nvCxnSpPr>
        <p:spPr>
          <a:xfrm flipV="1">
            <a:off x="9410700" y="2489200"/>
            <a:ext cx="0" cy="45085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肘形连接符 97"/>
          <p:cNvCxnSpPr>
            <a:stCxn id="67" idx="3"/>
          </p:cNvCxnSpPr>
          <p:nvPr/>
        </p:nvCxnSpPr>
        <p:spPr>
          <a:xfrm flipV="1">
            <a:off x="9067800" y="3556000"/>
            <a:ext cx="2198370" cy="2197735"/>
          </a:xfrm>
          <a:prstGeom prst="bentConnector3">
            <a:avLst>
              <a:gd name="adj1" fmla="val 98989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>
            <p:custDataLst>
              <p:tags r:id="rId17"/>
            </p:custDataLst>
          </p:nvPr>
        </p:nvCxnSpPr>
        <p:spPr>
          <a:xfrm>
            <a:off x="1438275" y="3689350"/>
            <a:ext cx="140017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1057275" y="4196080"/>
            <a:ext cx="36830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959350" y="5842635"/>
            <a:ext cx="1562100" cy="678815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" name="矩形 1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035550" y="58801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卷核</a:t>
            </a:r>
            <a:r>
              <a:rPr lang="zh-CN"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</a:t>
            </a:r>
            <a:endParaRPr lang="zh-CN"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5035550" y="6165850"/>
            <a:ext cx="1359535" cy="374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ctr">
              <a:defRPr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扫权益码，展示相应核销信息，确定核</a:t>
            </a:r>
            <a:r>
              <a:rPr lang="zh-CN" sz="76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销</a:t>
            </a:r>
            <a:endParaRPr lang="zh-CN" sz="76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21"/>
            </p:custDataLst>
          </p:nvPr>
        </p:nvCxnSpPr>
        <p:spPr>
          <a:xfrm>
            <a:off x="6521450" y="6197600"/>
            <a:ext cx="77089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>
            <p:custDataLst>
              <p:tags r:id="rId22"/>
            </p:custDataLst>
          </p:nvPr>
        </p:nvCxnSpPr>
        <p:spPr>
          <a:xfrm>
            <a:off x="4277360" y="5359400"/>
            <a:ext cx="301498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5105400" y="1714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积分中心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869950"/>
            <a:ext cx="10725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43400" y="76200"/>
            <a:ext cx="19050" cy="67246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14450" y="4826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10450" y="4826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运营管理端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424180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4365625"/>
            <a:ext cx="9334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647950" y="1739900"/>
            <a:ext cx="1428750" cy="7239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43200" y="18161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积分账户展示</a:t>
            </a:r>
            <a:endParaRPr sz="13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62250" y="2082800"/>
            <a:ext cx="1200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账户总余额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可用积分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冻结积分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038350" y="2101850"/>
            <a:ext cx="5334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76500" y="19875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647950" y="3536950"/>
            <a:ext cx="1428750" cy="7239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743200" y="36131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积分兑换</a:t>
            </a:r>
            <a:endParaRPr sz="13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62250" y="3879850"/>
            <a:ext cx="1200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选择指定面额代金券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确认后实时扣减积分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038350" y="3898900"/>
            <a:ext cx="5334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476500" y="37846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647950" y="4578350"/>
            <a:ext cx="1428750" cy="5905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743200" y="4654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积分兑入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762250" y="492125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异业积分兑换为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安居会员积分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38350" y="4873625"/>
            <a:ext cx="5334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476500" y="47593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647950" y="5594350"/>
            <a:ext cx="1428750" cy="5905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743200" y="56705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积分兑出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762250" y="593725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安居积分兑换为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异业平台积分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038350" y="5889625"/>
            <a:ext cx="53340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476500" y="57753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647950" y="2585720"/>
            <a:ext cx="1428750" cy="78105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743200" y="2661920"/>
            <a:ext cx="120205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通知用户</a:t>
            </a:r>
            <a:endParaRPr sz="12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762250" y="2928620"/>
            <a:ext cx="115697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过期提醒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冻结/解冻结果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账户余额变动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767070" y="1149350"/>
            <a:ext cx="4507230" cy="8382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096125" y="122555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积分账户管理</a:t>
            </a:r>
            <a:endParaRPr sz="12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115175" y="1492250"/>
            <a:ext cx="1371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账户与会员唯一标识绑定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跨渠道登录实时同步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多端展示保持一致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953000" y="2359025"/>
            <a:ext cx="1370965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933950" y="2406650"/>
            <a:ext cx="1466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过期提醒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086350" y="2654300"/>
            <a:ext cx="1146175" cy="3244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自动识别即将过期积分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如距有效期不足30天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生成提醒任务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794875" y="2357120"/>
            <a:ext cx="1257300" cy="6667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890125" y="2406650"/>
            <a:ext cx="121031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积分调整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928225" y="2654300"/>
            <a:ext cx="1146175" cy="4527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手动增加 / 减少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填写调整原因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记录操作人与时间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048250" y="3460750"/>
            <a:ext cx="1409700" cy="80010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143500" y="35369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优惠券模块</a:t>
            </a:r>
            <a:endParaRPr sz="12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162550" y="3803650"/>
            <a:ext cx="1181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对接优惠券模块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兑换后自动发放至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会员券账户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076700" y="3898900"/>
            <a:ext cx="8953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4876800" y="37846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457950" y="3860800"/>
            <a:ext cx="7048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067550" y="374650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334250" y="3435350"/>
            <a:ext cx="1390650" cy="8255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429500" y="3511550"/>
            <a:ext cx="140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兑券结果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467600" y="3759200"/>
            <a:ext cx="1333500" cy="657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积分实时扣除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代金券自动到账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账户余额同步刷新</a:t>
            </a:r>
            <a:endParaRPr sz="70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661150" y="2357120"/>
            <a:ext cx="1257300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756400" y="243332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积分冻结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6775450" y="2700020"/>
            <a:ext cx="1028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恶意兑换 / 虚假交易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状态标记“冻结”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不可使用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232775" y="2349500"/>
            <a:ext cx="1257300" cy="666750"/>
          </a:xfrm>
          <a:prstGeom prst="rect">
            <a:avLst/>
          </a:prstGeom>
          <a:solidFill>
            <a:srgbClr val="FFFFFF"/>
          </a:solidFill>
          <a:ln w="16193">
            <a:solidFill>
              <a:srgbClr val="2C6BEA"/>
            </a:solidFill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8328025" y="24257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积分解冻</a:t>
            </a:r>
            <a:endParaRPr sz="120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347075" y="2692400"/>
            <a:ext cx="1028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审核解冻申请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记录解冻原因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恢复为“可用”</a:t>
            </a:r>
            <a:endParaRPr sz="70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5048250" y="4464050"/>
            <a:ext cx="1409700" cy="8382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5143500" y="454025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异业平台校验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5181600" y="4787900"/>
            <a:ext cx="114300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校验接口数据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确认积分有效性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按预设比例换算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4076700" y="4873625"/>
            <a:ext cx="8953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4876800" y="47593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6457950" y="4873625"/>
            <a:ext cx="7048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7067550" y="47593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334250" y="4464050"/>
            <a:ext cx="1390650" cy="8382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7429500" y="454025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兑入结果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7467600" y="4787900"/>
            <a:ext cx="1123950" cy="466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异业积分扣减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安居积分入账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账户余额刷新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5048250" y="5480050"/>
            <a:ext cx="140970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5143500" y="555625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平台规则确认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5181600" y="5803900"/>
            <a:ext cx="114300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展示兑换比例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展示异业平台规则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会员确认后发放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4076700" y="5889625"/>
            <a:ext cx="8953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4876800" y="57753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6457950" y="5889625"/>
            <a:ext cx="7048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7067550" y="57753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7334250" y="5480050"/>
            <a:ext cx="1390650" cy="8191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7429500" y="5556250"/>
            <a:ext cx="1200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兑出结果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7467600" y="5803900"/>
            <a:ext cx="1123950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安居积分扣减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异业积分发放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9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记录兑换流水</a:t>
            </a:r>
            <a:endParaRPr sz="69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762000" y="6527800"/>
            <a:ext cx="1047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说明：C端完成积分账户查看、兑券、兑入和兑出；运营端统一管理账户同步、过期提醒、冻结/解冻、积分调整及操作审计。</a:t>
            </a:r>
            <a:endParaRPr sz="105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95" name="肘形连接符 94"/>
          <p:cNvCxnSpPr>
            <a:stCxn id="34" idx="1"/>
            <a:endCxn id="11" idx="0"/>
          </p:cNvCxnSpPr>
          <p:nvPr/>
        </p:nvCxnSpPr>
        <p:spPr>
          <a:xfrm rot="10800000" flipV="1">
            <a:off x="3362325" y="1568450"/>
            <a:ext cx="2404745" cy="17145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111875" y="2011680"/>
            <a:ext cx="0" cy="31750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>
            <p:custDataLst>
              <p:tags r:id="rId1"/>
            </p:custDataLst>
          </p:nvPr>
        </p:nvCxnSpPr>
        <p:spPr>
          <a:xfrm flipV="1">
            <a:off x="7258050" y="1987550"/>
            <a:ext cx="0" cy="31750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>
            <p:custDataLst>
              <p:tags r:id="rId2"/>
            </p:custDataLst>
          </p:nvPr>
        </p:nvCxnSpPr>
        <p:spPr>
          <a:xfrm flipV="1">
            <a:off x="8801100" y="1987550"/>
            <a:ext cx="0" cy="31750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>
            <p:custDataLst>
              <p:tags r:id="rId3"/>
            </p:custDataLst>
          </p:nvPr>
        </p:nvCxnSpPr>
        <p:spPr>
          <a:xfrm flipV="1">
            <a:off x="10121900" y="1987550"/>
            <a:ext cx="0" cy="31750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endCxn id="34" idx="3"/>
          </p:cNvCxnSpPr>
          <p:nvPr>
            <p:custDataLst>
              <p:tags r:id="rId4"/>
            </p:custDataLst>
          </p:nvPr>
        </p:nvCxnSpPr>
        <p:spPr>
          <a:xfrm rot="16200000">
            <a:off x="8371205" y="1925320"/>
            <a:ext cx="2259330" cy="1546225"/>
          </a:xfrm>
          <a:prstGeom prst="bentConnector4">
            <a:avLst>
              <a:gd name="adj1" fmla="val 801"/>
              <a:gd name="adj2" fmla="val 199199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80" idx="3"/>
          </p:cNvCxnSpPr>
          <p:nvPr/>
        </p:nvCxnSpPr>
        <p:spPr>
          <a:xfrm flipV="1">
            <a:off x="8724900" y="1795145"/>
            <a:ext cx="3076575" cy="308800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肘形连接符 102"/>
          <p:cNvCxnSpPr/>
          <p:nvPr>
            <p:custDataLst>
              <p:tags r:id="rId5"/>
            </p:custDataLst>
          </p:nvPr>
        </p:nvCxnSpPr>
        <p:spPr>
          <a:xfrm flipV="1">
            <a:off x="8728075" y="2801620"/>
            <a:ext cx="3076575" cy="308800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14" idx="1"/>
            <a:endCxn id="29" idx="1"/>
          </p:cNvCxnSpPr>
          <p:nvPr/>
        </p:nvCxnSpPr>
        <p:spPr>
          <a:xfrm>
            <a:off x="2038350" y="2111375"/>
            <a:ext cx="0" cy="378777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endCxn id="31" idx="1"/>
          </p:cNvCxnSpPr>
          <p:nvPr/>
        </p:nvCxnSpPr>
        <p:spPr>
          <a:xfrm>
            <a:off x="2060575" y="2976245"/>
            <a:ext cx="58737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肘形连接符 105"/>
          <p:cNvCxnSpPr/>
          <p:nvPr>
            <p:custDataLst>
              <p:tags r:id="rId6"/>
            </p:custDataLst>
          </p:nvPr>
        </p:nvCxnSpPr>
        <p:spPr>
          <a:xfrm rot="10800000" flipV="1">
            <a:off x="4130040" y="3016250"/>
            <a:ext cx="3051175" cy="189230"/>
          </a:xfrm>
          <a:prstGeom prst="bentConnector3">
            <a:avLst>
              <a:gd name="adj1" fmla="val -374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肘形连接符 106"/>
          <p:cNvCxnSpPr/>
          <p:nvPr>
            <p:custDataLst>
              <p:tags r:id="rId7"/>
            </p:custDataLst>
          </p:nvPr>
        </p:nvCxnSpPr>
        <p:spPr>
          <a:xfrm rot="10800000" flipV="1">
            <a:off x="4155440" y="3016250"/>
            <a:ext cx="4683125" cy="201930"/>
          </a:xfrm>
          <a:prstGeom prst="bentConnector3">
            <a:avLst>
              <a:gd name="adj1" fmla="val -176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4800600" y="171450"/>
            <a:ext cx="2590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清结算管理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352550"/>
            <a:ext cx="10725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43400" y="76200"/>
            <a:ext cx="19050" cy="67246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76350" y="80010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10450" y="8001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运营管理端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03045" y="3733800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99690" y="3540760"/>
            <a:ext cx="1428750" cy="7620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94940" y="361696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过期提醒消息</a:t>
            </a:r>
            <a:endParaRPr sz="12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13990" y="388366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到期前30天 / 15天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发送消息至C端用户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857750" y="1733550"/>
            <a:ext cx="1485900" cy="8382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953000" y="18097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积分发分清算</a:t>
            </a:r>
            <a:endParaRPr sz="12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972050" y="20764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按发分主体统计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区分消费 / 活动 / 补偿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汇总当日发分数据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43650" y="2152650"/>
            <a:ext cx="5905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38950" y="20383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105650" y="1695450"/>
            <a:ext cx="1619250" cy="9144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00900" y="17716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发分日清明细表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39000" y="2019300"/>
            <a:ext cx="135255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主体：集团 / 子公司 / 商户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来源：消费 / 活动 / 补偿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生成《积分发分日清明细表》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857750" y="2914650"/>
            <a:ext cx="1485900" cy="8382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53000" y="29908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积分兑分清算</a:t>
            </a:r>
            <a:endParaRPr sz="12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972050" y="3257550"/>
            <a:ext cx="1257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按兑分场景统计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关联兑分交易流水号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汇总当日兑分数据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43650" y="3333750"/>
            <a:ext cx="5905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38950" y="3219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105650" y="2876550"/>
            <a:ext cx="1619250" cy="9144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200900" y="29527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兑分日清明细表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239000" y="3200400"/>
            <a:ext cx="1352550" cy="542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兑换优惠券 / 异业兑出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权益兑换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生成《积分兑分日清明细表》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857750" y="4095750"/>
            <a:ext cx="1485900" cy="81915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953000" y="41719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积分有效期计算</a:t>
            </a:r>
            <a:endParaRPr sz="12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972050" y="4438650"/>
            <a:ext cx="1257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系统自动计算有效期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每笔积分标注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到期日期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838950" y="43910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05650" y="4057650"/>
            <a:ext cx="1619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200900" y="4133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过期提醒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239000" y="4381500"/>
            <a:ext cx="13525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按预设规则触发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到期前30天 / 15天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发送消息到C端用户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220200" y="439102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486900" y="4057650"/>
            <a:ext cx="1619250" cy="8953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582150" y="4133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过期清零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620250" y="4381500"/>
            <a:ext cx="135255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到期后自动清零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同步至积分明细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标注“过期清零”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857750" y="5276850"/>
            <a:ext cx="1485900" cy="6858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953000" y="53530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优惠券结算批处理</a:t>
            </a:r>
            <a:endParaRPr sz="116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972050" y="561975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定时任务统计当日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优惠券核销数据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838950" y="5505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105650" y="5219700"/>
            <a:ext cx="1619250" cy="8001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200900" y="52959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核销统计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239000" y="5543550"/>
            <a:ext cx="13525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核销总量</a:t>
            </a:r>
            <a:endParaRPr sz="67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7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核销金额</a:t>
            </a:r>
            <a:endParaRPr sz="67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7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涉及商户 / 业务线</a:t>
            </a:r>
            <a:endParaRPr sz="67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429750" y="1877060"/>
            <a:ext cx="1676400" cy="173482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525000" y="2247900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异常预警</a:t>
            </a:r>
            <a:endParaRPr sz="11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671685" y="2495550"/>
            <a:ext cx="1238250" cy="790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日清发现数据异常时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如积分发放与业务系统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数据不一致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7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系统自动通知管理员处理</a:t>
            </a:r>
            <a:endParaRPr sz="67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724900" y="2152650"/>
            <a:ext cx="6286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258300" y="20383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724900" y="3333750"/>
            <a:ext cx="6286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258300" y="3219450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&gt;</a:t>
            </a: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62000" y="6248400"/>
            <a:ext cx="1047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说明：运营端按日生成发分、兑分、优惠券核销清算明细；系统自动计算积分有效期，触发过期提醒与过期清零，并对异常数据预警。</a:t>
            </a:r>
            <a:endParaRPr sz="105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43650" y="4495800"/>
            <a:ext cx="5905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2" name="矩形 6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19185" y="4498340"/>
            <a:ext cx="6286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cxnSp>
        <p:nvCxnSpPr>
          <p:cNvPr id="100" name="肘形连接符 99"/>
          <p:cNvCxnSpPr/>
          <p:nvPr>
            <p:custDataLst>
              <p:tags r:id="rId3"/>
            </p:custDataLst>
          </p:nvPr>
        </p:nvCxnSpPr>
        <p:spPr>
          <a:xfrm rot="16200000" flipV="1">
            <a:off x="5935980" y="2082165"/>
            <a:ext cx="192405" cy="376555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矩形 6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50000" y="5612130"/>
            <a:ext cx="5905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5105400" y="1714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风控管理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352550"/>
            <a:ext cx="107251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343400" y="76200"/>
            <a:ext cx="19050" cy="67246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14450" y="581025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C端用户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10450" y="8001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运营管理端</a:t>
            </a:r>
            <a:endParaRPr sz="18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293306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</a:t>
            </a:r>
            <a:endParaRPr sz="20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72210" y="3048635"/>
            <a:ext cx="933450" cy="19050"/>
          </a:xfrm>
          <a:prstGeom prst="rect">
            <a:avLst/>
          </a:prstGeom>
          <a:solidFill>
            <a:srgbClr val="2C6BE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47950" y="2193925"/>
            <a:ext cx="1428750" cy="6858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43200" y="22701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交易被拦截</a:t>
            </a:r>
            <a:endParaRPr sz="12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62250" y="2527300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超出获取 / 消耗上限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疑似刷取积分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积分交易不可继续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67000" y="3256915"/>
            <a:ext cx="1428750" cy="68580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762250" y="333311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接收风控通知</a:t>
            </a:r>
            <a:endParaRPr sz="12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781300" y="3590290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站内信 / 消息通知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提示限制原因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展示处理状态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603115" y="1581150"/>
            <a:ext cx="1390650" cy="704850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698365" y="16573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会员风控规则</a:t>
            </a:r>
            <a:endParaRPr sz="12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717415" y="1914525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配置会员积分交易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风控规则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374765" y="1819275"/>
            <a:ext cx="19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2C6B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350" b="0">
              <a:solidFill>
                <a:srgbClr val="2C6B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12005" y="2986405"/>
            <a:ext cx="1466850" cy="705485"/>
          </a:xfrm>
          <a:prstGeom prst="rect">
            <a:avLst/>
          </a:prstGeom>
          <a:solidFill>
            <a:srgbClr val="F4F8FF"/>
          </a:solidFill>
          <a:ln w="16193">
            <a:solidFill>
              <a:srgbClr val="2C6BEA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622800" y="3009265"/>
            <a:ext cx="139128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发分主体风控</a:t>
            </a:r>
            <a:endParaRPr sz="109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793615" y="3232785"/>
            <a:ext cx="1199515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配置子公司 / 合作商户规则</a:t>
            </a:r>
            <a:endParaRPr sz="64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单主体单日 / 单月</a:t>
            </a:r>
            <a:endParaRPr sz="64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对单会员发分上限</a:t>
            </a:r>
            <a:endParaRPr sz="64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对所有会员发分总量上限</a:t>
            </a:r>
            <a:endParaRPr sz="64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47155" y="2986405"/>
            <a:ext cx="1409700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61455" y="3062605"/>
            <a:ext cx="1231265" cy="1479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发分</a:t>
            </a:r>
            <a:r>
              <a: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主体实时监控</a:t>
            </a:r>
            <a:endParaRPr sz="109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599555" y="3310255"/>
            <a:ext cx="1167130" cy="4356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实时监控发分主体数据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总量接近上限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自动预警并提醒管理员</a:t>
            </a:r>
            <a:endParaRPr sz="64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402070" y="1581150"/>
            <a:ext cx="139065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497320" y="16573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规则触发监控</a:t>
            </a:r>
            <a:endParaRPr sz="12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516370" y="1914525"/>
            <a:ext cx="1162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会员限额、IP注册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设备多账号刷分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实时触发规则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150860" y="1557020"/>
            <a:ext cx="140970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113395" y="1622425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自动拦截 / 限制</a:t>
            </a:r>
            <a:endParaRPr sz="109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284210" y="1809750"/>
            <a:ext cx="1447800" cy="561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超出单日 / 单月上限</a:t>
            </a:r>
            <a:endParaRPr sz="63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短时间同IP多次注册</a:t>
            </a:r>
            <a:endParaRPr sz="63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同设备切换多账号</a:t>
            </a:r>
            <a:endParaRPr sz="63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自动拦截积分交易</a:t>
            </a:r>
            <a:endParaRPr sz="63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3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限制其参与高价值活动</a:t>
            </a:r>
            <a:endParaRPr sz="63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263255" y="3948430"/>
            <a:ext cx="1409700" cy="742315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358505" y="4024630"/>
            <a:ext cx="1281430" cy="1517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预警通知</a:t>
            </a:r>
            <a:endParaRPr sz="109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396605" y="4272280"/>
            <a:ext cx="1214755" cy="4470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触发预警后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通过站内信 / 邮件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向指定管理员推送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045700" y="3961765"/>
            <a:ext cx="1429385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140950" y="4037965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4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4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预警处理流程</a:t>
            </a:r>
            <a:endParaRPr sz="124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160000" y="4295140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已查看 / 处理中 / 已解决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5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结果记录在预警详情</a:t>
            </a:r>
            <a:endParaRPr sz="65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983470" y="1557020"/>
            <a:ext cx="1466850" cy="74295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0078720" y="1633220"/>
            <a:ext cx="1388745" cy="1549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手动解除限制</a:t>
            </a:r>
            <a:endParaRPr sz="109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0116820" y="1880870"/>
            <a:ext cx="1319530" cy="441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管理员发起解除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解除需经审核流程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保留解除原因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0031730" y="3009265"/>
            <a:ext cx="1447165" cy="70104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10126980" y="3085465"/>
            <a:ext cx="1281430" cy="146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恢复权限</a:t>
            </a:r>
            <a:endParaRPr sz="109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0165080" y="3333115"/>
            <a:ext cx="1214755" cy="415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恢复会员正常交易权限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6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记录审核人与时间</a:t>
            </a:r>
            <a:endParaRPr sz="66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248650" y="3020060"/>
            <a:ext cx="1388745" cy="723900"/>
          </a:xfrm>
          <a:prstGeom prst="rect">
            <a:avLst/>
          </a:prstGeom>
          <a:solidFill>
            <a:srgbClr val="FFFFFF"/>
          </a:solidFill>
          <a:ln w="13335">
            <a:solidFill>
              <a:srgbClr val="2C6BEA"/>
            </a:solidFill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8174990" y="309626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主体暂停 / 恢复</a:t>
            </a:r>
            <a:endParaRPr sz="109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382000" y="3343910"/>
            <a:ext cx="1447800" cy="3524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违规主体：超额 / 虚假发分</a:t>
            </a:r>
            <a:endParaRPr sz="62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暂停发分权限</a:t>
            </a:r>
            <a:endParaRPr sz="62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6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25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整改后重新审核恢复</a:t>
            </a:r>
            <a:endParaRPr sz="625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762000" y="6248400"/>
            <a:ext cx="1047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4F5F7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说明：运营端配置会员/主体风控规则并实时监控；规则触发后执行拦截、限制、预警、处理和审核恢复，并将禁用或恢复结果通知C端用户。</a:t>
            </a:r>
            <a:endParaRPr sz="1050" b="0">
              <a:solidFill>
                <a:srgbClr val="4F5F7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00" name="肘形连接符 99"/>
          <p:cNvCxnSpPr>
            <a:stCxn id="38" idx="2"/>
            <a:endCxn id="11" idx="3"/>
          </p:cNvCxnSpPr>
          <p:nvPr>
            <p:custDataLst>
              <p:tags r:id="rId1"/>
            </p:custDataLst>
          </p:nvPr>
        </p:nvCxnSpPr>
        <p:spPr>
          <a:xfrm rot="5400000">
            <a:off x="6347778" y="28893"/>
            <a:ext cx="236855" cy="4779010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>
            <p:custDataLst>
              <p:tags r:id="rId2"/>
            </p:custDataLst>
          </p:nvPr>
        </p:nvCxnSpPr>
        <p:spPr>
          <a:xfrm>
            <a:off x="6014085" y="1952625"/>
            <a:ext cx="3917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3"/>
            </p:custDataLst>
          </p:nvPr>
        </p:nvCxnSpPr>
        <p:spPr>
          <a:xfrm>
            <a:off x="6078855" y="3310255"/>
            <a:ext cx="345440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>
            <p:custDataLst>
              <p:tags r:id="rId4"/>
            </p:custDataLst>
          </p:nvPr>
        </p:nvCxnSpPr>
        <p:spPr>
          <a:xfrm>
            <a:off x="7792720" y="1952625"/>
            <a:ext cx="3917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5"/>
            </p:custDataLst>
          </p:nvPr>
        </p:nvCxnSpPr>
        <p:spPr>
          <a:xfrm>
            <a:off x="9560560" y="1885950"/>
            <a:ext cx="3917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>
            <p:custDataLst>
              <p:tags r:id="rId6"/>
            </p:custDataLst>
          </p:nvPr>
        </p:nvCxnSpPr>
        <p:spPr>
          <a:xfrm>
            <a:off x="7856855" y="3310255"/>
            <a:ext cx="3917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7"/>
            </p:custDataLst>
          </p:nvPr>
        </p:nvCxnSpPr>
        <p:spPr>
          <a:xfrm>
            <a:off x="9639935" y="3343910"/>
            <a:ext cx="3917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肘形连接符 77"/>
          <p:cNvCxnSpPr>
            <a:endCxn id="14" idx="3"/>
          </p:cNvCxnSpPr>
          <p:nvPr>
            <p:custDataLst>
              <p:tags r:id="rId8"/>
            </p:custDataLst>
          </p:nvPr>
        </p:nvCxnSpPr>
        <p:spPr>
          <a:xfrm rot="5400000">
            <a:off x="3750945" y="2891155"/>
            <a:ext cx="1052830" cy="36385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>
            <p:custDataLst>
              <p:tags r:id="rId9"/>
            </p:custDataLst>
          </p:nvPr>
        </p:nvCxnSpPr>
        <p:spPr>
          <a:xfrm>
            <a:off x="9653905" y="4295140"/>
            <a:ext cx="3917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肘形连接符 79"/>
          <p:cNvCxnSpPr>
            <a:stCxn id="32" idx="2"/>
            <a:endCxn id="43" idx="1"/>
          </p:cNvCxnSpPr>
          <p:nvPr>
            <p:custDataLst>
              <p:tags r:id="rId10"/>
            </p:custDataLst>
          </p:nvPr>
        </p:nvCxnSpPr>
        <p:spPr>
          <a:xfrm rot="5400000" flipV="1">
            <a:off x="7435850" y="3492500"/>
            <a:ext cx="574040" cy="1080135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2147570" y="2534920"/>
            <a:ext cx="0" cy="111569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>
            <p:custDataLst>
              <p:tags r:id="rId11"/>
            </p:custDataLst>
          </p:nvPr>
        </p:nvCxnSpPr>
        <p:spPr>
          <a:xfrm>
            <a:off x="2146935" y="2527300"/>
            <a:ext cx="50101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>
            <p:custDataLst>
              <p:tags r:id="rId12"/>
            </p:custDataLst>
          </p:nvPr>
        </p:nvCxnSpPr>
        <p:spPr>
          <a:xfrm>
            <a:off x="2146935" y="3650615"/>
            <a:ext cx="50101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2482</Words>
  <Application>WPS 文字</Application>
  <PresentationFormat>Converted Presentation</PresentationFormat>
  <Paragraphs>614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勇哥</cp:lastModifiedBy>
  <cp:revision>58</cp:revision>
  <dcterms:created xsi:type="dcterms:W3CDTF">2026-06-11T07:19:48Z</dcterms:created>
  <dcterms:modified xsi:type="dcterms:W3CDTF">2026-06-11T07:19:48Z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9E1325126546C89AD908106A86FCFFD7_42</vt:lpwstr>
  </property>
  <property fmtid="{D5CDD505-2E9C-101B-9397-08002B2CF9AE}" pid="3" name="KSOProductBuildVer">
    <vt:lpwstr>2052-6.7.1.8828</vt:lpwstr>
  </property>
</Properties>
</file>