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5" r:id="rId3"/>
    <p:sldId id="274" r:id="rId5"/>
    <p:sldId id="278" r:id="rId6"/>
    <p:sldId id="262" r:id="rId7"/>
    <p:sldId id="283" r:id="rId8"/>
    <p:sldId id="279" r:id="rId9"/>
    <p:sldId id="280" r:id="rId10"/>
    <p:sldId id="282" r:id="rId11"/>
    <p:sldId id="276" r:id="rId12"/>
    <p:sldId id="296" r:id="rId13"/>
    <p:sldId id="297" r:id="rId14"/>
    <p:sldId id="277" r:id="rId15"/>
    <p:sldId id="265" r:id="rId16"/>
    <p:sldId id="266" r:id="rId17"/>
    <p:sldId id="267" r:id="rId18"/>
    <p:sldId id="269" r:id="rId19"/>
    <p:sldId id="268" r:id="rId20"/>
    <p:sldId id="270" r:id="rId21"/>
    <p:sldId id="271" r:id="rId22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gs" Target="tags/tag119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10568" y="4863711"/>
            <a:ext cx="5684520" cy="4607719"/>
          </a:xfrm>
          <a:prstGeom prst="rect">
            <a:avLst/>
          </a:prstGeom>
        </p:spPr>
        <p:txBody>
          <a:bodyPr lIns="98984" tIns="49492" rIns="98984" bIns="49492"/>
          <a:lstStyle/>
          <a:p>
            <a:pPr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本材料知识产权归房屋租赁公司所有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78F8DC3E-D168-40E6-B4A0-C777D0AFDBEF}" type="datetime1">
              <a:rPr lang="zh-CN" altLang="en-US" smtClean="0"/>
            </a:fld>
            <a:endParaRPr lang="zh-CN" altLang="en-US" sz="13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451D31-6DB3-4853-A4B6-7D74BEE51832}" type="slidenum">
              <a:rPr lang="zh-CN" altLang="en-US" smtClean="0"/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10568" y="4863711"/>
            <a:ext cx="5684520" cy="4607719"/>
          </a:xfrm>
          <a:prstGeom prst="rect">
            <a:avLst/>
          </a:prstGeom>
        </p:spPr>
        <p:txBody>
          <a:bodyPr lIns="98984" tIns="49492" rIns="98984" bIns="49492"/>
          <a:lstStyle/>
          <a:p>
            <a:pPr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本材料知识产权归房屋租赁公司所有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78F8DC3E-D168-40E6-B4A0-C777D0AFDBEF}" type="datetime1">
              <a:rPr lang="zh-CN" altLang="en-US" smtClean="0"/>
            </a:fld>
            <a:endParaRPr lang="zh-CN" altLang="en-US" sz="13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451D31-6DB3-4853-A4B6-7D74BEE51832}" type="slidenum">
              <a:rPr lang="zh-CN" altLang="en-US" smtClean="0"/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10568" y="4863711"/>
            <a:ext cx="5684520" cy="4607719"/>
          </a:xfrm>
          <a:prstGeom prst="rect">
            <a:avLst/>
          </a:prstGeom>
        </p:spPr>
        <p:txBody>
          <a:bodyPr lIns="98984" tIns="49492" rIns="98984" bIns="49492"/>
          <a:lstStyle/>
          <a:p>
            <a:pPr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本材料知识产权归房屋租赁公司所有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78F8DC3E-D168-40E6-B4A0-C777D0AFDBEF}" type="datetime1">
              <a:rPr lang="zh-CN" altLang="en-US" smtClean="0"/>
            </a:fld>
            <a:endParaRPr lang="zh-CN" altLang="en-US" sz="13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451D31-6DB3-4853-A4B6-7D74BEE51832}" type="slidenum">
              <a:rPr lang="zh-CN" altLang="en-US" smtClean="0"/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10568" y="4863711"/>
            <a:ext cx="5684520" cy="4607719"/>
          </a:xfrm>
          <a:prstGeom prst="rect">
            <a:avLst/>
          </a:prstGeom>
        </p:spPr>
        <p:txBody>
          <a:bodyPr lIns="98984" tIns="49492" rIns="98984" bIns="49492"/>
          <a:lstStyle/>
          <a:p>
            <a:pPr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本材料知识产权归房屋租赁公司所有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78F8DC3E-D168-40E6-B4A0-C777D0AFDBEF}" type="datetime1">
              <a:rPr lang="zh-CN" altLang="en-US" smtClean="0"/>
            </a:fld>
            <a:endParaRPr lang="zh-CN" altLang="en-US" sz="13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451D31-6DB3-4853-A4B6-7D74BEE51832}" type="slidenum">
              <a:rPr lang="zh-CN" altLang="en-US" smtClean="0"/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10568" y="4863711"/>
            <a:ext cx="5684520" cy="4607719"/>
          </a:xfrm>
          <a:prstGeom prst="rect">
            <a:avLst/>
          </a:prstGeom>
        </p:spPr>
        <p:txBody>
          <a:bodyPr lIns="98984" tIns="49492" rIns="98984" bIns="49492"/>
          <a:lstStyle/>
          <a:p>
            <a:pPr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本材料知识产权归房屋租赁公司所有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78F8DC3E-D168-40E6-B4A0-C777D0AFDBEF}" type="datetime1">
              <a:rPr lang="zh-CN" altLang="en-US" smtClean="0"/>
            </a:fld>
            <a:endParaRPr lang="zh-CN" altLang="en-US" sz="13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451D31-6DB3-4853-A4B6-7D74BEE51832}" type="slidenum">
              <a:rPr lang="zh-CN" altLang="en-US" smtClean="0"/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10568" y="4863711"/>
            <a:ext cx="5684520" cy="4607719"/>
          </a:xfrm>
          <a:prstGeom prst="rect">
            <a:avLst/>
          </a:prstGeom>
        </p:spPr>
        <p:txBody>
          <a:bodyPr lIns="98984" tIns="49492" rIns="98984" bIns="49492"/>
          <a:lstStyle/>
          <a:p>
            <a:pPr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本材料知识产权归房屋租赁公司所有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78F8DC3E-D168-40E6-B4A0-C777D0AFDBEF}" type="datetime1">
              <a:rPr lang="zh-CN" altLang="en-US" smtClean="0"/>
            </a:fld>
            <a:endParaRPr lang="zh-CN" altLang="en-US" sz="13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451D31-6DB3-4853-A4B6-7D74BEE51832}" type="slidenum">
              <a:rPr lang="zh-CN" altLang="en-US" smtClean="0"/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10568" y="4863711"/>
            <a:ext cx="5684520" cy="4607719"/>
          </a:xfrm>
          <a:prstGeom prst="rect">
            <a:avLst/>
          </a:prstGeom>
        </p:spPr>
        <p:txBody>
          <a:bodyPr lIns="98984" tIns="49492" rIns="98984" bIns="49492"/>
          <a:lstStyle/>
          <a:p>
            <a:pPr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本材料知识产权归房屋租赁公司所有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78F8DC3E-D168-40E6-B4A0-C777D0AFDBEF}" type="datetime1">
              <a:rPr lang="zh-CN" altLang="en-US" smtClean="0"/>
            </a:fld>
            <a:endParaRPr lang="zh-CN" altLang="en-US" sz="13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451D31-6DB3-4853-A4B6-7D74BEE51832}" type="slidenum">
              <a:rPr lang="zh-CN" altLang="en-US" smtClean="0"/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10568" y="4863711"/>
            <a:ext cx="5684520" cy="4607719"/>
          </a:xfrm>
          <a:prstGeom prst="rect">
            <a:avLst/>
          </a:prstGeom>
        </p:spPr>
        <p:txBody>
          <a:bodyPr lIns="98984" tIns="49492" rIns="98984" bIns="49492"/>
          <a:lstStyle/>
          <a:p>
            <a:pPr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本材料知识产权归房屋租赁公司所有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78F8DC3E-D168-40E6-B4A0-C777D0AFDBEF}" type="datetime1">
              <a:rPr lang="zh-CN" altLang="en-US" smtClean="0"/>
            </a:fld>
            <a:endParaRPr lang="zh-CN" altLang="en-US" sz="13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451D31-6DB3-4853-A4B6-7D74BEE51832}" type="slidenum">
              <a:rPr lang="zh-CN" altLang="en-US" smtClean="0"/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10568" y="4863711"/>
            <a:ext cx="5684520" cy="4607719"/>
          </a:xfrm>
          <a:prstGeom prst="rect">
            <a:avLst/>
          </a:prstGeom>
        </p:spPr>
        <p:txBody>
          <a:bodyPr lIns="98984" tIns="49492" rIns="98984" bIns="49492"/>
          <a:lstStyle/>
          <a:p>
            <a:pPr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本材料知识产权归房屋租赁公司所有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78F8DC3E-D168-40E6-B4A0-C777D0AFDBEF}" type="datetime1">
              <a:rPr lang="zh-CN" altLang="en-US" smtClean="0"/>
            </a:fld>
            <a:endParaRPr lang="zh-CN" altLang="en-US" sz="13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451D31-6DB3-4853-A4B6-7D74BEE51832}" type="slidenum">
              <a:rPr lang="zh-CN" altLang="en-US" smtClean="0"/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10568" y="4863711"/>
            <a:ext cx="5684520" cy="4607719"/>
          </a:xfrm>
          <a:prstGeom prst="rect">
            <a:avLst/>
          </a:prstGeom>
        </p:spPr>
        <p:txBody>
          <a:bodyPr lIns="98984" tIns="49492" rIns="98984" bIns="49492"/>
          <a:lstStyle/>
          <a:p>
            <a:pPr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本材料知识产权归房屋租赁公司所有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78F8DC3E-D168-40E6-B4A0-C777D0AFDBEF}" type="datetime1">
              <a:rPr lang="zh-CN" altLang="en-US" smtClean="0"/>
            </a:fld>
            <a:endParaRPr lang="zh-CN" altLang="en-US" sz="13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451D31-6DB3-4853-A4B6-7D74BEE51832}" type="slidenum">
              <a:rPr lang="zh-CN" altLang="en-US" smtClean="0"/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10568" y="4863711"/>
            <a:ext cx="5684520" cy="4607719"/>
          </a:xfrm>
          <a:prstGeom prst="rect">
            <a:avLst/>
          </a:prstGeom>
        </p:spPr>
        <p:txBody>
          <a:bodyPr lIns="98984" tIns="49492" rIns="98984" bIns="49492"/>
          <a:lstStyle/>
          <a:p>
            <a:pPr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本材料知识产权归房屋租赁公司所有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78F8DC3E-D168-40E6-B4A0-C777D0AFDBEF}" type="datetime1">
              <a:rPr lang="zh-CN" altLang="en-US" smtClean="0"/>
            </a:fld>
            <a:endParaRPr lang="zh-CN" altLang="en-US" sz="13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451D31-6DB3-4853-A4B6-7D74BEE51832}" type="slidenum">
              <a:rPr lang="zh-CN" altLang="en-US" smtClean="0"/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10568" y="4863711"/>
            <a:ext cx="5684520" cy="4607719"/>
          </a:xfrm>
          <a:prstGeom prst="rect">
            <a:avLst/>
          </a:prstGeom>
        </p:spPr>
        <p:txBody>
          <a:bodyPr lIns="98984" tIns="49492" rIns="98984" bIns="49492"/>
          <a:lstStyle/>
          <a:p>
            <a:pPr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本材料知识产权归房屋租赁公司所有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78F8DC3E-D168-40E6-B4A0-C777D0AFDBEF}" type="datetime1">
              <a:rPr lang="zh-CN" altLang="en-US" smtClean="0"/>
            </a:fld>
            <a:endParaRPr lang="zh-CN" altLang="en-US" sz="13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451D31-6DB3-4853-A4B6-7D74BEE51832}" type="slidenum">
              <a:rPr lang="zh-CN" altLang="en-US" smtClean="0"/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10568" y="4863711"/>
            <a:ext cx="5684520" cy="4607719"/>
          </a:xfrm>
          <a:prstGeom prst="rect">
            <a:avLst/>
          </a:prstGeom>
        </p:spPr>
        <p:txBody>
          <a:bodyPr lIns="98984" tIns="49492" rIns="98984" bIns="49492"/>
          <a:lstStyle/>
          <a:p>
            <a:pPr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本材料知识产权归房屋租赁公司所有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/>
            </a:pPr>
            <a:r>
              <a:rPr lang="zh-CN" altLang="en-US" sz="1900" kern="100" dirty="0">
                <a:latin typeface="仿宋_GB2312" panose="02010609030101010101" pitchFamily="49" charset="-122"/>
                <a:ea typeface="仿宋_GB2312" panose="02010609030101010101" pitchFamily="49" charset="-122"/>
                <a:cs typeface="Times New Roman" panose="02020503050405090304" pitchFamily="18" charset="0"/>
              </a:rPr>
              <a:t>运营平台定位为集团的底层业务平台，平台功能覆盖住房租赁、商业运营和物业服务等业务板块，通过业务对系统的不断应用，数据由集团统一数据平台汇聚，将支撑上级经营分析系统部署，以管理驾驶舱形式辅助集团决策分析工作。</a:t>
            </a:r>
            <a:endParaRPr lang="zh-CN" altLang="en-US" sz="1900" kern="100" dirty="0">
              <a:latin typeface="Calibri" panose="020F0502020204030204" charset="0"/>
              <a:ea typeface="宋体" pitchFamily="2" charset="-122"/>
              <a:cs typeface="Times New Roman" panose="0202050305040509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78F8DC3E-D168-40E6-B4A0-C777D0AFDBEF}" type="datetime1">
              <a:rPr lang="zh-CN" altLang="en-US" smtClean="0"/>
            </a:fld>
            <a:endParaRPr lang="zh-CN" altLang="en-US" sz="13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451D31-6DB3-4853-A4B6-7D74BEE51832}" type="slidenum">
              <a:rPr lang="zh-CN" altLang="en-US" smtClean="0"/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10568" y="4863711"/>
            <a:ext cx="5684520" cy="4607719"/>
          </a:xfrm>
          <a:prstGeom prst="rect">
            <a:avLst/>
          </a:prstGeom>
        </p:spPr>
        <p:txBody>
          <a:bodyPr lIns="98984" tIns="49492" rIns="98984" bIns="49492"/>
          <a:lstStyle/>
          <a:p>
            <a:pPr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本材料知识产权归房屋租赁公司所有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/>
            </a:pPr>
            <a:r>
              <a:rPr lang="zh-CN" altLang="en-US" sz="1900" kern="100" dirty="0">
                <a:latin typeface="仿宋_GB2312" panose="02010609030101010101" pitchFamily="49" charset="-122"/>
                <a:ea typeface="仿宋_GB2312" panose="02010609030101010101" pitchFamily="49" charset="-122"/>
                <a:cs typeface="Times New Roman" panose="02020503050405090304" pitchFamily="18" charset="0"/>
              </a:rPr>
              <a:t>运营平台定位为集团的底层业务平台，平台功能覆盖住房租赁、商业运营和物业服务等业务板块，通过业务对系统的不断应用，数据由集团统一数据平台汇聚，将支撑上级经营分析系统部署，以管理驾驶舱形式辅助集团决策分析工作。</a:t>
            </a:r>
            <a:endParaRPr lang="zh-CN" altLang="en-US" sz="1900" kern="100" dirty="0">
              <a:latin typeface="Calibri" panose="020F0502020204030204" charset="0"/>
              <a:ea typeface="宋体" pitchFamily="2" charset="-122"/>
              <a:cs typeface="Times New Roman" panose="0202050305040509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78F8DC3E-D168-40E6-B4A0-C777D0AFDBEF}" type="datetime1">
              <a:rPr lang="zh-CN" altLang="en-US" smtClean="0"/>
            </a:fld>
            <a:endParaRPr lang="zh-CN" altLang="en-US" sz="13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451D31-6DB3-4853-A4B6-7D74BEE51832}" type="slidenum">
              <a:rPr lang="zh-CN" altLang="en-US" smtClean="0"/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10568" y="4863711"/>
            <a:ext cx="5684520" cy="4607719"/>
          </a:xfrm>
          <a:prstGeom prst="rect">
            <a:avLst/>
          </a:prstGeom>
        </p:spPr>
        <p:txBody>
          <a:bodyPr lIns="98984" tIns="49492" rIns="98984" bIns="49492"/>
          <a:lstStyle/>
          <a:p>
            <a:pPr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本材料知识产权归房屋租赁公司所有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78F8DC3E-D168-40E6-B4A0-C777D0AFDBEF}" type="datetime1">
              <a:rPr lang="zh-CN" altLang="en-US" smtClean="0"/>
            </a:fld>
            <a:endParaRPr lang="zh-CN" altLang="en-US" sz="13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451D31-6DB3-4853-A4B6-7D74BEE51832}" type="slidenum">
              <a:rPr lang="zh-CN" altLang="en-US" smtClean="0"/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10568" y="4863711"/>
            <a:ext cx="5684520" cy="4607719"/>
          </a:xfrm>
          <a:prstGeom prst="rect">
            <a:avLst/>
          </a:prstGeom>
        </p:spPr>
        <p:txBody>
          <a:bodyPr lIns="98984" tIns="49492" rIns="98984" bIns="49492"/>
          <a:lstStyle/>
          <a:p>
            <a:pPr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本材料知识产权归房屋租赁公司所有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78F8DC3E-D168-40E6-B4A0-C777D0AFDBEF}" type="datetime1">
              <a:rPr lang="zh-CN" altLang="en-US" smtClean="0"/>
            </a:fld>
            <a:endParaRPr lang="zh-CN" altLang="en-US" sz="13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451D31-6DB3-4853-A4B6-7D74BEE51832}" type="slidenum">
              <a:rPr lang="zh-CN" altLang="en-US" smtClean="0"/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10568" y="4863711"/>
            <a:ext cx="5684520" cy="4607719"/>
          </a:xfrm>
          <a:prstGeom prst="rect">
            <a:avLst/>
          </a:prstGeom>
        </p:spPr>
        <p:txBody>
          <a:bodyPr lIns="98984" tIns="49492" rIns="98984" bIns="49492"/>
          <a:lstStyle/>
          <a:p>
            <a:pPr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本材料知识产权归房屋租赁公司所有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78F8DC3E-D168-40E6-B4A0-C777D0AFDBEF}" type="datetime1">
              <a:rPr lang="zh-CN" altLang="en-US" smtClean="0"/>
            </a:fld>
            <a:endParaRPr lang="zh-CN" altLang="en-US" sz="13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451D31-6DB3-4853-A4B6-7D74BEE51832}" type="slidenum">
              <a:rPr lang="zh-CN" altLang="en-US" smtClean="0"/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10568" y="4863711"/>
            <a:ext cx="5684520" cy="4607719"/>
          </a:xfrm>
          <a:prstGeom prst="rect">
            <a:avLst/>
          </a:prstGeom>
        </p:spPr>
        <p:txBody>
          <a:bodyPr lIns="98984" tIns="49492" rIns="98984" bIns="49492"/>
          <a:lstStyle/>
          <a:p>
            <a:pPr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本材料知识产权归房屋租赁公司所有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78F8DC3E-D168-40E6-B4A0-C777D0AFDBEF}" type="datetime1">
              <a:rPr lang="zh-CN" altLang="en-US" smtClean="0"/>
            </a:fld>
            <a:endParaRPr lang="zh-CN" altLang="en-US" sz="13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451D31-6DB3-4853-A4B6-7D74BEE51832}" type="slidenum">
              <a:rPr lang="zh-CN" altLang="en-US" smtClean="0"/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10568" y="4863711"/>
            <a:ext cx="5684520" cy="4607719"/>
          </a:xfrm>
          <a:prstGeom prst="rect">
            <a:avLst/>
          </a:prstGeom>
        </p:spPr>
        <p:txBody>
          <a:bodyPr lIns="98984" tIns="49492" rIns="98984" bIns="49492"/>
          <a:lstStyle/>
          <a:p>
            <a:pPr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本材料知识产权归房屋租赁公司所有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78F8DC3E-D168-40E6-B4A0-C777D0AFDBEF}" type="datetime1">
              <a:rPr lang="zh-CN" altLang="en-US" smtClean="0"/>
            </a:fld>
            <a:endParaRPr lang="zh-CN" altLang="en-US" sz="13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451D31-6DB3-4853-A4B6-7D74BEE51832}" type="slidenum">
              <a:rPr lang="zh-CN" altLang="en-US" smtClean="0"/>
            </a:fld>
            <a:endParaRPr lang="zh-CN" altLang="en-US" sz="13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760CBC-EFAB-4AED-9D7D-DDCC21102B45}" type="datetime1">
              <a:rPr lang="zh-CN" altLang="en-US" smtClean="0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354129-EC9D-45B1-920B-3A920213E4C4}" type="slidenum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8640"/>
            <a:ext cx="1664348" cy="93610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3" Type="http://schemas.openxmlformats.org/officeDocument/2006/relationships/notesSlide" Target="../notesSlides/notesSlide4.xml"/><Relationship Id="rId22" Type="http://schemas.openxmlformats.org/officeDocument/2006/relationships/slideLayout" Target="../slideLayouts/slideLayout12.xml"/><Relationship Id="rId21" Type="http://schemas.openxmlformats.org/officeDocument/2006/relationships/tags" Target="../tags/tag83.xml"/><Relationship Id="rId20" Type="http://schemas.openxmlformats.org/officeDocument/2006/relationships/tags" Target="../tags/tag82.xml"/><Relationship Id="rId2" Type="http://schemas.openxmlformats.org/officeDocument/2006/relationships/tags" Target="../tags/tag64.xml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tags" Target="../tags/tag8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6" Type="http://schemas.openxmlformats.org/officeDocument/2006/relationships/notesSlide" Target="../notesSlides/notesSlide10.x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98.xml"/><Relationship Id="rId13" Type="http://schemas.openxmlformats.org/officeDocument/2006/relationships/tags" Target="../tags/tag97.xml"/><Relationship Id="rId12" Type="http://schemas.openxmlformats.org/officeDocument/2006/relationships/tags" Target="../tags/tag96.xml"/><Relationship Id="rId11" Type="http://schemas.openxmlformats.org/officeDocument/2006/relationships/tags" Target="../tags/tag95.xml"/><Relationship Id="rId10" Type="http://schemas.openxmlformats.org/officeDocument/2006/relationships/tags" Target="../tags/tag94.xml"/><Relationship Id="rId1" Type="http://schemas.openxmlformats.org/officeDocument/2006/relationships/tags" Target="../tags/tag8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9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16.xml"/><Relationship Id="rId8" Type="http://schemas.openxmlformats.org/officeDocument/2006/relationships/tags" Target="../tags/tag115.xml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3" Type="http://schemas.openxmlformats.org/officeDocument/2006/relationships/notesSlide" Target="../notesSlides/notesSlide13.xml"/><Relationship Id="rId12" Type="http://schemas.openxmlformats.org/officeDocument/2006/relationships/slideLayout" Target="../slideLayouts/slideLayout12.xml"/><Relationship Id="rId11" Type="http://schemas.openxmlformats.org/officeDocument/2006/relationships/tags" Target="../tags/tag118.xml"/><Relationship Id="rId10" Type="http://schemas.openxmlformats.org/officeDocument/2006/relationships/tags" Target="../tags/tag117.xml"/><Relationship Id="rId1" Type="http://schemas.openxmlformats.org/officeDocument/2006/relationships/tags" Target="../tags/tag108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8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0" Type="http://schemas.openxmlformats.org/officeDocument/2006/relationships/notesSlide" Target="../notesSlides/notesSlide15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4" Type="http://schemas.openxmlformats.org/officeDocument/2006/relationships/notesSlide" Target="../notesSlides/notesSlide16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34.png"/><Relationship Id="rId11" Type="http://schemas.openxmlformats.org/officeDocument/2006/relationships/image" Target="../media/image33.png"/><Relationship Id="rId10" Type="http://schemas.openxmlformats.org/officeDocument/2006/relationships/image" Target="../media/image32.png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png"/><Relationship Id="rId8" Type="http://schemas.openxmlformats.org/officeDocument/2006/relationships/image" Target="../media/image47.png"/><Relationship Id="rId7" Type="http://schemas.openxmlformats.org/officeDocument/2006/relationships/image" Target="../media/image46.png"/><Relationship Id="rId6" Type="http://schemas.openxmlformats.org/officeDocument/2006/relationships/image" Target="../media/image45.png"/><Relationship Id="rId5" Type="http://schemas.openxmlformats.org/officeDocument/2006/relationships/image" Target="../media/image44.jpe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8" Type="http://schemas.openxmlformats.org/officeDocument/2006/relationships/notesSlide" Target="../notesSlides/notesSlide18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55.png"/><Relationship Id="rId15" Type="http://schemas.openxmlformats.org/officeDocument/2006/relationships/image" Target="../media/image54.png"/><Relationship Id="rId14" Type="http://schemas.openxmlformats.org/officeDocument/2006/relationships/image" Target="../media/image53.png"/><Relationship Id="rId13" Type="http://schemas.openxmlformats.org/officeDocument/2006/relationships/image" Target="../media/image52.png"/><Relationship Id="rId12" Type="http://schemas.openxmlformats.org/officeDocument/2006/relationships/image" Target="../media/image51.jpeg"/><Relationship Id="rId11" Type="http://schemas.openxmlformats.org/officeDocument/2006/relationships/image" Target="../media/image50.png"/><Relationship Id="rId10" Type="http://schemas.openxmlformats.org/officeDocument/2006/relationships/image" Target="../media/image49.png"/><Relationship Id="rId1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2.png"/><Relationship Id="rId8" Type="http://schemas.openxmlformats.org/officeDocument/2006/relationships/image" Target="../media/image61.png"/><Relationship Id="rId7" Type="http://schemas.openxmlformats.org/officeDocument/2006/relationships/image" Target="../media/image60.jpeg"/><Relationship Id="rId6" Type="http://schemas.openxmlformats.org/officeDocument/2006/relationships/image" Target="../media/image59.png"/><Relationship Id="rId5" Type="http://schemas.openxmlformats.org/officeDocument/2006/relationships/image" Target="../media/image58.jpeg"/><Relationship Id="rId4" Type="http://schemas.openxmlformats.org/officeDocument/2006/relationships/image" Target="../media/image57.png"/><Relationship Id="rId3" Type="http://schemas.openxmlformats.org/officeDocument/2006/relationships/image" Target="../media/image56.png"/><Relationship Id="rId2" Type="http://schemas.openxmlformats.org/officeDocument/2006/relationships/image" Target="../media/image41.png"/><Relationship Id="rId16" Type="http://schemas.openxmlformats.org/officeDocument/2006/relationships/notesSlide" Target="../notesSlides/notesSlide19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67.png"/><Relationship Id="rId13" Type="http://schemas.openxmlformats.org/officeDocument/2006/relationships/image" Target="../media/image66.jpeg"/><Relationship Id="rId12" Type="http://schemas.openxmlformats.org/officeDocument/2006/relationships/image" Target="../media/image65.png"/><Relationship Id="rId11" Type="http://schemas.openxmlformats.org/officeDocument/2006/relationships/image" Target="../media/image64.png"/><Relationship Id="rId10" Type="http://schemas.openxmlformats.org/officeDocument/2006/relationships/image" Target="../media/image63.png"/><Relationship Id="rId1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695400" y="347960"/>
            <a:ext cx="64807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安居集团组织架构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Segoe UI Black" panose="020B0A02040204020203" pitchFamily="34" charset="0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946785" y="1694815"/>
            <a:ext cx="9710420" cy="49422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695400" y="347960"/>
            <a:ext cx="64807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房屋租赁公司组织架构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Segoe UI Black" panose="020B0A02040204020203" pitchFamily="34" charset="0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484505" y="1473835"/>
            <a:ext cx="10936605" cy="50755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4616450" y="5344795"/>
            <a:ext cx="2393315" cy="1122680"/>
          </a:xfrm>
          <a:prstGeom prst="rect">
            <a:avLst/>
          </a:prstGeom>
          <a:ln w="12700" cap="flat" cmpd="sng">
            <a:solidFill>
              <a:schemeClr val="accent1">
                <a:alpha val="61000"/>
              </a:scheme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775200" y="5536565"/>
            <a:ext cx="2075815" cy="522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市场部给乐寓</a:t>
            </a:r>
            <a:r>
              <a:rPr lang="zh-CN" altLang="en-US"/>
              <a:t>了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159"/>
          <p:cNvSpPr txBox="1"/>
          <p:nvPr/>
        </p:nvSpPr>
        <p:spPr>
          <a:xfrm>
            <a:off x="1113790" y="2990850"/>
            <a:ext cx="10080625" cy="953135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800" kern="100" dirty="0">
                <a:solidFill>
                  <a:schemeClr val="accent1">
                    <a:lumMod val="75000"/>
                  </a:schemeClr>
                </a:solidFill>
                <a:effectLst/>
                <a:latin typeface="黑体" panose="02010609060101010101" charset="-122"/>
                <a:ea typeface="黑体" panose="02010609060101010101" charset="-122"/>
                <a:cs typeface="Times New Roman" panose="02020503050405090304" pitchFamily="18" charset="0"/>
              </a:rPr>
              <a:t>四个业务部门，每个部门负责的任务模块都是啥？</a:t>
            </a:r>
            <a:endParaRPr lang="zh-CN" altLang="en-US" sz="2800" kern="100" dirty="0">
              <a:solidFill>
                <a:schemeClr val="accent1">
                  <a:lumMod val="75000"/>
                </a:schemeClr>
              </a:solidFill>
              <a:effectLst/>
              <a:latin typeface="黑体" panose="02010609060101010101" charset="-122"/>
              <a:ea typeface="黑体" panose="02010609060101010101" charset="-122"/>
              <a:cs typeface="Times New Roman" panose="02020503050405090304" pitchFamily="18" charset="0"/>
            </a:endParaRPr>
          </a:p>
          <a:p>
            <a:pPr algn="ctr"/>
            <a:r>
              <a:rPr lang="zh-CN" altLang="en-US" sz="2800" kern="100" dirty="0">
                <a:solidFill>
                  <a:schemeClr val="accent1">
                    <a:lumMod val="75000"/>
                  </a:schemeClr>
                </a:solidFill>
                <a:effectLst/>
                <a:latin typeface="黑体" panose="02010609060101010101" charset="-122"/>
                <a:ea typeface="黑体" panose="02010609060101010101" charset="-122"/>
                <a:cs typeface="Times New Roman" panose="02020503050405090304" pitchFamily="18" charset="0"/>
              </a:rPr>
              <a:t>分工是怎样的？</a:t>
            </a:r>
            <a:endParaRPr lang="zh-CN" altLang="en-US" sz="2800" kern="100" dirty="0">
              <a:solidFill>
                <a:schemeClr val="accent1">
                  <a:lumMod val="75000"/>
                </a:schemeClr>
              </a:solidFill>
              <a:effectLst/>
              <a:latin typeface="黑体" panose="02010609060101010101" charset="-122"/>
              <a:ea typeface="黑体" panose="02010609060101010101" charset="-122"/>
              <a:cs typeface="Times New Roman" panose="02020503050405090304" pitchFamily="18" charset="0"/>
              <a:sym typeface="Calibri" panose="020F0502020204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文本框 74"/>
          <p:cNvSpPr txBox="1"/>
          <p:nvPr/>
        </p:nvSpPr>
        <p:spPr>
          <a:xfrm>
            <a:off x="695325" y="155575"/>
            <a:ext cx="1105789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1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、从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“</a:t>
            </a:r>
            <a:r>
              <a:rPr 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  <a:sym typeface="+mn-ea"/>
              </a:rPr>
              <a:t>房源运营模式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” 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说明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 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公共住房运营事业部、市场租赁运营事业部的分工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 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Segoe UI Black" panose="020B0A02040204020203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5325" y="1297940"/>
            <a:ext cx="1678940" cy="368300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房源获取方式</a:t>
            </a:r>
            <a:endParaRPr lang="zh-CN" altLang="en-US" sz="180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3547745" y="1297940"/>
            <a:ext cx="1678940" cy="368300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lvl="0" algn="l">
              <a:buClrTx/>
              <a:buSzTx/>
              <a:buFontTx/>
            </a:pPr>
            <a:r>
              <a:rPr lang="zh-CN" altLang="en-US">
                <a:latin typeface="Arial" panose="020B0604020202090204" pitchFamily="34" charset="0"/>
                <a:ea typeface="微软雅黑" panose="020B0503020204020204" charset="-122"/>
                <a:sym typeface="+mn-ea"/>
              </a:rPr>
              <a:t>房源运营主体</a:t>
            </a:r>
            <a:endParaRPr lang="zh-CN" altLang="en-US">
              <a:latin typeface="Arial" panose="020B060402020209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6174740" y="1297940"/>
            <a:ext cx="1678940" cy="368300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lvl="0" algn="l">
              <a:buClrTx/>
              <a:buSzTx/>
              <a:buFontTx/>
            </a:pPr>
            <a:r>
              <a:rPr lang="zh-CN" altLang="en-US">
                <a:latin typeface="Arial" panose="020B0604020202090204" pitchFamily="34" charset="0"/>
                <a:ea typeface="微软雅黑" panose="020B0503020204020204" charset="-122"/>
                <a:sym typeface="+mn-ea"/>
              </a:rPr>
              <a:t>房源运营方式</a:t>
            </a:r>
            <a:endParaRPr lang="zh-CN" altLang="en-US">
              <a:latin typeface="Arial" panose="020B060402020209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8801735" y="1297940"/>
            <a:ext cx="1678940" cy="368300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lvl="0" algn="l">
              <a:buClrTx/>
              <a:buSzTx/>
              <a:buFontTx/>
            </a:pPr>
            <a:r>
              <a:rPr lang="zh-CN" altLang="en-US">
                <a:latin typeface="Arial" panose="020B0604020202090204" pitchFamily="34" charset="0"/>
                <a:ea typeface="微软雅黑" panose="020B0503020204020204" charset="-122"/>
                <a:sym typeface="+mn-ea"/>
              </a:rPr>
              <a:t>房源补贴方式</a:t>
            </a:r>
            <a:endParaRPr lang="zh-CN" altLang="en-US">
              <a:latin typeface="Arial" panose="020B060402020209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695325" y="2094230"/>
            <a:ext cx="1678940" cy="368300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租赁</a:t>
            </a:r>
            <a:endParaRPr lang="zh-CN" altLang="en-US" sz="180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695325" y="2771140"/>
            <a:ext cx="1678940" cy="368300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购买</a:t>
            </a:r>
            <a:endParaRPr lang="zh-CN" altLang="en-US" sz="180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695325" y="3448050"/>
            <a:ext cx="1678940" cy="368300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新建</a:t>
            </a:r>
            <a:endParaRPr lang="zh-CN" altLang="en-US" sz="180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7"/>
            </p:custDataLst>
          </p:nvPr>
        </p:nvSpPr>
        <p:spPr>
          <a:xfrm>
            <a:off x="695325" y="4124960"/>
            <a:ext cx="1678940" cy="368300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棚改</a:t>
            </a:r>
            <a:endParaRPr lang="zh-CN" altLang="en-US" sz="180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8"/>
            </p:custDataLst>
          </p:nvPr>
        </p:nvSpPr>
        <p:spPr>
          <a:xfrm>
            <a:off x="695325" y="4801870"/>
            <a:ext cx="1678940" cy="368300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合作</a:t>
            </a:r>
            <a:endParaRPr lang="zh-CN" altLang="en-US" sz="180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9"/>
            </p:custDataLst>
          </p:nvPr>
        </p:nvSpPr>
        <p:spPr>
          <a:xfrm>
            <a:off x="3547745" y="2321560"/>
            <a:ext cx="1678940" cy="645160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房屋租赁公司</a:t>
            </a:r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(68.9%)</a:t>
            </a:r>
            <a:endParaRPr lang="en-US" altLang="zh-CN" sz="180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10"/>
            </p:custDataLst>
          </p:nvPr>
        </p:nvSpPr>
        <p:spPr>
          <a:xfrm>
            <a:off x="3547745" y="3202940"/>
            <a:ext cx="1678940" cy="922020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安居建信</a:t>
            </a:r>
            <a:endParaRPr lang="zh-CN" altLang="en-US" sz="1800">
              <a:latin typeface="Arial" panose="020B0604020202090204" pitchFamily="34" charset="0"/>
              <a:ea typeface="微软雅黑" panose="020B0503020204020204" charset="-122"/>
            </a:endParaRPr>
          </a:p>
          <a:p>
            <a:pPr algn="ctr"/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（安居建誉）</a:t>
            </a:r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(1.06%)</a:t>
            </a:r>
            <a:endParaRPr lang="en-US" altLang="zh-CN" sz="180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11"/>
            </p:custDataLst>
          </p:nvPr>
        </p:nvSpPr>
        <p:spPr>
          <a:xfrm>
            <a:off x="3547745" y="4267200"/>
            <a:ext cx="1678940" cy="645160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区公司</a:t>
            </a:r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(30.85%)</a:t>
            </a:r>
            <a:endParaRPr lang="en-US" altLang="zh-CN" sz="180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12"/>
            </p:custDataLst>
          </p:nvPr>
        </p:nvSpPr>
        <p:spPr>
          <a:xfrm>
            <a:off x="779780" y="5598160"/>
            <a:ext cx="4162425" cy="953135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400">
                <a:latin typeface="Arial" panose="020B0604020202090204" pitchFamily="34" charset="0"/>
                <a:ea typeface="微软雅黑" panose="020B0503020204020204" charset="-122"/>
              </a:rPr>
              <a:t>棚改和旧改的区别</a:t>
            </a:r>
            <a:r>
              <a:rPr lang="en-US" altLang="zh-CN" sz="1400">
                <a:latin typeface="Arial" panose="020B0604020202090204" pitchFamily="34" charset="0"/>
                <a:ea typeface="微软雅黑" panose="020B0503020204020204" charset="-122"/>
              </a:rPr>
              <a:t>:</a:t>
            </a:r>
            <a:endParaRPr lang="en-US" altLang="zh-CN" sz="1400">
              <a:latin typeface="Arial" panose="020B060402020209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400">
                <a:latin typeface="Arial" panose="020B0604020202090204" pitchFamily="34" charset="0"/>
                <a:ea typeface="微软雅黑" panose="020B0503020204020204" charset="-122"/>
              </a:rPr>
              <a:t>1</a:t>
            </a:r>
            <a:r>
              <a:rPr lang="zh-CN" altLang="en-US" sz="1400">
                <a:latin typeface="Arial" panose="020B0604020202090204" pitchFamily="34" charset="0"/>
                <a:ea typeface="微软雅黑" panose="020B0503020204020204" charset="-122"/>
              </a:rPr>
              <a:t>、棚改双</a:t>
            </a:r>
            <a:r>
              <a:rPr lang="en-US" altLang="zh-CN" sz="1400">
                <a:latin typeface="Arial" panose="020B0604020202090204" pitchFamily="34" charset="0"/>
                <a:ea typeface="微软雅黑" panose="020B0503020204020204" charset="-122"/>
              </a:rPr>
              <a:t>95%</a:t>
            </a:r>
            <a:r>
              <a:rPr lang="zh-CN" altLang="en-US" sz="1400">
                <a:latin typeface="Arial" panose="020B0604020202090204" pitchFamily="34" charset="0"/>
                <a:ea typeface="微软雅黑" panose="020B0503020204020204" charset="-122"/>
              </a:rPr>
              <a:t>可动工，旧改</a:t>
            </a:r>
            <a:r>
              <a:rPr lang="en-US" altLang="zh-CN" sz="1400">
                <a:latin typeface="Arial" panose="020B0604020202090204" pitchFamily="34" charset="0"/>
                <a:ea typeface="微软雅黑" panose="020B0503020204020204" charset="-122"/>
              </a:rPr>
              <a:t>100%</a:t>
            </a:r>
            <a:r>
              <a:rPr lang="zh-CN" altLang="en-US" sz="1400">
                <a:latin typeface="Arial" panose="020B0604020202090204" pitchFamily="34" charset="0"/>
                <a:ea typeface="微软雅黑" panose="020B0503020204020204" charset="-122"/>
              </a:rPr>
              <a:t>。</a:t>
            </a:r>
            <a:endParaRPr lang="en-US" altLang="zh-CN" sz="1400">
              <a:latin typeface="Arial" panose="020B060402020209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400">
                <a:latin typeface="Arial" panose="020B0604020202090204" pitchFamily="34" charset="0"/>
                <a:ea typeface="微软雅黑" panose="020B0503020204020204" charset="-122"/>
              </a:rPr>
              <a:t>2</a:t>
            </a:r>
            <a:r>
              <a:rPr lang="zh-CN" altLang="en-US" sz="1400">
                <a:latin typeface="Arial" panose="020B0604020202090204" pitchFamily="34" charset="0"/>
                <a:ea typeface="微软雅黑" panose="020B0503020204020204" charset="-122"/>
              </a:rPr>
              <a:t>、棚改</a:t>
            </a:r>
            <a:r>
              <a:rPr lang="en-US" altLang="zh-CN" sz="1400">
                <a:latin typeface="Arial" panose="020B0604020202090204" pitchFamily="34" charset="0"/>
                <a:ea typeface="微软雅黑" panose="020B0503020204020204" charset="-122"/>
              </a:rPr>
              <a:t>1:1</a:t>
            </a:r>
            <a:r>
              <a:rPr lang="zh-CN" altLang="en-US" sz="1400">
                <a:latin typeface="Arial" panose="020B0604020202090204" pitchFamily="34" charset="0"/>
                <a:ea typeface="微软雅黑" panose="020B0503020204020204" charset="-122"/>
              </a:rPr>
              <a:t>补偿，</a:t>
            </a:r>
            <a:r>
              <a:rPr lang="en-US" altLang="zh-CN" sz="1400">
                <a:latin typeface="Arial" panose="020B0604020202090204" pitchFamily="34" charset="0"/>
                <a:ea typeface="微软雅黑" panose="020B0503020204020204" charset="-122"/>
              </a:rPr>
              <a:t>  </a:t>
            </a:r>
            <a:r>
              <a:rPr lang="zh-CN" altLang="en-US" sz="1400">
                <a:latin typeface="Arial" panose="020B0604020202090204" pitchFamily="34" charset="0"/>
                <a:ea typeface="微软雅黑" panose="020B0503020204020204" charset="-122"/>
              </a:rPr>
              <a:t>旧改无明确限制。</a:t>
            </a:r>
            <a:endParaRPr lang="zh-CN" altLang="en-US" sz="1400">
              <a:latin typeface="Arial" panose="020B060402020209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400">
                <a:latin typeface="Arial" panose="020B0604020202090204" pitchFamily="34" charset="0"/>
                <a:ea typeface="微软雅黑" panose="020B0503020204020204" charset="-122"/>
              </a:rPr>
              <a:t>3</a:t>
            </a:r>
            <a:r>
              <a:rPr lang="zh-CN" altLang="en-US" sz="1400">
                <a:latin typeface="Arial" panose="020B0604020202090204" pitchFamily="34" charset="0"/>
                <a:ea typeface="微软雅黑" panose="020B0503020204020204" charset="-122"/>
              </a:rPr>
              <a:t>、棚改政府主导，旧改是商业行为。</a:t>
            </a:r>
            <a:endParaRPr lang="zh-CN" altLang="en-US" sz="140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49" name="左弧形箭头 48"/>
          <p:cNvSpPr/>
          <p:nvPr/>
        </p:nvSpPr>
        <p:spPr>
          <a:xfrm>
            <a:off x="0" y="4289425"/>
            <a:ext cx="695325" cy="177546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6" name="文本框 55"/>
          <p:cNvSpPr txBox="1"/>
          <p:nvPr>
            <p:custDataLst>
              <p:tags r:id="rId13"/>
            </p:custDataLst>
          </p:nvPr>
        </p:nvSpPr>
        <p:spPr>
          <a:xfrm>
            <a:off x="8801735" y="2527300"/>
            <a:ext cx="2299335" cy="368300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1</a:t>
            </a:r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、自己做二房东</a:t>
            </a:r>
            <a:endParaRPr lang="en-US" altLang="zh-CN" sz="180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14"/>
            </p:custDataLst>
          </p:nvPr>
        </p:nvSpPr>
        <p:spPr>
          <a:xfrm>
            <a:off x="8801735" y="3402330"/>
            <a:ext cx="2299335" cy="368300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2</a:t>
            </a:r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、补贴给房东</a:t>
            </a:r>
            <a:endParaRPr lang="en-US" altLang="zh-CN" sz="180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15"/>
            </p:custDataLst>
          </p:nvPr>
        </p:nvSpPr>
        <p:spPr>
          <a:xfrm>
            <a:off x="8801735" y="4277360"/>
            <a:ext cx="2299335" cy="368300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3</a:t>
            </a:r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、补贴给到人才</a:t>
            </a:r>
            <a:endParaRPr lang="zh-CN" altLang="en-US" sz="180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80" name="文本框 79"/>
          <p:cNvSpPr txBox="1"/>
          <p:nvPr>
            <p:custDataLst>
              <p:tags r:id="rId16"/>
            </p:custDataLst>
          </p:nvPr>
        </p:nvSpPr>
        <p:spPr>
          <a:xfrm>
            <a:off x="6174740" y="2757170"/>
            <a:ext cx="1678940" cy="645160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zh-CN" sz="1800">
                <a:latin typeface="Arial" panose="020B0604020202090204" pitchFamily="34" charset="0"/>
                <a:ea typeface="微软雅黑" panose="020B0503020204020204" charset="-122"/>
              </a:rPr>
              <a:t>政策性住房</a:t>
            </a:r>
            <a:endParaRPr lang="zh-CN" sz="1800">
              <a:latin typeface="Arial" panose="020B0604020202090204" pitchFamily="34" charset="0"/>
              <a:ea typeface="微软雅黑" panose="020B0503020204020204" charset="-122"/>
            </a:endParaRPr>
          </a:p>
          <a:p>
            <a:pPr algn="ctr"/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(</a:t>
            </a:r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市场价</a:t>
            </a:r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6</a:t>
            </a:r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折</a:t>
            </a:r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)</a:t>
            </a:r>
            <a:endParaRPr lang="en-US" altLang="zh-CN" sz="180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81" name="文本框 80"/>
          <p:cNvSpPr txBox="1"/>
          <p:nvPr>
            <p:custDataLst>
              <p:tags r:id="rId17"/>
            </p:custDataLst>
          </p:nvPr>
        </p:nvSpPr>
        <p:spPr>
          <a:xfrm>
            <a:off x="6174740" y="3680460"/>
            <a:ext cx="1678940" cy="645160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zh-CN" sz="1800">
                <a:latin typeface="Arial" panose="020B0604020202090204" pitchFamily="34" charset="0"/>
                <a:ea typeface="微软雅黑" panose="020B0503020204020204" charset="-122"/>
              </a:rPr>
              <a:t>市场化住房</a:t>
            </a:r>
            <a:endParaRPr lang="zh-CN" sz="1800">
              <a:latin typeface="Arial" panose="020B0604020202090204" pitchFamily="34" charset="0"/>
              <a:ea typeface="微软雅黑" panose="020B0503020204020204" charset="-122"/>
            </a:endParaRPr>
          </a:p>
          <a:p>
            <a:pPr algn="ctr"/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(</a:t>
            </a:r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市场价</a:t>
            </a:r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97</a:t>
            </a:r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折</a:t>
            </a:r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)</a:t>
            </a:r>
            <a:endParaRPr lang="en-US" altLang="zh-CN" sz="180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82" name="右箭头 81"/>
          <p:cNvSpPr/>
          <p:nvPr/>
        </p:nvSpPr>
        <p:spPr>
          <a:xfrm>
            <a:off x="2523490" y="1356360"/>
            <a:ext cx="875030" cy="2959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右箭头 82"/>
          <p:cNvSpPr/>
          <p:nvPr>
            <p:custDataLst>
              <p:tags r:id="rId18"/>
            </p:custDataLst>
          </p:nvPr>
        </p:nvSpPr>
        <p:spPr>
          <a:xfrm>
            <a:off x="5369560" y="1316990"/>
            <a:ext cx="667385" cy="277495"/>
          </a:xfrm>
          <a:prstGeom prst="rightArrow">
            <a:avLst>
              <a:gd name="adj1" fmla="val 49785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右箭头 83"/>
          <p:cNvSpPr/>
          <p:nvPr>
            <p:custDataLst>
              <p:tags r:id="rId19"/>
            </p:custDataLst>
          </p:nvPr>
        </p:nvSpPr>
        <p:spPr>
          <a:xfrm>
            <a:off x="7999095" y="1297940"/>
            <a:ext cx="607695" cy="2959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文本框 84"/>
          <p:cNvSpPr txBox="1"/>
          <p:nvPr/>
        </p:nvSpPr>
        <p:spPr>
          <a:xfrm>
            <a:off x="2770505" y="2138680"/>
            <a:ext cx="381000" cy="31089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p>
            <a:r>
              <a:rPr lang="zh-CN" altLang="en-US"/>
              <a:t>筹集房源后由住建局分配</a:t>
            </a:r>
            <a:endParaRPr lang="zh-CN" altLang="en-US"/>
          </a:p>
        </p:txBody>
      </p:sp>
      <p:cxnSp>
        <p:nvCxnSpPr>
          <p:cNvPr id="86" name="肘形连接符 85"/>
          <p:cNvCxnSpPr>
            <a:stCxn id="9" idx="3"/>
            <a:endCxn id="85" idx="1"/>
          </p:cNvCxnSpPr>
          <p:nvPr/>
        </p:nvCxnSpPr>
        <p:spPr>
          <a:xfrm>
            <a:off x="2374265" y="2278380"/>
            <a:ext cx="396240" cy="141478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肘形连接符 86"/>
          <p:cNvCxnSpPr>
            <a:stCxn id="10" idx="3"/>
            <a:endCxn id="85" idx="1"/>
          </p:cNvCxnSpPr>
          <p:nvPr/>
        </p:nvCxnSpPr>
        <p:spPr>
          <a:xfrm>
            <a:off x="2374265" y="2955290"/>
            <a:ext cx="396240" cy="73787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肘形连接符 87"/>
          <p:cNvCxnSpPr>
            <a:stCxn id="11" idx="3"/>
            <a:endCxn id="85" idx="1"/>
          </p:cNvCxnSpPr>
          <p:nvPr/>
        </p:nvCxnSpPr>
        <p:spPr>
          <a:xfrm>
            <a:off x="2374265" y="3632200"/>
            <a:ext cx="396240" cy="6096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肘形连接符 88"/>
          <p:cNvCxnSpPr>
            <a:stCxn id="34" idx="3"/>
            <a:endCxn id="85" idx="1"/>
          </p:cNvCxnSpPr>
          <p:nvPr/>
        </p:nvCxnSpPr>
        <p:spPr>
          <a:xfrm flipV="1">
            <a:off x="2374265" y="3693160"/>
            <a:ext cx="396240" cy="129286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肘形连接符 89"/>
          <p:cNvCxnSpPr>
            <a:stCxn id="32" idx="3"/>
            <a:endCxn id="85" idx="1"/>
          </p:cNvCxnSpPr>
          <p:nvPr/>
        </p:nvCxnSpPr>
        <p:spPr>
          <a:xfrm flipV="1">
            <a:off x="2374265" y="3693160"/>
            <a:ext cx="396240" cy="61595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肘形连接符 90"/>
          <p:cNvCxnSpPr>
            <a:stCxn id="85" idx="3"/>
            <a:endCxn id="37" idx="1"/>
          </p:cNvCxnSpPr>
          <p:nvPr/>
        </p:nvCxnSpPr>
        <p:spPr>
          <a:xfrm flipV="1">
            <a:off x="3151505" y="2644140"/>
            <a:ext cx="396240" cy="104902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肘形连接符 91"/>
          <p:cNvCxnSpPr>
            <a:stCxn id="85" idx="3"/>
            <a:endCxn id="44" idx="1"/>
          </p:cNvCxnSpPr>
          <p:nvPr/>
        </p:nvCxnSpPr>
        <p:spPr>
          <a:xfrm>
            <a:off x="3151505" y="3693160"/>
            <a:ext cx="396240" cy="89662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肘形连接符 92"/>
          <p:cNvCxnSpPr>
            <a:stCxn id="85" idx="3"/>
            <a:endCxn id="41" idx="1"/>
          </p:cNvCxnSpPr>
          <p:nvPr/>
        </p:nvCxnSpPr>
        <p:spPr>
          <a:xfrm flipV="1">
            <a:off x="3151505" y="3663950"/>
            <a:ext cx="396240" cy="2921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/>
          <p:cNvCxnSpPr>
            <a:stCxn id="80" idx="3"/>
          </p:cNvCxnSpPr>
          <p:nvPr/>
        </p:nvCxnSpPr>
        <p:spPr>
          <a:xfrm flipV="1">
            <a:off x="7853680" y="2715895"/>
            <a:ext cx="807720" cy="3638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>
            <a:stCxn id="80" idx="3"/>
            <a:endCxn id="58" idx="1"/>
          </p:cNvCxnSpPr>
          <p:nvPr/>
        </p:nvCxnSpPr>
        <p:spPr>
          <a:xfrm>
            <a:off x="7853680" y="3079750"/>
            <a:ext cx="948055" cy="5067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>
            <a:stCxn id="80" idx="3"/>
            <a:endCxn id="59" idx="1"/>
          </p:cNvCxnSpPr>
          <p:nvPr/>
        </p:nvCxnSpPr>
        <p:spPr>
          <a:xfrm>
            <a:off x="7853680" y="3079750"/>
            <a:ext cx="948055" cy="13817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/>
        </p:nvGrpSpPr>
        <p:grpSpPr>
          <a:xfrm>
            <a:off x="7579360" y="2020570"/>
            <a:ext cx="3656330" cy="3148330"/>
            <a:chOff x="11936" y="3182"/>
            <a:chExt cx="5758" cy="4958"/>
          </a:xfrm>
        </p:grpSpPr>
        <p:sp>
          <p:nvSpPr>
            <p:cNvPr id="12" name="文本框 11"/>
            <p:cNvSpPr txBox="1"/>
            <p:nvPr/>
          </p:nvSpPr>
          <p:spPr>
            <a:xfrm>
              <a:off x="13219" y="3182"/>
              <a:ext cx="426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>
                  <a:highlight>
                    <a:srgbClr val="FFFF00"/>
                  </a:highlight>
                </a:rPr>
                <a:t>公共住房运营事业部</a:t>
              </a:r>
              <a:endParaRPr lang="zh-CN" altLang="en-US">
                <a:highlight>
                  <a:srgbClr val="FFFF00"/>
                </a:highlight>
              </a:endParaRPr>
            </a:p>
          </p:txBody>
        </p:sp>
        <p:sp>
          <p:nvSpPr>
            <p:cNvPr id="13" name="左箭头 12"/>
            <p:cNvSpPr/>
            <p:nvPr/>
          </p:nvSpPr>
          <p:spPr>
            <a:xfrm rot="19140000">
              <a:off x="12198" y="3607"/>
              <a:ext cx="1175" cy="620"/>
            </a:xfrm>
            <a:prstGeom prst="leftArrow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左箭头 13"/>
            <p:cNvSpPr/>
            <p:nvPr>
              <p:custDataLst>
                <p:tags r:id="rId20"/>
              </p:custDataLst>
            </p:nvPr>
          </p:nvSpPr>
          <p:spPr>
            <a:xfrm rot="1620000">
              <a:off x="11936" y="6983"/>
              <a:ext cx="1759" cy="620"/>
            </a:xfrm>
            <a:prstGeom prst="leftArrow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>
              <p:custDataLst>
                <p:tags r:id="rId21"/>
              </p:custDataLst>
            </p:nvPr>
          </p:nvSpPr>
          <p:spPr>
            <a:xfrm>
              <a:off x="13432" y="7560"/>
              <a:ext cx="426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>
                  <a:highlight>
                    <a:srgbClr val="FFFF00"/>
                  </a:highlight>
                </a:rPr>
                <a:t>市场租赁运营事业部</a:t>
              </a:r>
              <a:endParaRPr lang="zh-CN" altLang="en-US">
                <a:highlight>
                  <a:srgbClr val="FFFF00"/>
                </a:highlight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5395595" y="6064885"/>
            <a:ext cx="3211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rgbClr val="FF0000"/>
                </a:solidFill>
              </a:rPr>
              <a:t>记住：租购建改合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8" name="左箭头 17"/>
          <p:cNvSpPr/>
          <p:nvPr/>
        </p:nvSpPr>
        <p:spPr>
          <a:xfrm rot="660000">
            <a:off x="2442210" y="5411470"/>
            <a:ext cx="3725545" cy="434975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7" grpId="0"/>
      <p:bldP spid="18" grpId="1" animBg="1"/>
      <p:bldP spid="1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695325" y="347980"/>
            <a:ext cx="99510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展开说说房源获取模式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这个了解一下，不用记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)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Segoe UI Black" panose="020B0A02040204020203" pitchFamily="34" charset="0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1672908" y="1359090"/>
          <a:ext cx="5268595" cy="5123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0"/>
                <a:gridCol w="2422525"/>
                <a:gridCol w="1647190"/>
              </a:tblGrid>
              <a:tr h="4933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新增建设用地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（1）新增供地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建设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655"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配建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（2）招拍挂配建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筹集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1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（3）城市更新配建回购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筹集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47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（4）产业园区配建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筹集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1940">
                <a:tc rowSpan="5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盘活存量用地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（5）棚户区改造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建设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59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（6）已批未建用地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建设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7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（7）国有已出让存量用地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建设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65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（8）村集体存量用地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建设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59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（9）控停违建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建设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5265">
                <a:tc rowSpan="4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盘活社会存量用房</a:t>
                      </a:r>
                      <a:r>
                        <a:rPr lang="en-US" sz="1400" b="0">
                          <a:solidFill>
                            <a:srgbClr val="FF0000"/>
                          </a:solidFill>
                          <a:latin typeface="仿宋_GB2312" panose="02010609030101010101" pitchFamily="49" charset="-122"/>
                        </a:rPr>
                        <a:t>（投拓不管理，属于租赁公司）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（10）租赁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筹集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526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（11）购买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筹集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687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（12）商业、办公用房、宿舍等改造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筹集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62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（13）城中村</a:t>
                      </a:r>
                      <a:r>
                        <a:rPr lang="en-US" sz="1400" b="0" strike="sngStrike">
                          <a:solidFill>
                            <a:srgbClr val="FF0000"/>
                          </a:solidFill>
                          <a:latin typeface="仿宋_GB2312" panose="02010609030101010101" pitchFamily="49" charset="-122"/>
                        </a:rPr>
                        <a:t>综合整治</a:t>
                      </a:r>
                      <a:r>
                        <a:rPr lang="en-US" sz="1400" b="0">
                          <a:solidFill>
                            <a:srgbClr val="000000"/>
                          </a:solidFill>
                          <a:latin typeface="仿宋_GB2312" panose="02010609030101010101" pitchFamily="49" charset="-122"/>
                        </a:rPr>
                        <a:t>改造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筹集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68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公共设施综合开发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（14）交通场站及供应设施用地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建设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52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城际合作开发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（15）城际合作开发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仿宋_GB2312" panose="02010609030101010101" pitchFamily="49" charset="-122"/>
                        </a:rPr>
                        <a:t>建设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仿宋_GB2312" panose="02010609030101010101" pitchFamily="49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04" name="图片 103"/>
          <p:cNvPicPr/>
          <p:nvPr/>
        </p:nvPicPr>
        <p:blipFill>
          <a:blip r:embed="rId2"/>
          <a:stretch>
            <a:fillRect/>
          </a:stretch>
        </p:blipFill>
        <p:spPr>
          <a:xfrm>
            <a:off x="7926705" y="1014095"/>
            <a:ext cx="3549650" cy="33375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695400" y="347960"/>
            <a:ext cx="64807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2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、商业运营事业部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Segoe UI Black" panose="020B0A02040204020203" pitchFamily="34" charset="0"/>
            </a:endParaRPr>
          </a:p>
        </p:txBody>
      </p:sp>
      <p:pic>
        <p:nvPicPr>
          <p:cNvPr id="102" name="图片 101"/>
          <p:cNvPicPr/>
          <p:nvPr/>
        </p:nvPicPr>
        <p:blipFill>
          <a:blip r:embed="rId1"/>
          <a:stretch>
            <a:fillRect/>
          </a:stretch>
        </p:blipFill>
        <p:spPr>
          <a:xfrm>
            <a:off x="562610" y="869950"/>
            <a:ext cx="11509375" cy="57480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695400" y="347960"/>
            <a:ext cx="64807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3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、城服公司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Segoe UI Black" panose="020B0A02040204020203" pitchFamily="34" charset="0"/>
            </a:endParaRPr>
          </a:p>
        </p:txBody>
      </p:sp>
      <p:pic>
        <p:nvPicPr>
          <p:cNvPr id="103" name="图片 10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239520"/>
            <a:ext cx="10060940" cy="52603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0207625" y="2422525"/>
            <a:ext cx="164274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专业名词：</a:t>
            </a:r>
            <a:endParaRPr lang="zh-CN" altLang="en-US"/>
          </a:p>
          <a:p>
            <a:r>
              <a:rPr lang="zh-CN" altLang="en-US" b="1">
                <a:solidFill>
                  <a:srgbClr val="FF0000"/>
                </a:solidFill>
              </a:rPr>
              <a:t>四保一服</a:t>
            </a:r>
            <a:endParaRPr lang="zh-CN" altLang="en-US" b="1">
              <a:solidFill>
                <a:srgbClr val="FF0000"/>
              </a:solidFill>
            </a:endParaRPr>
          </a:p>
          <a:p>
            <a:r>
              <a:rPr lang="zh-CN" altLang="en-US"/>
              <a:t>保安</a:t>
            </a:r>
            <a:endParaRPr lang="zh-CN" altLang="en-US"/>
          </a:p>
          <a:p>
            <a:r>
              <a:rPr lang="zh-CN" altLang="en-US"/>
              <a:t>保洁</a:t>
            </a:r>
            <a:endParaRPr lang="zh-CN" altLang="en-US"/>
          </a:p>
          <a:p>
            <a:r>
              <a:rPr lang="zh-CN" altLang="en-US"/>
              <a:t>保绿</a:t>
            </a:r>
            <a:endParaRPr lang="zh-CN" altLang="en-US"/>
          </a:p>
          <a:p>
            <a:r>
              <a:rPr lang="zh-CN" altLang="en-US"/>
              <a:t>保修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客服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159"/>
          <p:cNvSpPr txBox="1"/>
          <p:nvPr/>
        </p:nvSpPr>
        <p:spPr>
          <a:xfrm>
            <a:off x="1113790" y="2990850"/>
            <a:ext cx="10080625" cy="768350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800" kern="100" dirty="0">
                <a:solidFill>
                  <a:schemeClr val="accent1">
                    <a:lumMod val="75000"/>
                  </a:schemeClr>
                </a:solidFill>
                <a:effectLst/>
                <a:latin typeface="黑体" panose="02010609060101010101" charset="-122"/>
                <a:ea typeface="黑体" panose="02010609060101010101" charset="-122"/>
                <a:cs typeface="Times New Roman" panose="02020503050405090304" pitchFamily="18" charset="0"/>
                <a:sym typeface="Calibri" panose="020F0502020204030204" charset="0"/>
              </a:rPr>
              <a:t>上面三大板块如何和智能客服系统对接？</a:t>
            </a:r>
            <a:endParaRPr lang="zh-CN" altLang="en-US" sz="2800" kern="100" dirty="0">
              <a:solidFill>
                <a:schemeClr val="accent1">
                  <a:lumMod val="75000"/>
                </a:schemeClr>
              </a:solidFill>
              <a:effectLst/>
              <a:latin typeface="黑体" panose="02010609060101010101" charset="-122"/>
              <a:ea typeface="黑体" panose="02010609060101010101" charset="-122"/>
              <a:cs typeface="Times New Roman" panose="02020503050405090304" pitchFamily="18" charset="0"/>
              <a:sym typeface="Calibri" panose="020F0502020204030204" charset="0"/>
            </a:endParaRPr>
          </a:p>
          <a:p>
            <a:pPr algn="ctr"/>
            <a:r>
              <a:rPr lang="en-US" altLang="zh-CN" sz="1600" kern="100" dirty="0">
                <a:solidFill>
                  <a:schemeClr val="accent1">
                    <a:lumMod val="75000"/>
                  </a:schemeClr>
                </a:solidFill>
                <a:effectLst/>
                <a:latin typeface="黑体" panose="02010609060101010101" charset="-122"/>
                <a:ea typeface="黑体" panose="02010609060101010101" charset="-122"/>
                <a:cs typeface="Times New Roman" panose="02020503050405090304" pitchFamily="18" charset="0"/>
                <a:sym typeface="Calibri" panose="020F0502020204030204" charset="0"/>
              </a:rPr>
              <a:t>(</a:t>
            </a:r>
            <a:r>
              <a:rPr lang="zh-CN" altLang="en-US" sz="1600" kern="100" dirty="0">
                <a:solidFill>
                  <a:schemeClr val="accent1">
                    <a:lumMod val="75000"/>
                  </a:schemeClr>
                </a:solidFill>
                <a:effectLst/>
                <a:latin typeface="黑体" panose="02010609060101010101" charset="-122"/>
                <a:ea typeface="黑体" panose="02010609060101010101" charset="-122"/>
                <a:cs typeface="Times New Roman" panose="02020503050405090304" pitchFamily="18" charset="0"/>
                <a:sym typeface="Calibri" panose="020F0502020204030204" charset="0"/>
              </a:rPr>
              <a:t>智能客服系统包括</a:t>
            </a:r>
            <a:r>
              <a:rPr lang="en-US" altLang="zh-CN" sz="1600" kern="100" dirty="0">
                <a:solidFill>
                  <a:schemeClr val="accent1">
                    <a:lumMod val="75000"/>
                  </a:schemeClr>
                </a:solidFill>
                <a:effectLst/>
                <a:latin typeface="黑体" panose="02010609060101010101" charset="-122"/>
                <a:ea typeface="黑体" panose="02010609060101010101" charset="-122"/>
                <a:cs typeface="Times New Roman" panose="02020503050405090304" pitchFamily="18" charset="0"/>
                <a:sym typeface="Calibri" panose="020F0502020204030204" charset="0"/>
              </a:rPr>
              <a:t>400</a:t>
            </a:r>
            <a:r>
              <a:rPr lang="zh-CN" altLang="en-US" sz="1600" kern="100" dirty="0">
                <a:solidFill>
                  <a:schemeClr val="accent1">
                    <a:lumMod val="75000"/>
                  </a:schemeClr>
                </a:solidFill>
                <a:effectLst/>
                <a:latin typeface="黑体" panose="02010609060101010101" charset="-122"/>
                <a:ea typeface="黑体" panose="02010609060101010101" charset="-122"/>
                <a:cs typeface="Times New Roman" panose="02020503050405090304" pitchFamily="18" charset="0"/>
                <a:sym typeface="Calibri" panose="020F0502020204030204" charset="0"/>
              </a:rPr>
              <a:t>、</a:t>
            </a:r>
            <a:r>
              <a:rPr lang="en-US" altLang="zh-CN" sz="1600" kern="100" dirty="0">
                <a:solidFill>
                  <a:schemeClr val="accent1">
                    <a:lumMod val="75000"/>
                  </a:schemeClr>
                </a:solidFill>
                <a:effectLst/>
                <a:latin typeface="黑体" panose="02010609060101010101" charset="-122"/>
                <a:ea typeface="黑体" panose="02010609060101010101" charset="-122"/>
                <a:cs typeface="Times New Roman" panose="02020503050405090304" pitchFamily="18" charset="0"/>
                <a:sym typeface="Calibri" panose="020F0502020204030204" charset="0"/>
              </a:rPr>
              <a:t>CDP</a:t>
            </a:r>
            <a:r>
              <a:rPr lang="zh-CN" altLang="en-US" sz="1600" kern="100" dirty="0">
                <a:solidFill>
                  <a:schemeClr val="accent1">
                    <a:lumMod val="75000"/>
                  </a:schemeClr>
                </a:solidFill>
                <a:effectLst/>
                <a:latin typeface="黑体" panose="02010609060101010101" charset="-122"/>
                <a:ea typeface="黑体" panose="02010609060101010101" charset="-122"/>
                <a:cs typeface="Times New Roman" panose="02020503050405090304" pitchFamily="18" charset="0"/>
                <a:sym typeface="Calibri" panose="020F0502020204030204" charset="0"/>
              </a:rPr>
              <a:t>、会员与积分</a:t>
            </a:r>
            <a:r>
              <a:rPr lang="en-US" altLang="zh-CN" sz="1600" kern="100" dirty="0">
                <a:solidFill>
                  <a:schemeClr val="accent1">
                    <a:lumMod val="75000"/>
                  </a:schemeClr>
                </a:solidFill>
                <a:effectLst/>
                <a:latin typeface="黑体" panose="02010609060101010101" charset="-122"/>
                <a:ea typeface="黑体" panose="02010609060101010101" charset="-122"/>
                <a:cs typeface="Times New Roman" panose="02020503050405090304" pitchFamily="18" charset="0"/>
                <a:sym typeface="Calibri" panose="020F0502020204030204" charset="0"/>
              </a:rPr>
              <a:t>)</a:t>
            </a:r>
            <a:endParaRPr lang="en-US" altLang="zh-CN" sz="1600" kern="100" dirty="0">
              <a:solidFill>
                <a:schemeClr val="accent1">
                  <a:lumMod val="75000"/>
                </a:schemeClr>
              </a:solidFill>
              <a:effectLst/>
              <a:latin typeface="黑体" panose="02010609060101010101" charset="-122"/>
              <a:ea typeface="黑体" panose="02010609060101010101" charset="-122"/>
              <a:cs typeface="Times New Roman" panose="02020503050405090304" pitchFamily="18" charset="0"/>
              <a:sym typeface="Calibri" panose="020F050202020403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695400" y="347960"/>
            <a:ext cx="64807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系统集成关系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Segoe UI Black" panose="020B0A02040204020203" pitchFamily="34" charset="0"/>
            </a:endParaRPr>
          </a:p>
        </p:txBody>
      </p:sp>
      <p:pic>
        <p:nvPicPr>
          <p:cNvPr id="2" name="图片 1" descr="2_会员与各类系统集成关系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020" y="1044575"/>
            <a:ext cx="10366375" cy="57321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>
            <p:custDataLst>
              <p:tags r:id="rId1"/>
            </p:custDataLst>
          </p:nvPr>
        </p:nvSpPr>
        <p:spPr>
          <a:xfrm>
            <a:off x="695325" y="404495"/>
            <a:ext cx="106578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2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、会员积分平台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Segoe UI Black" panose="020B0A02040204020203" pitchFamily="34" charset="0"/>
            </a:endParaRPr>
          </a:p>
        </p:txBody>
      </p:sp>
      <p:grpSp>
        <p:nvGrpSpPr>
          <p:cNvPr id="225285" name="Group 3"/>
          <p:cNvGrpSpPr/>
          <p:nvPr/>
        </p:nvGrpSpPr>
        <p:grpSpPr bwMode="auto">
          <a:xfrm>
            <a:off x="2295208" y="1379538"/>
            <a:ext cx="5376862" cy="3959225"/>
            <a:chOff x="1140" y="875"/>
            <a:chExt cx="3387" cy="2494"/>
          </a:xfrm>
        </p:grpSpPr>
        <p:sp>
          <p:nvSpPr>
            <p:cNvPr id="225294" name="Oval 9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blackWhite">
            <a:xfrm>
              <a:off x="2413" y="875"/>
              <a:ext cx="828" cy="792"/>
            </a:xfrm>
            <a:prstGeom prst="ellipse">
              <a:avLst/>
            </a:prstGeom>
            <a:solidFill>
              <a:srgbClr val="8099CC"/>
            </a:solidFill>
            <a:ln w="12700">
              <a:noFill/>
              <a:round/>
            </a:ln>
          </p:spPr>
          <p:txBody>
            <a:bodyPr wrap="none" lIns="0" tIns="0" rIns="0" bIns="0" anchor="ctr"/>
            <a:p>
              <a:pPr algn="ctr" defTabSz="821055">
                <a:lnSpc>
                  <a:spcPct val="95000"/>
                </a:lnSpc>
                <a:spcBef>
                  <a:spcPct val="0"/>
                </a:spcBef>
                <a:spcAft>
                  <a:spcPct val="37000"/>
                </a:spcAft>
              </a:pPr>
              <a:r>
                <a:rPr lang="zh-CN" altLang="en-GB" sz="1400" b="1"/>
                <a:t>华润通</a:t>
              </a:r>
              <a:endParaRPr lang="zh-CN" altLang="en-GB" sz="1400" b="1"/>
            </a:p>
            <a:p>
              <a:pPr algn="ctr" defTabSz="821055">
                <a:lnSpc>
                  <a:spcPct val="95000"/>
                </a:lnSpc>
                <a:spcBef>
                  <a:spcPct val="0"/>
                </a:spcBef>
                <a:spcAft>
                  <a:spcPct val="37000"/>
                </a:spcAft>
              </a:pPr>
              <a:r>
                <a:rPr lang="en-US" altLang="zh-CN" sz="1400" b="1">
                  <a:solidFill>
                    <a:srgbClr val="FF0000"/>
                  </a:solidFill>
                </a:rPr>
                <a:t>(</a:t>
              </a:r>
              <a:r>
                <a:rPr lang="zh-CN" altLang="en-US" sz="1400" b="1">
                  <a:solidFill>
                    <a:srgbClr val="FF0000"/>
                  </a:solidFill>
                </a:rPr>
                <a:t>中央银行</a:t>
              </a:r>
              <a:r>
                <a:rPr lang="en-US" altLang="zh-CN" sz="1400" b="1">
                  <a:solidFill>
                    <a:srgbClr val="FF0000"/>
                  </a:solidFill>
                </a:rPr>
                <a:t>)</a:t>
              </a:r>
              <a:endParaRPr lang="en-US" altLang="zh-CN" sz="1400" b="1">
                <a:solidFill>
                  <a:srgbClr val="FF0000"/>
                </a:solidFill>
              </a:endParaRPr>
            </a:p>
            <a:p>
              <a:pPr algn="ctr" defTabSz="821055">
                <a:lnSpc>
                  <a:spcPct val="95000"/>
                </a:lnSpc>
                <a:spcBef>
                  <a:spcPct val="0"/>
                </a:spcBef>
                <a:spcAft>
                  <a:spcPct val="37000"/>
                </a:spcAft>
              </a:pPr>
              <a:r>
                <a:rPr lang="en-US" altLang="zh-CN" sz="1400" b="1">
                  <a:solidFill>
                    <a:srgbClr val="FF0000"/>
                  </a:solidFill>
                </a:rPr>
                <a:t>(</a:t>
              </a:r>
              <a:r>
                <a:rPr lang="zh-CN" altLang="en-US" sz="1400" b="1">
                  <a:solidFill>
                    <a:srgbClr val="FF0000"/>
                  </a:solidFill>
                </a:rPr>
                <a:t>统一汇率</a:t>
              </a:r>
              <a:r>
                <a:rPr lang="en-US" altLang="zh-CN" sz="1400" b="1">
                  <a:solidFill>
                    <a:srgbClr val="FF0000"/>
                  </a:solidFill>
                </a:rPr>
                <a:t>)</a:t>
              </a:r>
              <a:endParaRPr lang="en-US" altLang="zh-CN" sz="1400" b="1">
                <a:solidFill>
                  <a:srgbClr val="FF0000"/>
                </a:solidFill>
              </a:endParaRPr>
            </a:p>
          </p:txBody>
        </p:sp>
        <p:sp>
          <p:nvSpPr>
            <p:cNvPr id="225295" name="Oval 1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blackWhite">
            <a:xfrm>
              <a:off x="1140" y="2577"/>
              <a:ext cx="817" cy="792"/>
            </a:xfrm>
            <a:prstGeom prst="ellipse">
              <a:avLst/>
            </a:prstGeom>
            <a:solidFill>
              <a:srgbClr val="8099CC"/>
            </a:solidFill>
            <a:ln w="12700">
              <a:noFill/>
              <a:round/>
            </a:ln>
          </p:spPr>
          <p:txBody>
            <a:bodyPr wrap="none" lIns="0" tIns="0" rIns="0" bIns="0" anchor="ctr"/>
            <a:p>
              <a:pPr algn="ctr" defTabSz="821055">
                <a:lnSpc>
                  <a:spcPct val="95000"/>
                </a:lnSpc>
                <a:spcBef>
                  <a:spcPct val="0"/>
                </a:spcBef>
                <a:spcAft>
                  <a:spcPct val="37000"/>
                </a:spcAft>
              </a:pPr>
              <a:r>
                <a:rPr lang="zh-CN" altLang="en-GB" sz="1400" b="1"/>
                <a:t>物业板块</a:t>
              </a:r>
              <a:endParaRPr lang="zh-CN" altLang="en-GB" sz="1400" b="1"/>
            </a:p>
            <a:p>
              <a:pPr algn="ctr" defTabSz="821055">
                <a:lnSpc>
                  <a:spcPct val="95000"/>
                </a:lnSpc>
                <a:spcBef>
                  <a:spcPct val="0"/>
                </a:spcBef>
                <a:spcAft>
                  <a:spcPct val="37000"/>
                </a:spcAft>
              </a:pPr>
              <a:r>
                <a:rPr lang="en-US" altLang="zh-CN" sz="1400" b="1"/>
                <a:t>(</a:t>
              </a:r>
              <a:r>
                <a:rPr lang="zh-CN" altLang="en-US" sz="1400" b="1"/>
                <a:t>积分赚取和消费</a:t>
              </a:r>
              <a:r>
                <a:rPr lang="en-US" altLang="zh-CN" sz="1400" b="1"/>
                <a:t>)</a:t>
              </a:r>
              <a:endParaRPr lang="en-US" altLang="zh-CN" sz="1400" b="1"/>
            </a:p>
          </p:txBody>
        </p:sp>
        <p:sp>
          <p:nvSpPr>
            <p:cNvPr id="225296" name="Line 11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blackWhite">
            <a:xfrm flipH="1">
              <a:off x="1733" y="1580"/>
              <a:ext cx="735" cy="981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 type="triangle" w="med" len="lg"/>
              <a:tailEnd type="triangle" w="med" len="lg"/>
            </a:ln>
          </p:spPr>
          <p:txBody>
            <a:bodyPr wrap="none" lIns="0" tIns="0" rIns="0" bIns="0" anchor="ctr"/>
            <a:p>
              <a:endParaRPr lang="en-GB"/>
            </a:p>
          </p:txBody>
        </p:sp>
        <p:sp>
          <p:nvSpPr>
            <p:cNvPr id="225297" name="Line 12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3209" y="1575"/>
              <a:ext cx="746" cy="991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 type="triangle" w="med" len="lg"/>
              <a:tailEnd type="triangle" w="med" len="lg"/>
            </a:ln>
          </p:spPr>
          <p:txBody>
            <a:bodyPr wrap="none" lIns="0" tIns="0" rIns="0" bIns="0" anchor="ctr"/>
            <a:p>
              <a:endParaRPr lang="en-GB"/>
            </a:p>
          </p:txBody>
        </p:sp>
        <p:sp>
          <p:nvSpPr>
            <p:cNvPr id="225299" name="Oval 14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3710" y="2577"/>
              <a:ext cx="817" cy="792"/>
            </a:xfrm>
            <a:prstGeom prst="ellipse">
              <a:avLst/>
            </a:prstGeom>
            <a:solidFill>
              <a:srgbClr val="8099CC"/>
            </a:solidFill>
            <a:ln w="12700">
              <a:noFill/>
              <a:round/>
            </a:ln>
          </p:spPr>
          <p:txBody>
            <a:bodyPr wrap="none" lIns="0" tIns="0" rIns="0" bIns="0" anchor="ctr"/>
            <a:p>
              <a:pPr algn="ctr" defTabSz="821055">
                <a:lnSpc>
                  <a:spcPct val="95000"/>
                </a:lnSpc>
                <a:spcBef>
                  <a:spcPct val="0"/>
                </a:spcBef>
                <a:spcAft>
                  <a:spcPct val="37000"/>
                </a:spcAft>
              </a:pPr>
              <a:r>
                <a:rPr lang="zh-CN" altLang="en-GB" sz="1400" b="1"/>
                <a:t>商业板块</a:t>
              </a:r>
              <a:endParaRPr lang="zh-CN" altLang="en-GB" sz="1400" b="1"/>
            </a:p>
            <a:p>
              <a:pPr algn="ctr" defTabSz="821055">
                <a:lnSpc>
                  <a:spcPct val="95000"/>
                </a:lnSpc>
                <a:spcBef>
                  <a:spcPct val="0"/>
                </a:spcBef>
                <a:spcAft>
                  <a:spcPct val="37000"/>
                </a:spcAft>
              </a:pPr>
              <a:r>
                <a:rPr lang="en-US" altLang="zh-CN" sz="1400" b="1">
                  <a:sym typeface="+mn-ea"/>
                </a:rPr>
                <a:t>(</a:t>
              </a:r>
              <a:r>
                <a:rPr lang="zh-CN" altLang="en-US" sz="1400" b="1">
                  <a:sym typeface="+mn-ea"/>
                </a:rPr>
                <a:t>积分赚取和消费</a:t>
              </a:r>
              <a:r>
                <a:rPr lang="en-US" altLang="zh-CN" sz="1400" b="1">
                  <a:sym typeface="+mn-ea"/>
                </a:rPr>
                <a:t>)</a:t>
              </a:r>
              <a:endParaRPr lang="zh-CN" altLang="en-GB" sz="1400" b="1"/>
            </a:p>
          </p:txBody>
        </p:sp>
        <p:sp>
          <p:nvSpPr>
            <p:cNvPr id="225301" name="Line 16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 flipH="1">
              <a:off x="1996" y="2984"/>
              <a:ext cx="1677" cy="0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 type="triangle" w="med" len="lg"/>
              <a:tailEnd type="triangle" w="med" len="lg"/>
            </a:ln>
          </p:spPr>
          <p:txBody>
            <a:bodyPr wrap="none" lIns="0" tIns="0" rIns="0" bIns="0" anchor="ctr"/>
            <a:p>
              <a:endParaRPr lang="en-GB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055370" y="5338445"/>
            <a:ext cx="3383915" cy="1042670"/>
            <a:chOff x="1662" y="8407"/>
            <a:chExt cx="5329" cy="1642"/>
          </a:xfrm>
        </p:grpSpPr>
        <p:sp>
          <p:nvSpPr>
            <p:cNvPr id="2" name="矩形 1"/>
            <p:cNvSpPr/>
            <p:nvPr/>
          </p:nvSpPr>
          <p:spPr>
            <a:xfrm>
              <a:off x="1662" y="9483"/>
              <a:ext cx="1361" cy="567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tIns="0" rIns="0" bIns="0"/>
            <a:p>
              <a:pPr algn="ctr"/>
              <a:r>
                <a:rPr lang="zh-CN" altLang="en-US" sz="1300" b="1" dirty="0">
                  <a:solidFill>
                    <a:schemeClr val="tx1"/>
                  </a:solidFill>
                </a:rPr>
                <a:t>积分赚取</a:t>
              </a:r>
              <a:endParaRPr lang="zh-CN" altLang="en-US" sz="1300" b="1" dirty="0">
                <a:solidFill>
                  <a:schemeClr val="tx1"/>
                </a:solidFill>
              </a:endParaRPr>
            </a:p>
          </p:txBody>
        </p:sp>
        <p:sp>
          <p:nvSpPr>
            <p:cNvPr id="3" name="矩形 2"/>
            <p:cNvSpPr/>
            <p:nvPr>
              <p:custDataLst>
                <p:tags r:id="rId8"/>
              </p:custDataLst>
            </p:nvPr>
          </p:nvSpPr>
          <p:spPr>
            <a:xfrm>
              <a:off x="3615" y="9483"/>
              <a:ext cx="1361" cy="567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tIns="0" rIns="0" bIns="0"/>
            <a:p>
              <a:pPr algn="ctr"/>
              <a:r>
                <a:rPr lang="zh-CN" altLang="en-US" sz="1300" b="1" dirty="0">
                  <a:solidFill>
                    <a:schemeClr val="tx1"/>
                  </a:solidFill>
                </a:rPr>
                <a:t>积分消费</a:t>
              </a:r>
              <a:endParaRPr lang="zh-CN" altLang="en-US" sz="1300" b="1" dirty="0">
                <a:solidFill>
                  <a:schemeClr val="tx1"/>
                </a:solidFill>
              </a:endParaRPr>
            </a:p>
          </p:txBody>
        </p:sp>
        <p:sp>
          <p:nvSpPr>
            <p:cNvPr id="4" name="矩形 3"/>
            <p:cNvSpPr/>
            <p:nvPr>
              <p:custDataLst>
                <p:tags r:id="rId9"/>
              </p:custDataLst>
            </p:nvPr>
          </p:nvSpPr>
          <p:spPr>
            <a:xfrm>
              <a:off x="5631" y="9483"/>
              <a:ext cx="1361" cy="567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tIns="0" rIns="0" bIns="0"/>
            <a:p>
              <a:pPr algn="ctr"/>
              <a:r>
                <a:rPr lang="zh-CN" altLang="en-US" sz="1300" b="1" dirty="0">
                  <a:solidFill>
                    <a:schemeClr val="tx1"/>
                  </a:solidFill>
                </a:rPr>
                <a:t>积分查询</a:t>
              </a:r>
              <a:endParaRPr lang="zh-CN" altLang="en-US" sz="1300" b="1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肘形连接符 8"/>
            <p:cNvCxnSpPr>
              <a:stCxn id="225295" idx="4"/>
              <a:endCxn id="2" idx="0"/>
            </p:cNvCxnSpPr>
            <p:nvPr/>
          </p:nvCxnSpPr>
          <p:spPr>
            <a:xfrm rot="5400000">
              <a:off x="2952" y="7798"/>
              <a:ext cx="1075" cy="2293"/>
            </a:xfrm>
            <a:prstGeom prst="bentConnector3">
              <a:avLst>
                <a:gd name="adj1" fmla="val 5004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11" name="肘形连接符 10"/>
            <p:cNvCxnSpPr>
              <a:stCxn id="225295" idx="4"/>
              <a:endCxn id="4" idx="0"/>
            </p:cNvCxnSpPr>
            <p:nvPr/>
          </p:nvCxnSpPr>
          <p:spPr>
            <a:xfrm rot="5400000" flipV="1">
              <a:off x="4937" y="8107"/>
              <a:ext cx="1075" cy="1676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  <p:grpSp>
        <p:nvGrpSpPr>
          <p:cNvPr id="13" name="组合 12"/>
          <p:cNvGrpSpPr/>
          <p:nvPr/>
        </p:nvGrpSpPr>
        <p:grpSpPr>
          <a:xfrm>
            <a:off x="5161915" y="5374005"/>
            <a:ext cx="3383915" cy="1042670"/>
            <a:chOff x="1662" y="8407"/>
            <a:chExt cx="5329" cy="1642"/>
          </a:xfrm>
        </p:grpSpPr>
        <p:sp>
          <p:nvSpPr>
            <p:cNvPr id="14" name="矩形 13"/>
            <p:cNvSpPr/>
            <p:nvPr>
              <p:custDataLst>
                <p:tags r:id="rId10"/>
              </p:custDataLst>
            </p:nvPr>
          </p:nvSpPr>
          <p:spPr>
            <a:xfrm>
              <a:off x="1662" y="9483"/>
              <a:ext cx="1361" cy="567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tIns="0" rIns="0" bIns="0"/>
            <a:p>
              <a:pPr algn="ctr"/>
              <a:r>
                <a:rPr lang="zh-CN" altLang="en-US" sz="1300" b="1" dirty="0">
                  <a:solidFill>
                    <a:schemeClr val="tx1"/>
                  </a:solidFill>
                </a:rPr>
                <a:t>积分赚取</a:t>
              </a:r>
              <a:endParaRPr lang="zh-CN" altLang="en-US" sz="1300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11"/>
              </p:custDataLst>
            </p:nvPr>
          </p:nvSpPr>
          <p:spPr>
            <a:xfrm>
              <a:off x="3615" y="9483"/>
              <a:ext cx="1361" cy="567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tIns="0" rIns="0" bIns="0"/>
            <a:p>
              <a:pPr algn="ctr"/>
              <a:r>
                <a:rPr lang="zh-CN" altLang="en-US" sz="1300" b="1" dirty="0">
                  <a:solidFill>
                    <a:schemeClr val="tx1"/>
                  </a:solidFill>
                </a:rPr>
                <a:t>积分消费</a:t>
              </a:r>
              <a:endParaRPr lang="zh-CN" altLang="en-US" sz="1300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2"/>
              </p:custDataLst>
            </p:nvPr>
          </p:nvSpPr>
          <p:spPr>
            <a:xfrm>
              <a:off x="5631" y="9483"/>
              <a:ext cx="1361" cy="567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tIns="0" rIns="0" bIns="0"/>
            <a:p>
              <a:pPr algn="ctr"/>
              <a:r>
                <a:rPr lang="zh-CN" altLang="en-US" sz="1300" b="1" dirty="0">
                  <a:solidFill>
                    <a:schemeClr val="tx1"/>
                  </a:solidFill>
                </a:rPr>
                <a:t>积分查询</a:t>
              </a:r>
              <a:endParaRPr lang="zh-CN" altLang="en-US" sz="13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肘形连接符 16"/>
            <p:cNvCxnSpPr>
              <a:endCxn id="14" idx="0"/>
            </p:cNvCxnSpPr>
            <p:nvPr>
              <p:custDataLst>
                <p:tags r:id="rId13"/>
              </p:custDataLst>
            </p:nvPr>
          </p:nvCxnSpPr>
          <p:spPr>
            <a:xfrm rot="5400000">
              <a:off x="2952" y="7798"/>
              <a:ext cx="1075" cy="2293"/>
            </a:xfrm>
            <a:prstGeom prst="bentConnector3">
              <a:avLst>
                <a:gd name="adj1" fmla="val 5004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18" name="肘形连接符 17"/>
            <p:cNvCxnSpPr>
              <a:endCxn id="16" idx="0"/>
            </p:cNvCxnSpPr>
            <p:nvPr>
              <p:custDataLst>
                <p:tags r:id="rId14"/>
              </p:custDataLst>
            </p:nvPr>
          </p:nvCxnSpPr>
          <p:spPr>
            <a:xfrm rot="5400000" flipV="1">
              <a:off x="4937" y="8107"/>
              <a:ext cx="1075" cy="1676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695325" y="347980"/>
            <a:ext cx="90798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附件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1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：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&lt;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  <a:sym typeface="+mn-ea"/>
              </a:rPr>
              <a:t> 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  <a:sym typeface="+mn-ea"/>
              </a:rPr>
              <a:t>智能客服平台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&gt;  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和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&lt;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好社区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&gt;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如何关联？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Segoe UI Black" panose="020B0A02040204020203" pitchFamily="34" charset="0"/>
            </a:endParaRPr>
          </a:p>
        </p:txBody>
      </p:sp>
      <p:sp>
        <p:nvSpPr>
          <p:cNvPr id="101381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31825" y="3482975"/>
            <a:ext cx="1655763" cy="647700"/>
          </a:xfrm>
          <a:prstGeom prst="rect">
            <a:avLst/>
          </a:prstGeom>
          <a:noFill/>
          <a:ln w="19050" algn="ctr">
            <a:solidFill>
              <a:schemeClr val="accent1"/>
            </a:solidFill>
            <a:miter lim="800000"/>
            <a:headEnd type="none" w="sm" len="sm"/>
            <a:tailEnd type="none" w="med" len="lg"/>
          </a:ln>
        </p:spPr>
        <p:txBody>
          <a:bodyPr lIns="18000" tIns="18000" rIns="18000" bIns="18000" anchor="ctr"/>
          <a:p>
            <a:pPr algn="ctr" eaLnBrk="1" hangingPunct="1">
              <a:spcBef>
                <a:spcPct val="0"/>
              </a:spcBef>
            </a:pPr>
            <a:r>
              <a:rPr lang="zh-CN" altLang="en-GB" b="1"/>
              <a:t>智能客服平台</a:t>
            </a:r>
            <a:endParaRPr lang="zh-CN" altLang="en-GB" b="1"/>
          </a:p>
        </p:txBody>
      </p:sp>
      <p:sp>
        <p:nvSpPr>
          <p:cNvPr id="101383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438525" y="1988820"/>
            <a:ext cx="1655763" cy="647700"/>
          </a:xfrm>
          <a:prstGeom prst="rect">
            <a:avLst/>
          </a:prstGeom>
          <a:noFill/>
          <a:ln w="19050" algn="ctr">
            <a:solidFill>
              <a:schemeClr val="accent1"/>
            </a:solidFill>
            <a:miter lim="800000"/>
            <a:headEnd type="none" w="sm" len="sm"/>
            <a:tailEnd type="none" w="med" len="lg"/>
          </a:ln>
        </p:spPr>
        <p:txBody>
          <a:bodyPr lIns="18000" tIns="18000" rIns="18000" bIns="18000" anchor="ctr"/>
          <a:p>
            <a:pPr algn="ctr" eaLnBrk="1" hangingPunct="1">
              <a:spcBef>
                <a:spcPct val="0"/>
              </a:spcBef>
            </a:pPr>
            <a:r>
              <a:rPr lang="zh-CN" altLang="en-GB" b="1"/>
              <a:t>智能客服功能</a:t>
            </a:r>
            <a:endParaRPr lang="zh-CN" altLang="en-GB" b="1"/>
          </a:p>
        </p:txBody>
      </p:sp>
      <p:sp>
        <p:nvSpPr>
          <p:cNvPr id="101384" name="Rectangle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429000" y="3482975"/>
            <a:ext cx="1655763" cy="647700"/>
          </a:xfrm>
          <a:prstGeom prst="rect">
            <a:avLst/>
          </a:prstGeom>
          <a:noFill/>
          <a:ln w="19050" algn="ctr">
            <a:solidFill>
              <a:schemeClr val="accent1"/>
            </a:solidFill>
            <a:miter lim="800000"/>
            <a:headEnd type="none" w="sm" len="sm"/>
            <a:tailEnd type="none" w="med" len="lg"/>
          </a:ln>
        </p:spPr>
        <p:txBody>
          <a:bodyPr lIns="18000" tIns="18000" rIns="18000" bIns="18000" anchor="ctr"/>
          <a:p>
            <a:pPr algn="ctr" eaLnBrk="1" hangingPunct="1">
              <a:spcBef>
                <a:spcPct val="0"/>
              </a:spcBef>
            </a:pPr>
            <a:r>
              <a:rPr lang="en-US" altLang="zh-CN" b="1"/>
              <a:t>CRM</a:t>
            </a:r>
            <a:endParaRPr lang="en-US" altLang="zh-CN" b="1"/>
          </a:p>
          <a:p>
            <a:pPr algn="ctr" eaLnBrk="1" hangingPunct="1">
              <a:spcBef>
                <a:spcPct val="0"/>
              </a:spcBef>
            </a:pPr>
            <a:r>
              <a:rPr lang="en-US" altLang="zh-CN" sz="1600" b="1"/>
              <a:t>(</a:t>
            </a:r>
            <a:r>
              <a:rPr lang="zh-CN" altLang="en-US" sz="1600" b="1"/>
              <a:t>会员与积分管理</a:t>
            </a:r>
            <a:r>
              <a:rPr lang="en-US" altLang="zh-CN" sz="1600" b="1"/>
              <a:t>)</a:t>
            </a:r>
            <a:endParaRPr lang="en-US" altLang="zh-CN" sz="1600" b="1"/>
          </a:p>
        </p:txBody>
      </p:sp>
      <p:sp>
        <p:nvSpPr>
          <p:cNvPr id="101385" name="Rectangle 7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438525" y="5391150"/>
            <a:ext cx="1655763" cy="647700"/>
          </a:xfrm>
          <a:prstGeom prst="rect">
            <a:avLst/>
          </a:prstGeom>
          <a:noFill/>
          <a:ln w="19050" algn="ctr">
            <a:solidFill>
              <a:schemeClr val="accent1"/>
            </a:solidFill>
            <a:miter lim="800000"/>
            <a:headEnd type="none" w="sm" len="sm"/>
            <a:tailEnd type="none" w="med" len="lg"/>
          </a:ln>
        </p:spPr>
        <p:txBody>
          <a:bodyPr lIns="18000" tIns="18000" rIns="18000" bIns="18000" anchor="ctr"/>
          <a:p>
            <a:pPr algn="ctr" eaLnBrk="1" hangingPunct="1">
              <a:spcBef>
                <a:spcPct val="0"/>
              </a:spcBef>
            </a:pPr>
            <a:r>
              <a:rPr lang="en-US" altLang="en-GB" b="1">
                <a:ea typeface="MS PGothic" panose="020B0600070205080204" pitchFamily="50" charset="-128"/>
              </a:rPr>
              <a:t>CDP</a:t>
            </a:r>
            <a:endParaRPr lang="en-US" altLang="en-GB" b="1">
              <a:ea typeface="MS PGothic" panose="020B0600070205080204" pitchFamily="50" charset="-128"/>
            </a:endParaRPr>
          </a:p>
          <a:p>
            <a:pPr algn="ctr" eaLnBrk="1" hangingPunct="1">
              <a:spcBef>
                <a:spcPct val="0"/>
              </a:spcBef>
            </a:pPr>
            <a:r>
              <a:rPr lang="en-US" altLang="en-GB" sz="1600" b="1">
                <a:ea typeface="MS PGothic" panose="020B0600070205080204" pitchFamily="50" charset="-128"/>
              </a:rPr>
              <a:t>(</a:t>
            </a:r>
            <a:r>
              <a:rPr lang="zh-CN" altLang="en-US" sz="1600" b="1"/>
              <a:t>客户数据管理</a:t>
            </a:r>
            <a:r>
              <a:rPr lang="en-US" altLang="en-GB" sz="1600" b="1">
                <a:ea typeface="MS PGothic" panose="020B0600070205080204" pitchFamily="50" charset="-128"/>
              </a:rPr>
              <a:t>)</a:t>
            </a:r>
            <a:endParaRPr lang="en-US" altLang="en-GB" sz="1600" b="1">
              <a:ea typeface="MS PGothic" panose="020B0600070205080204" pitchFamily="50" charset="-128"/>
            </a:endParaRPr>
          </a:p>
        </p:txBody>
      </p:sp>
      <p:cxnSp>
        <p:nvCxnSpPr>
          <p:cNvPr id="101387" name="AutoShape 9"/>
          <p:cNvCxnSpPr>
            <a:cxnSpLocks noChangeShapeType="1"/>
            <a:stCxn id="101381" idx="3"/>
            <a:endCxn id="101383" idx="1"/>
          </p:cNvCxnSpPr>
          <p:nvPr>
            <p:custDataLst>
              <p:tags r:id="rId5"/>
            </p:custDataLst>
          </p:nvPr>
        </p:nvCxnSpPr>
        <p:spPr bwMode="auto">
          <a:xfrm flipV="1">
            <a:off x="2287905" y="2312670"/>
            <a:ext cx="1150620" cy="149415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accent1"/>
            </a:solidFill>
            <a:miter lim="800000"/>
            <a:headEnd type="none" w="sm" len="sm"/>
            <a:tailEnd type="none" w="med" len="lg"/>
          </a:ln>
        </p:spPr>
      </p:cxnSp>
      <p:cxnSp>
        <p:nvCxnSpPr>
          <p:cNvPr id="101388" name="AutoShape 10"/>
          <p:cNvCxnSpPr>
            <a:cxnSpLocks noChangeShapeType="1"/>
            <a:stCxn id="101381" idx="3"/>
            <a:endCxn id="101384" idx="1"/>
          </p:cNvCxnSpPr>
          <p:nvPr>
            <p:custDataLst>
              <p:tags r:id="rId6"/>
            </p:custDataLst>
          </p:nvPr>
        </p:nvCxnSpPr>
        <p:spPr bwMode="auto">
          <a:xfrm>
            <a:off x="2287905" y="3806825"/>
            <a:ext cx="1141095" cy="3175"/>
          </a:xfrm>
          <a:prstGeom prst="bentConnector2">
            <a:avLst/>
          </a:prstGeom>
          <a:noFill/>
          <a:ln w="9525">
            <a:solidFill>
              <a:schemeClr val="accent1"/>
            </a:solidFill>
            <a:miter lim="800000"/>
            <a:headEnd type="none" w="sm" len="sm"/>
            <a:tailEnd type="none" w="med" len="lg"/>
          </a:ln>
        </p:spPr>
      </p:cxnSp>
      <p:cxnSp>
        <p:nvCxnSpPr>
          <p:cNvPr id="101389" name="AutoShape 11"/>
          <p:cNvCxnSpPr>
            <a:cxnSpLocks noChangeShapeType="1"/>
            <a:stCxn id="101381" idx="3"/>
            <a:endCxn id="101385" idx="1"/>
          </p:cNvCxnSpPr>
          <p:nvPr>
            <p:custDataLst>
              <p:tags r:id="rId7"/>
            </p:custDataLst>
          </p:nvPr>
        </p:nvCxnSpPr>
        <p:spPr bwMode="auto">
          <a:xfrm>
            <a:off x="2297113" y="3806825"/>
            <a:ext cx="1131887" cy="1908175"/>
          </a:xfrm>
          <a:prstGeom prst="bentConnector3">
            <a:avLst>
              <a:gd name="adj1" fmla="val 49931"/>
            </a:avLst>
          </a:prstGeom>
          <a:noFill/>
          <a:ln w="9525">
            <a:solidFill>
              <a:schemeClr val="accent1"/>
            </a:solidFill>
            <a:miter lim="800000"/>
            <a:headEnd type="none" w="sm" len="sm"/>
            <a:tailEnd type="none" w="med" len="lg"/>
          </a:ln>
        </p:spPr>
      </p:cxnSp>
      <p:sp>
        <p:nvSpPr>
          <p:cNvPr id="2" name="Rectangle 6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319645" y="4417695"/>
            <a:ext cx="1655763" cy="647700"/>
          </a:xfrm>
          <a:prstGeom prst="rect">
            <a:avLst/>
          </a:prstGeom>
          <a:noFill/>
          <a:ln w="19050" algn="ctr">
            <a:solidFill>
              <a:schemeClr val="accent1"/>
            </a:solidFill>
            <a:miter lim="800000"/>
            <a:headEnd type="none" w="sm" len="sm"/>
            <a:tailEnd type="none" w="med" len="lg"/>
          </a:ln>
        </p:spPr>
        <p:txBody>
          <a:bodyPr lIns="18000" tIns="18000" rIns="18000" bIns="18000" anchor="ctr"/>
          <a:p>
            <a:pPr algn="ctr" eaLnBrk="1" hangingPunct="1">
              <a:spcBef>
                <a:spcPct val="0"/>
              </a:spcBef>
            </a:pPr>
            <a:r>
              <a:rPr lang="zh-CN" b="1"/>
              <a:t>好社区</a:t>
            </a:r>
            <a:endParaRPr lang="zh-CN" b="1"/>
          </a:p>
          <a:p>
            <a:pPr algn="ctr" eaLnBrk="1" hangingPunct="1">
              <a:spcBef>
                <a:spcPct val="0"/>
              </a:spcBef>
            </a:pPr>
            <a:r>
              <a:rPr lang="en-US" altLang="zh-CN" sz="1600" b="1"/>
              <a:t>(</a:t>
            </a:r>
            <a:r>
              <a:rPr lang="zh-CN" sz="1600" b="1">
                <a:sym typeface="+mn-ea"/>
              </a:rPr>
              <a:t>人</a:t>
            </a:r>
            <a:r>
              <a:rPr lang="en-US" altLang="zh-CN" sz="1600" b="1">
                <a:sym typeface="+mn-ea"/>
              </a:rPr>
              <a:t>&amp;</a:t>
            </a:r>
            <a:r>
              <a:rPr lang="zh-CN" altLang="en-US" sz="1600" b="1">
                <a:sym typeface="+mn-ea"/>
              </a:rPr>
              <a:t>物</a:t>
            </a:r>
            <a:r>
              <a:rPr lang="en-US" altLang="zh-CN" sz="1600" b="1"/>
              <a:t>)</a:t>
            </a:r>
            <a:endParaRPr lang="en-US" altLang="zh-CN" sz="1600" b="1"/>
          </a:p>
        </p:txBody>
      </p:sp>
      <p:cxnSp>
        <p:nvCxnSpPr>
          <p:cNvPr id="3" name="肘形连接符 2"/>
          <p:cNvCxnSpPr>
            <a:stCxn id="2" idx="0"/>
            <a:endCxn id="101384" idx="3"/>
          </p:cNvCxnSpPr>
          <p:nvPr/>
        </p:nvCxnSpPr>
        <p:spPr>
          <a:xfrm rot="16200000" flipV="1">
            <a:off x="6310948" y="2580958"/>
            <a:ext cx="610870" cy="3062605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肘形连接符 3"/>
          <p:cNvCxnSpPr>
            <a:stCxn id="2" idx="2"/>
            <a:endCxn id="101385" idx="3"/>
          </p:cNvCxnSpPr>
          <p:nvPr/>
        </p:nvCxnSpPr>
        <p:spPr>
          <a:xfrm rot="5400000">
            <a:off x="6296343" y="3863658"/>
            <a:ext cx="649605" cy="305308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5321300" y="3429000"/>
            <a:ext cx="25298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</a:t>
            </a:r>
            <a:r>
              <a:rPr lang="zh-CN" altLang="en-US" sz="1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社区自治</a:t>
            </a:r>
            <a:r>
              <a:rPr lang="en-US" altLang="zh-CN" sz="1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”</a:t>
            </a:r>
            <a:endParaRPr lang="en-US" altLang="zh-CN" sz="1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9"/>
            </p:custDataLst>
          </p:nvPr>
        </p:nvSpPr>
        <p:spPr>
          <a:xfrm>
            <a:off x="5375910" y="5301615"/>
            <a:ext cx="25298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</a:t>
            </a:r>
            <a:r>
              <a:rPr lang="zh-CN" altLang="en-US" sz="1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用户营销</a:t>
            </a:r>
            <a:r>
              <a:rPr lang="en-US" altLang="zh-CN" sz="1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”</a:t>
            </a:r>
            <a:endParaRPr lang="en-US" altLang="zh-CN" sz="1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1617345" y="2720975"/>
            <a:ext cx="94983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一些其他资料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Segoe UI Black" panose="020B0A02040204020203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文本框 75"/>
          <p:cNvSpPr txBox="1"/>
          <p:nvPr/>
        </p:nvSpPr>
        <p:spPr>
          <a:xfrm>
            <a:off x="695325" y="347980"/>
            <a:ext cx="94576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659B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房屋运营管理:</a:t>
            </a:r>
            <a:r>
              <a:rPr lang="zh-CN" altLang="en-US" sz="2800" b="1" dirty="0">
                <a:solidFill>
                  <a:srgbClr val="00659B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503050405090304" pitchFamily="18" charset="0"/>
              </a:rPr>
              <a:t>运营管理信息平台</a:t>
            </a:r>
            <a:r>
              <a:rPr lang="en-US" altLang="zh-CN" sz="2800" b="1" dirty="0">
                <a:solidFill>
                  <a:srgbClr val="00659B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503050405090304" pitchFamily="18" charset="0"/>
              </a:rPr>
              <a:t>   </a:t>
            </a:r>
            <a:r>
              <a:rPr lang="zh-CN" altLang="en-US" sz="2800" b="1" dirty="0">
                <a:solidFill>
                  <a:srgbClr val="00659B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503050405090304" pitchFamily="18" charset="0"/>
              </a:rPr>
              <a:t>都有哪些子系统</a:t>
            </a:r>
            <a:endParaRPr lang="zh-CN" altLang="en-US" sz="2800" b="1" dirty="0">
              <a:solidFill>
                <a:srgbClr val="00659B"/>
              </a:solidFill>
              <a:latin typeface="微软雅黑" panose="020B0503020204020204" charset="-122"/>
              <a:ea typeface="微软雅黑" panose="020B0503020204020204" charset="-122"/>
              <a:cs typeface="Times New Roman" panose="02020503050405090304" pitchFamily="18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1"/>
            </p:custDataLst>
          </p:nvPr>
        </p:nvSpPr>
        <p:spPr>
          <a:xfrm>
            <a:off x="2522855" y="2236470"/>
            <a:ext cx="1678940" cy="368300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1</a:t>
            </a:r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、</a:t>
            </a:r>
            <a:r>
              <a:rPr lang="zh-CN" sz="1800">
                <a:latin typeface="Arial" panose="020B0604020202090204" pitchFamily="34" charset="0"/>
                <a:ea typeface="微软雅黑" panose="020B0503020204020204" charset="-122"/>
              </a:rPr>
              <a:t>房源管理</a:t>
            </a:r>
            <a:endParaRPr lang="en-US" altLang="zh-CN" sz="180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2"/>
            </p:custDataLst>
          </p:nvPr>
        </p:nvSpPr>
        <p:spPr>
          <a:xfrm>
            <a:off x="2536825" y="3128645"/>
            <a:ext cx="1678940" cy="368300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2</a:t>
            </a:r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、</a:t>
            </a:r>
            <a:r>
              <a:rPr lang="zh-CN" sz="1800">
                <a:latin typeface="Arial" panose="020B0604020202090204" pitchFamily="34" charset="0"/>
                <a:ea typeface="微软雅黑" panose="020B0503020204020204" charset="-122"/>
              </a:rPr>
              <a:t>客户管理</a:t>
            </a:r>
            <a:endParaRPr lang="zh-CN" sz="180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3"/>
            </p:custDataLst>
          </p:nvPr>
        </p:nvSpPr>
        <p:spPr>
          <a:xfrm>
            <a:off x="2536825" y="4182110"/>
            <a:ext cx="1678940" cy="368300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3</a:t>
            </a:r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、</a:t>
            </a:r>
            <a:r>
              <a:rPr lang="zh-CN" sz="1800">
                <a:latin typeface="Arial" panose="020B0604020202090204" pitchFamily="34" charset="0"/>
                <a:ea typeface="微软雅黑" panose="020B0503020204020204" charset="-122"/>
              </a:rPr>
              <a:t>物业管理</a:t>
            </a:r>
            <a:endParaRPr lang="zh-CN" sz="180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85" name="文本框 84"/>
          <p:cNvSpPr txBox="1"/>
          <p:nvPr>
            <p:custDataLst>
              <p:tags r:id="rId4"/>
            </p:custDataLst>
          </p:nvPr>
        </p:nvSpPr>
        <p:spPr>
          <a:xfrm>
            <a:off x="1759585" y="1758315"/>
            <a:ext cx="381000" cy="31089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p>
            <a:r>
              <a:rPr lang="zh-CN" altLang="en-US"/>
              <a:t>筹集房源后由住建局分配</a:t>
            </a:r>
            <a:endParaRPr lang="zh-CN" altLang="en-US"/>
          </a:p>
        </p:txBody>
      </p:sp>
      <p:cxnSp>
        <p:nvCxnSpPr>
          <p:cNvPr id="91" name="肘形连接符 90"/>
          <p:cNvCxnSpPr>
            <a:stCxn id="85" idx="3"/>
            <a:endCxn id="37" idx="1"/>
          </p:cNvCxnSpPr>
          <p:nvPr>
            <p:custDataLst>
              <p:tags r:id="rId5"/>
            </p:custDataLst>
          </p:nvPr>
        </p:nvCxnSpPr>
        <p:spPr>
          <a:xfrm flipV="1">
            <a:off x="2140585" y="2420620"/>
            <a:ext cx="382270" cy="89217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肘形连接符 91"/>
          <p:cNvCxnSpPr>
            <a:stCxn id="85" idx="3"/>
            <a:endCxn id="44" idx="1"/>
          </p:cNvCxnSpPr>
          <p:nvPr>
            <p:custDataLst>
              <p:tags r:id="rId6"/>
            </p:custDataLst>
          </p:nvPr>
        </p:nvCxnSpPr>
        <p:spPr>
          <a:xfrm>
            <a:off x="2140585" y="3312795"/>
            <a:ext cx="396240" cy="105346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肘形连接符 92"/>
          <p:cNvCxnSpPr>
            <a:stCxn id="85" idx="3"/>
            <a:endCxn id="41" idx="1"/>
          </p:cNvCxnSpPr>
          <p:nvPr>
            <p:custDataLst>
              <p:tags r:id="rId7"/>
            </p:custDataLst>
          </p:nvPr>
        </p:nvCxnSpPr>
        <p:spPr>
          <a:xfrm>
            <a:off x="2140585" y="3312795"/>
            <a:ext cx="396240" cy="317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>
            <p:custDataLst>
              <p:tags r:id="rId8"/>
            </p:custDataLst>
          </p:nvPr>
        </p:nvSpPr>
        <p:spPr>
          <a:xfrm>
            <a:off x="4780915" y="1654175"/>
            <a:ext cx="3695700" cy="523875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>
              <a:lnSpc>
                <a:spcPct val="130000"/>
              </a:lnSpc>
            </a:pPr>
            <a:r>
              <a:rPr lang="zh-CN" sz="1800">
                <a:latin typeface="Arial" panose="020B0604020202090204" pitchFamily="34" charset="0"/>
                <a:ea typeface="微软雅黑" panose="020B0503020204020204" charset="-122"/>
              </a:rPr>
              <a:t>租赁系统</a:t>
            </a:r>
            <a:r>
              <a:rPr lang="en-US" sz="1800">
                <a:latin typeface="Arial" panose="020B0604020202090204" pitchFamily="34" charset="0"/>
                <a:ea typeface="微软雅黑" panose="020B0503020204020204" charset="-122"/>
              </a:rPr>
              <a:t>(</a:t>
            </a:r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住宅房源</a:t>
            </a:r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)</a:t>
            </a:r>
            <a:endParaRPr lang="en-US" altLang="zh-CN" sz="180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9"/>
            </p:custDataLst>
          </p:nvPr>
        </p:nvSpPr>
        <p:spPr>
          <a:xfrm>
            <a:off x="4780915" y="2963545"/>
            <a:ext cx="3696335" cy="922020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1</a:t>
            </a:r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、自在安居</a:t>
            </a:r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app</a:t>
            </a:r>
            <a:endParaRPr lang="en-US" altLang="zh-CN" sz="1800">
              <a:latin typeface="Arial" panose="020B060402020209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2</a:t>
            </a:r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、公众号</a:t>
            </a:r>
            <a:endParaRPr lang="zh-CN" altLang="en-US" sz="1800">
              <a:latin typeface="Arial" panose="020B060402020209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3</a:t>
            </a:r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、企微、尘锋</a:t>
            </a:r>
            <a:endParaRPr lang="zh-CN" altLang="en-US" sz="180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10"/>
            </p:custDataLst>
          </p:nvPr>
        </p:nvSpPr>
        <p:spPr>
          <a:xfrm>
            <a:off x="4780280" y="4049395"/>
            <a:ext cx="3695700" cy="1753235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1</a:t>
            </a:r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、租赁系统</a:t>
            </a:r>
            <a:endParaRPr lang="zh-CN" altLang="en-US" sz="1800">
              <a:latin typeface="Arial" panose="020B060402020209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2</a:t>
            </a:r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、运营一体化系统</a:t>
            </a:r>
            <a:endParaRPr lang="en-US" altLang="zh-CN" sz="1800">
              <a:latin typeface="Arial" panose="020B060402020209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3</a:t>
            </a:r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、工单系统</a:t>
            </a:r>
            <a:endParaRPr lang="zh-CN" altLang="en-US" sz="1800">
              <a:latin typeface="Arial" panose="020B060402020209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4</a:t>
            </a:r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、维修系统</a:t>
            </a:r>
            <a:endParaRPr lang="zh-CN" altLang="en-US" sz="1800">
              <a:latin typeface="Arial" panose="020B060402020209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5</a:t>
            </a:r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、</a:t>
            </a:r>
            <a:r>
              <a:rPr lang="zh-CN">
                <a:latin typeface="Arial" panose="020B0604020202090204" pitchFamily="34" charset="0"/>
                <a:ea typeface="微软雅黑" panose="020B0503020204020204" charset="-122"/>
                <a:sym typeface="+mn-ea"/>
              </a:rPr>
              <a:t>停车管理系统</a:t>
            </a:r>
            <a:endParaRPr lang="zh-CN" altLang="en-US" sz="1800">
              <a:latin typeface="Arial" panose="020B060402020209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....................</a:t>
            </a:r>
            <a:endParaRPr lang="en-US" altLang="zh-CN" sz="180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11"/>
            </p:custDataLst>
          </p:nvPr>
        </p:nvSpPr>
        <p:spPr>
          <a:xfrm>
            <a:off x="4756785" y="2308860"/>
            <a:ext cx="3695700" cy="523875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>
              <a:lnSpc>
                <a:spcPct val="130000"/>
              </a:lnSpc>
            </a:pPr>
            <a:r>
              <a:rPr lang="zh-CN" sz="1800">
                <a:latin typeface="Arial" panose="020B0604020202090204" pitchFamily="34" charset="0"/>
                <a:ea typeface="微软雅黑" panose="020B0503020204020204" charset="-122"/>
              </a:rPr>
              <a:t>商业运营系统</a:t>
            </a:r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(</a:t>
            </a:r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商铺管理</a:t>
            </a:r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)</a:t>
            </a:r>
            <a:endParaRPr lang="en-US" altLang="zh-CN" sz="180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100185" y="5088890"/>
            <a:ext cx="2515235" cy="6121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都要集成哪些系统嘞？</a:t>
            </a:r>
            <a:endParaRPr lang="zh-CN" altLang="en-US"/>
          </a:p>
          <a:p>
            <a:pPr algn="l"/>
            <a:r>
              <a:rPr lang="zh-CN" altLang="en-US"/>
              <a:t>下一页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AutoShape 7"/>
          <p:cNvSpPr>
            <a:spLocks noChangeAspect="1" noChangeArrowheads="1"/>
          </p:cNvSpPr>
          <p:nvPr/>
        </p:nvSpPr>
        <p:spPr bwMode="auto">
          <a:xfrm>
            <a:off x="3635116" y="1460440"/>
            <a:ext cx="6231184" cy="3492204"/>
          </a:xfrm>
          <a:prstGeom prst="triangle">
            <a:avLst>
              <a:gd name="adj" fmla="val 32179"/>
            </a:avLst>
          </a:prstGeom>
          <a:solidFill>
            <a:schemeClr val="bg1"/>
          </a:solidFill>
          <a:ln w="38100">
            <a:solidFill>
              <a:schemeClr val="tx2">
                <a:lumMod val="75000"/>
              </a:schemeClr>
            </a:solidFill>
            <a:prstDash val="dashDot"/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00"/>
          </a:p>
        </p:txBody>
      </p:sp>
      <p:grpSp>
        <p:nvGrpSpPr>
          <p:cNvPr id="128" name="组合 127"/>
          <p:cNvGrpSpPr/>
          <p:nvPr/>
        </p:nvGrpSpPr>
        <p:grpSpPr>
          <a:xfrm>
            <a:off x="3977683" y="3810180"/>
            <a:ext cx="3423679" cy="1143060"/>
            <a:chOff x="9335" y="6112"/>
            <a:chExt cx="5625" cy="1878"/>
          </a:xfrm>
        </p:grpSpPr>
        <p:sp>
          <p:nvSpPr>
            <p:cNvPr id="129" name="Line 16"/>
            <p:cNvSpPr>
              <a:spLocks noChangeShapeType="1"/>
            </p:cNvSpPr>
            <p:nvPr/>
          </p:nvSpPr>
          <p:spPr bwMode="auto">
            <a:xfrm flipH="1">
              <a:off x="11410" y="6977"/>
              <a:ext cx="72" cy="1013"/>
            </a:xfrm>
            <a:prstGeom prst="line">
              <a:avLst/>
            </a:prstGeom>
            <a:ln w="12700">
              <a:solidFill>
                <a:schemeClr val="bg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15984" tIns="9591" rIns="15984" bIns="9591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20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30" name="矩形 129"/>
            <p:cNvSpPr/>
            <p:nvPr/>
          </p:nvSpPr>
          <p:spPr>
            <a:xfrm>
              <a:off x="9455" y="7096"/>
              <a:ext cx="1636" cy="405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1" name="矩形 130"/>
            <p:cNvSpPr/>
            <p:nvPr/>
          </p:nvSpPr>
          <p:spPr>
            <a:xfrm>
              <a:off x="12113" y="7096"/>
              <a:ext cx="2498" cy="40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2" name="矩形 131"/>
            <p:cNvSpPr/>
            <p:nvPr/>
          </p:nvSpPr>
          <p:spPr>
            <a:xfrm>
              <a:off x="10196" y="6112"/>
              <a:ext cx="3673" cy="379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133" name="直接连接符 132"/>
            <p:cNvCxnSpPr/>
            <p:nvPr/>
          </p:nvCxnSpPr>
          <p:spPr>
            <a:xfrm>
              <a:off x="9335" y="6974"/>
              <a:ext cx="5625" cy="3"/>
            </a:xfrm>
            <a:prstGeom prst="line">
              <a:avLst/>
            </a:prstGeom>
            <a:ln w="12700">
              <a:solidFill>
                <a:schemeClr val="bg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4" name="组合 133"/>
          <p:cNvGrpSpPr/>
          <p:nvPr/>
        </p:nvGrpSpPr>
        <p:grpSpPr>
          <a:xfrm>
            <a:off x="3635116" y="1428925"/>
            <a:ext cx="4176947" cy="3518644"/>
            <a:chOff x="3599252" y="1468944"/>
            <a:chExt cx="4176946" cy="3518644"/>
          </a:xfrm>
        </p:grpSpPr>
        <p:sp>
          <p:nvSpPr>
            <p:cNvPr id="135" name="AutoShape 6"/>
            <p:cNvSpPr>
              <a:spLocks noChangeAspect="1" noChangeArrowheads="1"/>
            </p:cNvSpPr>
            <p:nvPr/>
          </p:nvSpPr>
          <p:spPr bwMode="auto">
            <a:xfrm>
              <a:off x="3599252" y="1468944"/>
              <a:ext cx="4176946" cy="3518045"/>
            </a:xfrm>
            <a:prstGeom prst="triangle">
              <a:avLst>
                <a:gd name="adj" fmla="val 49716"/>
              </a:avLst>
            </a:prstGeom>
            <a:solidFill>
              <a:schemeClr val="tx2">
                <a:lumMod val="50000"/>
              </a:schemeClr>
            </a:solidFill>
            <a:ln w="38100">
              <a:solidFill>
                <a:schemeClr val="tx2">
                  <a:lumMod val="75000"/>
                </a:schemeClr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600"/>
            </a:p>
          </p:txBody>
        </p:sp>
        <p:sp>
          <p:nvSpPr>
            <p:cNvPr id="136" name="Line 16"/>
            <p:cNvSpPr>
              <a:spLocks noChangeShapeType="1"/>
            </p:cNvSpPr>
            <p:nvPr/>
          </p:nvSpPr>
          <p:spPr bwMode="auto">
            <a:xfrm flipH="1">
              <a:off x="5273252" y="4371017"/>
              <a:ext cx="43823" cy="616571"/>
            </a:xfrm>
            <a:prstGeom prst="line">
              <a:avLst/>
            </a:prstGeom>
            <a:ln w="12700">
              <a:solidFill>
                <a:schemeClr val="bg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15984" tIns="9591" rIns="15984" bIns="9591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20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37" name="矩形 136"/>
            <p:cNvSpPr/>
            <p:nvPr/>
          </p:nvSpPr>
          <p:spPr>
            <a:xfrm>
              <a:off x="4083333" y="4443447"/>
              <a:ext cx="995758" cy="477054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租赁系统</a:t>
              </a:r>
              <a:br>
                <a:rPr lang="en-US" altLang="zh-CN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</a:b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（住房</a:t>
              </a:r>
              <a:r>
                <a:rPr lang="en-US" altLang="zh-CN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+</a:t>
              </a: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商业）</a:t>
              </a:r>
              <a:endParaRPr lang="zh-CN" alt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8" name="矩形 137"/>
            <p:cNvSpPr/>
            <p:nvPr/>
          </p:nvSpPr>
          <p:spPr>
            <a:xfrm>
              <a:off x="5701136" y="4443447"/>
              <a:ext cx="1520418" cy="477054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物业系统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（末端物业服务）</a:t>
              </a:r>
              <a:endParaRPr lang="zh-CN" alt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9" name="矩形 138"/>
            <p:cNvSpPr/>
            <p:nvPr/>
          </p:nvSpPr>
          <p:spPr>
            <a:xfrm>
              <a:off x="4534346" y="3865778"/>
              <a:ext cx="2235586" cy="477188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客户端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（对外服务）</a:t>
              </a:r>
              <a:endParaRPr lang="zh-CN" alt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140" name="直接连接符 139"/>
            <p:cNvCxnSpPr/>
            <p:nvPr/>
          </p:nvCxnSpPr>
          <p:spPr>
            <a:xfrm>
              <a:off x="4010295" y="4369191"/>
              <a:ext cx="3423679" cy="1826"/>
            </a:xfrm>
            <a:prstGeom prst="line">
              <a:avLst/>
            </a:prstGeom>
            <a:ln w="12700">
              <a:solidFill>
                <a:schemeClr val="bg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1" name="AutoShape 7"/>
          <p:cNvSpPr>
            <a:spLocks noChangeAspect="1" noChangeArrowheads="1"/>
          </p:cNvSpPr>
          <p:nvPr/>
        </p:nvSpPr>
        <p:spPr bwMode="auto">
          <a:xfrm>
            <a:off x="4284729" y="1412776"/>
            <a:ext cx="4245424" cy="2396608"/>
          </a:xfrm>
          <a:prstGeom prst="triangle">
            <a:avLst>
              <a:gd name="adj" fmla="val 32596"/>
            </a:avLst>
          </a:prstGeom>
          <a:solidFill>
            <a:schemeClr val="bg1"/>
          </a:solidFill>
          <a:ln w="38100">
            <a:solidFill>
              <a:schemeClr val="tx2">
                <a:lumMod val="75000"/>
              </a:schemeClr>
            </a:solidFill>
            <a:prstDash val="solid"/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00"/>
          </a:p>
        </p:txBody>
      </p:sp>
      <p:sp>
        <p:nvSpPr>
          <p:cNvPr id="142" name="矩形 141"/>
          <p:cNvSpPr/>
          <p:nvPr/>
        </p:nvSpPr>
        <p:spPr>
          <a:xfrm>
            <a:off x="7614389" y="4207110"/>
            <a:ext cx="1505540" cy="43088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其他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（设计、工程、</a:t>
            </a:r>
            <a:endParaRPr lang="en-US" altLang="zh-CN" sz="10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行政、人事、财务等）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5222854" y="3238432"/>
            <a:ext cx="1819730" cy="33855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数据湖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数据仓库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4" name="直接连接符 143"/>
          <p:cNvCxnSpPr/>
          <p:nvPr/>
        </p:nvCxnSpPr>
        <p:spPr>
          <a:xfrm>
            <a:off x="4764904" y="3018637"/>
            <a:ext cx="2832193" cy="1572"/>
          </a:xfrm>
          <a:prstGeom prst="lin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</a:schemeClr>
            </a:solidFill>
            <a:prstDash val="solid"/>
            <a:miter lim="800000"/>
          </a:ln>
          <a:effectLst/>
        </p:spPr>
      </p:cxnSp>
      <p:sp>
        <p:nvSpPr>
          <p:cNvPr id="145" name="矩形 144"/>
          <p:cNvSpPr/>
          <p:nvPr/>
        </p:nvSpPr>
        <p:spPr>
          <a:xfrm>
            <a:off x="4810129" y="2401453"/>
            <a:ext cx="2328137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经营分析系统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" name="梯形 160"/>
          <p:cNvSpPr/>
          <p:nvPr/>
        </p:nvSpPr>
        <p:spPr bwMode="auto">
          <a:xfrm>
            <a:off x="3651895" y="3824632"/>
            <a:ext cx="4138092" cy="1114148"/>
          </a:xfrm>
          <a:prstGeom prst="trapezoid">
            <a:avLst>
              <a:gd name="adj" fmla="val 57895"/>
            </a:avLst>
          </a:prstGeom>
          <a:solidFill>
            <a:srgbClr val="E46C0A">
              <a:alpha val="93000"/>
            </a:srgbClr>
          </a:solidFill>
          <a:ln w="12700" cmpd="sng">
            <a:solidFill>
              <a:srgbClr val="E46C0A"/>
            </a:solidFill>
            <a:prstDash val="solid"/>
            <a:miter lim="800000"/>
          </a:ln>
          <a:effectLst/>
        </p:spPr>
        <p:txBody>
          <a:bodyPr wrap="none" rtlCol="0" anchor="ctr">
            <a:noAutofit/>
          </a:bodyPr>
          <a:lstStyle/>
          <a:p>
            <a:pPr lvl="0"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运营管理信息平台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/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（全集团统一）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852530" y="2803556"/>
            <a:ext cx="7400751" cy="3299423"/>
            <a:chOff x="1852530" y="2972809"/>
            <a:chExt cx="7400751" cy="3299423"/>
          </a:xfrm>
        </p:grpSpPr>
        <p:grpSp>
          <p:nvGrpSpPr>
            <p:cNvPr id="146" name="组合 145"/>
            <p:cNvGrpSpPr/>
            <p:nvPr/>
          </p:nvGrpSpPr>
          <p:grpSpPr>
            <a:xfrm>
              <a:off x="1882266" y="4935104"/>
              <a:ext cx="4164228" cy="1332988"/>
              <a:chOff x="1893337" y="4801140"/>
              <a:chExt cx="4164228" cy="1332988"/>
            </a:xfrm>
          </p:grpSpPr>
          <p:grpSp>
            <p:nvGrpSpPr>
              <p:cNvPr id="147" name="组合 146"/>
              <p:cNvGrpSpPr/>
              <p:nvPr/>
            </p:nvGrpSpPr>
            <p:grpSpPr>
              <a:xfrm>
                <a:off x="1893337" y="5151313"/>
                <a:ext cx="4164228" cy="982815"/>
                <a:chOff x="1893337" y="5151313"/>
                <a:chExt cx="4164228" cy="982815"/>
              </a:xfrm>
            </p:grpSpPr>
            <p:grpSp>
              <p:nvGrpSpPr>
                <p:cNvPr id="149" name="组合 148"/>
                <p:cNvGrpSpPr/>
                <p:nvPr/>
              </p:nvGrpSpPr>
              <p:grpSpPr>
                <a:xfrm>
                  <a:off x="1893337" y="5151313"/>
                  <a:ext cx="4164228" cy="982815"/>
                  <a:chOff x="3079" y="8288"/>
                  <a:chExt cx="8580" cy="2025"/>
                </a:xfrm>
              </p:grpSpPr>
              <p:grpSp>
                <p:nvGrpSpPr>
                  <p:cNvPr id="153" name="组合 152"/>
                  <p:cNvGrpSpPr/>
                  <p:nvPr/>
                </p:nvGrpSpPr>
                <p:grpSpPr>
                  <a:xfrm>
                    <a:off x="3079" y="8288"/>
                    <a:ext cx="8580" cy="2025"/>
                    <a:chOff x="2965" y="8299"/>
                    <a:chExt cx="8580" cy="2025"/>
                  </a:xfrm>
                </p:grpSpPr>
                <p:sp>
                  <p:nvSpPr>
                    <p:cNvPr id="155" name="矩形 15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65" y="8299"/>
                      <a:ext cx="8580" cy="2025"/>
                    </a:xfrm>
                    <a:prstGeom prst="rect">
                      <a:avLst/>
                    </a:prstGeom>
                    <a:solidFill>
                      <a:srgbClr val="F2F2F2">
                        <a:alpha val="74117"/>
                      </a:srgb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25400">
                          <a:solidFill>
                            <a:srgbClr val="395E8A"/>
                          </a:solidFill>
                          <a:bevel/>
                        </a14:hiddenLine>
                      </a:ext>
                    </a:extLst>
                  </p:spPr>
                  <p:txBody>
                    <a:bodyPr lIns="108265" tIns="54133" rIns="108265" bIns="54133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algn="ctr"/>
                      <a:endParaRPr lang="zh-CN" altLang="zh-CN" sz="1050" dirty="0">
                        <a:solidFill>
                          <a:srgbClr val="FFFFFF"/>
                        </a:solidFill>
                        <a:latin typeface="宋体" pitchFamily="2" charset="-122"/>
                        <a:sym typeface="宋体" pitchFamily="2" charset="-122"/>
                      </a:endParaRPr>
                    </a:p>
                  </p:txBody>
                </p:sp>
                <p:sp>
                  <p:nvSpPr>
                    <p:cNvPr id="156" name="Rectangle 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13" y="8473"/>
                      <a:ext cx="8241" cy="1688"/>
                    </a:xfrm>
                    <a:prstGeom prst="roundRect">
                      <a:avLst>
                        <a:gd name="adj" fmla="val 0"/>
                      </a:avLst>
                    </a:pr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  <a:prstDash val="dash"/>
                      <a:round/>
                    </a:ln>
                  </p:spPr>
                  <p:txBody>
                    <a:bodyPr wrap="none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algn="ctr"/>
                      <a:endParaRPr lang="zh-CN" altLang="zh-CN" sz="900">
                        <a:latin typeface="微软雅黑" panose="020B0503020204020204" charset="-122"/>
                        <a:ea typeface="微软雅黑" panose="020B0503020204020204" charset="-122"/>
                        <a:sym typeface="微软雅黑" panose="020B0503020204020204" charset="-122"/>
                      </a:endParaRPr>
                    </a:p>
                  </p:txBody>
                </p:sp>
                <p:grpSp>
                  <p:nvGrpSpPr>
                    <p:cNvPr id="157" name="组合 156"/>
                    <p:cNvGrpSpPr/>
                    <p:nvPr/>
                  </p:nvGrpSpPr>
                  <p:grpSpPr bwMode="auto">
                    <a:xfrm>
                      <a:off x="6442" y="9180"/>
                      <a:ext cx="4737" cy="850"/>
                      <a:chOff x="743473" y="20068"/>
                      <a:chExt cx="3009081" cy="539848"/>
                    </a:xfrm>
                  </p:grpSpPr>
                  <p:sp>
                    <p:nvSpPr>
                      <p:cNvPr id="158" name="圆柱形 18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43473" y="20314"/>
                        <a:ext cx="935697" cy="539602"/>
                      </a:xfrm>
                      <a:prstGeom prst="can">
                        <a:avLst>
                          <a:gd name="adj" fmla="val 25000"/>
                        </a:avLst>
                      </a:prstGeom>
                      <a:gradFill rotWithShape="1">
                        <a:gsLst>
                          <a:gs pos="0">
                            <a:srgbClr val="006F92"/>
                          </a:gs>
                          <a:gs pos="79999">
                            <a:srgbClr val="0093C0"/>
                          </a:gs>
                          <a:gs pos="100000">
                            <a:srgbClr val="0093C1"/>
                          </a:gs>
                        </a:gsLst>
                        <a:lin ang="16200000" scaled="1"/>
                      </a:gradFill>
                      <a:ln w="9525">
                        <a:solidFill>
                          <a:srgbClr val="0094C2"/>
                        </a:solidFill>
                        <a:bevel/>
                      </a:ln>
                    </p:spPr>
                    <p:txBody>
                      <a:bodyPr lIns="31969" tIns="31969" rIns="31969" bIns="31969" anchor="ctr"/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Arial" panose="020B0604020202090204" pitchFamily="34" charset="0"/>
                            <a:ea typeface="宋体" pitchFamily="2" charset="-122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Arial" panose="020B0604020202090204" pitchFamily="34" charset="0"/>
                            <a:ea typeface="宋体" pitchFamily="2" charset="-122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Arial" panose="020B0604020202090204" pitchFamily="34" charset="0"/>
                            <a:ea typeface="宋体" pitchFamily="2" charset="-122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Arial" panose="020B0604020202090204" pitchFamily="34" charset="0"/>
                            <a:ea typeface="宋体" pitchFamily="2" charset="-122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Arial" panose="020B0604020202090204" pitchFamily="34" charset="0"/>
                            <a:ea typeface="宋体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buFont typeface="Arial" panose="020B0604020202090204" pitchFamily="34" charset="0"/>
                          <a:defRPr>
                            <a:solidFill>
                              <a:schemeClr val="tx1"/>
                            </a:solidFill>
                            <a:latin typeface="Arial" panose="020B0604020202090204" pitchFamily="34" charset="0"/>
                            <a:ea typeface="宋体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buFont typeface="Arial" panose="020B0604020202090204" pitchFamily="34" charset="0"/>
                          <a:defRPr>
                            <a:solidFill>
                              <a:schemeClr val="tx1"/>
                            </a:solidFill>
                            <a:latin typeface="Arial" panose="020B0604020202090204" pitchFamily="34" charset="0"/>
                            <a:ea typeface="宋体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buFont typeface="Arial" panose="020B0604020202090204" pitchFamily="34" charset="0"/>
                          <a:defRPr>
                            <a:solidFill>
                              <a:schemeClr val="tx1"/>
                            </a:solidFill>
                            <a:latin typeface="Arial" panose="020B0604020202090204" pitchFamily="34" charset="0"/>
                            <a:ea typeface="宋体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buFont typeface="Arial" panose="020B0604020202090204" pitchFamily="34" charset="0"/>
                          <a:defRPr>
                            <a:solidFill>
                              <a:schemeClr val="tx1"/>
                            </a:solidFill>
                            <a:latin typeface="Arial" panose="020B0604020202090204" pitchFamily="34" charset="0"/>
                            <a:ea typeface="宋体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50000"/>
                          </a:spcBef>
                          <a:buSzPct val="60000"/>
                        </a:pPr>
                        <a:r>
                          <a:rPr lang="zh-CN" altLang="en-US" sz="1000" b="1" dirty="0">
                            <a:solidFill>
                              <a:srgbClr val="FFFFFF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sym typeface="微软雅黑" panose="020B0503020204020204" charset="-122"/>
                          </a:rPr>
                          <a:t>住房需求</a:t>
                        </a:r>
                        <a:endParaRPr lang="zh-CN" altLang="en-US" sz="10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微软雅黑" panose="020B0503020204020204" charset="-122"/>
                        </a:endParaRPr>
                      </a:p>
                    </p:txBody>
                  </p:sp>
                  <p:sp>
                    <p:nvSpPr>
                      <p:cNvPr id="159" name="圆柱形 18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80195" y="20068"/>
                        <a:ext cx="935697" cy="539602"/>
                      </a:xfrm>
                      <a:prstGeom prst="can">
                        <a:avLst>
                          <a:gd name="adj" fmla="val 25000"/>
                        </a:avLst>
                      </a:prstGeom>
                      <a:gradFill rotWithShape="1">
                        <a:gsLst>
                          <a:gs pos="0">
                            <a:srgbClr val="006F92"/>
                          </a:gs>
                          <a:gs pos="79999">
                            <a:srgbClr val="0093C0"/>
                          </a:gs>
                          <a:gs pos="100000">
                            <a:srgbClr val="0093C1"/>
                          </a:gs>
                        </a:gsLst>
                        <a:lin ang="16200000" scaled="1"/>
                      </a:gradFill>
                      <a:ln w="9525">
                        <a:solidFill>
                          <a:srgbClr val="0094C2"/>
                        </a:solidFill>
                        <a:bevel/>
                      </a:ln>
                    </p:spPr>
                    <p:txBody>
                      <a:bodyPr lIns="31969" tIns="31969" rIns="31969" bIns="31969" anchor="ctr"/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Arial" panose="020B0604020202090204" pitchFamily="34" charset="0"/>
                            <a:ea typeface="宋体" pitchFamily="2" charset="-122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Arial" panose="020B0604020202090204" pitchFamily="34" charset="0"/>
                            <a:ea typeface="宋体" pitchFamily="2" charset="-122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Arial" panose="020B0604020202090204" pitchFamily="34" charset="0"/>
                            <a:ea typeface="宋体" pitchFamily="2" charset="-122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Arial" panose="020B0604020202090204" pitchFamily="34" charset="0"/>
                            <a:ea typeface="宋体" pitchFamily="2" charset="-122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Arial" panose="020B0604020202090204" pitchFamily="34" charset="0"/>
                            <a:ea typeface="宋体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buFont typeface="Arial" panose="020B0604020202090204" pitchFamily="34" charset="0"/>
                          <a:defRPr>
                            <a:solidFill>
                              <a:schemeClr val="tx1"/>
                            </a:solidFill>
                            <a:latin typeface="Arial" panose="020B0604020202090204" pitchFamily="34" charset="0"/>
                            <a:ea typeface="宋体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buFont typeface="Arial" panose="020B0604020202090204" pitchFamily="34" charset="0"/>
                          <a:defRPr>
                            <a:solidFill>
                              <a:schemeClr val="tx1"/>
                            </a:solidFill>
                            <a:latin typeface="Arial" panose="020B0604020202090204" pitchFamily="34" charset="0"/>
                            <a:ea typeface="宋体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buFont typeface="Arial" panose="020B0604020202090204" pitchFamily="34" charset="0"/>
                          <a:defRPr>
                            <a:solidFill>
                              <a:schemeClr val="tx1"/>
                            </a:solidFill>
                            <a:latin typeface="Arial" panose="020B0604020202090204" pitchFamily="34" charset="0"/>
                            <a:ea typeface="宋体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buFont typeface="Arial" panose="020B0604020202090204" pitchFamily="34" charset="0"/>
                          <a:defRPr>
                            <a:solidFill>
                              <a:schemeClr val="tx1"/>
                            </a:solidFill>
                            <a:latin typeface="Arial" panose="020B0604020202090204" pitchFamily="34" charset="0"/>
                            <a:ea typeface="宋体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50000"/>
                          </a:spcBef>
                          <a:buSzPct val="60000"/>
                        </a:pPr>
                        <a:r>
                          <a:rPr lang="zh-CN" altLang="en-US" sz="1000" b="1" dirty="0">
                            <a:solidFill>
                              <a:srgbClr val="FFFFFF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sym typeface="微软雅黑" panose="020B0503020204020204" charset="-122"/>
                          </a:rPr>
                          <a:t>资格审核</a:t>
                        </a:r>
                        <a:endParaRPr lang="zh-CN" altLang="en-US" sz="10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微软雅黑" panose="020B0503020204020204" charset="-122"/>
                        </a:endParaRPr>
                      </a:p>
                    </p:txBody>
                  </p:sp>
                  <p:sp>
                    <p:nvSpPr>
                      <p:cNvPr id="160" name="圆柱形 18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808302" y="20234"/>
                        <a:ext cx="944252" cy="539602"/>
                      </a:xfrm>
                      <a:prstGeom prst="can">
                        <a:avLst>
                          <a:gd name="adj" fmla="val 25000"/>
                        </a:avLst>
                      </a:prstGeom>
                      <a:gradFill rotWithShape="1">
                        <a:gsLst>
                          <a:gs pos="0">
                            <a:srgbClr val="006F92"/>
                          </a:gs>
                          <a:gs pos="79999">
                            <a:srgbClr val="0093C0"/>
                          </a:gs>
                          <a:gs pos="100000">
                            <a:srgbClr val="0093C1"/>
                          </a:gs>
                        </a:gsLst>
                        <a:lin ang="16200000" scaled="1"/>
                      </a:gradFill>
                      <a:ln w="9525">
                        <a:solidFill>
                          <a:srgbClr val="0094C2"/>
                        </a:solidFill>
                        <a:bevel/>
                      </a:ln>
                    </p:spPr>
                    <p:txBody>
                      <a:bodyPr lIns="31969" tIns="31969" rIns="31969" bIns="31969" anchor="ctr"/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Arial" panose="020B0604020202090204" pitchFamily="34" charset="0"/>
                            <a:ea typeface="宋体" pitchFamily="2" charset="-122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Arial" panose="020B0604020202090204" pitchFamily="34" charset="0"/>
                            <a:ea typeface="宋体" pitchFamily="2" charset="-122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Arial" panose="020B0604020202090204" pitchFamily="34" charset="0"/>
                            <a:ea typeface="宋体" pitchFamily="2" charset="-122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Arial" panose="020B0604020202090204" pitchFamily="34" charset="0"/>
                            <a:ea typeface="宋体" pitchFamily="2" charset="-122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Arial" panose="020B0604020202090204" pitchFamily="34" charset="0"/>
                            <a:ea typeface="宋体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buFont typeface="Arial" panose="020B0604020202090204" pitchFamily="34" charset="0"/>
                          <a:defRPr>
                            <a:solidFill>
                              <a:schemeClr val="tx1"/>
                            </a:solidFill>
                            <a:latin typeface="Arial" panose="020B0604020202090204" pitchFamily="34" charset="0"/>
                            <a:ea typeface="宋体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buFont typeface="Arial" panose="020B0604020202090204" pitchFamily="34" charset="0"/>
                          <a:defRPr>
                            <a:solidFill>
                              <a:schemeClr val="tx1"/>
                            </a:solidFill>
                            <a:latin typeface="Arial" panose="020B0604020202090204" pitchFamily="34" charset="0"/>
                            <a:ea typeface="宋体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buFont typeface="Arial" panose="020B0604020202090204" pitchFamily="34" charset="0"/>
                          <a:defRPr>
                            <a:solidFill>
                              <a:schemeClr val="tx1"/>
                            </a:solidFill>
                            <a:latin typeface="Arial" panose="020B0604020202090204" pitchFamily="34" charset="0"/>
                            <a:ea typeface="宋体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buFont typeface="Arial" panose="020B0604020202090204" pitchFamily="34" charset="0"/>
                          <a:defRPr>
                            <a:solidFill>
                              <a:schemeClr val="tx1"/>
                            </a:solidFill>
                            <a:latin typeface="Arial" panose="020B0604020202090204" pitchFamily="34" charset="0"/>
                            <a:ea typeface="宋体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50000"/>
                          </a:spcBef>
                          <a:buSzPct val="60000"/>
                        </a:pPr>
                        <a:r>
                          <a:rPr lang="zh-CN" altLang="en-US" sz="1000" b="1" dirty="0">
                            <a:solidFill>
                              <a:srgbClr val="FFFFFF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sym typeface="微软雅黑" panose="020B0503020204020204" charset="-122"/>
                          </a:rPr>
                          <a:t>租赁备案</a:t>
                        </a:r>
                        <a:endParaRPr lang="zh-CN" altLang="en-US" sz="10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微软雅黑" panose="020B0503020204020204" charset="-122"/>
                        </a:endParaRPr>
                      </a:p>
                    </p:txBody>
                  </p:sp>
                </p:grpSp>
              </p:grpSp>
              <p:sp>
                <p:nvSpPr>
                  <p:cNvPr id="154" name="圆柱形 177"/>
                  <p:cNvSpPr>
                    <a:spLocks noChangeArrowheads="1"/>
                  </p:cNvSpPr>
                  <p:nvPr/>
                </p:nvSpPr>
                <p:spPr bwMode="auto">
                  <a:xfrm>
                    <a:off x="4923" y="9169"/>
                    <a:ext cx="1474" cy="850"/>
                  </a:xfrm>
                  <a:prstGeom prst="can">
                    <a:avLst>
                      <a:gd name="adj" fmla="val 25000"/>
                    </a:avLst>
                  </a:prstGeom>
                  <a:gradFill rotWithShape="1">
                    <a:gsLst>
                      <a:gs pos="0">
                        <a:srgbClr val="006F92"/>
                      </a:gs>
                      <a:gs pos="79999">
                        <a:srgbClr val="0093C0"/>
                      </a:gs>
                      <a:gs pos="100000">
                        <a:srgbClr val="0093C1"/>
                      </a:gs>
                    </a:gsLst>
                    <a:lin ang="16200000" scaled="1"/>
                  </a:gradFill>
                  <a:ln w="9525">
                    <a:solidFill>
                      <a:srgbClr val="0094C2"/>
                    </a:solidFill>
                    <a:bevel/>
                  </a:ln>
                </p:spPr>
                <p:txBody>
                  <a:bodyPr lIns="31969" tIns="31969" rIns="31969" bIns="31969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ea typeface="宋体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ea typeface="宋体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ea typeface="宋体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ea typeface="宋体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90204" pitchFamily="34" charset="0"/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90204" pitchFamily="34" charset="0"/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90204" pitchFamily="34" charset="0"/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90204" pitchFamily="34" charset="0"/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ea typeface="宋体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SzPct val="60000"/>
                    </a:pPr>
                    <a:r>
                      <a:rPr lang="zh-CN" altLang="en-US" sz="10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微软雅黑" panose="020B0503020204020204" charset="-122"/>
                      </a:rPr>
                      <a:t>房源信息</a:t>
                    </a:r>
                    <a:endParaRPr lang="zh-CN" altLang="en-US" sz="1000" b="1" dirty="0">
                      <a:solidFill>
                        <a:srgbClr val="FFFFFF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微软雅黑" panose="020B0503020204020204" charset="-122"/>
                    </a:endParaRPr>
                  </a:p>
                </p:txBody>
              </p:sp>
            </p:grpSp>
            <p:sp>
              <p:nvSpPr>
                <p:cNvPr id="150" name="矩形 149"/>
                <p:cNvSpPr/>
                <p:nvPr/>
              </p:nvSpPr>
              <p:spPr>
                <a:xfrm flipH="1">
                  <a:off x="2324240" y="5229200"/>
                  <a:ext cx="2206277" cy="30777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sz="1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对接</a:t>
                  </a:r>
                  <a:r>
                    <a:rPr lang="zh-CN" altLang="en-US" sz="1400" b="1" dirty="0">
                      <a:solidFill>
                        <a:srgbClr val="C04000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市主管部门</a:t>
                  </a:r>
                  <a:endParaRPr lang="en-US" altLang="zh-CN" sz="1400" b="1" dirty="0">
                    <a:solidFill>
                      <a:srgbClr val="C04000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51" name="矩形 150"/>
                <p:cNvSpPr/>
                <p:nvPr/>
              </p:nvSpPr>
              <p:spPr>
                <a:xfrm>
                  <a:off x="2063552" y="5298541"/>
                  <a:ext cx="272732" cy="170710"/>
                </a:xfrm>
                <a:prstGeom prst="rect">
                  <a:avLst/>
                </a:prstGeom>
                <a:solidFill>
                  <a:srgbClr val="C9560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1400" b="1" dirty="0">
                      <a:latin typeface="微软雅黑" panose="020B0503020204020204" charset="-122"/>
                      <a:ea typeface="微软雅黑" panose="020B0503020204020204" charset="-122"/>
                    </a:rPr>
                    <a:t>2</a:t>
                  </a:r>
                  <a:endParaRPr lang="en-US" altLang="zh-CN" sz="1400" b="1" dirty="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pic>
              <p:nvPicPr>
                <p:cNvPr id="152" name="图片 151"/>
                <p:cNvPicPr>
                  <a:picLocks noChangeAspect="1"/>
                </p:cNvPicPr>
                <p:nvPr/>
              </p:nvPicPr>
              <p:blipFill>
                <a:blip r:embed="rId1" cstate="print"/>
                <a:stretch>
                  <a:fillRect/>
                </a:stretch>
              </p:blipFill>
              <p:spPr>
                <a:xfrm>
                  <a:off x="2135560" y="5608119"/>
                  <a:ext cx="481244" cy="353914"/>
                </a:xfrm>
                <a:prstGeom prst="rect">
                  <a:avLst/>
                </a:prstGeom>
                <a:solidFill>
                  <a:srgbClr val="C95609">
                    <a:alpha val="50000"/>
                  </a:srgbClr>
                </a:solidFill>
                <a:ln>
                  <a:noFill/>
                </a:ln>
              </p:spPr>
            </p:pic>
          </p:grpSp>
          <p:sp>
            <p:nvSpPr>
              <p:cNvPr id="148" name="AutoShape 83"/>
              <p:cNvSpPr>
                <a:spLocks noChangeArrowheads="1"/>
              </p:cNvSpPr>
              <p:nvPr/>
            </p:nvSpPr>
            <p:spPr bwMode="auto">
              <a:xfrm rot="5400000">
                <a:off x="3747826" y="4860594"/>
                <a:ext cx="392155" cy="273247"/>
              </a:xfrm>
              <a:prstGeom prst="leftRightArrow">
                <a:avLst>
                  <a:gd name="adj1" fmla="val 50000"/>
                  <a:gd name="adj2" fmla="val 37156"/>
                </a:avLst>
              </a:prstGeom>
              <a:solidFill>
                <a:srgbClr val="C04000">
                  <a:alpha val="61000"/>
                </a:srgbClr>
              </a:solidFill>
              <a:ln>
                <a:noFill/>
              </a:ln>
              <a:effectLst/>
            </p:spPr>
            <p:txBody>
              <a:bodyPr rtlCol="0" anchor="ctr">
                <a:noAutofit/>
              </a:bodyPr>
              <a:lstStyle/>
              <a:p>
                <a:pPr algn="ctr"/>
                <a:endParaRPr lang="zh-CN" altLang="zh-CN"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</p:grpSp>
        <p:grpSp>
          <p:nvGrpSpPr>
            <p:cNvPr id="162" name="组合 161"/>
            <p:cNvGrpSpPr/>
            <p:nvPr/>
          </p:nvGrpSpPr>
          <p:grpSpPr>
            <a:xfrm>
              <a:off x="1852530" y="2972809"/>
              <a:ext cx="4009678" cy="1811545"/>
              <a:chOff x="1863601" y="2838845"/>
              <a:chExt cx="4009678" cy="1811545"/>
            </a:xfrm>
            <a:effectLst/>
          </p:grpSpPr>
          <p:grpSp>
            <p:nvGrpSpPr>
              <p:cNvPr id="163" name="组合 162"/>
              <p:cNvGrpSpPr/>
              <p:nvPr/>
            </p:nvGrpSpPr>
            <p:grpSpPr>
              <a:xfrm>
                <a:off x="1863601" y="2838845"/>
                <a:ext cx="4009678" cy="1811545"/>
                <a:chOff x="1863601" y="2838845"/>
                <a:chExt cx="4009678" cy="1811545"/>
              </a:xfrm>
            </p:grpSpPr>
            <p:grpSp>
              <p:nvGrpSpPr>
                <p:cNvPr id="165" name="组合 164"/>
                <p:cNvGrpSpPr/>
                <p:nvPr/>
              </p:nvGrpSpPr>
              <p:grpSpPr>
                <a:xfrm>
                  <a:off x="2633080" y="3184704"/>
                  <a:ext cx="716588" cy="1459914"/>
                  <a:chOff x="2944805" y="1290311"/>
                  <a:chExt cx="716588" cy="1459914"/>
                </a:xfrm>
              </p:grpSpPr>
              <p:pic>
                <p:nvPicPr>
                  <p:cNvPr id="170" name="图片 169"/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2944805" y="1290311"/>
                    <a:ext cx="716588" cy="1459914"/>
                  </a:xfrm>
                  <a:prstGeom prst="rect">
                    <a:avLst/>
                  </a:prstGeom>
                  <a:solidFill>
                    <a:srgbClr val="C95609">
                      <a:alpha val="50000"/>
                    </a:srgbClr>
                  </a:solidFill>
                  <a:ln>
                    <a:noFill/>
                  </a:ln>
                </p:spPr>
              </p:pic>
              <p:pic>
                <p:nvPicPr>
                  <p:cNvPr id="171" name="图片 170"/>
                  <p:cNvPicPr>
                    <a:picLocks noChangeAspect="1"/>
                  </p:cNvPicPr>
                  <p:nvPr/>
                </p:nvPicPr>
                <p:blipFill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999211" y="1394486"/>
                    <a:ext cx="609147" cy="1283561"/>
                  </a:xfrm>
                  <a:prstGeom prst="rect">
                    <a:avLst/>
                  </a:prstGeom>
                  <a:solidFill>
                    <a:srgbClr val="C95609">
                      <a:alpha val="50000"/>
                    </a:srgbClr>
                  </a:solidFill>
                  <a:ln>
                    <a:noFill/>
                  </a:ln>
                </p:spPr>
              </p:pic>
            </p:grpSp>
            <p:pic>
              <p:nvPicPr>
                <p:cNvPr id="166" name="图片 165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863601" y="3190476"/>
                  <a:ext cx="746235" cy="1459914"/>
                </a:xfrm>
                <a:prstGeom prst="rect">
                  <a:avLst/>
                </a:prstGeom>
                <a:solidFill>
                  <a:srgbClr val="C95609">
                    <a:alpha val="50000"/>
                  </a:srgbClr>
                </a:solidFill>
                <a:ln>
                  <a:noFill/>
                </a:ln>
              </p:spPr>
            </p:pic>
            <p:grpSp>
              <p:nvGrpSpPr>
                <p:cNvPr id="167" name="组合 166"/>
                <p:cNvGrpSpPr/>
                <p:nvPr/>
              </p:nvGrpSpPr>
              <p:grpSpPr>
                <a:xfrm>
                  <a:off x="1965256" y="2838845"/>
                  <a:ext cx="3908023" cy="307777"/>
                  <a:chOff x="1999336" y="1484784"/>
                  <a:chExt cx="4408792" cy="307777"/>
                </a:xfrm>
              </p:grpSpPr>
              <p:sp>
                <p:nvSpPr>
                  <p:cNvPr id="168" name="矩形 167"/>
                  <p:cNvSpPr/>
                  <p:nvPr/>
                </p:nvSpPr>
                <p:spPr>
                  <a:xfrm flipH="1">
                    <a:off x="2225283" y="1484784"/>
                    <a:ext cx="4182845" cy="307777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zh-CN" altLang="en-US" sz="1400" b="1" dirty="0">
                        <a:solidFill>
                          <a:srgbClr val="C04000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自在安居</a:t>
                    </a:r>
                    <a:r>
                      <a:rPr lang="en-US" altLang="zh-CN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APP</a:t>
                    </a:r>
                    <a:r>
                      <a:rPr lang="zh-CN" altLang="en-US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、公众号</a:t>
                    </a:r>
                    <a:endParaRPr lang="en-US" altLang="zh-CN" sz="14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169" name="矩形 168"/>
                  <p:cNvSpPr/>
                  <p:nvPr/>
                </p:nvSpPr>
                <p:spPr>
                  <a:xfrm>
                    <a:off x="1999336" y="1544189"/>
                    <a:ext cx="232328" cy="170710"/>
                  </a:xfrm>
                  <a:prstGeom prst="rect">
                    <a:avLst/>
                  </a:prstGeom>
                  <a:solidFill>
                    <a:srgbClr val="C9560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zh-CN">
                        <a:solidFill>
                          <a:schemeClr val="lt1"/>
                        </a:solidFill>
                      </a:defRPr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zh-CN" sz="1400" b="1" dirty="0">
                        <a:latin typeface="微软雅黑" panose="020B0503020204020204" charset="-122"/>
                        <a:ea typeface="微软雅黑" panose="020B0503020204020204" charset="-122"/>
                      </a:rPr>
                      <a:t>1</a:t>
                    </a:r>
                    <a:endParaRPr lang="en-US" altLang="zh-CN" sz="1400" b="1" dirty="0"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</p:grpSp>
          <p:sp>
            <p:nvSpPr>
              <p:cNvPr id="164" name="箭头: 左弧形 200"/>
              <p:cNvSpPr/>
              <p:nvPr/>
            </p:nvSpPr>
            <p:spPr bwMode="auto">
              <a:xfrm rot="6335184">
                <a:off x="3343159" y="3032502"/>
                <a:ext cx="928175" cy="1405281"/>
              </a:xfrm>
              <a:prstGeom prst="curvedRightArrow">
                <a:avLst>
                  <a:gd name="adj1" fmla="val 32322"/>
                  <a:gd name="adj2" fmla="val 50000"/>
                  <a:gd name="adj3" fmla="val 25000"/>
                </a:avLst>
              </a:prstGeom>
              <a:solidFill>
                <a:srgbClr val="C95609">
                  <a:alpha val="50000"/>
                </a:srgbClr>
              </a:solidFill>
              <a:ln>
                <a:noFill/>
              </a:ln>
            </p:spPr>
            <p:txBody>
              <a:bodyPr rtlCol="0" anchor="ctr">
                <a:noAutofit/>
              </a:bodyPr>
              <a:lstStyle/>
              <a:p>
                <a:pPr algn="ctr"/>
                <a:endParaRPr lang="zh-CN" altLang="en-US" sz="2000" dirty="0"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endParaRPr>
              </a:p>
            </p:txBody>
          </p:sp>
        </p:grpSp>
        <p:grpSp>
          <p:nvGrpSpPr>
            <p:cNvPr id="172" name="组合 171"/>
            <p:cNvGrpSpPr/>
            <p:nvPr/>
          </p:nvGrpSpPr>
          <p:grpSpPr>
            <a:xfrm>
              <a:off x="6096000" y="4927169"/>
              <a:ext cx="3157281" cy="1345063"/>
              <a:chOff x="6107071" y="4793205"/>
              <a:chExt cx="3157281" cy="1345063"/>
            </a:xfrm>
          </p:grpSpPr>
          <p:grpSp>
            <p:nvGrpSpPr>
              <p:cNvPr id="173" name="组合 172"/>
              <p:cNvGrpSpPr/>
              <p:nvPr/>
            </p:nvGrpSpPr>
            <p:grpSpPr>
              <a:xfrm>
                <a:off x="6107071" y="5155445"/>
                <a:ext cx="3157281" cy="982823"/>
                <a:chOff x="5853767" y="5155445"/>
                <a:chExt cx="3157281" cy="982823"/>
              </a:xfrm>
            </p:grpSpPr>
            <p:grpSp>
              <p:nvGrpSpPr>
                <p:cNvPr id="175" name="组合 174"/>
                <p:cNvGrpSpPr/>
                <p:nvPr/>
              </p:nvGrpSpPr>
              <p:grpSpPr>
                <a:xfrm>
                  <a:off x="5853767" y="5155445"/>
                  <a:ext cx="3157281" cy="982823"/>
                  <a:chOff x="6963391" y="4982901"/>
                  <a:chExt cx="4130854" cy="1285884"/>
                </a:xfrm>
              </p:grpSpPr>
              <p:sp>
                <p:nvSpPr>
                  <p:cNvPr id="178" name="矩形 177"/>
                  <p:cNvSpPr>
                    <a:spLocks noChangeArrowheads="1"/>
                  </p:cNvSpPr>
                  <p:nvPr/>
                </p:nvSpPr>
                <p:spPr bwMode="auto">
                  <a:xfrm>
                    <a:off x="6963391" y="4982901"/>
                    <a:ext cx="4130854" cy="1285884"/>
                  </a:xfrm>
                  <a:prstGeom prst="rect">
                    <a:avLst/>
                  </a:prstGeom>
                  <a:solidFill>
                    <a:srgbClr val="F2F2F2">
                      <a:alpha val="74117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25400">
                        <a:solidFill>
                          <a:srgbClr val="395E8A"/>
                        </a:solidFill>
                        <a:bevel/>
                      </a14:hiddenLine>
                    </a:ext>
                  </a:extLst>
                </p:spPr>
                <p:txBody>
                  <a:bodyPr lIns="108265" tIns="54133" rIns="108265" bIns="54133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ea typeface="宋体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ea typeface="宋体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ea typeface="宋体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ea typeface="宋体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90204" pitchFamily="34" charset="0"/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90204" pitchFamily="34" charset="0"/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90204" pitchFamily="34" charset="0"/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90204" pitchFamily="34" charset="0"/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ea typeface="宋体" pitchFamily="2" charset="-122"/>
                      </a:defRPr>
                    </a:lvl9pPr>
                  </a:lstStyle>
                  <a:p>
                    <a:pPr algn="ctr"/>
                    <a:endParaRPr lang="zh-CN" altLang="zh-CN" sz="1050">
                      <a:solidFill>
                        <a:srgbClr val="FFFFFF"/>
                      </a:solidFill>
                      <a:latin typeface="宋体" pitchFamily="2" charset="-122"/>
                      <a:sym typeface="宋体" pitchFamily="2" charset="-122"/>
                    </a:endParaRPr>
                  </a:p>
                </p:txBody>
              </p:sp>
              <p:grpSp>
                <p:nvGrpSpPr>
                  <p:cNvPr id="179" name="组合 178"/>
                  <p:cNvGrpSpPr/>
                  <p:nvPr/>
                </p:nvGrpSpPr>
                <p:grpSpPr>
                  <a:xfrm>
                    <a:off x="7060492" y="5072076"/>
                    <a:ext cx="3901677" cy="1111331"/>
                    <a:chOff x="7060492" y="5072076"/>
                    <a:chExt cx="3901677" cy="1111331"/>
                  </a:xfrm>
                </p:grpSpPr>
                <p:sp>
                  <p:nvSpPr>
                    <p:cNvPr id="180" name="Rectangle 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060492" y="5072076"/>
                      <a:ext cx="3901677" cy="1087791"/>
                    </a:xfrm>
                    <a:prstGeom prst="roundRect">
                      <a:avLst>
                        <a:gd name="adj" fmla="val 0"/>
                      </a:avLst>
                    </a:pr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  <a:prstDash val="dash"/>
                      <a:round/>
                    </a:ln>
                  </p:spPr>
                  <p:txBody>
                    <a:bodyPr wrap="none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endParaRPr lang="zh-CN" altLang="en-US" sz="900" dirty="0">
                        <a:solidFill>
                          <a:schemeClr val="bg2">
                            <a:lumMod val="1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p:txBody>
                </p:sp>
                <p:grpSp>
                  <p:nvGrpSpPr>
                    <p:cNvPr id="181" name="组合 180"/>
                    <p:cNvGrpSpPr/>
                    <p:nvPr/>
                  </p:nvGrpSpPr>
                  <p:grpSpPr>
                    <a:xfrm>
                      <a:off x="7231543" y="5497334"/>
                      <a:ext cx="1054064" cy="686073"/>
                      <a:chOff x="4640537" y="5015003"/>
                      <a:chExt cx="1054064" cy="686073"/>
                    </a:xfrm>
                  </p:grpSpPr>
                  <p:pic>
                    <p:nvPicPr>
                      <p:cNvPr id="192" name="图片 191"/>
                      <p:cNvPicPr>
                        <a:picLocks noChangeAspect="1"/>
                      </p:cNvPicPr>
                      <p:nvPr/>
                    </p:nvPicPr>
                    <p:blipFill>
                      <a:blip r:embed="rId4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5909" y="5015003"/>
                        <a:ext cx="474187" cy="4540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  <p:sp>
                    <p:nvSpPr>
                      <p:cNvPr id="193" name="矩形 192"/>
                      <p:cNvSpPr/>
                      <p:nvPr/>
                    </p:nvSpPr>
                    <p:spPr>
                      <a:xfrm>
                        <a:off x="4640537" y="5399065"/>
                        <a:ext cx="1054064" cy="302011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>
                        <a:defPPr>
                          <a:defRPr lang="zh-CN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r>
                          <a:rPr lang="zh-CN" altLang="en-US" sz="900" b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</a:rPr>
                          <a:t>监控系统</a:t>
                        </a:r>
                        <a:endParaRPr lang="zh-CN" altLang="en-US" sz="9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endParaRPr>
                      </a:p>
                    </p:txBody>
                  </p:sp>
                </p:grpSp>
                <p:grpSp>
                  <p:nvGrpSpPr>
                    <p:cNvPr id="182" name="组合 181"/>
                    <p:cNvGrpSpPr/>
                    <p:nvPr/>
                  </p:nvGrpSpPr>
                  <p:grpSpPr>
                    <a:xfrm>
                      <a:off x="8069731" y="5533290"/>
                      <a:ext cx="1054064" cy="643041"/>
                      <a:chOff x="5639107" y="5050959"/>
                      <a:chExt cx="1054064" cy="643041"/>
                    </a:xfrm>
                  </p:grpSpPr>
                  <p:pic>
                    <p:nvPicPr>
                      <p:cNvPr id="190" name="图片 189"/>
                      <p:cNvPicPr>
                        <a:picLocks noChangeAspect="1"/>
                      </p:cNvPicPr>
                      <p:nvPr/>
                    </p:nvPicPr>
                    <p:blipFill>
                      <a:blip r:embed="rId5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8771" y="5050959"/>
                        <a:ext cx="750084" cy="3189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  <p:sp>
                    <p:nvSpPr>
                      <p:cNvPr id="191" name="矩形 190"/>
                      <p:cNvSpPr/>
                      <p:nvPr/>
                    </p:nvSpPr>
                    <p:spPr>
                      <a:xfrm>
                        <a:off x="5639107" y="5391990"/>
                        <a:ext cx="1054064" cy="302010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>
                        <a:defPPr>
                          <a:defRPr lang="zh-CN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r>
                          <a:rPr lang="zh-CN" altLang="en-US" sz="900" b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</a:rPr>
                          <a:t>停车系统</a:t>
                        </a:r>
                        <a:endParaRPr lang="zh-CN" altLang="en-US" sz="9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endParaRPr>
                      </a:p>
                    </p:txBody>
                  </p:sp>
                </p:grpSp>
                <p:grpSp>
                  <p:nvGrpSpPr>
                    <p:cNvPr id="183" name="组合 182"/>
                    <p:cNvGrpSpPr/>
                    <p:nvPr/>
                  </p:nvGrpSpPr>
                  <p:grpSpPr>
                    <a:xfrm>
                      <a:off x="8957923" y="5497334"/>
                      <a:ext cx="1054065" cy="679002"/>
                      <a:chOff x="6670175" y="5015003"/>
                      <a:chExt cx="1054065" cy="679002"/>
                    </a:xfrm>
                  </p:grpSpPr>
                  <p:pic>
                    <p:nvPicPr>
                      <p:cNvPr id="187" name="图片 186"/>
                      <p:cNvPicPr>
                        <a:picLocks noChangeAspect="1"/>
                      </p:cNvPicPr>
                      <p:nvPr/>
                    </p:nvPicPr>
                    <p:blipFill>
                      <a:blip r:embed="rId6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1918" y="5015003"/>
                        <a:ext cx="357190" cy="4395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  <p:pic>
                    <p:nvPicPr>
                      <p:cNvPr id="188" name="图片 187"/>
                      <p:cNvPicPr>
                        <a:picLocks noChangeAspect="1"/>
                      </p:cNvPicPr>
                      <p:nvPr/>
                    </p:nvPicPr>
                    <p:blipFill>
                      <a:blip r:embed="rId7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 flipH="1">
                        <a:off x="6765864" y="5015003"/>
                        <a:ext cx="245430" cy="4597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  <p:sp>
                    <p:nvSpPr>
                      <p:cNvPr id="189" name="矩形 188"/>
                      <p:cNvSpPr/>
                      <p:nvPr/>
                    </p:nvSpPr>
                    <p:spPr>
                      <a:xfrm>
                        <a:off x="6670175" y="5391994"/>
                        <a:ext cx="1054065" cy="302011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>
                        <a:defPPr>
                          <a:defRPr lang="zh-CN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r>
                          <a:rPr lang="zh-CN" altLang="en-US" sz="900" b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</a:rPr>
                          <a:t>出入口门禁</a:t>
                        </a:r>
                        <a:endParaRPr lang="zh-CN" altLang="en-US" sz="9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endParaRPr>
                      </a:p>
                    </p:txBody>
                  </p:sp>
                </p:grpSp>
                <p:grpSp>
                  <p:nvGrpSpPr>
                    <p:cNvPr id="184" name="组合 183"/>
                    <p:cNvGrpSpPr/>
                    <p:nvPr/>
                  </p:nvGrpSpPr>
                  <p:grpSpPr>
                    <a:xfrm>
                      <a:off x="9908105" y="5461852"/>
                      <a:ext cx="1054064" cy="714478"/>
                      <a:chOff x="7763233" y="4979521"/>
                      <a:chExt cx="1054064" cy="714478"/>
                    </a:xfrm>
                  </p:grpSpPr>
                  <p:pic>
                    <p:nvPicPr>
                      <p:cNvPr id="185" name="图片 184"/>
                      <p:cNvPicPr>
                        <a:picLocks noChangeAspect="1"/>
                      </p:cNvPicPr>
                      <p:nvPr/>
                    </p:nvPicPr>
                    <p:blipFill>
                      <a:blip r:embed="rId8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8167" y="4979521"/>
                        <a:ext cx="706494" cy="4568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  <p:sp>
                    <p:nvSpPr>
                      <p:cNvPr id="186" name="矩形 185"/>
                      <p:cNvSpPr/>
                      <p:nvPr/>
                    </p:nvSpPr>
                    <p:spPr>
                      <a:xfrm>
                        <a:off x="7763233" y="5391988"/>
                        <a:ext cx="1054064" cy="302011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>
                        <a:defPPr>
                          <a:defRPr lang="zh-CN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r>
                          <a:rPr lang="zh-CN" altLang="en-US" sz="900" b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</a:rPr>
                          <a:t>可视对讲</a:t>
                        </a:r>
                        <a:endParaRPr lang="zh-CN" altLang="en-US" sz="9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endParaRPr>
                      </a:p>
                    </p:txBody>
                  </p:sp>
                </p:grpSp>
              </p:grpSp>
            </p:grpSp>
            <p:sp>
              <p:nvSpPr>
                <p:cNvPr id="176" name="矩形 175"/>
                <p:cNvSpPr/>
                <p:nvPr/>
              </p:nvSpPr>
              <p:spPr>
                <a:xfrm flipH="1">
                  <a:off x="6319408" y="5229200"/>
                  <a:ext cx="2206277" cy="30777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sz="1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对接</a:t>
                  </a:r>
                  <a:r>
                    <a:rPr lang="zh-CN" altLang="en-US" sz="1400" b="1" dirty="0">
                      <a:solidFill>
                        <a:srgbClr val="C04000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人才住房小区</a:t>
                  </a:r>
                  <a:endParaRPr lang="en-US" altLang="zh-CN" sz="1400" b="1" dirty="0">
                    <a:solidFill>
                      <a:srgbClr val="C04000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77" name="矩形 176"/>
                <p:cNvSpPr/>
                <p:nvPr/>
              </p:nvSpPr>
              <p:spPr>
                <a:xfrm>
                  <a:off x="6058720" y="5298541"/>
                  <a:ext cx="272732" cy="170710"/>
                </a:xfrm>
                <a:prstGeom prst="rect">
                  <a:avLst/>
                </a:prstGeom>
                <a:solidFill>
                  <a:srgbClr val="C9560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1400" b="1" dirty="0">
                      <a:latin typeface="微软雅黑" panose="020B0503020204020204" charset="-122"/>
                      <a:ea typeface="微软雅黑" panose="020B0503020204020204" charset="-122"/>
                    </a:rPr>
                    <a:t>3</a:t>
                  </a:r>
                  <a:endParaRPr lang="en-US" altLang="zh-CN" sz="1400" b="1" dirty="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174" name="AutoShape 83"/>
              <p:cNvSpPr>
                <a:spLocks noChangeArrowheads="1"/>
              </p:cNvSpPr>
              <p:nvPr/>
            </p:nvSpPr>
            <p:spPr bwMode="auto">
              <a:xfrm rot="5400000">
                <a:off x="6948235" y="4852659"/>
                <a:ext cx="392155" cy="273247"/>
              </a:xfrm>
              <a:prstGeom prst="leftRightArrow">
                <a:avLst>
                  <a:gd name="adj1" fmla="val 50000"/>
                  <a:gd name="adj2" fmla="val 37156"/>
                </a:avLst>
              </a:prstGeom>
              <a:solidFill>
                <a:srgbClr val="C04000">
                  <a:alpha val="61000"/>
                </a:srgbClr>
              </a:solidFill>
              <a:ln>
                <a:noFill/>
              </a:ln>
              <a:effectLst/>
            </p:spPr>
            <p:txBody>
              <a:bodyPr rtlCol="0" anchor="ctr">
                <a:noAutofit/>
              </a:bodyPr>
              <a:lstStyle/>
              <a:p>
                <a:pPr algn="ctr"/>
                <a:endParaRPr lang="zh-CN" altLang="zh-CN"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</p:grpSp>
      </p:grpSp>
      <p:sp>
        <p:nvSpPr>
          <p:cNvPr id="76" name="文本框 75"/>
          <p:cNvSpPr txBox="1"/>
          <p:nvPr/>
        </p:nvSpPr>
        <p:spPr>
          <a:xfrm>
            <a:off x="695400" y="347960"/>
            <a:ext cx="64807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659B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房屋运营管理:</a:t>
            </a:r>
            <a:r>
              <a:rPr lang="zh-CN" altLang="en-US" sz="2800" b="1" dirty="0">
                <a:solidFill>
                  <a:srgbClr val="00659B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503050405090304" pitchFamily="18" charset="0"/>
              </a:rPr>
              <a:t>运营管理信息平台</a:t>
            </a:r>
            <a:endParaRPr lang="zh-CN" altLang="en-US" sz="2800" b="1" dirty="0">
              <a:solidFill>
                <a:srgbClr val="00659B"/>
              </a:solidFill>
              <a:latin typeface="微软雅黑" panose="020B0503020204020204" charset="-122"/>
              <a:ea typeface="微软雅黑" panose="020B0503020204020204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695400" y="347960"/>
            <a:ext cx="7632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问题一、公共住房项目无法执行“在线签约”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Segoe UI Black" panose="020B0A02040204020203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567608" y="2586805"/>
            <a:ext cx="4657720" cy="842195"/>
            <a:chOff x="3354068" y="2859799"/>
            <a:chExt cx="3806147" cy="842195"/>
          </a:xfrm>
        </p:grpSpPr>
        <p:grpSp>
          <p:nvGrpSpPr>
            <p:cNvPr id="57" name="组合 56"/>
            <p:cNvGrpSpPr/>
            <p:nvPr/>
          </p:nvGrpSpPr>
          <p:grpSpPr>
            <a:xfrm>
              <a:off x="3354068" y="2859799"/>
              <a:ext cx="3806147" cy="842195"/>
              <a:chOff x="4357956" y="2721583"/>
              <a:chExt cx="4322862" cy="928385"/>
            </a:xfrm>
          </p:grpSpPr>
          <p:grpSp>
            <p:nvGrpSpPr>
              <p:cNvPr id="59" name="组合 58"/>
              <p:cNvGrpSpPr/>
              <p:nvPr/>
            </p:nvGrpSpPr>
            <p:grpSpPr>
              <a:xfrm>
                <a:off x="7743727" y="2721583"/>
                <a:ext cx="837905" cy="891830"/>
                <a:chOff x="7743727" y="2540127"/>
                <a:chExt cx="837905" cy="891830"/>
              </a:xfrm>
            </p:grpSpPr>
            <p:pic>
              <p:nvPicPr>
                <p:cNvPr id="61" name="图片 60"/>
                <p:cNvPicPr>
                  <a:picLocks noChangeAspect="1"/>
                </p:cNvPicPr>
                <p:nvPr/>
              </p:nvPicPr>
              <p:blipFill>
                <a:blip r:embed="rId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885689" y="2540127"/>
                  <a:ext cx="504056" cy="534476"/>
                </a:xfrm>
                <a:prstGeom prst="rect">
                  <a:avLst/>
                </a:prstGeom>
              </p:spPr>
            </p:pic>
            <p:sp>
              <p:nvSpPr>
                <p:cNvPr id="62" name="文本框 18"/>
                <p:cNvSpPr txBox="1"/>
                <p:nvPr/>
              </p:nvSpPr>
              <p:spPr>
                <a:xfrm>
                  <a:off x="7743727" y="3092682"/>
                  <a:ext cx="837905" cy="3392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90204" pitchFamily="34" charset="0"/>
                    <a:defRPr kern="1200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90204" pitchFamily="34" charset="0"/>
                    <a:defRPr kern="1200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90204" pitchFamily="34" charset="0"/>
                    <a:defRPr kern="1200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90204" pitchFamily="34" charset="0"/>
                    <a:defRPr kern="1200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90204" pitchFamily="34" charset="0"/>
                    <a:defRPr kern="1200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9pPr>
                </a:lstStyle>
                <a:p>
                  <a:r>
                    <a:rPr lang="zh-CN" altLang="en-US" sz="1400" b="1" dirty="0">
                      <a:latin typeface="微软雅黑" panose="020B0503020204020204" charset="-122"/>
                      <a:ea typeface="微软雅黑" panose="020B0503020204020204" charset="-122"/>
                    </a:rPr>
                    <a:t>房源上报</a:t>
                  </a:r>
                  <a:endParaRPr lang="zh-CN" altLang="en-US" sz="1400" b="1" dirty="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cxnSp>
            <p:nvCxnSpPr>
              <p:cNvPr id="60" name="直接箭头连接符 59"/>
              <p:cNvCxnSpPr/>
              <p:nvPr/>
            </p:nvCxnSpPr>
            <p:spPr bwMode="auto">
              <a:xfrm flipH="1" flipV="1">
                <a:off x="4357956" y="3621317"/>
                <a:ext cx="4322862" cy="28651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bg1">
                    <a:lumMod val="50000"/>
                  </a:schemeClr>
                </a:solidFill>
                <a:prstDash val="dash"/>
                <a:round/>
                <a:headEnd type="none" w="med" len="med"/>
                <a:tailEnd type="triangle"/>
              </a:ln>
            </p:spPr>
          </p:cxnSp>
        </p:grpSp>
        <p:sp>
          <p:nvSpPr>
            <p:cNvPr id="58" name="圆角矩形 1">
              <a:hlinkClick r:id="" action="ppaction://noaction"/>
            </p:cNvPr>
            <p:cNvSpPr/>
            <p:nvPr/>
          </p:nvSpPr>
          <p:spPr bwMode="auto">
            <a:xfrm>
              <a:off x="6133720" y="3328253"/>
              <a:ext cx="219006" cy="254886"/>
            </a:xfrm>
            <a:prstGeom prst="roundRect">
              <a:avLst/>
            </a:prstGeom>
            <a:solidFill>
              <a:srgbClr val="3F7F9B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lang="zh-CN" altLang="en-US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271460" y="1817433"/>
            <a:ext cx="1148963" cy="1438591"/>
            <a:chOff x="1929350" y="1700807"/>
            <a:chExt cx="1148963" cy="1438591"/>
          </a:xfrm>
        </p:grpSpPr>
        <p:grpSp>
          <p:nvGrpSpPr>
            <p:cNvPr id="51" name="组合 50"/>
            <p:cNvGrpSpPr/>
            <p:nvPr/>
          </p:nvGrpSpPr>
          <p:grpSpPr>
            <a:xfrm>
              <a:off x="2175502" y="1700807"/>
              <a:ext cx="902811" cy="1438591"/>
              <a:chOff x="2902945" y="1571758"/>
              <a:chExt cx="1025375" cy="1585818"/>
            </a:xfrm>
          </p:grpSpPr>
          <p:grpSp>
            <p:nvGrpSpPr>
              <p:cNvPr id="53" name="组合 52"/>
              <p:cNvGrpSpPr/>
              <p:nvPr/>
            </p:nvGrpSpPr>
            <p:grpSpPr>
              <a:xfrm>
                <a:off x="2902945" y="1571758"/>
                <a:ext cx="1025375" cy="1056574"/>
                <a:chOff x="2767335" y="1556791"/>
                <a:chExt cx="1025375" cy="1056574"/>
              </a:xfrm>
            </p:grpSpPr>
            <p:pic>
              <p:nvPicPr>
                <p:cNvPr id="55" name="图片 54"/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13411" y="1556791"/>
                  <a:ext cx="810660" cy="810660"/>
                </a:xfrm>
                <a:prstGeom prst="rect">
                  <a:avLst/>
                </a:prstGeom>
              </p:spPr>
            </p:pic>
            <p:sp>
              <p:nvSpPr>
                <p:cNvPr id="56" name="文本框 31"/>
                <p:cNvSpPr txBox="1"/>
                <p:nvPr/>
              </p:nvSpPr>
              <p:spPr>
                <a:xfrm>
                  <a:off x="2767335" y="2274090"/>
                  <a:ext cx="1025375" cy="3392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90204" pitchFamily="34" charset="0"/>
                    <a:defRPr kern="1200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90204" pitchFamily="34" charset="0"/>
                    <a:defRPr kern="1200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90204" pitchFamily="34" charset="0"/>
                    <a:defRPr kern="1200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90204" pitchFamily="34" charset="0"/>
                    <a:defRPr kern="1200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90204" pitchFamily="34" charset="0"/>
                    <a:defRPr kern="1200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9pPr>
                </a:lstStyle>
                <a:p>
                  <a:r>
                    <a:rPr lang="zh-CN" altLang="en-US" sz="1400" b="1" dirty="0">
                      <a:latin typeface="微软雅黑" panose="020B0503020204020204" charset="-122"/>
                      <a:ea typeface="微软雅黑" panose="020B0503020204020204" charset="-122"/>
                    </a:rPr>
                    <a:t>发布公告</a:t>
                  </a:r>
                  <a:endParaRPr lang="zh-CN" altLang="en-US" sz="1400" b="1" dirty="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cxnSp>
            <p:nvCxnSpPr>
              <p:cNvPr id="54" name="直接箭头连接符 53"/>
              <p:cNvCxnSpPr/>
              <p:nvPr/>
            </p:nvCxnSpPr>
            <p:spPr bwMode="auto">
              <a:xfrm flipV="1">
                <a:off x="3354350" y="2596834"/>
                <a:ext cx="0" cy="560742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bg1">
                    <a:lumMod val="50000"/>
                  </a:schemeClr>
                </a:solidFill>
                <a:prstDash val="dash"/>
                <a:round/>
                <a:headEnd type="none" w="med" len="med"/>
                <a:tailEnd type="triangle"/>
              </a:ln>
            </p:spPr>
          </p:cxnSp>
        </p:grpSp>
        <p:sp>
          <p:nvSpPr>
            <p:cNvPr id="52" name="圆角矩形 1">
              <a:hlinkClick r:id="" action="ppaction://noaction"/>
            </p:cNvPr>
            <p:cNvSpPr/>
            <p:nvPr/>
          </p:nvSpPr>
          <p:spPr bwMode="auto">
            <a:xfrm>
              <a:off x="1929350" y="2332726"/>
              <a:ext cx="260360" cy="268923"/>
            </a:xfrm>
            <a:prstGeom prst="roundRect">
              <a:avLst/>
            </a:prstGeom>
            <a:solidFill>
              <a:srgbClr val="3F7F9B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lang="zh-CN" altLang="en-US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7251847" y="1848068"/>
            <a:ext cx="1139157" cy="1409525"/>
            <a:chOff x="6603779" y="1772816"/>
            <a:chExt cx="1139157" cy="1409525"/>
          </a:xfrm>
        </p:grpSpPr>
        <p:grpSp>
          <p:nvGrpSpPr>
            <p:cNvPr id="45" name="组合 44"/>
            <p:cNvGrpSpPr/>
            <p:nvPr/>
          </p:nvGrpSpPr>
          <p:grpSpPr>
            <a:xfrm>
              <a:off x="6840125" y="1772816"/>
              <a:ext cx="902811" cy="1409525"/>
              <a:chOff x="8369745" y="1603801"/>
              <a:chExt cx="1025375" cy="1553775"/>
            </a:xfrm>
          </p:grpSpPr>
          <p:grpSp>
            <p:nvGrpSpPr>
              <p:cNvPr id="47" name="组合 46"/>
              <p:cNvGrpSpPr/>
              <p:nvPr/>
            </p:nvGrpSpPr>
            <p:grpSpPr>
              <a:xfrm>
                <a:off x="8369745" y="1603801"/>
                <a:ext cx="1025375" cy="1056574"/>
                <a:chOff x="2767335" y="1556791"/>
                <a:chExt cx="1025375" cy="1056574"/>
              </a:xfrm>
            </p:grpSpPr>
            <p:pic>
              <p:nvPicPr>
                <p:cNvPr id="49" name="图片 48"/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13411" y="1556791"/>
                  <a:ext cx="810660" cy="810660"/>
                </a:xfrm>
                <a:prstGeom prst="rect">
                  <a:avLst/>
                </a:prstGeom>
              </p:spPr>
            </p:pic>
            <p:sp>
              <p:nvSpPr>
                <p:cNvPr id="50" name="文本框 27"/>
                <p:cNvSpPr txBox="1"/>
                <p:nvPr/>
              </p:nvSpPr>
              <p:spPr>
                <a:xfrm>
                  <a:off x="2767335" y="2274090"/>
                  <a:ext cx="1025375" cy="3392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90204" pitchFamily="34" charset="0"/>
                    <a:defRPr kern="1200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90204" pitchFamily="34" charset="0"/>
                    <a:defRPr kern="1200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90204" pitchFamily="34" charset="0"/>
                    <a:defRPr kern="1200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90204" pitchFamily="34" charset="0"/>
                    <a:defRPr kern="1200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90204" pitchFamily="34" charset="0"/>
                    <a:defRPr kern="1200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9pPr>
                </a:lstStyle>
                <a:p>
                  <a:r>
                    <a:rPr lang="zh-CN" altLang="en-US" sz="1400" b="1" dirty="0">
                      <a:latin typeface="微软雅黑" panose="020B0503020204020204" charset="-122"/>
                      <a:ea typeface="微软雅黑" panose="020B0503020204020204" charset="-122"/>
                    </a:rPr>
                    <a:t>发布公告</a:t>
                  </a:r>
                  <a:endParaRPr lang="zh-CN" altLang="en-US" sz="1400" b="1" dirty="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cxnSp>
            <p:nvCxnSpPr>
              <p:cNvPr id="48" name="直接箭头连接符 47"/>
              <p:cNvCxnSpPr/>
              <p:nvPr/>
            </p:nvCxnSpPr>
            <p:spPr bwMode="auto">
              <a:xfrm flipV="1">
                <a:off x="8822700" y="2596834"/>
                <a:ext cx="0" cy="560742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bg1">
                    <a:lumMod val="50000"/>
                  </a:schemeClr>
                </a:solidFill>
                <a:prstDash val="dash"/>
                <a:round/>
                <a:headEnd type="none" w="med" len="med"/>
                <a:tailEnd type="triangle"/>
              </a:ln>
            </p:spPr>
          </p:cxnSp>
        </p:grpSp>
        <p:sp>
          <p:nvSpPr>
            <p:cNvPr id="46" name="圆角矩形 1">
              <a:hlinkClick r:id="" action="ppaction://noaction"/>
            </p:cNvPr>
            <p:cNvSpPr/>
            <p:nvPr/>
          </p:nvSpPr>
          <p:spPr bwMode="auto">
            <a:xfrm>
              <a:off x="6603779" y="2417819"/>
              <a:ext cx="256637" cy="255657"/>
            </a:xfrm>
            <a:prstGeom prst="roundRect">
              <a:avLst/>
            </a:prstGeom>
            <a:solidFill>
              <a:srgbClr val="3F7F9B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lang="zh-CN" altLang="en-US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50095" y="4158128"/>
            <a:ext cx="1934367" cy="1493581"/>
            <a:chOff x="898998" y="4365433"/>
            <a:chExt cx="1934367" cy="1493581"/>
          </a:xfrm>
        </p:grpSpPr>
        <p:grpSp>
          <p:nvGrpSpPr>
            <p:cNvPr id="38" name="组合 37"/>
            <p:cNvGrpSpPr/>
            <p:nvPr/>
          </p:nvGrpSpPr>
          <p:grpSpPr>
            <a:xfrm>
              <a:off x="1127449" y="5043092"/>
              <a:ext cx="1705916" cy="815922"/>
              <a:chOff x="3147139" y="5301208"/>
              <a:chExt cx="1937508" cy="899423"/>
            </a:xfrm>
          </p:grpSpPr>
          <p:pic>
            <p:nvPicPr>
              <p:cNvPr id="42" name="图片 41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54351" y="5301513"/>
                <a:ext cx="539440" cy="539440"/>
              </a:xfrm>
              <a:prstGeom prst="rect">
                <a:avLst/>
              </a:prstGeom>
            </p:spPr>
          </p:pic>
          <p:pic>
            <p:nvPicPr>
              <p:cNvPr id="43" name="图片 42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949403" y="5301208"/>
                <a:ext cx="539440" cy="539440"/>
              </a:xfrm>
              <a:prstGeom prst="rect">
                <a:avLst/>
              </a:prstGeom>
            </p:spPr>
          </p:pic>
          <p:sp>
            <p:nvSpPr>
              <p:cNvPr id="44" name="文本框 38"/>
              <p:cNvSpPr txBox="1"/>
              <p:nvPr/>
            </p:nvSpPr>
            <p:spPr>
              <a:xfrm>
                <a:off x="3147139" y="5861356"/>
                <a:ext cx="1937508" cy="3392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r>
                  <a:rPr lang="zh-CN" altLang="en-US" sz="1400" b="1" dirty="0">
                    <a:latin typeface="微软雅黑" panose="020B0503020204020204" charset="-122"/>
                    <a:ea typeface="微软雅黑" panose="020B0503020204020204" charset="-122"/>
                  </a:rPr>
                  <a:t>企业</a:t>
                </a:r>
                <a:r>
                  <a:rPr lang="en-US" altLang="zh-CN" sz="1400" b="1" dirty="0">
                    <a:latin typeface="微软雅黑" panose="020B0503020204020204" charset="-122"/>
                    <a:ea typeface="微软雅黑" panose="020B0503020204020204" charset="-122"/>
                  </a:rPr>
                  <a:t>/</a:t>
                </a:r>
                <a:r>
                  <a:rPr lang="zh-CN" altLang="en-US" sz="1400" b="1" dirty="0">
                    <a:latin typeface="微软雅黑" panose="020B0503020204020204" charset="-122"/>
                    <a:ea typeface="微软雅黑" panose="020B0503020204020204" charset="-122"/>
                  </a:rPr>
                  <a:t>人才认租申请</a:t>
                </a:r>
                <a:endParaRPr lang="zh-CN" altLang="en-US" sz="1400" b="1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cxnSp>
          <p:nvCxnSpPr>
            <p:cNvPr id="39" name="直接箭头连接符 38"/>
            <p:cNvCxnSpPr/>
            <p:nvPr/>
          </p:nvCxnSpPr>
          <p:spPr bwMode="auto">
            <a:xfrm flipV="1">
              <a:off x="1891409" y="4365433"/>
              <a:ext cx="553696" cy="58189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triangle"/>
            </a:ln>
          </p:spPr>
        </p:cxnSp>
        <p:sp>
          <p:nvSpPr>
            <p:cNvPr id="40" name="圆角矩形 1">
              <a:hlinkClick r:id="" action="ppaction://noaction"/>
            </p:cNvPr>
            <p:cNvSpPr/>
            <p:nvPr/>
          </p:nvSpPr>
          <p:spPr bwMode="auto">
            <a:xfrm>
              <a:off x="898998" y="5586985"/>
              <a:ext cx="272786" cy="266248"/>
            </a:xfrm>
            <a:prstGeom prst="roundRect">
              <a:avLst/>
            </a:prstGeom>
            <a:solidFill>
              <a:srgbClr val="3F7F9B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endParaRPr lang="zh-CN" altLang="en-US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975124" y="4095091"/>
            <a:ext cx="1222474" cy="1000923"/>
            <a:chOff x="2496035" y="4302396"/>
            <a:chExt cx="1222474" cy="1000923"/>
          </a:xfrm>
        </p:grpSpPr>
        <p:grpSp>
          <p:nvGrpSpPr>
            <p:cNvPr id="34" name="组合 33"/>
            <p:cNvGrpSpPr/>
            <p:nvPr/>
          </p:nvGrpSpPr>
          <p:grpSpPr>
            <a:xfrm>
              <a:off x="2711623" y="4302396"/>
              <a:ext cx="1006886" cy="1000923"/>
              <a:chOff x="3285868" y="4050680"/>
              <a:chExt cx="1143579" cy="1103357"/>
            </a:xfrm>
          </p:grpSpPr>
          <p:pic>
            <p:nvPicPr>
              <p:cNvPr id="36" name="图片 35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85868" y="4050680"/>
                <a:ext cx="767532" cy="574930"/>
              </a:xfrm>
              <a:prstGeom prst="rect">
                <a:avLst/>
              </a:prstGeom>
            </p:spPr>
          </p:pic>
          <p:sp>
            <p:nvSpPr>
              <p:cNvPr id="37" name="文本框 43"/>
              <p:cNvSpPr txBox="1"/>
              <p:nvPr/>
            </p:nvSpPr>
            <p:spPr>
              <a:xfrm>
                <a:off x="3302118" y="4636644"/>
                <a:ext cx="1127329" cy="5173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r>
                  <a:rPr lang="zh-CN" altLang="en-US" sz="1400" b="1" dirty="0">
                    <a:latin typeface="微软雅黑" panose="020B0503020204020204" charset="-122"/>
                    <a:ea typeface="微软雅黑" panose="020B0503020204020204" charset="-122"/>
                  </a:rPr>
                  <a:t>资格审核</a:t>
                </a:r>
                <a:endParaRPr lang="en-US" altLang="zh-CN" sz="1400" b="1" dirty="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r>
                  <a:rPr lang="zh-CN" altLang="en-US" sz="1050" kern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确定分配对象</a:t>
                </a:r>
                <a:endParaRPr lang="zh-CN" altLang="en-US" sz="1050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35" name="圆角矩形 1">
              <a:hlinkClick r:id="" action="ppaction://noaction"/>
            </p:cNvPr>
            <p:cNvSpPr/>
            <p:nvPr/>
          </p:nvSpPr>
          <p:spPr bwMode="auto">
            <a:xfrm>
              <a:off x="2496035" y="4874037"/>
              <a:ext cx="259925" cy="282320"/>
            </a:xfrm>
            <a:prstGeom prst="roundRect">
              <a:avLst/>
            </a:prstGeom>
            <a:solidFill>
              <a:srgbClr val="3F7F9B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4</a:t>
              </a:r>
              <a:endParaRPr lang="zh-CN" altLang="en-US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662378" y="4949052"/>
            <a:ext cx="2482316" cy="1093492"/>
            <a:chOff x="3355858" y="5148779"/>
            <a:chExt cx="2482316" cy="1093492"/>
          </a:xfrm>
        </p:grpSpPr>
        <p:grpSp>
          <p:nvGrpSpPr>
            <p:cNvPr id="29" name="组合 28"/>
            <p:cNvGrpSpPr/>
            <p:nvPr/>
          </p:nvGrpSpPr>
          <p:grpSpPr>
            <a:xfrm>
              <a:off x="4053172" y="5148779"/>
              <a:ext cx="1785002" cy="1093492"/>
              <a:chOff x="6654609" y="4885610"/>
              <a:chExt cx="1785002" cy="1093492"/>
            </a:xfrm>
          </p:grpSpPr>
          <p:pic>
            <p:nvPicPr>
              <p:cNvPr id="31" name="图片 30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31346" y="4885610"/>
                <a:ext cx="702722" cy="724025"/>
              </a:xfrm>
              <a:prstGeom prst="rect">
                <a:avLst/>
              </a:prstGeom>
            </p:spPr>
          </p:pic>
          <p:sp>
            <p:nvSpPr>
              <p:cNvPr id="32" name="矩形 31"/>
              <p:cNvSpPr/>
              <p:nvPr/>
            </p:nvSpPr>
            <p:spPr>
              <a:xfrm>
                <a:off x="6869951" y="5509743"/>
                <a:ext cx="1569660" cy="4693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r>
                  <a:rPr lang="zh-CN" altLang="en-US" sz="1400" b="1" dirty="0">
                    <a:latin typeface="微软雅黑" panose="020B0503020204020204" charset="-122"/>
                    <a:ea typeface="微软雅黑" panose="020B0503020204020204" charset="-122"/>
                  </a:rPr>
                  <a:t>住房分配</a:t>
                </a:r>
                <a:endParaRPr lang="en-US" altLang="zh-CN" sz="1400" b="1" dirty="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171450" indent="-171450">
                  <a:buFont typeface="Arial" panose="020B0604020202090204" pitchFamily="34" charset="0"/>
                  <a:buChar char="•"/>
                </a:pPr>
                <a:r>
                  <a:rPr lang="zh-CN" altLang="en-US" sz="1050" kern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审核、下达分配计划</a:t>
                </a:r>
                <a:endParaRPr lang="en-US" altLang="zh-CN" sz="1050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3" name="圆角矩形 1">
                <a:hlinkClick r:id="" action="ppaction://noaction"/>
              </p:cNvPr>
              <p:cNvSpPr/>
              <p:nvPr/>
            </p:nvSpPr>
            <p:spPr bwMode="auto">
              <a:xfrm>
                <a:off x="6654609" y="5434088"/>
                <a:ext cx="288044" cy="307776"/>
              </a:xfrm>
              <a:prstGeom prst="roundRect">
                <a:avLst/>
              </a:prstGeom>
              <a:solidFill>
                <a:srgbClr val="3F7F9B"/>
              </a:solidFill>
              <a:ln>
                <a:noFill/>
              </a:ln>
              <a:effectLst/>
            </p:spPr>
            <p:txBody>
              <a:bodyPr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5</a:t>
                </a:r>
                <a:endParaRPr lang="zh-CN" altLang="en-US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cxnSp>
          <p:nvCxnSpPr>
            <p:cNvPr id="30" name="连接符: 曲线 29"/>
            <p:cNvCxnSpPr>
              <a:endCxn id="33" idx="1"/>
            </p:cNvCxnSpPr>
            <p:nvPr/>
          </p:nvCxnSpPr>
          <p:spPr bwMode="auto">
            <a:xfrm>
              <a:off x="3355858" y="5285548"/>
              <a:ext cx="697314" cy="565597"/>
            </a:xfrm>
            <a:prstGeom prst="curvedConnector3">
              <a:avLst>
                <a:gd name="adj1" fmla="val 50000"/>
              </a:avLst>
            </a:prstGeom>
            <a:solidFill>
              <a:schemeClr val="accent1"/>
            </a:solidFill>
            <a:ln w="19050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triangle"/>
            </a:ln>
          </p:spPr>
        </p:cxnSp>
      </p:grpSp>
      <p:grpSp>
        <p:nvGrpSpPr>
          <p:cNvPr id="11" name="组合 10"/>
          <p:cNvGrpSpPr/>
          <p:nvPr/>
        </p:nvGrpSpPr>
        <p:grpSpPr>
          <a:xfrm>
            <a:off x="2450001" y="3533122"/>
            <a:ext cx="5183266" cy="2031705"/>
            <a:chOff x="3357012" y="3652058"/>
            <a:chExt cx="3975988" cy="2031705"/>
          </a:xfrm>
        </p:grpSpPr>
        <p:grpSp>
          <p:nvGrpSpPr>
            <p:cNvPr id="25" name="组合 24"/>
            <p:cNvGrpSpPr/>
            <p:nvPr/>
          </p:nvGrpSpPr>
          <p:grpSpPr>
            <a:xfrm>
              <a:off x="3357012" y="3689771"/>
              <a:ext cx="1030208" cy="536160"/>
              <a:chOff x="4624225" y="4845719"/>
              <a:chExt cx="1030208" cy="536160"/>
            </a:xfrm>
          </p:grpSpPr>
          <p:sp>
            <p:nvSpPr>
              <p:cNvPr id="27" name="矩形 26"/>
              <p:cNvSpPr/>
              <p:nvPr/>
            </p:nvSpPr>
            <p:spPr>
              <a:xfrm rot="1104581">
                <a:off x="4751622" y="5074102"/>
                <a:ext cx="902811" cy="307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r>
                  <a:rPr lang="zh-CN" altLang="en-US" sz="1400" b="1" dirty="0">
                    <a:latin typeface="微软雅黑" panose="020B0503020204020204" charset="-122"/>
                    <a:ea typeface="微软雅黑" panose="020B0503020204020204" charset="-122"/>
                  </a:rPr>
                  <a:t>反馈状态</a:t>
                </a:r>
                <a:endParaRPr lang="en-US" altLang="zh-CN" sz="1400" b="1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8" name="圆角矩形 1">
                <a:hlinkClick r:id="" action="ppaction://noaction"/>
              </p:cNvPr>
              <p:cNvSpPr/>
              <p:nvPr/>
            </p:nvSpPr>
            <p:spPr bwMode="auto">
              <a:xfrm rot="1180351">
                <a:off x="4624225" y="4845719"/>
                <a:ext cx="200893" cy="269160"/>
              </a:xfrm>
              <a:prstGeom prst="roundRect">
                <a:avLst/>
              </a:prstGeom>
              <a:solidFill>
                <a:srgbClr val="3F7F9B"/>
              </a:solidFill>
              <a:ln>
                <a:noFill/>
              </a:ln>
              <a:effectLst/>
            </p:spPr>
            <p:txBody>
              <a:bodyPr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8</a:t>
                </a:r>
                <a:endParaRPr lang="zh-CN" altLang="en-US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cxnSp>
          <p:nvCxnSpPr>
            <p:cNvPr id="26" name="连接符: 曲线 25"/>
            <p:cNvCxnSpPr/>
            <p:nvPr/>
          </p:nvCxnSpPr>
          <p:spPr bwMode="auto">
            <a:xfrm rot="10800000">
              <a:off x="3484018" y="3652058"/>
              <a:ext cx="3848982" cy="2031705"/>
            </a:xfrm>
            <a:prstGeom prst="curvedConnector3">
              <a:avLst>
                <a:gd name="adj1" fmla="val 50000"/>
              </a:avLst>
            </a:prstGeom>
            <a:solidFill>
              <a:schemeClr val="accent1"/>
            </a:solidFill>
            <a:ln w="19050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triangle"/>
            </a:ln>
          </p:spPr>
        </p:cxnSp>
      </p:grpSp>
      <p:grpSp>
        <p:nvGrpSpPr>
          <p:cNvPr id="12" name="组合 11"/>
          <p:cNvGrpSpPr/>
          <p:nvPr/>
        </p:nvGrpSpPr>
        <p:grpSpPr>
          <a:xfrm>
            <a:off x="7596669" y="4077065"/>
            <a:ext cx="2041601" cy="1889236"/>
            <a:chOff x="6789023" y="4608829"/>
            <a:chExt cx="2041601" cy="1889236"/>
          </a:xfrm>
        </p:grpSpPr>
        <p:grpSp>
          <p:nvGrpSpPr>
            <p:cNvPr id="20" name="组合 19"/>
            <p:cNvGrpSpPr/>
            <p:nvPr/>
          </p:nvGrpSpPr>
          <p:grpSpPr>
            <a:xfrm>
              <a:off x="6789023" y="5242990"/>
              <a:ext cx="2041601" cy="1255075"/>
              <a:chOff x="6630446" y="4885610"/>
              <a:chExt cx="2041601" cy="1255075"/>
            </a:xfrm>
          </p:grpSpPr>
          <p:pic>
            <p:nvPicPr>
              <p:cNvPr id="22" name="图片 21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83060" y="4885610"/>
                <a:ext cx="702722" cy="724025"/>
              </a:xfrm>
              <a:prstGeom prst="rect">
                <a:avLst/>
              </a:prstGeom>
            </p:spPr>
          </p:pic>
          <p:sp>
            <p:nvSpPr>
              <p:cNvPr id="23" name="矩形 22"/>
              <p:cNvSpPr/>
              <p:nvPr/>
            </p:nvSpPr>
            <p:spPr>
              <a:xfrm>
                <a:off x="6869951" y="5509743"/>
                <a:ext cx="1802096" cy="630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r>
                  <a:rPr lang="zh-CN" altLang="en-US" sz="1400" b="1" dirty="0">
                    <a:latin typeface="微软雅黑" panose="020B0503020204020204" charset="-122"/>
                    <a:ea typeface="微软雅黑" panose="020B0503020204020204" charset="-122"/>
                  </a:rPr>
                  <a:t>合同签约</a:t>
                </a:r>
                <a:endParaRPr lang="en-US" altLang="zh-CN" sz="1400" b="1" dirty="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171450" indent="-171450">
                  <a:buFont typeface="Arial" panose="020B0604020202090204" pitchFamily="34" charset="0"/>
                  <a:buChar char="•"/>
                </a:pPr>
                <a:r>
                  <a:rPr lang="zh-CN" altLang="en-US" sz="1050" kern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个人</a:t>
                </a:r>
                <a:r>
                  <a:rPr lang="en-US" altLang="zh-CN" sz="1050" kern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-</a:t>
                </a:r>
                <a:r>
                  <a:rPr lang="zh-CN" altLang="en-US" sz="1050" kern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在线签约</a:t>
                </a:r>
                <a:endParaRPr lang="en-US" altLang="zh-CN" sz="1050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171450" indent="-171450">
                  <a:buFont typeface="Arial" panose="020B0604020202090204" pitchFamily="34" charset="0"/>
                  <a:buChar char="•"/>
                </a:pPr>
                <a:r>
                  <a:rPr lang="zh-CN" altLang="en-US" sz="1050" kern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企业</a:t>
                </a:r>
                <a:r>
                  <a:rPr lang="en-US" altLang="zh-CN" sz="1050" kern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-</a:t>
                </a:r>
                <a:r>
                  <a:rPr lang="zh-CN" altLang="en-US" sz="1050" kern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打印合同（盖章）</a:t>
                </a:r>
                <a:endParaRPr lang="en-US" altLang="zh-CN" sz="1050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4" name="圆角矩形 1">
                <a:hlinkClick r:id="" action="ppaction://noaction"/>
              </p:cNvPr>
              <p:cNvSpPr/>
              <p:nvPr/>
            </p:nvSpPr>
            <p:spPr bwMode="auto">
              <a:xfrm>
                <a:off x="6630446" y="5554065"/>
                <a:ext cx="252614" cy="266248"/>
              </a:xfrm>
              <a:prstGeom prst="roundRect">
                <a:avLst/>
              </a:prstGeom>
              <a:solidFill>
                <a:srgbClr val="3F7F9B"/>
              </a:solidFill>
              <a:ln>
                <a:noFill/>
              </a:ln>
              <a:effectLst/>
            </p:spPr>
            <p:txBody>
              <a:bodyPr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7</a:t>
                </a:r>
                <a:endParaRPr lang="zh-CN" altLang="en-US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cxnSp>
          <p:nvCxnSpPr>
            <p:cNvPr id="21" name="直接箭头连接符 20"/>
            <p:cNvCxnSpPr>
              <a:endCxn id="22" idx="0"/>
            </p:cNvCxnSpPr>
            <p:nvPr/>
          </p:nvCxnSpPr>
          <p:spPr bwMode="auto">
            <a:xfrm>
              <a:off x="6816559" y="4608829"/>
              <a:ext cx="576439" cy="63416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triangle"/>
            </a:ln>
          </p:spPr>
        </p:cxnSp>
      </p:grpSp>
      <p:grpSp>
        <p:nvGrpSpPr>
          <p:cNvPr id="13" name="组合 12"/>
          <p:cNvGrpSpPr/>
          <p:nvPr/>
        </p:nvGrpSpPr>
        <p:grpSpPr>
          <a:xfrm>
            <a:off x="4187790" y="3481100"/>
            <a:ext cx="3634170" cy="1467952"/>
            <a:chOff x="2669858" y="3540064"/>
            <a:chExt cx="3634170" cy="1467952"/>
          </a:xfrm>
        </p:grpSpPr>
        <p:grpSp>
          <p:nvGrpSpPr>
            <p:cNvPr id="14" name="组合 13"/>
            <p:cNvGrpSpPr/>
            <p:nvPr/>
          </p:nvGrpSpPr>
          <p:grpSpPr>
            <a:xfrm>
              <a:off x="4218028" y="3920010"/>
              <a:ext cx="2086000" cy="630941"/>
              <a:chOff x="4001928" y="3596789"/>
              <a:chExt cx="2086000" cy="630941"/>
            </a:xfrm>
          </p:grpSpPr>
          <p:sp>
            <p:nvSpPr>
              <p:cNvPr id="19" name="文本框 50"/>
              <p:cNvSpPr txBox="1"/>
              <p:nvPr/>
            </p:nvSpPr>
            <p:spPr>
              <a:xfrm>
                <a:off x="4248966" y="3596789"/>
                <a:ext cx="1838962" cy="6309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r>
                  <a:rPr lang="zh-CN" altLang="en-US" sz="1400" b="1" dirty="0">
                    <a:latin typeface="微软雅黑" panose="020B0503020204020204" charset="-122"/>
                    <a:ea typeface="微软雅黑" panose="020B0503020204020204" charset="-122"/>
                  </a:rPr>
                  <a:t>同步分配计划</a:t>
                </a:r>
                <a:endParaRPr lang="en-US" altLang="zh-CN" sz="1400" b="1" dirty="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171450" indent="-171450">
                  <a:buFont typeface="Arial" panose="020B0604020202090204" pitchFamily="34" charset="0"/>
                  <a:buChar char="•"/>
                </a:pPr>
                <a:r>
                  <a:rPr lang="zh-CN" altLang="en-US" sz="1050" kern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人房匹配信息（含配额）</a:t>
                </a:r>
                <a:endParaRPr lang="en-US" altLang="zh-CN" sz="1050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171450" indent="-171450">
                  <a:buFont typeface="Arial" panose="020B0604020202090204" pitchFamily="34" charset="0"/>
                  <a:buChar char="•"/>
                </a:pPr>
                <a:r>
                  <a:rPr lang="zh-CN" altLang="en-US" sz="1050" kern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企业</a:t>
                </a:r>
                <a:r>
                  <a:rPr lang="en-US" altLang="zh-CN" sz="1050" kern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/</a:t>
                </a:r>
                <a:r>
                  <a:rPr lang="zh-CN" altLang="en-US" sz="1050" kern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人才信息</a:t>
                </a:r>
                <a:endParaRPr lang="en-US" altLang="zh-CN" sz="1050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7" name="圆角矩形 1">
                <a:hlinkClick r:id="" action="ppaction://noaction"/>
              </p:cNvPr>
              <p:cNvSpPr/>
              <p:nvPr/>
            </p:nvSpPr>
            <p:spPr bwMode="auto">
              <a:xfrm>
                <a:off x="4001928" y="3613668"/>
                <a:ext cx="269563" cy="268772"/>
              </a:xfrm>
              <a:prstGeom prst="roundRect">
                <a:avLst/>
              </a:prstGeom>
              <a:solidFill>
                <a:srgbClr val="3F7F9B"/>
              </a:solidFill>
              <a:ln>
                <a:noFill/>
              </a:ln>
              <a:effectLst/>
            </p:spPr>
            <p:txBody>
              <a:bodyPr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6</a:t>
                </a:r>
                <a:endParaRPr lang="zh-CN" altLang="en-US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cxnSp>
          <p:nvCxnSpPr>
            <p:cNvPr id="15" name="连接符: 曲线 14"/>
            <p:cNvCxnSpPr>
              <a:stCxn id="31" idx="0"/>
              <a:endCxn id="66" idx="1"/>
            </p:cNvCxnSpPr>
            <p:nvPr/>
          </p:nvCxnSpPr>
          <p:spPr bwMode="auto">
            <a:xfrm rot="5400000" flipH="1" flipV="1">
              <a:off x="3470746" y="2739176"/>
              <a:ext cx="1467952" cy="3069728"/>
            </a:xfrm>
            <a:prstGeom prst="curvedConnector2">
              <a:avLst/>
            </a:prstGeom>
            <a:solidFill>
              <a:schemeClr val="accent1"/>
            </a:solidFill>
            <a:ln w="19050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triangle"/>
            </a:ln>
          </p:spPr>
        </p:cxnSp>
      </p:grpSp>
      <p:sp>
        <p:nvSpPr>
          <p:cNvPr id="64" name="矩形 63"/>
          <p:cNvSpPr/>
          <p:nvPr/>
        </p:nvSpPr>
        <p:spPr>
          <a:xfrm>
            <a:off x="10200456" y="1745463"/>
            <a:ext cx="2182683" cy="44627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9pPr>
          </a:lstStyle>
          <a:p>
            <a:endParaRPr lang="en-US" altLang="zh-CN" sz="14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90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5" name="图片 64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15476" y="2997424"/>
            <a:ext cx="978900" cy="942021"/>
          </a:xfrm>
          <a:prstGeom prst="rect">
            <a:avLst/>
          </a:prstGeom>
        </p:spPr>
      </p:pic>
      <p:pic>
        <p:nvPicPr>
          <p:cNvPr id="66" name="图片 65" descr="徽标, 公司名称&#10;&#10;描述已自动生成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15" t="17331" r="17333" b="42578"/>
          <a:stretch>
            <a:fillRect/>
          </a:stretch>
        </p:blipFill>
        <p:spPr>
          <a:xfrm>
            <a:off x="7257518" y="2967809"/>
            <a:ext cx="1220413" cy="1026582"/>
          </a:xfrm>
          <a:prstGeom prst="rect">
            <a:avLst/>
          </a:prstGeom>
        </p:spPr>
      </p:pic>
      <p:sp>
        <p:nvSpPr>
          <p:cNvPr id="74" name="文本框 1"/>
          <p:cNvSpPr txBox="1"/>
          <p:nvPr/>
        </p:nvSpPr>
        <p:spPr>
          <a:xfrm>
            <a:off x="9750613" y="2276872"/>
            <a:ext cx="2270651" cy="28133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defTabSz="1176655">
              <a:lnSpc>
                <a:spcPct val="150000"/>
              </a:lnSpc>
              <a:buClrTx/>
              <a:buSzTx/>
              <a:buFont typeface="Arial" panose="020B0604020202090204" pitchFamily="34" charset="0"/>
              <a:buNone/>
              <a:defRPr sz="1800" spc="0" baseline="0"/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理想对接场景</a:t>
            </a:r>
            <a:endParaRPr lang="en-US" altLang="zh-CN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28600" indent="-228600" eaLnBrk="0" hangingPunct="0">
              <a:buFont typeface="+mj-lt"/>
              <a:buAutoNum type="arabicPeriod"/>
            </a:pPr>
            <a:r>
              <a:rPr lang="zh-CN" altLang="en-US" sz="1050" kern="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运营平台将房源数据上报市住建局平台；</a:t>
            </a:r>
            <a:endParaRPr lang="en-US" altLang="zh-CN" sz="1050" kern="0" dirty="0">
              <a:solidFill>
                <a:sysClr val="windowText" lastClr="000000">
                  <a:lumMod val="65000"/>
                  <a:lumOff val="35000"/>
                </a:sys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indent="-228600" eaLnBrk="0" hangingPunct="0">
              <a:buFont typeface="+mj-lt"/>
              <a:buAutoNum type="arabicPeriod"/>
            </a:pPr>
            <a:r>
              <a:rPr lang="zh-CN" altLang="en-US" sz="1050" kern="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研究配租方案，双方发布配租公告；</a:t>
            </a:r>
            <a:endParaRPr lang="en-US" altLang="zh-CN" sz="1050" kern="0" dirty="0">
              <a:solidFill>
                <a:sysClr val="windowText" lastClr="000000">
                  <a:lumMod val="65000"/>
                  <a:lumOff val="35000"/>
                </a:sys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indent="-228600" eaLnBrk="0" hangingPunct="0">
              <a:buFont typeface="+mj-lt"/>
              <a:buAutoNum type="arabicPeriod"/>
            </a:pPr>
            <a:r>
              <a:rPr lang="zh-CN" altLang="en-US" sz="1050" kern="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企业</a:t>
            </a:r>
            <a:r>
              <a:rPr lang="en-US" altLang="zh-CN" sz="1050" kern="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050" kern="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人才向住建局提交申请，住建局负责资格审核，下达分配计划；</a:t>
            </a:r>
            <a:endParaRPr lang="en-US" altLang="zh-CN" sz="1050" kern="0" dirty="0">
              <a:solidFill>
                <a:sysClr val="windowText" lastClr="000000">
                  <a:lumMod val="65000"/>
                  <a:lumOff val="35000"/>
                </a:sys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indent="-228600" eaLnBrk="0" hangingPunct="0">
              <a:buFont typeface="+mj-lt"/>
              <a:buAutoNum type="arabicPeriod"/>
            </a:pPr>
            <a:r>
              <a:rPr lang="zh-CN" altLang="en-US" sz="1050" kern="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分配计划（含匹配信息、配额、企业</a:t>
            </a:r>
            <a:r>
              <a:rPr lang="en-US" altLang="zh-CN" sz="1050" kern="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050" kern="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人才信息）同步至运营平台中；</a:t>
            </a:r>
            <a:endParaRPr lang="en-US" altLang="zh-CN" sz="1050" kern="0" dirty="0">
              <a:solidFill>
                <a:sysClr val="windowText" lastClr="000000">
                  <a:lumMod val="65000"/>
                  <a:lumOff val="35000"/>
                </a:sys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indent="-228600" eaLnBrk="0" hangingPunct="0">
              <a:buFont typeface="+mj-lt"/>
              <a:buAutoNum type="arabicPeriod"/>
            </a:pPr>
            <a:r>
              <a:rPr lang="zh-CN" altLang="en-US" sz="1050" kern="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运营平台打印合同、签约并将状态反馈至市住建局平台。</a:t>
            </a:r>
            <a:endParaRPr lang="en-US" altLang="zh-CN" sz="1050" kern="0" dirty="0">
              <a:solidFill>
                <a:sysClr val="windowText" lastClr="000000">
                  <a:lumMod val="65000"/>
                  <a:lumOff val="35000"/>
                </a:sys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R="0" lvl="0" indent="0" defTabSz="1176655">
              <a:lnSpc>
                <a:spcPct val="150000"/>
              </a:lnSpc>
              <a:buClrTx/>
              <a:buSzTx/>
              <a:buFont typeface="Arial" panose="020B0604020202090204" pitchFamily="34" charset="0"/>
              <a:buNone/>
              <a:defRPr sz="1800" spc="0" baseline="0"/>
            </a:pPr>
            <a:endParaRPr lang="en-US" altLang="zh-CN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9584938" y="2390888"/>
            <a:ext cx="183470" cy="320314"/>
          </a:xfrm>
          <a:prstGeom prst="rect">
            <a:avLst/>
          </a:prstGeom>
          <a:solidFill>
            <a:srgbClr val="006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kern="1200">
                <a:solidFill>
                  <a:schemeClr val="lt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kern="1200">
                <a:solidFill>
                  <a:schemeClr val="lt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kern="1200">
                <a:solidFill>
                  <a:schemeClr val="lt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kern="1200">
                <a:solidFill>
                  <a:schemeClr val="lt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kern="1200">
                <a:solidFill>
                  <a:schemeClr val="lt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9pPr>
          </a:lstStyle>
          <a:p>
            <a:pPr algn="ctr"/>
            <a:endParaRPr lang="en-US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9" name="直接连接符 88"/>
          <p:cNvCxnSpPr/>
          <p:nvPr/>
        </p:nvCxnSpPr>
        <p:spPr>
          <a:xfrm>
            <a:off x="9480376" y="1391463"/>
            <a:ext cx="0" cy="5214193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>
                <a:lumMod val="75000"/>
                <a:lumOff val="25000"/>
                <a:alpha val="28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2" name="组合 91"/>
          <p:cNvGrpSpPr/>
          <p:nvPr/>
        </p:nvGrpSpPr>
        <p:grpSpPr>
          <a:xfrm>
            <a:off x="2528606" y="3232873"/>
            <a:ext cx="9556817" cy="3125410"/>
            <a:chOff x="2567608" y="3150440"/>
            <a:chExt cx="9556817" cy="3125410"/>
          </a:xfrm>
        </p:grpSpPr>
        <p:grpSp>
          <p:nvGrpSpPr>
            <p:cNvPr id="86" name="组合 85"/>
            <p:cNvGrpSpPr/>
            <p:nvPr/>
          </p:nvGrpSpPr>
          <p:grpSpPr>
            <a:xfrm>
              <a:off x="2567608" y="3150440"/>
              <a:ext cx="9556817" cy="3058732"/>
              <a:chOff x="3558535" y="3403563"/>
              <a:chExt cx="9556817" cy="3058732"/>
            </a:xfrm>
          </p:grpSpPr>
          <p:grpSp>
            <p:nvGrpSpPr>
              <p:cNvPr id="80" name="组合 79"/>
              <p:cNvGrpSpPr/>
              <p:nvPr/>
            </p:nvGrpSpPr>
            <p:grpSpPr>
              <a:xfrm>
                <a:off x="3558535" y="3665870"/>
                <a:ext cx="5029061" cy="2109797"/>
                <a:chOff x="3710935" y="3808532"/>
                <a:chExt cx="5029061" cy="2109797"/>
              </a:xfrm>
            </p:grpSpPr>
            <p:cxnSp>
              <p:nvCxnSpPr>
                <p:cNvPr id="78" name="连接符: 曲线 77"/>
                <p:cNvCxnSpPr/>
                <p:nvPr/>
              </p:nvCxnSpPr>
              <p:spPr bwMode="auto">
                <a:xfrm rot="10800000">
                  <a:off x="3722300" y="3886624"/>
                  <a:ext cx="5017696" cy="2031705"/>
                </a:xfrm>
                <a:prstGeom prst="curvedConnector3">
                  <a:avLst>
                    <a:gd name="adj1" fmla="val 50000"/>
                  </a:avLst>
                </a:prstGeom>
                <a:solidFill>
                  <a:schemeClr val="accent1"/>
                </a:solidFill>
                <a:ln w="28575" cap="flat" cmpd="sng" algn="ctr">
                  <a:solidFill>
                    <a:srgbClr val="C00000"/>
                  </a:solidFill>
                  <a:prstDash val="dash"/>
                  <a:round/>
                  <a:headEnd type="none" w="med" len="med"/>
                  <a:tailEnd type="triangle"/>
                </a:ln>
              </p:spPr>
            </p:cxnSp>
            <p:cxnSp>
              <p:nvCxnSpPr>
                <p:cNvPr id="79" name="直接箭头连接符 78"/>
                <p:cNvCxnSpPr/>
                <p:nvPr/>
              </p:nvCxnSpPr>
              <p:spPr bwMode="auto">
                <a:xfrm flipH="1" flipV="1">
                  <a:off x="3710935" y="3808532"/>
                  <a:ext cx="4657720" cy="25991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C00000"/>
                  </a:solidFill>
                  <a:prstDash val="dash"/>
                  <a:round/>
                  <a:headEnd type="none" w="med" len="med"/>
                  <a:tailEnd type="triangle"/>
                </a:ln>
              </p:spPr>
            </p:cxnSp>
          </p:grpSp>
          <p:sp>
            <p:nvSpPr>
              <p:cNvPr id="81" name="乘号 80"/>
              <p:cNvSpPr/>
              <p:nvPr/>
            </p:nvSpPr>
            <p:spPr bwMode="auto">
              <a:xfrm>
                <a:off x="5354647" y="3403563"/>
                <a:ext cx="523220" cy="523220"/>
              </a:xfrm>
              <a:prstGeom prst="mathMultiply">
                <a:avLst/>
              </a:prstGeom>
              <a:solidFill>
                <a:srgbClr val="C00000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 lang="zh-CN" altLang="en-US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endParaRPr>
              </a:p>
            </p:txBody>
          </p:sp>
          <p:sp>
            <p:nvSpPr>
              <p:cNvPr id="82" name="乘号 81"/>
              <p:cNvSpPr/>
              <p:nvPr/>
            </p:nvSpPr>
            <p:spPr bwMode="auto">
              <a:xfrm>
                <a:off x="5302462" y="3867736"/>
                <a:ext cx="523220" cy="523220"/>
              </a:xfrm>
              <a:prstGeom prst="mathMultiply">
                <a:avLst/>
              </a:prstGeom>
              <a:solidFill>
                <a:srgbClr val="C00000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 lang="zh-CN" altLang="en-US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endParaRPr>
              </a:p>
            </p:txBody>
          </p:sp>
          <p:grpSp>
            <p:nvGrpSpPr>
              <p:cNvPr id="85" name="组合 84"/>
              <p:cNvGrpSpPr/>
              <p:nvPr/>
            </p:nvGrpSpPr>
            <p:grpSpPr>
              <a:xfrm>
                <a:off x="10654321" y="5255874"/>
                <a:ext cx="2461031" cy="1206421"/>
                <a:chOff x="10654321" y="5255874"/>
                <a:chExt cx="2461031" cy="1206421"/>
              </a:xfrm>
            </p:grpSpPr>
            <p:sp>
              <p:nvSpPr>
                <p:cNvPr id="84" name="文本框 1"/>
                <p:cNvSpPr txBox="1"/>
                <p:nvPr/>
              </p:nvSpPr>
              <p:spPr>
                <a:xfrm>
                  <a:off x="10844701" y="5255874"/>
                  <a:ext cx="2270651" cy="1206421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R="0" lvl="0" indent="0" defTabSz="1176655">
                    <a:lnSpc>
                      <a:spcPct val="150000"/>
                    </a:lnSpc>
                    <a:buClrTx/>
                    <a:buSzTx/>
                    <a:buFont typeface="Arial" panose="020B0604020202090204" pitchFamily="34" charset="0"/>
                    <a:buNone/>
                    <a:defRPr sz="1800" spc="0" baseline="0"/>
                  </a:pPr>
                  <a:r>
                    <a:rPr lang="zh-CN" altLang="en-US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现实不允许</a:t>
                  </a:r>
                  <a:endParaRPr lang="en-US" altLang="zh-CN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  <a:p>
                  <a:pPr marR="0" lvl="0" indent="0" defTabSz="1176655">
                    <a:lnSpc>
                      <a:spcPct val="150000"/>
                    </a:lnSpc>
                    <a:buClrTx/>
                    <a:buSzTx/>
                    <a:buFont typeface="Arial" panose="020B0604020202090204" pitchFamily="34" charset="0"/>
                    <a:buNone/>
                    <a:defRPr sz="1800" spc="0" baseline="0"/>
                  </a:pPr>
                  <a:r>
                    <a:rPr lang="zh-CN" altLang="en-US" sz="1050" kern="0" dirty="0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仅允许</a:t>
                  </a:r>
                  <a:r>
                    <a:rPr lang="zh-CN" altLang="en-US" sz="1050" b="1" kern="0" dirty="0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单向</a:t>
                  </a:r>
                  <a:r>
                    <a:rPr lang="zh-CN" altLang="en-US" sz="1050" kern="0" dirty="0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安居运营平台数据同步（公共住房平台→安居运营平台单向对接方式）</a:t>
                  </a:r>
                  <a:endParaRPr lang="en-US" altLang="zh-CN" sz="1050" kern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83" name="矩形 82"/>
                <p:cNvSpPr/>
                <p:nvPr/>
              </p:nvSpPr>
              <p:spPr>
                <a:xfrm>
                  <a:off x="10654321" y="5367608"/>
                  <a:ext cx="183470" cy="320314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90204" pitchFamily="34" charset="0"/>
                    <a:defRPr kern="1200">
                      <a:solidFill>
                        <a:schemeClr val="lt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90204" pitchFamily="34" charset="0"/>
                    <a:defRPr kern="1200">
                      <a:solidFill>
                        <a:schemeClr val="lt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90204" pitchFamily="34" charset="0"/>
                    <a:defRPr kern="1200">
                      <a:solidFill>
                        <a:schemeClr val="lt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90204" pitchFamily="34" charset="0"/>
                    <a:defRPr kern="1200">
                      <a:solidFill>
                        <a:schemeClr val="lt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90204" pitchFamily="34" charset="0"/>
                    <a:defRPr kern="1200">
                      <a:solidFill>
                        <a:schemeClr val="lt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Arial" panose="020B0604020202090204" pitchFamily="34" charset="0"/>
                      <a:ea typeface="宋体" pitchFamily="2" charset="-122"/>
                      <a:cs typeface="+mn-cs"/>
                    </a:defRPr>
                  </a:lvl9pPr>
                </a:lstStyle>
                <a:p>
                  <a:pPr algn="ctr"/>
                  <a:endParaRPr lang="en-US" sz="2000" b="1" dirty="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91" name="文本框 90"/>
            <p:cNvSpPr txBox="1"/>
            <p:nvPr/>
          </p:nvSpPr>
          <p:spPr>
            <a:xfrm>
              <a:off x="2959509" y="5906518"/>
              <a:ext cx="165618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&gt;90%</a:t>
              </a: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为企业签约</a:t>
              </a:r>
              <a:endParaRPr lang="zh-CN" altLang="en-US" sz="1200" dirty="0">
                <a:solidFill>
                  <a:srgbClr val="C00000"/>
                </a:solidFill>
              </a:endParaRPr>
            </a:p>
          </p:txBody>
        </p:sp>
      </p:grpSp>
      <p:pic>
        <p:nvPicPr>
          <p:cNvPr id="100" name="图片 99"/>
          <p:cNvPicPr/>
          <p:nvPr/>
        </p:nvPicPr>
        <p:blipFill>
          <a:blip r:embed="rId8"/>
          <a:stretch>
            <a:fillRect/>
          </a:stretch>
        </p:blipFill>
        <p:spPr>
          <a:xfrm>
            <a:off x="9384665" y="0"/>
            <a:ext cx="2795905" cy="2276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695400" y="347960"/>
            <a:ext cx="9649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问题二、收费模式导致账单核销、开票等工作量倍增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Segoe UI Black" panose="020B0A02040204020203" pitchFamily="34" charset="0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241775" y="2681279"/>
            <a:ext cx="1898360" cy="2733021"/>
            <a:chOff x="540966" y="2069815"/>
            <a:chExt cx="1898360" cy="2733021"/>
          </a:xfrm>
        </p:grpSpPr>
        <p:grpSp>
          <p:nvGrpSpPr>
            <p:cNvPr id="17" name="组合 16"/>
            <p:cNvGrpSpPr/>
            <p:nvPr/>
          </p:nvGrpSpPr>
          <p:grpSpPr>
            <a:xfrm>
              <a:off x="540966" y="2069815"/>
              <a:ext cx="1898360" cy="755086"/>
              <a:chOff x="1199456" y="1459924"/>
              <a:chExt cx="1898360" cy="755086"/>
            </a:xfrm>
          </p:grpSpPr>
          <p:sp>
            <p:nvSpPr>
              <p:cNvPr id="23" name="文本框 11"/>
              <p:cNvSpPr>
                <a:spLocks noChangeArrowheads="1"/>
              </p:cNvSpPr>
              <p:nvPr/>
            </p:nvSpPr>
            <p:spPr bwMode="auto">
              <a:xfrm>
                <a:off x="1550223" y="1459924"/>
                <a:ext cx="154759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9pPr>
              </a:lstStyle>
              <a:p>
                <a:r>
                  <a:rPr lang="zh-CN" altLang="en-US" b="1" dirty="0">
                    <a:latin typeface="微软雅黑" panose="020B0503020204020204" charset="-122"/>
                    <a:ea typeface="微软雅黑" panose="020B0503020204020204" charset="-122"/>
                  </a:rPr>
                  <a:t>快捷支付</a:t>
                </a:r>
                <a:endParaRPr lang="en-US" altLang="zh-CN" b="1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24" name="组合 23"/>
              <p:cNvGrpSpPr/>
              <p:nvPr/>
            </p:nvGrpSpPr>
            <p:grpSpPr>
              <a:xfrm>
                <a:off x="1199456" y="1500863"/>
                <a:ext cx="1656184" cy="714147"/>
                <a:chOff x="1199456" y="1500863"/>
                <a:chExt cx="1656184" cy="714147"/>
              </a:xfrm>
            </p:grpSpPr>
            <p:sp>
              <p:nvSpPr>
                <p:cNvPr id="25" name="矩形 24"/>
                <p:cNvSpPr/>
                <p:nvPr/>
              </p:nvSpPr>
              <p:spPr bwMode="auto">
                <a:xfrm>
                  <a:off x="1275895" y="1500863"/>
                  <a:ext cx="288032" cy="288032"/>
                </a:xfrm>
                <a:prstGeom prst="rect">
                  <a:avLst/>
                </a:prstGeom>
                <a:solidFill>
                  <a:srgbClr val="00659B"/>
                </a:soli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Calibri" panose="020F0502020204030204" charset="0"/>
                    </a:rPr>
                    <a:t>1</a:t>
                  </a:r>
                  <a:endParaRPr lang="zh-CN" altLang="en-US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endParaRPr>
                </a:p>
              </p:txBody>
            </p:sp>
            <p:sp>
              <p:nvSpPr>
                <p:cNvPr id="26" name="文本框 11"/>
                <p:cNvSpPr>
                  <a:spLocks noChangeArrowheads="1"/>
                </p:cNvSpPr>
                <p:nvPr/>
              </p:nvSpPr>
              <p:spPr bwMode="auto">
                <a:xfrm>
                  <a:off x="1199456" y="1814900"/>
                  <a:ext cx="1656184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bevel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90204" pitchFamily="34" charset="0"/>
                    <a:defRPr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90204" pitchFamily="34" charset="0"/>
                    <a:defRPr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90204" pitchFamily="34" charset="0"/>
                    <a:defRPr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90204" pitchFamily="34" charset="0"/>
                    <a:defRPr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9pPr>
                </a:lstStyle>
                <a:p>
                  <a:r>
                    <a:rPr lang="zh-CN" altLang="en-US" sz="1000" dirty="0">
                      <a:latin typeface="微软雅黑" panose="020B0503020204020204" charset="-122"/>
                      <a:ea typeface="微软雅黑" panose="020B0503020204020204" charset="-122"/>
                    </a:rPr>
                    <a:t>通过快捷支付软件产品支付租金。</a:t>
                  </a:r>
                  <a:endParaRPr lang="zh-CN" altLang="en-US" sz="1000" dirty="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704986" y="3000198"/>
              <a:ext cx="1379211" cy="1802638"/>
              <a:chOff x="708000" y="2913265"/>
              <a:chExt cx="1581882" cy="2067532"/>
            </a:xfrm>
          </p:grpSpPr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3211" y="2913265"/>
                <a:ext cx="835825" cy="835823"/>
              </a:xfrm>
              <a:prstGeom prst="rect">
                <a:avLst/>
              </a:prstGeom>
            </p:spPr>
          </p:pic>
          <p:pic>
            <p:nvPicPr>
              <p:cNvPr id="21" name="图片 20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29504" y="3491152"/>
                <a:ext cx="960378" cy="960380"/>
              </a:xfrm>
              <a:prstGeom prst="rect">
                <a:avLst/>
              </a:prstGeom>
            </p:spPr>
          </p:pic>
          <p:pic>
            <p:nvPicPr>
              <p:cNvPr id="22" name="图片 2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8000" y="4432296"/>
                <a:ext cx="1416704" cy="548501"/>
              </a:xfrm>
              <a:prstGeom prst="rect">
                <a:avLst/>
              </a:prstGeom>
            </p:spPr>
          </p:pic>
        </p:grpSp>
      </p:grpSp>
      <p:grpSp>
        <p:nvGrpSpPr>
          <p:cNvPr id="27" name="组合 26"/>
          <p:cNvGrpSpPr/>
          <p:nvPr/>
        </p:nvGrpSpPr>
        <p:grpSpPr>
          <a:xfrm>
            <a:off x="7506471" y="2703827"/>
            <a:ext cx="2016225" cy="2677857"/>
            <a:chOff x="7608168" y="2092363"/>
            <a:chExt cx="2016225" cy="2677857"/>
          </a:xfrm>
        </p:grpSpPr>
        <p:grpSp>
          <p:nvGrpSpPr>
            <p:cNvPr id="28" name="组合 27"/>
            <p:cNvGrpSpPr/>
            <p:nvPr/>
          </p:nvGrpSpPr>
          <p:grpSpPr>
            <a:xfrm>
              <a:off x="7608168" y="2092363"/>
              <a:ext cx="2016225" cy="586302"/>
              <a:chOff x="5807968" y="1434621"/>
              <a:chExt cx="2016225" cy="586302"/>
            </a:xfrm>
          </p:grpSpPr>
          <p:sp>
            <p:nvSpPr>
              <p:cNvPr id="32" name="文本框 11"/>
              <p:cNvSpPr>
                <a:spLocks noChangeArrowheads="1"/>
              </p:cNvSpPr>
              <p:nvPr/>
            </p:nvSpPr>
            <p:spPr bwMode="auto">
              <a:xfrm>
                <a:off x="6168009" y="1434621"/>
                <a:ext cx="165618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9pPr>
              </a:lstStyle>
              <a:p>
                <a:r>
                  <a:rPr lang="en-US" altLang="zh-CN" b="1" dirty="0">
                    <a:latin typeface="微软雅黑" panose="020B0503020204020204" charset="-122"/>
                    <a:ea typeface="微软雅黑" panose="020B0503020204020204" charset="-122"/>
                  </a:rPr>
                  <a:t>POS</a:t>
                </a:r>
                <a:r>
                  <a:rPr lang="zh-CN" altLang="en-US" b="1" dirty="0">
                    <a:latin typeface="微软雅黑" panose="020B0503020204020204" charset="-122"/>
                    <a:ea typeface="微软雅黑" panose="020B0503020204020204" charset="-122"/>
                  </a:rPr>
                  <a:t>机</a:t>
                </a:r>
                <a:endParaRPr lang="zh-CN" altLang="en-US" b="1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 bwMode="auto">
              <a:xfrm>
                <a:off x="5879977" y="1460213"/>
                <a:ext cx="288032" cy="288032"/>
              </a:xfrm>
              <a:prstGeom prst="rect">
                <a:avLst/>
              </a:prstGeom>
              <a:solidFill>
                <a:srgbClr val="00659B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rPr>
                  <a:t>4</a:t>
                </a:r>
                <a:endPara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endParaRPr>
              </a:p>
            </p:txBody>
          </p:sp>
          <p:sp>
            <p:nvSpPr>
              <p:cNvPr id="34" name="文本框 11"/>
              <p:cNvSpPr>
                <a:spLocks noChangeArrowheads="1"/>
              </p:cNvSpPr>
              <p:nvPr/>
            </p:nvSpPr>
            <p:spPr bwMode="auto">
              <a:xfrm>
                <a:off x="5807968" y="1774702"/>
                <a:ext cx="1876638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9pPr>
              </a:lstStyle>
              <a:p>
                <a:r>
                  <a:rPr lang="zh-CN" altLang="en-US" sz="1000" dirty="0">
                    <a:latin typeface="微软雅黑" panose="020B0503020204020204" charset="-122"/>
                    <a:ea typeface="微软雅黑" panose="020B0503020204020204" charset="-122"/>
                  </a:rPr>
                  <a:t>服务大厅</a:t>
                </a:r>
                <a:r>
                  <a:rPr lang="en-US" altLang="zh-CN" sz="1000" dirty="0">
                    <a:latin typeface="微软雅黑" panose="020B0503020204020204" charset="-122"/>
                    <a:ea typeface="微软雅黑" panose="020B0503020204020204" charset="-122"/>
                  </a:rPr>
                  <a:t>/</a:t>
                </a:r>
                <a:r>
                  <a:rPr lang="zh-CN" altLang="en-US" sz="1000" dirty="0">
                    <a:latin typeface="微软雅黑" panose="020B0503020204020204" charset="-122"/>
                    <a:ea typeface="微软雅黑" panose="020B0503020204020204" charset="-122"/>
                  </a:rPr>
                  <a:t>租赁点刷卡支付。</a:t>
                </a:r>
                <a:endParaRPr lang="zh-CN" altLang="en-US" sz="1000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7752184" y="2979955"/>
              <a:ext cx="1559047" cy="1790265"/>
              <a:chOff x="7752184" y="2979955"/>
              <a:chExt cx="1559047" cy="1790265"/>
            </a:xfrm>
          </p:grpSpPr>
          <p:pic>
            <p:nvPicPr>
              <p:cNvPr id="30" name="图片 29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52184" y="3604531"/>
                <a:ext cx="1165689" cy="1165689"/>
              </a:xfrm>
              <a:prstGeom prst="rect">
                <a:avLst/>
              </a:prstGeom>
            </p:spPr>
          </p:pic>
          <p:pic>
            <p:nvPicPr>
              <p:cNvPr id="31" name="图片 30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566270">
                <a:off x="8284167" y="2979955"/>
                <a:ext cx="1027064" cy="1027064"/>
              </a:xfrm>
              <a:prstGeom prst="rect">
                <a:avLst/>
              </a:prstGeom>
            </p:spPr>
          </p:pic>
        </p:grpSp>
      </p:grpSp>
      <p:grpSp>
        <p:nvGrpSpPr>
          <p:cNvPr id="74" name="组合 73"/>
          <p:cNvGrpSpPr/>
          <p:nvPr/>
        </p:nvGrpSpPr>
        <p:grpSpPr>
          <a:xfrm>
            <a:off x="9709029" y="2700565"/>
            <a:ext cx="1852981" cy="2456331"/>
            <a:chOff x="10035280" y="1332709"/>
            <a:chExt cx="1852981" cy="2456331"/>
          </a:xfrm>
        </p:grpSpPr>
        <p:grpSp>
          <p:nvGrpSpPr>
            <p:cNvPr id="5" name="组合 4"/>
            <p:cNvGrpSpPr/>
            <p:nvPr/>
          </p:nvGrpSpPr>
          <p:grpSpPr>
            <a:xfrm>
              <a:off x="10090229" y="1332709"/>
              <a:ext cx="1798032" cy="775939"/>
              <a:chOff x="8362037" y="1412776"/>
              <a:chExt cx="1798032" cy="756309"/>
            </a:xfrm>
          </p:grpSpPr>
          <p:sp>
            <p:nvSpPr>
              <p:cNvPr id="13" name="文本框 11"/>
              <p:cNvSpPr>
                <a:spLocks noChangeArrowheads="1"/>
              </p:cNvSpPr>
              <p:nvPr/>
            </p:nvSpPr>
            <p:spPr bwMode="auto">
              <a:xfrm>
                <a:off x="8688288" y="1412776"/>
                <a:ext cx="122413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9pPr>
              </a:lstStyle>
              <a:p>
                <a:r>
                  <a:rPr lang="zh-CN" altLang="en-US" b="1" dirty="0">
                    <a:latin typeface="微软雅黑" panose="020B0503020204020204" charset="-122"/>
                    <a:ea typeface="微软雅黑" panose="020B0503020204020204" charset="-122"/>
                  </a:rPr>
                  <a:t>现金</a:t>
                </a:r>
                <a:endParaRPr lang="zh-CN" altLang="en-US" b="1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 bwMode="auto">
              <a:xfrm>
                <a:off x="8414559" y="1447017"/>
                <a:ext cx="288032" cy="288032"/>
              </a:xfrm>
              <a:prstGeom prst="rect">
                <a:avLst/>
              </a:prstGeom>
              <a:solidFill>
                <a:srgbClr val="00659B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rPr>
                  <a:t>5</a:t>
                </a:r>
                <a:endPara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endParaRPr>
              </a:p>
            </p:txBody>
          </p:sp>
          <p:sp>
            <p:nvSpPr>
              <p:cNvPr id="15" name="文本框 11"/>
              <p:cNvSpPr>
                <a:spLocks noChangeArrowheads="1"/>
              </p:cNvSpPr>
              <p:nvPr/>
            </p:nvSpPr>
            <p:spPr bwMode="auto">
              <a:xfrm>
                <a:off x="8362037" y="1768975"/>
                <a:ext cx="179803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9pPr>
              </a:lstStyle>
              <a:p>
                <a:r>
                  <a:rPr lang="zh-CN" altLang="en-US" sz="1000" dirty="0">
                    <a:latin typeface="微软雅黑" panose="020B0503020204020204" charset="-122"/>
                    <a:ea typeface="微软雅黑" panose="020B0503020204020204" charset="-122"/>
                  </a:rPr>
                  <a:t>服务大厅</a:t>
                </a:r>
                <a:r>
                  <a:rPr lang="en-US" altLang="zh-CN" sz="1000" dirty="0">
                    <a:latin typeface="微软雅黑" panose="020B0503020204020204" charset="-122"/>
                    <a:ea typeface="微软雅黑" panose="020B0503020204020204" charset="-122"/>
                  </a:rPr>
                  <a:t>/</a:t>
                </a:r>
                <a:r>
                  <a:rPr lang="zh-CN" altLang="en-US" sz="1000" dirty="0">
                    <a:latin typeface="微软雅黑" panose="020B0503020204020204" charset="-122"/>
                    <a:ea typeface="微软雅黑" panose="020B0503020204020204" charset="-122"/>
                  </a:rPr>
                  <a:t>租赁点现场缴纳现金。</a:t>
                </a:r>
                <a:endParaRPr lang="zh-CN" altLang="en-US" sz="1000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035280" y="2492365"/>
              <a:ext cx="1745240" cy="129667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36" name="组合 35"/>
          <p:cNvGrpSpPr/>
          <p:nvPr/>
        </p:nvGrpSpPr>
        <p:grpSpPr>
          <a:xfrm>
            <a:off x="3162921" y="2700565"/>
            <a:ext cx="2039294" cy="2523543"/>
            <a:chOff x="2901397" y="2089101"/>
            <a:chExt cx="2039294" cy="2523543"/>
          </a:xfrm>
        </p:grpSpPr>
        <p:grpSp>
          <p:nvGrpSpPr>
            <p:cNvPr id="37" name="组合 36"/>
            <p:cNvGrpSpPr/>
            <p:nvPr/>
          </p:nvGrpSpPr>
          <p:grpSpPr>
            <a:xfrm>
              <a:off x="2927648" y="2089101"/>
              <a:ext cx="2013043" cy="746715"/>
              <a:chOff x="3427274" y="1460213"/>
              <a:chExt cx="2013043" cy="746715"/>
            </a:xfrm>
          </p:grpSpPr>
          <p:sp>
            <p:nvSpPr>
              <p:cNvPr id="42" name="文本框 11"/>
              <p:cNvSpPr>
                <a:spLocks noChangeArrowheads="1"/>
              </p:cNvSpPr>
              <p:nvPr/>
            </p:nvSpPr>
            <p:spPr bwMode="auto">
              <a:xfrm>
                <a:off x="3784133" y="1460213"/>
                <a:ext cx="165618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9pPr>
              </a:lstStyle>
              <a:p>
                <a:r>
                  <a:rPr lang="zh-CN" altLang="en-US" b="1" dirty="0">
                    <a:latin typeface="微软雅黑" panose="020B0503020204020204" charset="-122"/>
                    <a:ea typeface="微软雅黑" panose="020B0503020204020204" charset="-122"/>
                  </a:rPr>
                  <a:t>银行转账</a:t>
                </a:r>
                <a:endParaRPr lang="zh-CN" altLang="en-US" b="1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3" name="矩形 42"/>
              <p:cNvSpPr/>
              <p:nvPr/>
            </p:nvSpPr>
            <p:spPr bwMode="auto">
              <a:xfrm>
                <a:off x="3503252" y="1500863"/>
                <a:ext cx="288032" cy="288032"/>
              </a:xfrm>
              <a:prstGeom prst="rect">
                <a:avLst/>
              </a:prstGeom>
              <a:solidFill>
                <a:srgbClr val="00659B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rPr>
                  <a:t>2</a:t>
                </a:r>
                <a:endPara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endParaRPr>
              </a:p>
            </p:txBody>
          </p:sp>
          <p:sp>
            <p:nvSpPr>
              <p:cNvPr id="44" name="文本框 11"/>
              <p:cNvSpPr>
                <a:spLocks noChangeArrowheads="1"/>
              </p:cNvSpPr>
              <p:nvPr/>
            </p:nvSpPr>
            <p:spPr bwMode="auto">
              <a:xfrm>
                <a:off x="3427274" y="1806818"/>
                <a:ext cx="187663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9pPr>
              </a:lstStyle>
              <a:p>
                <a:r>
                  <a:rPr lang="zh-CN" altLang="en-US" sz="1000" dirty="0">
                    <a:latin typeface="微软雅黑" panose="020B0503020204020204" charset="-122"/>
                    <a:ea typeface="微软雅黑" panose="020B0503020204020204" charset="-122"/>
                  </a:rPr>
                  <a:t>承租方根据合同，转账备注形式缴纳租金。</a:t>
                </a:r>
                <a:endParaRPr lang="zh-CN" altLang="en-US" sz="1000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2901397" y="2990162"/>
              <a:ext cx="1894028" cy="1622482"/>
              <a:chOff x="3132304" y="4474211"/>
              <a:chExt cx="1515881" cy="1298550"/>
            </a:xfrm>
          </p:grpSpPr>
          <p:pic>
            <p:nvPicPr>
              <p:cNvPr id="39" name="图片 38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32304" y="4474211"/>
                <a:ext cx="1515881" cy="1298550"/>
              </a:xfrm>
              <a:prstGeom prst="rect">
                <a:avLst/>
              </a:prstGeom>
            </p:spPr>
          </p:pic>
          <p:pic>
            <p:nvPicPr>
              <p:cNvPr id="40" name="图片 39"/>
              <p:cNvPicPr>
                <a:picLocks noChangeAspect="1"/>
              </p:cNvPicPr>
              <p:nvPr/>
            </p:nvPicPr>
            <p:blipFill rotWithShape="1">
              <a:blip r:embed="rId8"/>
              <a:srcRect r="23473"/>
              <a:stretch>
                <a:fillRect/>
              </a:stretch>
            </p:blipFill>
            <p:spPr>
              <a:xfrm>
                <a:off x="3230332" y="4562500"/>
                <a:ext cx="1319823" cy="720080"/>
              </a:xfrm>
              <a:prstGeom prst="rect">
                <a:avLst/>
              </a:prstGeom>
            </p:spPr>
          </p:pic>
        </p:grpSp>
      </p:grpSp>
      <p:grpSp>
        <p:nvGrpSpPr>
          <p:cNvPr id="45" name="组合 44"/>
          <p:cNvGrpSpPr/>
          <p:nvPr/>
        </p:nvGrpSpPr>
        <p:grpSpPr>
          <a:xfrm>
            <a:off x="5418239" y="2703827"/>
            <a:ext cx="2046227" cy="2592292"/>
            <a:chOff x="5345917" y="2092363"/>
            <a:chExt cx="2046227" cy="2592292"/>
          </a:xfrm>
        </p:grpSpPr>
        <p:grpSp>
          <p:nvGrpSpPr>
            <p:cNvPr id="46" name="组合 45"/>
            <p:cNvGrpSpPr/>
            <p:nvPr/>
          </p:nvGrpSpPr>
          <p:grpSpPr>
            <a:xfrm>
              <a:off x="5375919" y="2092363"/>
              <a:ext cx="2016225" cy="740191"/>
              <a:chOff x="5807968" y="1434621"/>
              <a:chExt cx="2016225" cy="740191"/>
            </a:xfrm>
          </p:grpSpPr>
          <p:sp>
            <p:nvSpPr>
              <p:cNvPr id="51" name="文本框 11"/>
              <p:cNvSpPr>
                <a:spLocks noChangeArrowheads="1"/>
              </p:cNvSpPr>
              <p:nvPr/>
            </p:nvSpPr>
            <p:spPr bwMode="auto">
              <a:xfrm>
                <a:off x="6168009" y="1434621"/>
                <a:ext cx="165618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9pPr>
              </a:lstStyle>
              <a:p>
                <a:r>
                  <a:rPr lang="zh-CN" altLang="en-US" b="1" dirty="0">
                    <a:latin typeface="微软雅黑" panose="020B0503020204020204" charset="-122"/>
                    <a:ea typeface="微软雅黑" panose="020B0503020204020204" charset="-122"/>
                  </a:rPr>
                  <a:t>银行托收</a:t>
                </a:r>
                <a:endParaRPr lang="zh-CN" altLang="en-US" b="1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2" name="矩形 51"/>
              <p:cNvSpPr/>
              <p:nvPr/>
            </p:nvSpPr>
            <p:spPr bwMode="auto">
              <a:xfrm>
                <a:off x="5879977" y="1460213"/>
                <a:ext cx="288032" cy="288032"/>
              </a:xfrm>
              <a:prstGeom prst="rect">
                <a:avLst/>
              </a:prstGeom>
              <a:solidFill>
                <a:srgbClr val="00659B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rPr>
                  <a:t>3</a:t>
                </a:r>
                <a:endPara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endParaRPr>
              </a:p>
            </p:txBody>
          </p:sp>
          <p:sp>
            <p:nvSpPr>
              <p:cNvPr id="53" name="文本框 11"/>
              <p:cNvSpPr>
                <a:spLocks noChangeArrowheads="1"/>
              </p:cNvSpPr>
              <p:nvPr/>
            </p:nvSpPr>
            <p:spPr bwMode="auto">
              <a:xfrm>
                <a:off x="5807968" y="1774702"/>
                <a:ext cx="1689974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9pPr>
              </a:lstStyle>
              <a:p>
                <a:r>
                  <a:rPr lang="zh-CN" altLang="en-US" sz="1000" dirty="0">
                    <a:latin typeface="微软雅黑" panose="020B0503020204020204" charset="-122"/>
                    <a:ea typeface="微软雅黑" panose="020B0503020204020204" charset="-122"/>
                  </a:rPr>
                  <a:t>出租方、承租方、银行三方签署代扣协议。</a:t>
                </a:r>
                <a:endParaRPr lang="zh-CN" altLang="en-US" sz="1000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5345917" y="3209801"/>
              <a:ext cx="1975471" cy="1474854"/>
              <a:chOff x="5471917" y="3240530"/>
              <a:chExt cx="1737940" cy="1297516"/>
            </a:xfrm>
          </p:grpSpPr>
          <p:pic>
            <p:nvPicPr>
              <p:cNvPr id="48" name="图片 47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64042" y="3240530"/>
                <a:ext cx="1387225" cy="410618"/>
              </a:xfrm>
              <a:prstGeom prst="rect">
                <a:avLst/>
              </a:prstGeom>
            </p:spPr>
          </p:pic>
          <p:pic>
            <p:nvPicPr>
              <p:cNvPr id="49" name="图片 48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71917" y="3671387"/>
                <a:ext cx="1737940" cy="423211"/>
              </a:xfrm>
              <a:prstGeom prst="rect">
                <a:avLst/>
              </a:prstGeom>
            </p:spPr>
          </p:pic>
          <p:pic>
            <p:nvPicPr>
              <p:cNvPr id="50" name="图片 49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86869" y="4133967"/>
                <a:ext cx="1141570" cy="404079"/>
              </a:xfrm>
              <a:prstGeom prst="rect">
                <a:avLst/>
              </a:prstGeom>
            </p:spPr>
          </p:pic>
        </p:grpSp>
      </p:grpSp>
      <p:pic>
        <p:nvPicPr>
          <p:cNvPr id="54" name="图片 53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424" y="5577689"/>
            <a:ext cx="283229" cy="283229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364" y="5584071"/>
            <a:ext cx="283229" cy="283229"/>
          </a:xfrm>
          <a:prstGeom prst="rect">
            <a:avLst/>
          </a:prstGeom>
        </p:spPr>
      </p:pic>
      <p:sp>
        <p:nvSpPr>
          <p:cNvPr id="64" name="文本框 11"/>
          <p:cNvSpPr>
            <a:spLocks noChangeArrowheads="1"/>
          </p:cNvSpPr>
          <p:nvPr/>
        </p:nvSpPr>
        <p:spPr bwMode="auto">
          <a:xfrm>
            <a:off x="1160158" y="5565140"/>
            <a:ext cx="2265676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zh-CN" altLang="en-US" sz="1100" b="1" dirty="0">
                <a:solidFill>
                  <a:srgbClr val="009E47"/>
                </a:solidFill>
                <a:latin typeface="微软雅黑" panose="020B0503020204020204" charset="-122"/>
                <a:ea typeface="微软雅黑" panose="020B0503020204020204" charset="-122"/>
              </a:rPr>
              <a:t>已完成</a:t>
            </a:r>
            <a:r>
              <a:rPr lang="zh-CN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“自在安居”平台快捷支付功能，支持微信</a:t>
            </a:r>
            <a:r>
              <a:rPr lang="en-US" altLang="zh-CN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支付宝</a:t>
            </a:r>
            <a:r>
              <a:rPr lang="en-US" altLang="zh-CN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一网通支付，并实现系统</a:t>
            </a:r>
            <a:r>
              <a:rPr lang="zh-CN" altLang="en-US" sz="11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自动</a:t>
            </a:r>
            <a:r>
              <a:rPr lang="zh-CN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核销。</a:t>
            </a:r>
            <a:endParaRPr lang="zh-CN" altLang="en-US" sz="11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11"/>
          <p:cNvSpPr>
            <a:spLocks noChangeArrowheads="1"/>
          </p:cNvSpPr>
          <p:nvPr/>
        </p:nvSpPr>
        <p:spPr bwMode="auto">
          <a:xfrm>
            <a:off x="5706441" y="5570139"/>
            <a:ext cx="1782279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zh-CN" altLang="en-US" sz="1100" b="1" dirty="0">
                <a:solidFill>
                  <a:srgbClr val="009E47"/>
                </a:solidFill>
                <a:latin typeface="微软雅黑" panose="020B0503020204020204" charset="-122"/>
                <a:ea typeface="微软雅黑" panose="020B0503020204020204" charset="-122"/>
              </a:rPr>
              <a:t>已完成 </a:t>
            </a:r>
            <a:r>
              <a:rPr lang="zh-CN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“深金结”托收功能对接，并实现系统</a:t>
            </a:r>
            <a:r>
              <a:rPr lang="zh-CN" altLang="en-US" sz="11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自动</a:t>
            </a:r>
            <a:r>
              <a:rPr lang="zh-CN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核销。</a:t>
            </a:r>
            <a:endParaRPr lang="zh-CN" altLang="en-US" sz="11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9" name="组合 78"/>
          <p:cNvGrpSpPr/>
          <p:nvPr/>
        </p:nvGrpSpPr>
        <p:grpSpPr>
          <a:xfrm>
            <a:off x="2920730" y="2703828"/>
            <a:ext cx="6673973" cy="2826312"/>
            <a:chOff x="2590379" y="1340768"/>
            <a:chExt cx="6673973" cy="3611833"/>
          </a:xfrm>
        </p:grpSpPr>
        <p:cxnSp>
          <p:nvCxnSpPr>
            <p:cNvPr id="75" name="直接连接符 74"/>
            <p:cNvCxnSpPr/>
            <p:nvPr/>
          </p:nvCxnSpPr>
          <p:spPr>
            <a:xfrm>
              <a:off x="2590379" y="1379935"/>
              <a:ext cx="0" cy="3552871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tx1">
                  <a:lumMod val="75000"/>
                  <a:lumOff val="25000"/>
                  <a:alpha val="28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>
              <a:off x="4943872" y="1340768"/>
              <a:ext cx="0" cy="3552871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tx1">
                  <a:lumMod val="75000"/>
                  <a:lumOff val="25000"/>
                  <a:alpha val="28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>
              <a:off x="7104112" y="1399730"/>
              <a:ext cx="0" cy="3552871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tx1">
                  <a:lumMod val="75000"/>
                  <a:lumOff val="25000"/>
                  <a:alpha val="28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9264352" y="1397875"/>
              <a:ext cx="0" cy="3552871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tx1">
                  <a:lumMod val="75000"/>
                  <a:lumOff val="25000"/>
                  <a:alpha val="28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81" name="文本框 1"/>
          <p:cNvSpPr txBox="1"/>
          <p:nvPr/>
        </p:nvSpPr>
        <p:spPr>
          <a:xfrm>
            <a:off x="943880" y="1496007"/>
            <a:ext cx="2775856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defTabSz="1176655">
              <a:lnSpc>
                <a:spcPct val="150000"/>
              </a:lnSpc>
              <a:buClrTx/>
              <a:buSzTx/>
              <a:buFont typeface="Arial" panose="020B0604020202090204" pitchFamily="34" charset="0"/>
              <a:buNone/>
              <a:defRPr sz="1800" spc="0" baseline="0"/>
            </a:pP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业界五类收款渠道：</a:t>
            </a:r>
            <a:endParaRPr lang="en-US" altLang="zh-CN" sz="2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760410" y="1628800"/>
            <a:ext cx="183470" cy="320314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kern="1200">
                <a:solidFill>
                  <a:schemeClr val="lt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kern="1200">
                <a:solidFill>
                  <a:schemeClr val="lt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kern="1200">
                <a:solidFill>
                  <a:schemeClr val="lt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kern="1200">
                <a:solidFill>
                  <a:schemeClr val="lt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kern="1200">
                <a:solidFill>
                  <a:schemeClr val="lt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9pPr>
          </a:lstStyle>
          <a:p>
            <a:pPr algn="ctr"/>
            <a:endParaRPr lang="en-US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263352" y="1340768"/>
            <a:ext cx="11665296" cy="5208873"/>
            <a:chOff x="362347" y="1337769"/>
            <a:chExt cx="11665296" cy="5208873"/>
          </a:xfrm>
        </p:grpSpPr>
        <p:sp>
          <p:nvSpPr>
            <p:cNvPr id="87" name="任意多边形: 形状 86"/>
            <p:cNvSpPr/>
            <p:nvPr/>
          </p:nvSpPr>
          <p:spPr bwMode="auto">
            <a:xfrm>
              <a:off x="362347" y="1337769"/>
              <a:ext cx="11665296" cy="5208873"/>
            </a:xfrm>
            <a:custGeom>
              <a:avLst/>
              <a:gdLst>
                <a:gd name="connsiteX0" fmla="*/ 182363 w 11665296"/>
                <a:gd name="connsiteY0" fmla="*/ 0 h 5208873"/>
                <a:gd name="connsiteX1" fmla="*/ 11482933 w 11665296"/>
                <a:gd name="connsiteY1" fmla="*/ 0 h 5208873"/>
                <a:gd name="connsiteX2" fmla="*/ 11665296 w 11665296"/>
                <a:gd name="connsiteY2" fmla="*/ 182363 h 5208873"/>
                <a:gd name="connsiteX3" fmla="*/ 11665296 w 11665296"/>
                <a:gd name="connsiteY3" fmla="*/ 5026510 h 5208873"/>
                <a:gd name="connsiteX4" fmla="*/ 11482933 w 11665296"/>
                <a:gd name="connsiteY4" fmla="*/ 5208873 h 5208873"/>
                <a:gd name="connsiteX5" fmla="*/ 182363 w 11665296"/>
                <a:gd name="connsiteY5" fmla="*/ 5208873 h 5208873"/>
                <a:gd name="connsiteX6" fmla="*/ 0 w 11665296"/>
                <a:gd name="connsiteY6" fmla="*/ 5026510 h 5208873"/>
                <a:gd name="connsiteX7" fmla="*/ 0 w 11665296"/>
                <a:gd name="connsiteY7" fmla="*/ 182363 h 5208873"/>
                <a:gd name="connsiteX8" fmla="*/ 182363 w 11665296"/>
                <a:gd name="connsiteY8" fmla="*/ 0 h 5208873"/>
                <a:gd name="connsiteX9" fmla="*/ 323060 w 11665296"/>
                <a:gd name="connsiteY9" fmla="*/ 69490 h 5208873"/>
                <a:gd name="connsiteX10" fmla="*/ 197400 w 11665296"/>
                <a:gd name="connsiteY10" fmla="*/ 195150 h 5208873"/>
                <a:gd name="connsiteX11" fmla="*/ 197400 w 11665296"/>
                <a:gd name="connsiteY11" fmla="*/ 697775 h 5208873"/>
                <a:gd name="connsiteX12" fmla="*/ 323060 w 11665296"/>
                <a:gd name="connsiteY12" fmla="*/ 823435 h 5208873"/>
                <a:gd name="connsiteX13" fmla="*/ 2847589 w 11665296"/>
                <a:gd name="connsiteY13" fmla="*/ 823435 h 5208873"/>
                <a:gd name="connsiteX14" fmla="*/ 2973249 w 11665296"/>
                <a:gd name="connsiteY14" fmla="*/ 697775 h 5208873"/>
                <a:gd name="connsiteX15" fmla="*/ 2973249 w 11665296"/>
                <a:gd name="connsiteY15" fmla="*/ 195150 h 5208873"/>
                <a:gd name="connsiteX16" fmla="*/ 2847589 w 11665296"/>
                <a:gd name="connsiteY16" fmla="*/ 69490 h 5208873"/>
                <a:gd name="connsiteX17" fmla="*/ 323060 w 11665296"/>
                <a:gd name="connsiteY17" fmla="*/ 69490 h 5208873"/>
                <a:gd name="connsiteX18" fmla="*/ 2995844 w 11665296"/>
                <a:gd name="connsiteY18" fmla="*/ 1157182 h 5208873"/>
                <a:gd name="connsiteX19" fmla="*/ 2624331 w 11665296"/>
                <a:gd name="connsiteY19" fmla="*/ 1528695 h 5208873"/>
                <a:gd name="connsiteX20" fmla="*/ 2624331 w 11665296"/>
                <a:gd name="connsiteY20" fmla="*/ 3994057 h 5208873"/>
                <a:gd name="connsiteX21" fmla="*/ 2995844 w 11665296"/>
                <a:gd name="connsiteY21" fmla="*/ 4365570 h 5208873"/>
                <a:gd name="connsiteX22" fmla="*/ 4481850 w 11665296"/>
                <a:gd name="connsiteY22" fmla="*/ 4365570 h 5208873"/>
                <a:gd name="connsiteX23" fmla="*/ 4853363 w 11665296"/>
                <a:gd name="connsiteY23" fmla="*/ 3994057 h 5208873"/>
                <a:gd name="connsiteX24" fmla="*/ 4853363 w 11665296"/>
                <a:gd name="connsiteY24" fmla="*/ 1528695 h 5208873"/>
                <a:gd name="connsiteX25" fmla="*/ 4481850 w 11665296"/>
                <a:gd name="connsiteY25" fmla="*/ 1157182 h 5208873"/>
                <a:gd name="connsiteX26" fmla="*/ 2995844 w 11665296"/>
                <a:gd name="connsiteY26" fmla="*/ 1157182 h 5208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665296" h="5208873">
                  <a:moveTo>
                    <a:pt x="182363" y="0"/>
                  </a:moveTo>
                  <a:lnTo>
                    <a:pt x="11482933" y="0"/>
                  </a:lnTo>
                  <a:cubicBezTo>
                    <a:pt x="11583649" y="0"/>
                    <a:pt x="11665296" y="81647"/>
                    <a:pt x="11665296" y="182363"/>
                  </a:cubicBezTo>
                  <a:lnTo>
                    <a:pt x="11665296" y="5026510"/>
                  </a:lnTo>
                  <a:cubicBezTo>
                    <a:pt x="11665296" y="5127226"/>
                    <a:pt x="11583649" y="5208873"/>
                    <a:pt x="11482933" y="5208873"/>
                  </a:cubicBezTo>
                  <a:lnTo>
                    <a:pt x="182363" y="5208873"/>
                  </a:lnTo>
                  <a:cubicBezTo>
                    <a:pt x="81647" y="5208873"/>
                    <a:pt x="0" y="5127226"/>
                    <a:pt x="0" y="5026510"/>
                  </a:cubicBezTo>
                  <a:lnTo>
                    <a:pt x="0" y="182363"/>
                  </a:lnTo>
                  <a:cubicBezTo>
                    <a:pt x="0" y="81647"/>
                    <a:pt x="81647" y="0"/>
                    <a:pt x="182363" y="0"/>
                  </a:cubicBezTo>
                  <a:close/>
                  <a:moveTo>
                    <a:pt x="323060" y="69490"/>
                  </a:moveTo>
                  <a:cubicBezTo>
                    <a:pt x="253660" y="69490"/>
                    <a:pt x="197400" y="125750"/>
                    <a:pt x="197400" y="195150"/>
                  </a:cubicBezTo>
                  <a:lnTo>
                    <a:pt x="197400" y="697775"/>
                  </a:lnTo>
                  <a:cubicBezTo>
                    <a:pt x="197400" y="767175"/>
                    <a:pt x="253660" y="823435"/>
                    <a:pt x="323060" y="823435"/>
                  </a:cubicBezTo>
                  <a:lnTo>
                    <a:pt x="2847589" y="823435"/>
                  </a:lnTo>
                  <a:cubicBezTo>
                    <a:pt x="2916989" y="823435"/>
                    <a:pt x="2973249" y="767175"/>
                    <a:pt x="2973249" y="697775"/>
                  </a:cubicBezTo>
                  <a:lnTo>
                    <a:pt x="2973249" y="195150"/>
                  </a:lnTo>
                  <a:cubicBezTo>
                    <a:pt x="2973249" y="125750"/>
                    <a:pt x="2916989" y="69490"/>
                    <a:pt x="2847589" y="69490"/>
                  </a:cubicBezTo>
                  <a:lnTo>
                    <a:pt x="323060" y="69490"/>
                  </a:lnTo>
                  <a:close/>
                  <a:moveTo>
                    <a:pt x="2995844" y="1157182"/>
                  </a:moveTo>
                  <a:cubicBezTo>
                    <a:pt x="2790663" y="1157182"/>
                    <a:pt x="2624331" y="1323514"/>
                    <a:pt x="2624331" y="1528695"/>
                  </a:cubicBezTo>
                  <a:lnTo>
                    <a:pt x="2624331" y="3994057"/>
                  </a:lnTo>
                  <a:cubicBezTo>
                    <a:pt x="2624331" y="4199238"/>
                    <a:pt x="2790663" y="4365570"/>
                    <a:pt x="2995844" y="4365570"/>
                  </a:cubicBezTo>
                  <a:lnTo>
                    <a:pt x="4481850" y="4365570"/>
                  </a:lnTo>
                  <a:cubicBezTo>
                    <a:pt x="4687031" y="4365570"/>
                    <a:pt x="4853363" y="4199238"/>
                    <a:pt x="4853363" y="3994057"/>
                  </a:cubicBezTo>
                  <a:lnTo>
                    <a:pt x="4853363" y="1528695"/>
                  </a:lnTo>
                  <a:cubicBezTo>
                    <a:pt x="4853363" y="1323514"/>
                    <a:pt x="4687031" y="1157182"/>
                    <a:pt x="4481850" y="1157182"/>
                  </a:cubicBezTo>
                  <a:lnTo>
                    <a:pt x="2995844" y="1157182"/>
                  </a:lnTo>
                  <a:close/>
                </a:path>
              </a:pathLst>
            </a:custGeom>
            <a:solidFill>
              <a:schemeClr val="bg1">
                <a:alpha val="81000"/>
              </a:scheme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endParaRPr>
            </a:p>
          </p:txBody>
        </p:sp>
        <p:sp>
          <p:nvSpPr>
            <p:cNvPr id="95" name="矩形: 圆角 94"/>
            <p:cNvSpPr/>
            <p:nvPr/>
          </p:nvSpPr>
          <p:spPr bwMode="auto">
            <a:xfrm rot="20176511">
              <a:off x="5173114" y="1860644"/>
              <a:ext cx="2033797" cy="716692"/>
            </a:xfrm>
            <a:prstGeom prst="roundRect">
              <a:avLst>
                <a:gd name="adj" fmla="val 0"/>
              </a:avLst>
            </a:prstGeom>
            <a:noFill/>
            <a:ln w="28575">
              <a:solidFill>
                <a:srgbClr val="C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24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rPr>
                <a:t>无法自动核销</a:t>
              </a:r>
              <a:endPara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endParaRPr>
            </a:p>
          </p:txBody>
        </p:sp>
        <p:sp>
          <p:nvSpPr>
            <p:cNvPr id="94" name="箭头: 左弧形 93"/>
            <p:cNvSpPr/>
            <p:nvPr/>
          </p:nvSpPr>
          <p:spPr bwMode="auto">
            <a:xfrm rot="3316328" flipH="1">
              <a:off x="5192487" y="2386674"/>
              <a:ext cx="1766209" cy="3096610"/>
            </a:xfrm>
            <a:prstGeom prst="curvedRightArrow">
              <a:avLst>
                <a:gd name="adj1" fmla="val 36737"/>
                <a:gd name="adj2" fmla="val 57419"/>
                <a:gd name="adj3" fmla="val 25000"/>
              </a:avLst>
            </a:prstGeom>
            <a:solidFill>
              <a:srgbClr val="C00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endParaRPr>
            </a:p>
          </p:txBody>
        </p:sp>
      </p:grpSp>
      <p:grpSp>
        <p:nvGrpSpPr>
          <p:cNvPr id="100" name="组合 99"/>
          <p:cNvGrpSpPr/>
          <p:nvPr/>
        </p:nvGrpSpPr>
        <p:grpSpPr>
          <a:xfrm>
            <a:off x="7157461" y="1750366"/>
            <a:ext cx="4627171" cy="3935179"/>
            <a:chOff x="6934840" y="2021187"/>
            <a:chExt cx="4627171" cy="3935179"/>
          </a:xfrm>
        </p:grpSpPr>
        <p:sp>
          <p:nvSpPr>
            <p:cNvPr id="98" name="矩形 97"/>
            <p:cNvSpPr/>
            <p:nvPr/>
          </p:nvSpPr>
          <p:spPr bwMode="auto">
            <a:xfrm>
              <a:off x="6934840" y="2021187"/>
              <a:ext cx="4627171" cy="3935179"/>
            </a:xfrm>
            <a:prstGeom prst="rect">
              <a:avLst/>
            </a:prstGeom>
            <a:solidFill>
              <a:schemeClr val="bg1">
                <a:alpha val="81000"/>
              </a:schemeClr>
            </a:solidFill>
            <a:ln>
              <a:solidFill>
                <a:schemeClr val="bg1"/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7162027" y="2197511"/>
              <a:ext cx="4044727" cy="37548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b="1" dirty="0">
                  <a:solidFill>
                    <a:srgbClr val="17375E"/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r>
                <a:rPr lang="zh-CN" altLang="en-US" sz="1400" b="1" dirty="0">
                  <a:solidFill>
                    <a:srgbClr val="17375E"/>
                  </a:solidFill>
                  <a:latin typeface="微软雅黑" panose="020B0503020204020204" charset="-122"/>
                  <a:ea typeface="微软雅黑" panose="020B0503020204020204" charset="-122"/>
                </a:rPr>
                <a:t>、系统无规律可寻</a:t>
              </a:r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。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系统无法判断收到的该笔款项，对应的是哪个项目、哪个楼栋房间，以及属于哪个月份的租金，客户在转账时的</a:t>
              </a:r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备注非格式化描述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；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1400" b="1" dirty="0">
                  <a:solidFill>
                    <a:srgbClr val="17375E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r>
                <a:rPr lang="zh-CN" altLang="en-US" sz="1400" b="1" dirty="0">
                  <a:solidFill>
                    <a:srgbClr val="17375E"/>
                  </a:solidFill>
                  <a:latin typeface="微软雅黑" panose="020B0503020204020204" charset="-122"/>
                  <a:ea typeface="微软雅黑" panose="020B0503020204020204" charset="-122"/>
                </a:rPr>
                <a:t>、转账金额与应收不一致。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比如租户担心产生违约金，提前缴了半年的租金；又比如租户当月租金分几个批次转账；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1400" b="1" dirty="0">
                  <a:solidFill>
                    <a:srgbClr val="17375E"/>
                  </a:solidFill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r>
                <a:rPr lang="zh-CN" altLang="en-US" sz="1400" b="1" dirty="0">
                  <a:solidFill>
                    <a:srgbClr val="17375E"/>
                  </a:solidFill>
                  <a:latin typeface="微软雅黑" panose="020B0503020204020204" charset="-122"/>
                  <a:ea typeface="微软雅黑" panose="020B0503020204020204" charset="-122"/>
                </a:rPr>
                <a:t>、人为错误</a:t>
              </a:r>
              <a:r>
                <a:rPr lang="zh-CN" altLang="en-US" sz="1400" b="1" dirty="0">
                  <a:solidFill>
                    <a:srgbClr val="00659B"/>
                  </a:solidFill>
                  <a:latin typeface="微软雅黑" panose="020B0503020204020204" charset="-122"/>
                  <a:ea typeface="微软雅黑" panose="020B0503020204020204" charset="-122"/>
                </a:rPr>
                <a:t>。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应收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4000.69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元，转账为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4000.96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元，系统无法匹配，租户一般不会为这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0.27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元提出退款申请；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1400" b="1" dirty="0">
                  <a:solidFill>
                    <a:srgbClr val="17375E"/>
                  </a:solidFill>
                  <a:latin typeface="微软雅黑" panose="020B0503020204020204" charset="-122"/>
                  <a:ea typeface="微软雅黑" panose="020B0503020204020204" charset="-122"/>
                </a:rPr>
                <a:t>4</a:t>
              </a:r>
              <a:r>
                <a:rPr lang="zh-CN" altLang="en-US" sz="1400" b="1" dirty="0">
                  <a:solidFill>
                    <a:srgbClr val="17375E"/>
                  </a:solidFill>
                  <a:latin typeface="微软雅黑" panose="020B0503020204020204" charset="-122"/>
                  <a:ea typeface="微软雅黑" panose="020B0503020204020204" charset="-122"/>
                </a:rPr>
                <a:t>、多种特殊业务场景。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比如某企业配租活动认租了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10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套，但在支付首期账单（首月租金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+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押金）后，向住建局申请退回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套，多余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套的租金（含押金），客户希望：直接抵扣下月账单 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/ 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多余部分退款 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/  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只退租金，押金留尾期结算 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/ 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希望全额退款，重新按新合同额度支付 ；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5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、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…..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b="4435"/>
          <a:stretch>
            <a:fillRect/>
          </a:stretch>
        </p:blipFill>
        <p:spPr>
          <a:xfrm>
            <a:off x="2963652" y="2295398"/>
            <a:ext cx="6372708" cy="42157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79" name="组合 78"/>
          <p:cNvGrpSpPr/>
          <p:nvPr/>
        </p:nvGrpSpPr>
        <p:grpSpPr>
          <a:xfrm>
            <a:off x="976134" y="4277995"/>
            <a:ext cx="5765238" cy="2218209"/>
            <a:chOff x="976134" y="4277995"/>
            <a:chExt cx="5765238" cy="2218209"/>
          </a:xfrm>
        </p:grpSpPr>
        <p:sp>
          <p:nvSpPr>
            <p:cNvPr id="15" name="矩形: 圆角 14"/>
            <p:cNvSpPr/>
            <p:nvPr/>
          </p:nvSpPr>
          <p:spPr bwMode="auto">
            <a:xfrm>
              <a:off x="5598296" y="4281268"/>
              <a:ext cx="1143076" cy="1048551"/>
            </a:xfrm>
            <a:prstGeom prst="roundRect">
              <a:avLst>
                <a:gd name="adj" fmla="val 5210"/>
              </a:avLst>
            </a:prstGeom>
            <a:solidFill>
              <a:srgbClr val="EE8A12">
                <a:alpha val="38000"/>
              </a:srgbClr>
            </a:solidFill>
            <a:ln>
              <a:solidFill>
                <a:srgbClr val="EE8A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endParaRPr>
            </a:p>
          </p:txBody>
        </p:sp>
        <p:grpSp>
          <p:nvGrpSpPr>
            <p:cNvPr id="78" name="组合 77"/>
            <p:cNvGrpSpPr/>
            <p:nvPr/>
          </p:nvGrpSpPr>
          <p:grpSpPr>
            <a:xfrm>
              <a:off x="976134" y="4277995"/>
              <a:ext cx="1666546" cy="2218209"/>
              <a:chOff x="976134" y="4277995"/>
              <a:chExt cx="1666546" cy="2218209"/>
            </a:xfrm>
          </p:grpSpPr>
          <p:sp>
            <p:nvSpPr>
              <p:cNvPr id="13" name="标注: 线形 12"/>
              <p:cNvSpPr/>
              <p:nvPr/>
            </p:nvSpPr>
            <p:spPr bwMode="auto">
              <a:xfrm>
                <a:off x="1343472" y="4743031"/>
                <a:ext cx="1299207" cy="1753173"/>
              </a:xfrm>
              <a:prstGeom prst="borderCallout1">
                <a:avLst>
                  <a:gd name="adj1" fmla="val 53778"/>
                  <a:gd name="adj2" fmla="val 103702"/>
                  <a:gd name="adj3" fmla="val 31807"/>
                  <a:gd name="adj4" fmla="val 347941"/>
                </a:avLst>
              </a:prstGeom>
              <a:solidFill>
                <a:schemeClr val="bg1">
                  <a:alpha val="16000"/>
                </a:schemeClr>
              </a:solidFill>
              <a:ln w="1905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 bwMode="auto">
              <a:xfrm>
                <a:off x="1343472" y="4299149"/>
                <a:ext cx="1299208" cy="403291"/>
              </a:xfrm>
              <a:prstGeom prst="rect">
                <a:avLst/>
              </a:prstGeom>
              <a:solidFill>
                <a:srgbClr val="FFC000"/>
              </a:solidFill>
              <a:ln w="12700" cap="flat" cmpd="sng" algn="ctr">
                <a:solidFill>
                  <a:srgbClr val="FFC000"/>
                </a:solidFill>
                <a:prstDash val="solid"/>
                <a:miter lim="800000"/>
              </a:ln>
              <a:effectLst/>
            </p:spPr>
            <p:txBody>
              <a:bodyPr lIns="190492" tIns="95246" rIns="190492" bIns="95246"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b="1" dirty="0">
                    <a:solidFill>
                      <a:sysClr val="windowText" lastClr="000000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rPr>
                  <a:t>B</a:t>
                </a:r>
                <a:r>
                  <a:rPr lang="zh-CN" altLang="en-US" sz="1100" b="1" dirty="0">
                    <a:solidFill>
                      <a:sysClr val="windowText" lastClr="000000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rPr>
                  <a:t>公司筹集</a:t>
                </a:r>
                <a:endParaRPr lang="zh-CN" altLang="en-US" sz="1100" b="1" dirty="0">
                  <a:solidFill>
                    <a:sysClr val="windowText" lastClr="000000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endParaRPr>
              </a:p>
            </p:txBody>
          </p:sp>
          <p:sp>
            <p:nvSpPr>
              <p:cNvPr id="74" name="文本框 73"/>
              <p:cNvSpPr txBox="1"/>
              <p:nvPr/>
            </p:nvSpPr>
            <p:spPr>
              <a:xfrm>
                <a:off x="976134" y="4277995"/>
                <a:ext cx="367338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rPr>
                  <a:t>委托运营、自行收费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80" name="组合 79"/>
          <p:cNvGrpSpPr/>
          <p:nvPr/>
        </p:nvGrpSpPr>
        <p:grpSpPr>
          <a:xfrm>
            <a:off x="976134" y="1988840"/>
            <a:ext cx="4243258" cy="2303085"/>
            <a:chOff x="976134" y="1988840"/>
            <a:chExt cx="4243258" cy="2303085"/>
          </a:xfrm>
        </p:grpSpPr>
        <p:sp>
          <p:nvSpPr>
            <p:cNvPr id="18" name="矩形: 圆角 17"/>
            <p:cNvSpPr/>
            <p:nvPr/>
          </p:nvSpPr>
          <p:spPr bwMode="auto">
            <a:xfrm>
              <a:off x="4076316" y="3153527"/>
              <a:ext cx="1143076" cy="1138398"/>
            </a:xfrm>
            <a:prstGeom prst="roundRect">
              <a:avLst>
                <a:gd name="adj" fmla="val 5210"/>
              </a:avLst>
            </a:prstGeom>
            <a:solidFill>
              <a:srgbClr val="00A7C3">
                <a:alpha val="43000"/>
              </a:srgbClr>
            </a:solidFill>
            <a:ln>
              <a:solidFill>
                <a:srgbClr val="00A6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endParaRPr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976134" y="1988840"/>
              <a:ext cx="1666545" cy="2239218"/>
              <a:chOff x="976134" y="1988840"/>
              <a:chExt cx="1666545" cy="2239218"/>
            </a:xfrm>
          </p:grpSpPr>
          <p:sp>
            <p:nvSpPr>
              <p:cNvPr id="16" name="标注: 线形 15"/>
              <p:cNvSpPr/>
              <p:nvPr/>
            </p:nvSpPr>
            <p:spPr bwMode="auto">
              <a:xfrm>
                <a:off x="1346171" y="2466109"/>
                <a:ext cx="1296508" cy="1761949"/>
              </a:xfrm>
              <a:prstGeom prst="borderCallout1">
                <a:avLst>
                  <a:gd name="adj1" fmla="val 53778"/>
                  <a:gd name="adj2" fmla="val 103702"/>
                  <a:gd name="adj3" fmla="val 54896"/>
                  <a:gd name="adj4" fmla="val 235819"/>
                </a:avLst>
              </a:prstGeom>
              <a:solidFill>
                <a:schemeClr val="bg1">
                  <a:alpha val="16000"/>
                </a:schemeClr>
              </a:solidFill>
              <a:ln w="1905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 bwMode="auto">
              <a:xfrm>
                <a:off x="1343472" y="2022227"/>
                <a:ext cx="1296508" cy="403291"/>
              </a:xfrm>
              <a:prstGeom prst="rect">
                <a:avLst/>
              </a:prstGeom>
              <a:solidFill>
                <a:srgbClr val="00A7C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90492" tIns="95246" rIns="190492" bIns="95246"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b="1" dirty="0">
                    <a:solidFill>
                      <a:prstClr val="white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rPr>
                  <a:t>C</a:t>
                </a:r>
                <a:r>
                  <a:rPr lang="zh-CN" altLang="en-US" sz="1200" b="1" dirty="0">
                    <a:solidFill>
                      <a:prstClr val="white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rPr>
                  <a:t>公司筹集</a:t>
                </a:r>
                <a:endParaRPr lang="zh-CN" altLang="en-US" sz="1200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endParaRPr>
              </a:p>
            </p:txBody>
          </p:sp>
          <p:sp>
            <p:nvSpPr>
              <p:cNvPr id="75" name="文本框 74"/>
              <p:cNvSpPr txBox="1"/>
              <p:nvPr/>
            </p:nvSpPr>
            <p:spPr>
              <a:xfrm>
                <a:off x="976134" y="1988840"/>
                <a:ext cx="367338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rPr>
                  <a:t>自行运营</a:t>
                </a:r>
                <a:endParaRPr lang="zh-CN" altLang="en-US" dirty="0"/>
              </a:p>
            </p:txBody>
          </p:sp>
        </p:grpSp>
      </p:grpSp>
      <p:sp>
        <p:nvSpPr>
          <p:cNvPr id="41" name="文本框 40"/>
          <p:cNvSpPr txBox="1"/>
          <p:nvPr/>
        </p:nvSpPr>
        <p:spPr>
          <a:xfrm>
            <a:off x="695400" y="347960"/>
            <a:ext cx="8640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问题二、收费模式导致账单核销、开票等工作量倍增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Segoe UI Black" panose="020B0A02040204020203" pitchFamily="34" charset="0"/>
            </a:endParaRPr>
          </a:p>
        </p:txBody>
      </p:sp>
      <p:sp>
        <p:nvSpPr>
          <p:cNvPr id="4" name="文本框 1"/>
          <p:cNvSpPr txBox="1"/>
          <p:nvPr/>
        </p:nvSpPr>
        <p:spPr>
          <a:xfrm>
            <a:off x="943880" y="1268760"/>
            <a:ext cx="5656176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defTabSz="1176655">
              <a:lnSpc>
                <a:spcPct val="150000"/>
              </a:lnSpc>
              <a:buClrTx/>
              <a:buSzTx/>
              <a:buFont typeface="Arial" panose="020B0604020202090204" pitchFamily="34" charset="0"/>
              <a:buNone/>
              <a:defRPr sz="1800" spc="0" baseline="0"/>
            </a:pP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导致同一人才住房小区不同服务体验（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示例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60410" y="1401553"/>
            <a:ext cx="183470" cy="320314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kern="1200">
                <a:solidFill>
                  <a:schemeClr val="lt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kern="1200">
                <a:solidFill>
                  <a:schemeClr val="lt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kern="1200">
                <a:solidFill>
                  <a:schemeClr val="lt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kern="1200">
                <a:solidFill>
                  <a:schemeClr val="lt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kern="1200">
                <a:solidFill>
                  <a:schemeClr val="lt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9pPr>
          </a:lstStyle>
          <a:p>
            <a:pPr algn="ctr"/>
            <a:endParaRPr lang="en-US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1497542" y="2538770"/>
            <a:ext cx="9278978" cy="3986574"/>
            <a:chOff x="1497542" y="2538770"/>
            <a:chExt cx="9278978" cy="3986574"/>
          </a:xfrm>
        </p:grpSpPr>
        <p:grpSp>
          <p:nvGrpSpPr>
            <p:cNvPr id="73" name="组合 72"/>
            <p:cNvGrpSpPr/>
            <p:nvPr/>
          </p:nvGrpSpPr>
          <p:grpSpPr>
            <a:xfrm>
              <a:off x="9754539" y="2636912"/>
              <a:ext cx="1021981" cy="1754326"/>
              <a:chOff x="9754539" y="2636912"/>
              <a:chExt cx="1021981" cy="1754326"/>
            </a:xfrm>
          </p:grpSpPr>
          <p:sp>
            <p:nvSpPr>
              <p:cNvPr id="10" name="文本框 9"/>
              <p:cNvSpPr txBox="1"/>
              <p:nvPr/>
            </p:nvSpPr>
            <p:spPr>
              <a:xfrm>
                <a:off x="9875452" y="2636912"/>
                <a:ext cx="901068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在线看房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在线报修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账单催收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账单查看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快捷支付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在线开票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在线客服</a:t>
                </a:r>
                <a:endPara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资讯服务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……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56" name="组合 55"/>
              <p:cNvGrpSpPr/>
              <p:nvPr/>
            </p:nvGrpSpPr>
            <p:grpSpPr>
              <a:xfrm>
                <a:off x="9754539" y="2712378"/>
                <a:ext cx="151325" cy="1430115"/>
                <a:chOff x="9681295" y="2589422"/>
                <a:chExt cx="179714" cy="1698408"/>
              </a:xfrm>
            </p:grpSpPr>
            <p:pic>
              <p:nvPicPr>
                <p:cNvPr id="22" name="图片 21" descr="图标&#10;&#10;描述已自动生成"/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81295" y="2589422"/>
                  <a:ext cx="179714" cy="179714"/>
                </a:xfrm>
                <a:prstGeom prst="rect">
                  <a:avLst/>
                </a:prstGeom>
              </p:spPr>
            </p:pic>
            <p:pic>
              <p:nvPicPr>
                <p:cNvPr id="23" name="图片 22" descr="图标&#10;&#10;描述已自动生成"/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81295" y="2808129"/>
                  <a:ext cx="179714" cy="179714"/>
                </a:xfrm>
                <a:prstGeom prst="rect">
                  <a:avLst/>
                </a:prstGeom>
              </p:spPr>
            </p:pic>
            <p:pic>
              <p:nvPicPr>
                <p:cNvPr id="26" name="图片 25" descr="图标&#10;&#10;描述已自动生成"/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81295" y="3026836"/>
                  <a:ext cx="179714" cy="179714"/>
                </a:xfrm>
                <a:prstGeom prst="rect">
                  <a:avLst/>
                </a:prstGeom>
              </p:spPr>
            </p:pic>
            <p:pic>
              <p:nvPicPr>
                <p:cNvPr id="27" name="图片 26" descr="图标&#10;&#10;描述已自动生成"/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81295" y="3246367"/>
                  <a:ext cx="179714" cy="179714"/>
                </a:xfrm>
                <a:prstGeom prst="rect">
                  <a:avLst/>
                </a:prstGeom>
              </p:spPr>
            </p:pic>
            <p:pic>
              <p:nvPicPr>
                <p:cNvPr id="28" name="图片 27" descr="图标&#10;&#10;描述已自动生成"/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81295" y="3464079"/>
                  <a:ext cx="179714" cy="179714"/>
                </a:xfrm>
                <a:prstGeom prst="rect">
                  <a:avLst/>
                </a:prstGeom>
              </p:spPr>
            </p:pic>
            <p:pic>
              <p:nvPicPr>
                <p:cNvPr id="29" name="图片 28" descr="图标&#10;&#10;描述已自动生成"/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81295" y="3673307"/>
                  <a:ext cx="179714" cy="179714"/>
                </a:xfrm>
                <a:prstGeom prst="rect">
                  <a:avLst/>
                </a:prstGeom>
              </p:spPr>
            </p:pic>
            <p:pic>
              <p:nvPicPr>
                <p:cNvPr id="30" name="图片 29" descr="图标&#10;&#10;描述已自动生成"/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81295" y="3888585"/>
                  <a:ext cx="179714" cy="179714"/>
                </a:xfrm>
                <a:prstGeom prst="rect">
                  <a:avLst/>
                </a:prstGeom>
              </p:spPr>
            </p:pic>
            <p:pic>
              <p:nvPicPr>
                <p:cNvPr id="31" name="图片 30" descr="图标&#10;&#10;描述已自动生成"/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81295" y="4108116"/>
                  <a:ext cx="179714" cy="179714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66" name="组合 65"/>
            <p:cNvGrpSpPr/>
            <p:nvPr/>
          </p:nvGrpSpPr>
          <p:grpSpPr>
            <a:xfrm>
              <a:off x="1497542" y="2538770"/>
              <a:ext cx="1069282" cy="1754326"/>
              <a:chOff x="1497542" y="2348880"/>
              <a:chExt cx="1069282" cy="1754326"/>
            </a:xfrm>
          </p:grpSpPr>
          <p:grpSp>
            <p:nvGrpSpPr>
              <p:cNvPr id="64" name="组合 63"/>
              <p:cNvGrpSpPr/>
              <p:nvPr/>
            </p:nvGrpSpPr>
            <p:grpSpPr>
              <a:xfrm>
                <a:off x="1497542" y="2348880"/>
                <a:ext cx="1069282" cy="1754326"/>
                <a:chOff x="1497542" y="2348880"/>
                <a:chExt cx="1069282" cy="1754326"/>
              </a:xfrm>
            </p:grpSpPr>
            <p:sp>
              <p:nvSpPr>
                <p:cNvPr id="48" name="文本框 47"/>
                <p:cNvSpPr txBox="1"/>
                <p:nvPr/>
              </p:nvSpPr>
              <p:spPr>
                <a:xfrm>
                  <a:off x="1665756" y="2348880"/>
                  <a:ext cx="901068" cy="17543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2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在线看房</a:t>
                  </a:r>
                  <a:endPara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  <a:p>
                  <a:r>
                    <a:rPr lang="zh-CN" altLang="en-US" sz="12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在线报修</a:t>
                  </a:r>
                  <a:endPara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  <a:p>
                  <a:r>
                    <a:rPr lang="zh-CN" altLang="en-US" sz="12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账单催收</a:t>
                  </a:r>
                  <a:endPara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  <a:p>
                  <a:r>
                    <a:rPr lang="zh-CN" altLang="en-US" sz="12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账单查看</a:t>
                  </a:r>
                  <a:endPara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  <a:p>
                  <a:r>
                    <a:rPr lang="zh-CN" altLang="en-US" sz="12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快捷支付</a:t>
                  </a:r>
                  <a:endPara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  <a:p>
                  <a:r>
                    <a:rPr lang="zh-CN" altLang="en-US" sz="12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在线开票</a:t>
                  </a:r>
                  <a:endPara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  <a:p>
                  <a:r>
                    <a:rPr lang="zh-CN" altLang="en-US" sz="12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在线客服</a:t>
                  </a:r>
                  <a:endPara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  <a:p>
                  <a:r>
                    <a:rPr lang="zh-CN" altLang="en-US" sz="12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资讯服务</a:t>
                  </a:r>
                  <a:endPara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  <a:p>
                  <a:r>
                    <a:rPr lang="en-US" altLang="zh-CN" sz="12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……</a:t>
                  </a:r>
                  <a:endParaRPr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grpSp>
              <p:nvGrpSpPr>
                <p:cNvPr id="63" name="组合 62"/>
                <p:cNvGrpSpPr/>
                <p:nvPr/>
              </p:nvGrpSpPr>
              <p:grpSpPr>
                <a:xfrm>
                  <a:off x="1497542" y="2417037"/>
                  <a:ext cx="234277" cy="1430115"/>
                  <a:chOff x="1497542" y="2417037"/>
                  <a:chExt cx="234277" cy="1430115"/>
                </a:xfrm>
              </p:grpSpPr>
              <p:grpSp>
                <p:nvGrpSpPr>
                  <p:cNvPr id="55" name="组合 54"/>
                  <p:cNvGrpSpPr/>
                  <p:nvPr/>
                </p:nvGrpSpPr>
                <p:grpSpPr>
                  <a:xfrm>
                    <a:off x="1539658" y="2417037"/>
                    <a:ext cx="151325" cy="1430115"/>
                    <a:chOff x="1519805" y="2411359"/>
                    <a:chExt cx="179714" cy="1698408"/>
                  </a:xfrm>
                </p:grpSpPr>
                <p:pic>
                  <p:nvPicPr>
                    <p:cNvPr id="46" name="图片 45" descr="图标&#10;&#10;描述已自动生成"/>
                    <p:cNvPicPr>
                      <a:picLocks noChangeAspect="1"/>
                    </p:cNvPicPr>
                    <p:nvPr/>
                  </p:nvPicPr>
                  <p:blipFill>
                    <a:blip r:embed="rId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519805" y="2411359"/>
                      <a:ext cx="179714" cy="179714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53" name="图片 52" descr="图标&#10;&#10;描述已自动生成"/>
                    <p:cNvPicPr>
                      <a:picLocks noChangeAspect="1"/>
                    </p:cNvPicPr>
                    <p:nvPr/>
                  </p:nvPicPr>
                  <p:blipFill>
                    <a:blip r:embed="rId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519805" y="3710522"/>
                      <a:ext cx="179714" cy="179714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54" name="图片 53" descr="图标&#10;&#10;描述已自动生成"/>
                    <p:cNvPicPr>
                      <a:picLocks noChangeAspect="1"/>
                    </p:cNvPicPr>
                    <p:nvPr/>
                  </p:nvPicPr>
                  <p:blipFill>
                    <a:blip r:embed="rId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519805" y="3930053"/>
                      <a:ext cx="179714" cy="179714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59" name="图片 58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498819" y="2752520"/>
                    <a:ext cx="233000" cy="255040"/>
                  </a:xfrm>
                  <a:prstGeom prst="rect">
                    <a:avLst/>
                  </a:prstGeom>
                </p:spPr>
              </p:pic>
              <p:pic>
                <p:nvPicPr>
                  <p:cNvPr id="60" name="图片 59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498819" y="2934350"/>
                    <a:ext cx="233000" cy="255040"/>
                  </a:xfrm>
                  <a:prstGeom prst="rect">
                    <a:avLst/>
                  </a:prstGeom>
                </p:spPr>
              </p:pic>
              <p:pic>
                <p:nvPicPr>
                  <p:cNvPr id="61" name="图片 60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498819" y="3118310"/>
                    <a:ext cx="233000" cy="255040"/>
                  </a:xfrm>
                  <a:prstGeom prst="rect">
                    <a:avLst/>
                  </a:prstGeom>
                </p:spPr>
              </p:pic>
              <p:pic>
                <p:nvPicPr>
                  <p:cNvPr id="62" name="图片 61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497542" y="3298548"/>
                    <a:ext cx="233000" cy="255040"/>
                  </a:xfrm>
                  <a:prstGeom prst="rect">
                    <a:avLst/>
                  </a:prstGeom>
                </p:spPr>
              </p:pic>
            </p:grpSp>
          </p:grpSp>
          <p:pic>
            <p:nvPicPr>
              <p:cNvPr id="65" name="图片 6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97542" y="2566059"/>
                <a:ext cx="233000" cy="255040"/>
              </a:xfrm>
              <a:prstGeom prst="rect">
                <a:avLst/>
              </a:prstGeom>
            </p:spPr>
          </p:pic>
        </p:grpSp>
        <p:grpSp>
          <p:nvGrpSpPr>
            <p:cNvPr id="71" name="组合 70"/>
            <p:cNvGrpSpPr/>
            <p:nvPr/>
          </p:nvGrpSpPr>
          <p:grpSpPr>
            <a:xfrm>
              <a:off x="1497542" y="4771018"/>
              <a:ext cx="1070066" cy="1754326"/>
              <a:chOff x="1497542" y="4610396"/>
              <a:chExt cx="1070066" cy="1754326"/>
            </a:xfrm>
          </p:grpSpPr>
          <p:sp>
            <p:nvSpPr>
              <p:cNvPr id="37" name="文本框 36"/>
              <p:cNvSpPr txBox="1"/>
              <p:nvPr/>
            </p:nvSpPr>
            <p:spPr>
              <a:xfrm>
                <a:off x="1666540" y="4610396"/>
                <a:ext cx="901068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在线看房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在线报修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账单催收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账单查看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快捷支付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在线开票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在线客服</a:t>
                </a:r>
                <a:endPara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资讯服务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……</a:t>
                </a:r>
                <a:endPara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70" name="组合 69"/>
              <p:cNvGrpSpPr/>
              <p:nvPr/>
            </p:nvGrpSpPr>
            <p:grpSpPr>
              <a:xfrm>
                <a:off x="1497542" y="4674453"/>
                <a:ext cx="233000" cy="1430115"/>
                <a:chOff x="1497542" y="4674453"/>
                <a:chExt cx="233000" cy="1430115"/>
              </a:xfrm>
            </p:grpSpPr>
            <p:grpSp>
              <p:nvGrpSpPr>
                <p:cNvPr id="33" name="组合 32"/>
                <p:cNvGrpSpPr/>
                <p:nvPr/>
              </p:nvGrpSpPr>
              <p:grpSpPr>
                <a:xfrm>
                  <a:off x="1539657" y="4674453"/>
                  <a:ext cx="151325" cy="1430115"/>
                  <a:chOff x="1520589" y="4672875"/>
                  <a:chExt cx="179714" cy="1698408"/>
                </a:xfrm>
              </p:grpSpPr>
              <p:pic>
                <p:nvPicPr>
                  <p:cNvPr id="35" name="图片 34" descr="图标&#10;&#10;描述已自动生成"/>
                  <p:cNvPicPr>
                    <a:picLocks noChangeAspect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520589" y="4672875"/>
                    <a:ext cx="179714" cy="179714"/>
                  </a:xfrm>
                  <a:prstGeom prst="rect">
                    <a:avLst/>
                  </a:prstGeom>
                </p:spPr>
              </p:pic>
              <p:pic>
                <p:nvPicPr>
                  <p:cNvPr id="36" name="图片 35" descr="图标&#10;&#10;描述已自动生成"/>
                  <p:cNvPicPr>
                    <a:picLocks noChangeAspect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520589" y="4891582"/>
                    <a:ext cx="179714" cy="179714"/>
                  </a:xfrm>
                  <a:prstGeom prst="rect">
                    <a:avLst/>
                  </a:prstGeom>
                </p:spPr>
              </p:pic>
              <p:pic>
                <p:nvPicPr>
                  <p:cNvPr id="39" name="图片 38" descr="图标&#10;&#10;描述已自动生成"/>
                  <p:cNvPicPr>
                    <a:picLocks noChangeAspect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520589" y="5329820"/>
                    <a:ext cx="179714" cy="179714"/>
                  </a:xfrm>
                  <a:prstGeom prst="rect">
                    <a:avLst/>
                  </a:prstGeom>
                </p:spPr>
              </p:pic>
              <p:pic>
                <p:nvPicPr>
                  <p:cNvPr id="43" name="图片 42" descr="图标&#10;&#10;描述已自动生成"/>
                  <p:cNvPicPr>
                    <a:picLocks noChangeAspect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520589" y="5972038"/>
                    <a:ext cx="179714" cy="179714"/>
                  </a:xfrm>
                  <a:prstGeom prst="rect">
                    <a:avLst/>
                  </a:prstGeom>
                </p:spPr>
              </p:pic>
              <p:pic>
                <p:nvPicPr>
                  <p:cNvPr id="44" name="图片 43" descr="图标&#10;&#10;描述已自动生成"/>
                  <p:cNvPicPr>
                    <a:picLocks noChangeAspect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520589" y="6191569"/>
                    <a:ext cx="179714" cy="179714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67" name="图片 66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97542" y="5008813"/>
                  <a:ext cx="233000" cy="255040"/>
                </a:xfrm>
                <a:prstGeom prst="rect">
                  <a:avLst/>
                </a:prstGeom>
              </p:spPr>
            </p:pic>
            <p:pic>
              <p:nvPicPr>
                <p:cNvPr id="68" name="图片 67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97542" y="5385000"/>
                  <a:ext cx="233000" cy="255040"/>
                </a:xfrm>
                <a:prstGeom prst="rect">
                  <a:avLst/>
                </a:prstGeom>
              </p:spPr>
            </p:pic>
            <p:pic>
              <p:nvPicPr>
                <p:cNvPr id="69" name="图片 68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97542" y="5565569"/>
                  <a:ext cx="233000" cy="25504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35" name="组合 134"/>
          <p:cNvGrpSpPr/>
          <p:nvPr/>
        </p:nvGrpSpPr>
        <p:grpSpPr>
          <a:xfrm>
            <a:off x="5600996" y="1916333"/>
            <a:ext cx="5625918" cy="3413486"/>
            <a:chOff x="5600996" y="1916333"/>
            <a:chExt cx="5625918" cy="3413486"/>
          </a:xfrm>
        </p:grpSpPr>
        <p:grpSp>
          <p:nvGrpSpPr>
            <p:cNvPr id="76" name="组合 75"/>
            <p:cNvGrpSpPr/>
            <p:nvPr/>
          </p:nvGrpSpPr>
          <p:grpSpPr>
            <a:xfrm>
              <a:off x="9531076" y="1916333"/>
              <a:ext cx="1695838" cy="2498389"/>
              <a:chOff x="9531076" y="1916333"/>
              <a:chExt cx="1695838" cy="2498389"/>
            </a:xfrm>
          </p:grpSpPr>
          <p:sp>
            <p:nvSpPr>
              <p:cNvPr id="9" name="标注: 线形 8"/>
              <p:cNvSpPr/>
              <p:nvPr/>
            </p:nvSpPr>
            <p:spPr bwMode="auto">
              <a:xfrm>
                <a:off x="9531076" y="2501108"/>
                <a:ext cx="1317453" cy="1913614"/>
              </a:xfrm>
              <a:prstGeom prst="borderCallout1">
                <a:avLst>
                  <a:gd name="adj1" fmla="val 16397"/>
                  <a:gd name="adj2" fmla="val -4463"/>
                  <a:gd name="adj3" fmla="val 77984"/>
                  <a:gd name="adj4" fmla="val -50911"/>
                </a:avLst>
              </a:prstGeom>
              <a:solidFill>
                <a:schemeClr val="bg1">
                  <a:alpha val="16000"/>
                </a:schemeClr>
              </a:solidFill>
              <a:ln w="1905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 bwMode="auto">
              <a:xfrm>
                <a:off x="9531077" y="1942213"/>
                <a:ext cx="1317452" cy="528823"/>
              </a:xfrm>
              <a:prstGeom prst="rect">
                <a:avLst/>
              </a:prstGeom>
              <a:solidFill>
                <a:srgbClr val="FFC000"/>
              </a:solidFill>
              <a:ln w="12700" cap="flat" cmpd="sng" algn="ctr">
                <a:solidFill>
                  <a:srgbClr val="FFC000"/>
                </a:solidFill>
                <a:prstDash val="solid"/>
                <a:miter lim="800000"/>
              </a:ln>
              <a:effectLst/>
            </p:spPr>
            <p:txBody>
              <a:bodyPr lIns="190492" tIns="95246" rIns="190492" bIns="95246"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200" b="1" dirty="0">
                    <a:solidFill>
                      <a:sysClr val="windowText" lastClr="000000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rPr>
                  <a:t>集团公司筹集</a:t>
                </a:r>
                <a:endParaRPr lang="en-US" altLang="zh-CN" sz="1200" b="1" dirty="0">
                  <a:solidFill>
                    <a:sysClr val="windowText" lastClr="000000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endParaRPr>
              </a:p>
            </p:txBody>
          </p:sp>
          <p:sp>
            <p:nvSpPr>
              <p:cNvPr id="72" name="文本框 71"/>
              <p:cNvSpPr txBox="1"/>
              <p:nvPr/>
            </p:nvSpPr>
            <p:spPr>
              <a:xfrm>
                <a:off x="10859576" y="1916333"/>
                <a:ext cx="367338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rPr>
                  <a:t>全委托运营</a:t>
                </a:r>
                <a:endParaRPr lang="zh-CN" altLang="en-US" dirty="0"/>
              </a:p>
            </p:txBody>
          </p:sp>
        </p:grpSp>
        <p:sp>
          <p:nvSpPr>
            <p:cNvPr id="20" name="任意多边形: 形状 19"/>
            <p:cNvSpPr/>
            <p:nvPr/>
          </p:nvSpPr>
          <p:spPr bwMode="auto">
            <a:xfrm>
              <a:off x="5600996" y="2328668"/>
              <a:ext cx="3231308" cy="3001151"/>
            </a:xfrm>
            <a:custGeom>
              <a:avLst/>
              <a:gdLst>
                <a:gd name="connsiteX0" fmla="*/ 82064 w 3231308"/>
                <a:gd name="connsiteY0" fmla="*/ 0 h 3205892"/>
                <a:gd name="connsiteX1" fmla="*/ 1493060 w 3231308"/>
                <a:gd name="connsiteY1" fmla="*/ 0 h 3205892"/>
                <a:gd name="connsiteX2" fmla="*/ 1508982 w 3231308"/>
                <a:gd name="connsiteY2" fmla="*/ 3215 h 3205892"/>
                <a:gd name="connsiteX3" fmla="*/ 1524898 w 3231308"/>
                <a:gd name="connsiteY3" fmla="*/ 1 h 3205892"/>
                <a:gd name="connsiteX4" fmla="*/ 3137518 w 3231308"/>
                <a:gd name="connsiteY4" fmla="*/ 1 h 3205892"/>
                <a:gd name="connsiteX5" fmla="*/ 3231308 w 3231308"/>
                <a:gd name="connsiteY5" fmla="*/ 93791 h 3205892"/>
                <a:gd name="connsiteX6" fmla="*/ 3231308 w 3231308"/>
                <a:gd name="connsiteY6" fmla="*/ 3112102 h 3205892"/>
                <a:gd name="connsiteX7" fmla="*/ 3137518 w 3231308"/>
                <a:gd name="connsiteY7" fmla="*/ 3205892 h 3205892"/>
                <a:gd name="connsiteX8" fmla="*/ 1524898 w 3231308"/>
                <a:gd name="connsiteY8" fmla="*/ 3205892 h 3205892"/>
                <a:gd name="connsiteX9" fmla="*/ 1431108 w 3231308"/>
                <a:gd name="connsiteY9" fmla="*/ 3112102 h 3205892"/>
                <a:gd name="connsiteX10" fmla="*/ 1431108 w 3231308"/>
                <a:gd name="connsiteY10" fmla="*/ 1892319 h 3205892"/>
                <a:gd name="connsiteX11" fmla="*/ 82064 w 3231308"/>
                <a:gd name="connsiteY11" fmla="*/ 1892319 h 3205892"/>
                <a:gd name="connsiteX12" fmla="*/ 0 w 3231308"/>
                <a:gd name="connsiteY12" fmla="*/ 1810255 h 3205892"/>
                <a:gd name="connsiteX13" fmla="*/ 0 w 3231308"/>
                <a:gd name="connsiteY13" fmla="*/ 82064 h 3205892"/>
                <a:gd name="connsiteX14" fmla="*/ 82064 w 3231308"/>
                <a:gd name="connsiteY14" fmla="*/ 0 h 3205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1308" h="3205892">
                  <a:moveTo>
                    <a:pt x="82064" y="0"/>
                  </a:moveTo>
                  <a:lnTo>
                    <a:pt x="1493060" y="0"/>
                  </a:lnTo>
                  <a:lnTo>
                    <a:pt x="1508982" y="3215"/>
                  </a:lnTo>
                  <a:lnTo>
                    <a:pt x="1524898" y="1"/>
                  </a:lnTo>
                  <a:lnTo>
                    <a:pt x="3137518" y="1"/>
                  </a:lnTo>
                  <a:cubicBezTo>
                    <a:pt x="3189317" y="1"/>
                    <a:pt x="3231308" y="41992"/>
                    <a:pt x="3231308" y="93791"/>
                  </a:cubicBezTo>
                  <a:lnTo>
                    <a:pt x="3231308" y="3112102"/>
                  </a:lnTo>
                  <a:cubicBezTo>
                    <a:pt x="3231308" y="3163901"/>
                    <a:pt x="3189317" y="3205892"/>
                    <a:pt x="3137518" y="3205892"/>
                  </a:cubicBezTo>
                  <a:lnTo>
                    <a:pt x="1524898" y="3205892"/>
                  </a:lnTo>
                  <a:cubicBezTo>
                    <a:pt x="1473099" y="3205892"/>
                    <a:pt x="1431108" y="3163901"/>
                    <a:pt x="1431108" y="3112102"/>
                  </a:cubicBezTo>
                  <a:lnTo>
                    <a:pt x="1431108" y="1892319"/>
                  </a:lnTo>
                  <a:lnTo>
                    <a:pt x="82064" y="1892319"/>
                  </a:lnTo>
                  <a:cubicBezTo>
                    <a:pt x="36741" y="1892319"/>
                    <a:pt x="0" y="1855578"/>
                    <a:pt x="0" y="1810255"/>
                  </a:cubicBezTo>
                  <a:lnTo>
                    <a:pt x="0" y="82064"/>
                  </a:lnTo>
                  <a:cubicBezTo>
                    <a:pt x="0" y="36741"/>
                    <a:pt x="36741" y="0"/>
                    <a:pt x="82064" y="0"/>
                  </a:cubicBezTo>
                  <a:close/>
                </a:path>
              </a:pathLst>
            </a:custGeom>
            <a:solidFill>
              <a:srgbClr val="EE8A12">
                <a:alpha val="34000"/>
              </a:srgbClr>
            </a:solidFill>
            <a:ln>
              <a:solidFill>
                <a:srgbClr val="EE8A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endParaRPr>
            </a:p>
          </p:txBody>
        </p:sp>
      </p:grpSp>
      <p:grpSp>
        <p:nvGrpSpPr>
          <p:cNvPr id="301" name="组合 300"/>
          <p:cNvGrpSpPr/>
          <p:nvPr/>
        </p:nvGrpSpPr>
        <p:grpSpPr>
          <a:xfrm>
            <a:off x="3215680" y="5673142"/>
            <a:ext cx="1608108" cy="940378"/>
            <a:chOff x="9408415" y="5541600"/>
            <a:chExt cx="1608108" cy="940378"/>
          </a:xfrm>
        </p:grpSpPr>
        <p:pic>
          <p:nvPicPr>
            <p:cNvPr id="298" name="图片 297" descr="卡通人物&#10;&#10;描述已自动生成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08415" y="5953155"/>
              <a:ext cx="584176" cy="528823"/>
            </a:xfrm>
            <a:prstGeom prst="rect">
              <a:avLst/>
            </a:prstGeom>
          </p:spPr>
        </p:pic>
        <p:grpSp>
          <p:nvGrpSpPr>
            <p:cNvPr id="300" name="组合 299"/>
            <p:cNvGrpSpPr/>
            <p:nvPr/>
          </p:nvGrpSpPr>
          <p:grpSpPr>
            <a:xfrm>
              <a:off x="9455220" y="5541600"/>
              <a:ext cx="1561303" cy="940377"/>
              <a:chOff x="9455220" y="5541600"/>
              <a:chExt cx="1561303" cy="940377"/>
            </a:xfrm>
          </p:grpSpPr>
          <p:grpSp>
            <p:nvGrpSpPr>
              <p:cNvPr id="297" name="组合 296"/>
              <p:cNvGrpSpPr/>
              <p:nvPr/>
            </p:nvGrpSpPr>
            <p:grpSpPr>
              <a:xfrm>
                <a:off x="9455220" y="5541600"/>
                <a:ext cx="1561303" cy="940377"/>
                <a:chOff x="9455683" y="5527437"/>
                <a:chExt cx="1561303" cy="940377"/>
              </a:xfrm>
            </p:grpSpPr>
            <p:sp>
              <p:nvSpPr>
                <p:cNvPr id="116" name="文本框 1"/>
                <p:cNvSpPr txBox="1"/>
                <p:nvPr/>
              </p:nvSpPr>
              <p:spPr>
                <a:xfrm>
                  <a:off x="9455683" y="5527437"/>
                  <a:ext cx="1196659" cy="377411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R="0" lvl="0" indent="0" defTabSz="1176655">
                    <a:lnSpc>
                      <a:spcPct val="150000"/>
                    </a:lnSpc>
                    <a:buClrTx/>
                    <a:buSzTx/>
                    <a:buFont typeface="Arial" panose="020B0604020202090204" pitchFamily="34" charset="0"/>
                    <a:buNone/>
                    <a:defRPr sz="1800" spc="0" baseline="0"/>
                  </a:pPr>
                  <a:r>
                    <a:rPr lang="zh-CN" altLang="en-US" sz="14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某企业人才</a:t>
                  </a:r>
                  <a:endParaRPr lang="zh-CN" altLang="en-US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  <p:pic>
              <p:nvPicPr>
                <p:cNvPr id="292" name="图片 291" descr="卡通人物&#10;&#10;描述已自动生成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761924" y="5938991"/>
                  <a:ext cx="584176" cy="528823"/>
                </a:xfrm>
                <a:prstGeom prst="rect">
                  <a:avLst/>
                </a:prstGeom>
              </p:spPr>
            </p:pic>
            <p:pic>
              <p:nvPicPr>
                <p:cNvPr id="294" name="图片 293" descr="卡通人物&#10;&#10;描述已自动生成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432810" y="5938716"/>
                  <a:ext cx="584176" cy="528823"/>
                </a:xfrm>
                <a:prstGeom prst="rect">
                  <a:avLst/>
                </a:prstGeom>
              </p:spPr>
            </p:pic>
          </p:grpSp>
          <p:pic>
            <p:nvPicPr>
              <p:cNvPr id="299" name="图片 298" descr="卡通人物&#10;&#10;描述已自动生成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96904" y="5952879"/>
                <a:ext cx="584176" cy="528823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组合 81"/>
          <p:cNvGrpSpPr/>
          <p:nvPr/>
        </p:nvGrpSpPr>
        <p:grpSpPr>
          <a:xfrm>
            <a:off x="6957791" y="3801042"/>
            <a:ext cx="2364533" cy="1108059"/>
            <a:chOff x="7466344" y="3800248"/>
            <a:chExt cx="2364533" cy="1108059"/>
          </a:xfrm>
        </p:grpSpPr>
        <p:cxnSp>
          <p:nvCxnSpPr>
            <p:cNvPr id="4" name="直接箭头连接符 3"/>
            <p:cNvCxnSpPr/>
            <p:nvPr/>
          </p:nvCxnSpPr>
          <p:spPr bwMode="auto">
            <a:xfrm>
              <a:off x="7466344" y="3800248"/>
              <a:ext cx="2364533" cy="1108059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8CBB19"/>
              </a:solidFill>
              <a:prstDash val="lgDash"/>
              <a:round/>
              <a:headEnd type="triangle"/>
              <a:tailEnd type="triangle"/>
            </a:ln>
          </p:spPr>
        </p:cxnSp>
        <p:sp>
          <p:nvSpPr>
            <p:cNvPr id="61" name="文本框 60"/>
            <p:cNvSpPr txBox="1"/>
            <p:nvPr/>
          </p:nvSpPr>
          <p:spPr>
            <a:xfrm>
              <a:off x="8188729" y="3851841"/>
              <a:ext cx="1512168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数据同步</a:t>
              </a:r>
              <a:endPara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zh-CN" altLang="en-US" sz="1200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（自动）</a:t>
              </a:r>
              <a:endParaRPr lang="en-US" altLang="zh-CN" sz="12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055440" y="2204864"/>
            <a:ext cx="2519097" cy="1485929"/>
            <a:chOff x="1415480" y="2204864"/>
            <a:chExt cx="2519097" cy="1485929"/>
          </a:xfrm>
        </p:grpSpPr>
        <p:grpSp>
          <p:nvGrpSpPr>
            <p:cNvPr id="31" name="组合 30"/>
            <p:cNvGrpSpPr/>
            <p:nvPr/>
          </p:nvGrpSpPr>
          <p:grpSpPr>
            <a:xfrm>
              <a:off x="1415480" y="2204864"/>
              <a:ext cx="2519097" cy="1485929"/>
              <a:chOff x="6025175" y="2086534"/>
              <a:chExt cx="2519097" cy="1485929"/>
            </a:xfrm>
          </p:grpSpPr>
          <p:grpSp>
            <p:nvGrpSpPr>
              <p:cNvPr id="36" name="组合 35"/>
              <p:cNvGrpSpPr/>
              <p:nvPr/>
            </p:nvGrpSpPr>
            <p:grpSpPr>
              <a:xfrm>
                <a:off x="6086913" y="3080020"/>
                <a:ext cx="2457359" cy="492443"/>
                <a:chOff x="6086913" y="3080020"/>
                <a:chExt cx="2457359" cy="492443"/>
              </a:xfrm>
            </p:grpSpPr>
            <p:sp>
              <p:nvSpPr>
                <p:cNvPr id="40" name="文本框 39"/>
                <p:cNvSpPr txBox="1"/>
                <p:nvPr/>
              </p:nvSpPr>
              <p:spPr>
                <a:xfrm>
                  <a:off x="6147697" y="3080020"/>
                  <a:ext cx="2396575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预约看房</a:t>
                  </a:r>
                  <a:r>
                    <a:rPr lang="en-US" altLang="zh-CN" sz="1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/</a:t>
                  </a:r>
                  <a:r>
                    <a:rPr lang="zh-CN" altLang="en-US" sz="1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活动报名</a:t>
                  </a:r>
                  <a:endParaRPr lang="en-US" altLang="zh-CN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  <a:p>
                  <a:pPr algn="ctr"/>
                  <a:r>
                    <a:rPr lang="zh-CN" altLang="en-US" sz="12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楷体_GB2312" panose="02010609030101010101" pitchFamily="49" charset="-122"/>
                      <a:ea typeface="楷体_GB2312" panose="02010609030101010101" pitchFamily="49" charset="-122"/>
                    </a:rPr>
                    <a:t>（租赁系统、移动应用）</a:t>
                  </a:r>
                  <a:endParaRPr lang="zh-CN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楷体_GB2312" panose="02010609030101010101" pitchFamily="49" charset="-122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42" name="矩形 41"/>
                <p:cNvSpPr/>
                <p:nvPr/>
              </p:nvSpPr>
              <p:spPr>
                <a:xfrm>
                  <a:off x="6086913" y="3135503"/>
                  <a:ext cx="269418" cy="290197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latin typeface="微软雅黑" panose="020B0503020204020204" charset="-122"/>
                      <a:ea typeface="微软雅黑" panose="020B0503020204020204" charset="-122"/>
                    </a:rPr>
                    <a:t>1</a:t>
                  </a:r>
                  <a:endParaRPr lang="en-US" altLang="zh-CN" b="1" dirty="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6025175" y="2086534"/>
                <a:ext cx="2011993" cy="923665"/>
                <a:chOff x="6025175" y="2086534"/>
                <a:chExt cx="2011993" cy="923665"/>
              </a:xfrm>
            </p:grpSpPr>
            <p:pic>
              <p:nvPicPr>
                <p:cNvPr id="38" name="图片 37"/>
                <p:cNvPicPr>
                  <a:picLocks noChangeAspect="1"/>
                </p:cNvPicPr>
                <p:nvPr/>
              </p:nvPicPr>
              <p:blipFill>
                <a:blip r:embed="rId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25175" y="2131496"/>
                  <a:ext cx="1406566" cy="871773"/>
                </a:xfrm>
                <a:prstGeom prst="rect">
                  <a:avLst/>
                </a:prstGeom>
              </p:spPr>
            </p:pic>
            <p:pic>
              <p:nvPicPr>
                <p:cNvPr id="39" name="图片 38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526094" y="2086534"/>
                  <a:ext cx="511074" cy="923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77575" y="2290434"/>
              <a:ext cx="1082375" cy="729779"/>
            </a:xfrm>
            <a:prstGeom prst="rect">
              <a:avLst/>
            </a:prstGeom>
          </p:spPr>
        </p:pic>
        <p:pic>
          <p:nvPicPr>
            <p:cNvPr id="57" name="图片 56" descr="图形用户界面, 网站&#10;&#10;描述已自动生成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3726" y="2341904"/>
              <a:ext cx="336420" cy="648072"/>
            </a:xfrm>
            <a:prstGeom prst="roundRect">
              <a:avLst>
                <a:gd name="adj" fmla="val 8131"/>
              </a:avLst>
            </a:prstGeom>
            <a:ln>
              <a:noFill/>
            </a:ln>
            <a:effectLst/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grpSp>
        <p:nvGrpSpPr>
          <p:cNvPr id="55" name="组合 54"/>
          <p:cNvGrpSpPr/>
          <p:nvPr/>
        </p:nvGrpSpPr>
        <p:grpSpPr>
          <a:xfrm>
            <a:off x="4798673" y="2204864"/>
            <a:ext cx="2881200" cy="1485929"/>
            <a:chOff x="5303912" y="2204864"/>
            <a:chExt cx="2881200" cy="1485929"/>
          </a:xfrm>
        </p:grpSpPr>
        <p:grpSp>
          <p:nvGrpSpPr>
            <p:cNvPr id="62" name="组合 61"/>
            <p:cNvGrpSpPr/>
            <p:nvPr/>
          </p:nvGrpSpPr>
          <p:grpSpPr>
            <a:xfrm>
              <a:off x="5303912" y="2204864"/>
              <a:ext cx="2519097" cy="1485929"/>
              <a:chOff x="6025175" y="2086534"/>
              <a:chExt cx="2519097" cy="1485929"/>
            </a:xfrm>
          </p:grpSpPr>
          <p:grpSp>
            <p:nvGrpSpPr>
              <p:cNvPr id="63" name="组合 62"/>
              <p:cNvGrpSpPr/>
              <p:nvPr/>
            </p:nvGrpSpPr>
            <p:grpSpPr>
              <a:xfrm>
                <a:off x="6086913" y="3080020"/>
                <a:ext cx="2457359" cy="492443"/>
                <a:chOff x="6086913" y="3080020"/>
                <a:chExt cx="2457359" cy="492443"/>
              </a:xfrm>
            </p:grpSpPr>
            <p:sp>
              <p:nvSpPr>
                <p:cNvPr id="67" name="文本框 66"/>
                <p:cNvSpPr txBox="1"/>
                <p:nvPr/>
              </p:nvSpPr>
              <p:spPr>
                <a:xfrm>
                  <a:off x="6147697" y="3080020"/>
                  <a:ext cx="2396575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租赁分配</a:t>
                  </a:r>
                  <a:r>
                    <a:rPr lang="en-US" altLang="zh-CN" sz="1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/</a:t>
                  </a:r>
                  <a:r>
                    <a:rPr lang="zh-CN" altLang="en-US" sz="1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电子合同</a:t>
                  </a:r>
                  <a:endParaRPr lang="en-US" altLang="zh-CN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  <a:p>
                  <a:pPr algn="ctr"/>
                  <a:r>
                    <a:rPr lang="zh-CN" altLang="en-US" sz="12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楷体_GB2312" panose="02010609030101010101" pitchFamily="49" charset="-122"/>
                      <a:ea typeface="楷体_GB2312" panose="02010609030101010101" pitchFamily="49" charset="-122"/>
                    </a:rPr>
                    <a:t>（租赁系统、移动应用）</a:t>
                  </a:r>
                  <a:endParaRPr lang="zh-CN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楷体_GB2312" panose="02010609030101010101" pitchFamily="49" charset="-122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68" name="矩形 67"/>
                <p:cNvSpPr/>
                <p:nvPr/>
              </p:nvSpPr>
              <p:spPr>
                <a:xfrm>
                  <a:off x="6086913" y="3135503"/>
                  <a:ext cx="269418" cy="290197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latin typeface="微软雅黑" panose="020B0503020204020204" charset="-122"/>
                      <a:ea typeface="微软雅黑" panose="020B0503020204020204" charset="-122"/>
                    </a:rPr>
                    <a:t>2</a:t>
                  </a:r>
                  <a:endParaRPr lang="en-US" altLang="zh-CN" b="1" dirty="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64" name="组合 63"/>
              <p:cNvGrpSpPr/>
              <p:nvPr/>
            </p:nvGrpSpPr>
            <p:grpSpPr>
              <a:xfrm>
                <a:off x="6025175" y="2086534"/>
                <a:ext cx="2011993" cy="923665"/>
                <a:chOff x="6025175" y="2086534"/>
                <a:chExt cx="2011993" cy="923665"/>
              </a:xfrm>
            </p:grpSpPr>
            <p:pic>
              <p:nvPicPr>
                <p:cNvPr id="65" name="图片 64"/>
                <p:cNvPicPr>
                  <a:picLocks noChangeAspect="1"/>
                </p:cNvPicPr>
                <p:nvPr/>
              </p:nvPicPr>
              <p:blipFill>
                <a:blip r:embed="rId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25175" y="2131496"/>
                  <a:ext cx="1406566" cy="871773"/>
                </a:xfrm>
                <a:prstGeom prst="rect">
                  <a:avLst/>
                </a:prstGeom>
              </p:spPr>
            </p:pic>
            <p:pic>
              <p:nvPicPr>
                <p:cNvPr id="66" name="图片 65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526094" y="2086534"/>
                  <a:ext cx="511074" cy="923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pic>
          <p:nvPicPr>
            <p:cNvPr id="72" name="图片 71" descr="图形用户界面, 文本, 应用程序&#10;&#10;描述已自动生成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8039" y="2363375"/>
              <a:ext cx="352646" cy="626601"/>
            </a:xfrm>
            <a:prstGeom prst="roundRect">
              <a:avLst>
                <a:gd name="adj" fmla="val 4660"/>
              </a:avLst>
            </a:prstGeom>
            <a:ln>
              <a:noFill/>
            </a:ln>
            <a:effectLst/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75" name="椭圆 74"/>
            <p:cNvSpPr/>
            <p:nvPr/>
          </p:nvSpPr>
          <p:spPr bwMode="auto">
            <a:xfrm>
              <a:off x="7109309" y="2227280"/>
              <a:ext cx="1075803" cy="1075807"/>
            </a:xfrm>
            <a:prstGeom prst="ellipse">
              <a:avLst/>
            </a:prstGeom>
            <a:blipFill dpi="0" rotWithShape="1">
              <a:blip r:embed="rId6"/>
              <a:srcRect/>
              <a:stretch>
                <a:fillRect r="-7000"/>
              </a:stretch>
            </a:blipFill>
            <a:effectLst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endParaRPr>
            </a:p>
          </p:txBody>
        </p:sp>
        <p:pic>
          <p:nvPicPr>
            <p:cNvPr id="53" name="图片 52"/>
            <p:cNvPicPr>
              <a:picLocks noChangeAspect="1"/>
            </p:cNvPicPr>
            <p:nvPr/>
          </p:nvPicPr>
          <p:blipFill rotWithShape="1">
            <a:blip r:embed="rId7"/>
            <a:srcRect r="29510"/>
            <a:stretch>
              <a:fillRect/>
            </a:stretch>
          </p:blipFill>
          <p:spPr>
            <a:xfrm>
              <a:off x="5472792" y="2296219"/>
              <a:ext cx="1068805" cy="706793"/>
            </a:xfrm>
            <a:prstGeom prst="rect">
              <a:avLst/>
            </a:prstGeom>
          </p:spPr>
        </p:pic>
      </p:grpSp>
      <p:grpSp>
        <p:nvGrpSpPr>
          <p:cNvPr id="54" name="组合 53"/>
          <p:cNvGrpSpPr/>
          <p:nvPr/>
        </p:nvGrpSpPr>
        <p:grpSpPr>
          <a:xfrm>
            <a:off x="8516353" y="2200920"/>
            <a:ext cx="2908027" cy="1485929"/>
            <a:chOff x="9021592" y="2200920"/>
            <a:chExt cx="2908027" cy="1485929"/>
          </a:xfrm>
        </p:grpSpPr>
        <p:grpSp>
          <p:nvGrpSpPr>
            <p:cNvPr id="77" name="组合 76"/>
            <p:cNvGrpSpPr/>
            <p:nvPr/>
          </p:nvGrpSpPr>
          <p:grpSpPr>
            <a:xfrm>
              <a:off x="9021592" y="2200920"/>
              <a:ext cx="2519097" cy="1485929"/>
              <a:chOff x="6025175" y="2086534"/>
              <a:chExt cx="2519097" cy="1485929"/>
            </a:xfrm>
          </p:grpSpPr>
          <p:grpSp>
            <p:nvGrpSpPr>
              <p:cNvPr id="78" name="组合 77"/>
              <p:cNvGrpSpPr/>
              <p:nvPr/>
            </p:nvGrpSpPr>
            <p:grpSpPr>
              <a:xfrm>
                <a:off x="6086913" y="3080020"/>
                <a:ext cx="2457359" cy="492443"/>
                <a:chOff x="6086913" y="3080020"/>
                <a:chExt cx="2457359" cy="492443"/>
              </a:xfrm>
            </p:grpSpPr>
            <p:sp>
              <p:nvSpPr>
                <p:cNvPr id="83" name="文本框 82"/>
                <p:cNvSpPr txBox="1"/>
                <p:nvPr/>
              </p:nvSpPr>
              <p:spPr>
                <a:xfrm>
                  <a:off x="6147697" y="3080020"/>
                  <a:ext cx="2396575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物业入伙</a:t>
                  </a:r>
                  <a:r>
                    <a:rPr lang="en-US" altLang="zh-CN" sz="1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/</a:t>
                  </a:r>
                  <a:r>
                    <a:rPr lang="zh-CN" altLang="en-US" sz="1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电子协议</a:t>
                  </a:r>
                  <a:endParaRPr lang="en-US" altLang="zh-CN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  <a:p>
                  <a:pPr algn="ctr"/>
                  <a:r>
                    <a:rPr lang="zh-CN" altLang="en-US" sz="12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楷体_GB2312" panose="02010609030101010101" pitchFamily="49" charset="-122"/>
                      <a:ea typeface="楷体_GB2312" panose="02010609030101010101" pitchFamily="49" charset="-122"/>
                    </a:rPr>
                    <a:t>（物业系统、移动应用）</a:t>
                  </a:r>
                  <a:endParaRPr lang="zh-CN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楷体_GB2312" panose="02010609030101010101" pitchFamily="49" charset="-122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84" name="矩形 83"/>
                <p:cNvSpPr/>
                <p:nvPr/>
              </p:nvSpPr>
              <p:spPr>
                <a:xfrm>
                  <a:off x="6086913" y="3135503"/>
                  <a:ext cx="269418" cy="290197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latin typeface="微软雅黑" panose="020B0503020204020204" charset="-122"/>
                      <a:ea typeface="微软雅黑" panose="020B0503020204020204" charset="-122"/>
                    </a:rPr>
                    <a:t>3</a:t>
                  </a:r>
                  <a:endParaRPr lang="en-US" altLang="zh-CN" b="1" dirty="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79" name="组合 78"/>
              <p:cNvGrpSpPr/>
              <p:nvPr/>
            </p:nvGrpSpPr>
            <p:grpSpPr>
              <a:xfrm>
                <a:off x="6025175" y="2086534"/>
                <a:ext cx="2011993" cy="923665"/>
                <a:chOff x="6025175" y="2086534"/>
                <a:chExt cx="2011993" cy="923665"/>
              </a:xfrm>
            </p:grpSpPr>
            <p:pic>
              <p:nvPicPr>
                <p:cNvPr id="80" name="图片 79"/>
                <p:cNvPicPr>
                  <a:picLocks noChangeAspect="1"/>
                </p:cNvPicPr>
                <p:nvPr/>
              </p:nvPicPr>
              <p:blipFill>
                <a:blip r:embed="rId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25175" y="2131496"/>
                  <a:ext cx="1406566" cy="871773"/>
                </a:xfrm>
                <a:prstGeom prst="rect">
                  <a:avLst/>
                </a:prstGeom>
              </p:spPr>
            </p:pic>
            <p:pic>
              <p:nvPicPr>
                <p:cNvPr id="81" name="图片 80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526094" y="2086534"/>
                  <a:ext cx="511074" cy="923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pic>
          <p:nvPicPr>
            <p:cNvPr id="85" name="图片 8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616947" y="2363077"/>
              <a:ext cx="319225" cy="62660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86" name="椭圆 85"/>
            <p:cNvSpPr/>
            <p:nvPr/>
          </p:nvSpPr>
          <p:spPr bwMode="auto">
            <a:xfrm>
              <a:off x="10853816" y="2245882"/>
              <a:ext cx="1075803" cy="1075807"/>
            </a:xfrm>
            <a:prstGeom prst="ellipse">
              <a:avLst/>
            </a:prstGeom>
            <a:blipFill dpi="0" rotWithShape="1">
              <a:blip r:embed="rId9"/>
              <a:srcRect/>
              <a:stretch>
                <a:fillRect r="-7000"/>
              </a:stretch>
            </a:blipFill>
            <a:effectLst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endParaRPr>
            </a:p>
          </p:txBody>
        </p:sp>
        <p:pic>
          <p:nvPicPr>
            <p:cNvPr id="87" name="图片 86"/>
            <p:cNvPicPr>
              <a:picLocks noChangeAspect="1"/>
            </p:cNvPicPr>
            <p:nvPr/>
          </p:nvPicPr>
          <p:blipFill rotWithShape="1">
            <a:blip r:embed="rId10"/>
            <a:srcRect r="12089"/>
            <a:stretch>
              <a:fillRect/>
            </a:stretch>
          </p:blipFill>
          <p:spPr>
            <a:xfrm>
              <a:off x="9187842" y="2290434"/>
              <a:ext cx="1074931" cy="706831"/>
            </a:xfrm>
            <a:prstGeom prst="rect">
              <a:avLst/>
            </a:prstGeom>
          </p:spPr>
        </p:pic>
      </p:grpSp>
      <p:grpSp>
        <p:nvGrpSpPr>
          <p:cNvPr id="90" name="组合 89"/>
          <p:cNvGrpSpPr/>
          <p:nvPr/>
        </p:nvGrpSpPr>
        <p:grpSpPr>
          <a:xfrm>
            <a:off x="9108883" y="5130146"/>
            <a:ext cx="2457359" cy="1440967"/>
            <a:chOff x="6086913" y="2131496"/>
            <a:chExt cx="2457359" cy="1440967"/>
          </a:xfrm>
        </p:grpSpPr>
        <p:grpSp>
          <p:nvGrpSpPr>
            <p:cNvPr id="94" name="组合 93"/>
            <p:cNvGrpSpPr/>
            <p:nvPr/>
          </p:nvGrpSpPr>
          <p:grpSpPr>
            <a:xfrm>
              <a:off x="6086913" y="3080020"/>
              <a:ext cx="2457359" cy="492443"/>
              <a:chOff x="6086913" y="3080020"/>
              <a:chExt cx="2457359" cy="492443"/>
            </a:xfrm>
          </p:grpSpPr>
          <p:sp>
            <p:nvSpPr>
              <p:cNvPr id="98" name="文本框 97"/>
              <p:cNvSpPr txBox="1"/>
              <p:nvPr/>
            </p:nvSpPr>
            <p:spPr>
              <a:xfrm>
                <a:off x="6147697" y="3080020"/>
                <a:ext cx="2396575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入住人、同住人变更</a:t>
                </a:r>
                <a:endPara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ctr"/>
                <a:r>
                  <a:rPr lang="zh-CN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（物业系统）</a:t>
                </a:r>
                <a:endPara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endParaRPr>
              </a:p>
            </p:txBody>
          </p:sp>
          <p:sp>
            <p:nvSpPr>
              <p:cNvPr id="99" name="矩形 98"/>
              <p:cNvSpPr/>
              <p:nvPr/>
            </p:nvSpPr>
            <p:spPr>
              <a:xfrm>
                <a:off x="6086913" y="3135503"/>
                <a:ext cx="269418" cy="290197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b="1" dirty="0">
                    <a:latin typeface="微软雅黑" panose="020B0503020204020204" charset="-122"/>
                    <a:ea typeface="微软雅黑" panose="020B0503020204020204" charset="-122"/>
                  </a:rPr>
                  <a:t>4</a:t>
                </a:r>
                <a:endParaRPr lang="en-US" altLang="zh-CN" b="1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pic>
          <p:nvPicPr>
            <p:cNvPr id="96" name="图片 95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8809" y="2131496"/>
              <a:ext cx="1406566" cy="871773"/>
            </a:xfrm>
            <a:prstGeom prst="rect">
              <a:avLst/>
            </a:prstGeom>
          </p:spPr>
        </p:pic>
      </p:grpSp>
      <p:grpSp>
        <p:nvGrpSpPr>
          <p:cNvPr id="103" name="组合 102"/>
          <p:cNvGrpSpPr/>
          <p:nvPr/>
        </p:nvGrpSpPr>
        <p:grpSpPr>
          <a:xfrm>
            <a:off x="5807968" y="5104388"/>
            <a:ext cx="1786638" cy="1440967"/>
            <a:chOff x="6418809" y="2131496"/>
            <a:chExt cx="1786638" cy="1440967"/>
          </a:xfrm>
        </p:grpSpPr>
        <p:grpSp>
          <p:nvGrpSpPr>
            <p:cNvPr id="104" name="组合 103"/>
            <p:cNvGrpSpPr/>
            <p:nvPr/>
          </p:nvGrpSpPr>
          <p:grpSpPr>
            <a:xfrm>
              <a:off x="6518961" y="3080020"/>
              <a:ext cx="1686486" cy="492443"/>
              <a:chOff x="6518961" y="3080020"/>
              <a:chExt cx="1686486" cy="492443"/>
            </a:xfrm>
          </p:grpSpPr>
          <p:sp>
            <p:nvSpPr>
              <p:cNvPr id="106" name="文本框 105"/>
              <p:cNvSpPr txBox="1"/>
              <p:nvPr/>
            </p:nvSpPr>
            <p:spPr>
              <a:xfrm>
                <a:off x="6722778" y="3080020"/>
                <a:ext cx="1482669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退房验房预约</a:t>
                </a:r>
                <a:endPara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ctr"/>
                <a:r>
                  <a:rPr lang="zh-CN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（租赁系统）</a:t>
                </a:r>
                <a:endPara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7" name="矩形 106"/>
              <p:cNvSpPr/>
              <p:nvPr/>
            </p:nvSpPr>
            <p:spPr>
              <a:xfrm>
                <a:off x="6518961" y="3135503"/>
                <a:ext cx="269418" cy="290197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b="1" dirty="0">
                    <a:latin typeface="微软雅黑" panose="020B0503020204020204" charset="-122"/>
                    <a:ea typeface="微软雅黑" panose="020B0503020204020204" charset="-122"/>
                  </a:rPr>
                  <a:t>5</a:t>
                </a:r>
                <a:endParaRPr lang="en-US" altLang="zh-CN" b="1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pic>
          <p:nvPicPr>
            <p:cNvPr id="105" name="图片 104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8809" y="2131496"/>
              <a:ext cx="1406566" cy="871773"/>
            </a:xfrm>
            <a:prstGeom prst="rect">
              <a:avLst/>
            </a:prstGeom>
          </p:spPr>
        </p:pic>
      </p:grpSp>
      <p:grpSp>
        <p:nvGrpSpPr>
          <p:cNvPr id="108" name="组合 107"/>
          <p:cNvGrpSpPr/>
          <p:nvPr/>
        </p:nvGrpSpPr>
        <p:grpSpPr>
          <a:xfrm>
            <a:off x="2710441" y="5104388"/>
            <a:ext cx="2448272" cy="1440967"/>
            <a:chOff x="5802662" y="2131496"/>
            <a:chExt cx="2448272" cy="1440967"/>
          </a:xfrm>
        </p:grpSpPr>
        <p:grpSp>
          <p:nvGrpSpPr>
            <p:cNvPr id="109" name="组合 108"/>
            <p:cNvGrpSpPr/>
            <p:nvPr/>
          </p:nvGrpSpPr>
          <p:grpSpPr>
            <a:xfrm>
              <a:off x="5802662" y="3080020"/>
              <a:ext cx="2448272" cy="492443"/>
              <a:chOff x="5802662" y="3080020"/>
              <a:chExt cx="2448272" cy="492443"/>
            </a:xfrm>
          </p:grpSpPr>
          <p:sp>
            <p:nvSpPr>
              <p:cNvPr id="111" name="文本框 110"/>
              <p:cNvSpPr txBox="1"/>
              <p:nvPr/>
            </p:nvSpPr>
            <p:spPr>
              <a:xfrm>
                <a:off x="5916840" y="3080020"/>
                <a:ext cx="2334094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物业核验（费用</a:t>
                </a:r>
                <a:r>
                  <a:rPr lang="en-US" altLang="zh-CN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/</a:t>
                </a:r>
                <a:r>
                  <a:rPr lang="zh-CN" alt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验房）</a:t>
                </a:r>
                <a:endPara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ctr"/>
                <a:r>
                  <a:rPr lang="zh-CN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（物业系统）</a:t>
                </a:r>
                <a:endPara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12" name="矩形 111"/>
              <p:cNvSpPr/>
              <p:nvPr/>
            </p:nvSpPr>
            <p:spPr>
              <a:xfrm>
                <a:off x="5802662" y="3135503"/>
                <a:ext cx="269418" cy="290197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b="1" dirty="0">
                    <a:latin typeface="微软雅黑" panose="020B0503020204020204" charset="-122"/>
                    <a:ea typeface="微软雅黑" panose="020B0503020204020204" charset="-122"/>
                  </a:rPr>
                  <a:t>6</a:t>
                </a:r>
                <a:endParaRPr lang="en-US" altLang="zh-CN" b="1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pic>
          <p:nvPicPr>
            <p:cNvPr id="110" name="图片 109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8686" y="2131496"/>
              <a:ext cx="1406566" cy="871773"/>
            </a:xfrm>
            <a:prstGeom prst="rect">
              <a:avLst/>
            </a:prstGeom>
          </p:spPr>
        </p:pic>
      </p:grpSp>
      <p:pic>
        <p:nvPicPr>
          <p:cNvPr id="113" name="图片 1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128" y="5059794"/>
            <a:ext cx="511074" cy="923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" name="文本框 113"/>
          <p:cNvSpPr txBox="1"/>
          <p:nvPr/>
        </p:nvSpPr>
        <p:spPr>
          <a:xfrm>
            <a:off x="7537426" y="2006577"/>
            <a:ext cx="9341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数据同步</a:t>
            </a:r>
            <a:endParaRPr lang="en-US" altLang="zh-CN" sz="1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（自动）</a:t>
            </a:r>
            <a:endParaRPr lang="zh-CN" altLang="en-US" sz="12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124" name="组合 123"/>
          <p:cNvGrpSpPr/>
          <p:nvPr/>
        </p:nvGrpSpPr>
        <p:grpSpPr>
          <a:xfrm>
            <a:off x="1140419" y="1784044"/>
            <a:ext cx="9895030" cy="3284590"/>
            <a:chOff x="1645658" y="1784044"/>
            <a:chExt cx="9895030" cy="3284590"/>
          </a:xfrm>
          <a:solidFill>
            <a:schemeClr val="accent1">
              <a:lumMod val="75000"/>
              <a:alpha val="41000"/>
            </a:schemeClr>
          </a:solidFill>
        </p:grpSpPr>
        <p:sp>
          <p:nvSpPr>
            <p:cNvPr id="116" name="文本框 115"/>
            <p:cNvSpPr txBox="1"/>
            <p:nvPr/>
          </p:nvSpPr>
          <p:spPr>
            <a:xfrm>
              <a:off x="1645658" y="2478744"/>
              <a:ext cx="1532294" cy="261610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76000"/>
              </a:schemeClr>
            </a:solidFill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05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en-US" altLang="zh-CN" dirty="0"/>
                <a:t>16</a:t>
              </a:r>
              <a:r>
                <a:rPr lang="zh-CN" altLang="en-US" dirty="0"/>
                <a:t>人时</a:t>
              </a:r>
              <a:r>
                <a:rPr lang="en-US" altLang="zh-CN" dirty="0"/>
                <a:t>/</a:t>
              </a:r>
              <a:r>
                <a:rPr lang="zh-CN" altLang="en-US" dirty="0"/>
                <a:t>项目</a:t>
              </a:r>
              <a:endParaRPr lang="zh-CN" altLang="en-US" dirty="0"/>
            </a:p>
          </p:txBody>
        </p:sp>
        <p:sp>
          <p:nvSpPr>
            <p:cNvPr id="117" name="文本框 116"/>
            <p:cNvSpPr txBox="1"/>
            <p:nvPr/>
          </p:nvSpPr>
          <p:spPr>
            <a:xfrm>
              <a:off x="5620444" y="2418696"/>
              <a:ext cx="1532294" cy="415498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76000"/>
              </a:schemeClr>
            </a:solidFill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05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en-US" altLang="zh-CN" dirty="0"/>
                <a:t>0.1</a:t>
              </a:r>
              <a:r>
                <a:rPr lang="zh-CN" altLang="en-US" dirty="0"/>
                <a:t>人时</a:t>
              </a:r>
              <a:r>
                <a:rPr lang="en-US" altLang="zh-CN" dirty="0"/>
                <a:t>/</a:t>
              </a:r>
              <a:r>
                <a:rPr lang="zh-CN" altLang="en-US" dirty="0"/>
                <a:t>合同</a:t>
              </a:r>
              <a:endParaRPr lang="en-US" altLang="zh-CN" dirty="0"/>
            </a:p>
            <a:p>
              <a:r>
                <a:rPr lang="en-US" altLang="zh-CN" dirty="0"/>
                <a:t>0</a:t>
              </a:r>
              <a:r>
                <a:rPr lang="zh-CN" altLang="en-US" dirty="0"/>
                <a:t>张纸</a:t>
              </a:r>
              <a:r>
                <a:rPr lang="en-US" altLang="zh-CN" dirty="0"/>
                <a:t>/</a:t>
              </a:r>
              <a:r>
                <a:rPr lang="zh-CN" altLang="en-US" dirty="0"/>
                <a:t>合同</a:t>
              </a:r>
              <a:endParaRPr lang="en-US" altLang="zh-CN" dirty="0"/>
            </a:p>
          </p:txBody>
        </p:sp>
        <p:sp>
          <p:nvSpPr>
            <p:cNvPr id="118" name="文本框 117"/>
            <p:cNvSpPr txBox="1"/>
            <p:nvPr/>
          </p:nvSpPr>
          <p:spPr>
            <a:xfrm>
              <a:off x="9269360" y="2424805"/>
              <a:ext cx="1532294" cy="415498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76000"/>
              </a:schemeClr>
            </a:solidFill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05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en-US" altLang="zh-CN" dirty="0"/>
                <a:t>0.1</a:t>
              </a:r>
              <a:r>
                <a:rPr lang="zh-CN" altLang="en-US" dirty="0"/>
                <a:t>人时</a:t>
              </a:r>
              <a:r>
                <a:rPr lang="en-US" altLang="zh-CN" dirty="0"/>
                <a:t>/</a:t>
              </a:r>
              <a:r>
                <a:rPr lang="zh-CN" altLang="en-US" dirty="0"/>
                <a:t>套（间）</a:t>
              </a:r>
              <a:endParaRPr lang="en-US" altLang="zh-CN" dirty="0"/>
            </a:p>
            <a:p>
              <a:r>
                <a:rPr lang="en-US" altLang="zh-CN" dirty="0"/>
                <a:t>0</a:t>
              </a:r>
              <a:r>
                <a:rPr lang="zh-CN" altLang="en-US" dirty="0"/>
                <a:t>张纸</a:t>
              </a:r>
              <a:r>
                <a:rPr lang="en-US" altLang="zh-CN" dirty="0"/>
                <a:t>/</a:t>
              </a:r>
              <a:r>
                <a:rPr lang="zh-CN" altLang="en-US" dirty="0"/>
                <a:t>套（间）</a:t>
              </a:r>
              <a:endParaRPr lang="en-US" altLang="zh-CN" dirty="0"/>
            </a:p>
          </p:txBody>
        </p:sp>
        <p:sp>
          <p:nvSpPr>
            <p:cNvPr id="119" name="文本框 118"/>
            <p:cNvSpPr txBox="1"/>
            <p:nvPr/>
          </p:nvSpPr>
          <p:spPr>
            <a:xfrm>
              <a:off x="7743617" y="1784044"/>
              <a:ext cx="1532294" cy="253916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76000"/>
              </a:schemeClr>
            </a:solidFill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05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en-US" altLang="zh-CN" dirty="0"/>
                <a:t>0</a:t>
              </a:r>
              <a:r>
                <a:rPr lang="zh-CN" altLang="en-US" dirty="0"/>
                <a:t>人时</a:t>
              </a:r>
              <a:r>
                <a:rPr lang="en-US" altLang="zh-CN" dirty="0"/>
                <a:t>/</a:t>
              </a:r>
              <a:r>
                <a:rPr lang="zh-CN" altLang="en-US" dirty="0"/>
                <a:t>项目</a:t>
              </a:r>
              <a:endParaRPr lang="en-US" altLang="zh-CN" dirty="0"/>
            </a:p>
          </p:txBody>
        </p:sp>
        <p:sp>
          <p:nvSpPr>
            <p:cNvPr id="120" name="文本框 119"/>
            <p:cNvSpPr txBox="1"/>
            <p:nvPr/>
          </p:nvSpPr>
          <p:spPr>
            <a:xfrm>
              <a:off x="9820289" y="4814718"/>
              <a:ext cx="1720399" cy="253916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76000"/>
              </a:schemeClr>
            </a:solidFill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05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en-US" altLang="zh-CN" dirty="0"/>
                <a:t>160</a:t>
              </a:r>
              <a:r>
                <a:rPr lang="zh-CN" altLang="en-US" dirty="0"/>
                <a:t>次*</a:t>
              </a:r>
              <a:r>
                <a:rPr lang="en-US" altLang="zh-CN" dirty="0"/>
                <a:t>0.1</a:t>
              </a:r>
              <a:r>
                <a:rPr lang="zh-CN" altLang="en-US" dirty="0"/>
                <a:t>人时</a:t>
              </a:r>
              <a:r>
                <a:rPr lang="en-US" altLang="zh-CN" dirty="0"/>
                <a:t>/</a:t>
              </a:r>
              <a:r>
                <a:rPr lang="zh-CN" altLang="en-US" dirty="0"/>
                <a:t>次项目</a:t>
              </a:r>
              <a:endParaRPr lang="zh-CN" altLang="en-US" dirty="0"/>
            </a:p>
          </p:txBody>
        </p:sp>
        <p:sp>
          <p:nvSpPr>
            <p:cNvPr id="121" name="文本框 120"/>
            <p:cNvSpPr txBox="1"/>
            <p:nvPr/>
          </p:nvSpPr>
          <p:spPr>
            <a:xfrm>
              <a:off x="6169191" y="3906345"/>
              <a:ext cx="1872208" cy="253916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76000"/>
              </a:schemeClr>
            </a:solidFill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05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en-US" altLang="zh-CN" dirty="0"/>
                <a:t>160</a:t>
              </a:r>
              <a:r>
                <a:rPr lang="zh-CN" altLang="en-US" dirty="0"/>
                <a:t>次*</a:t>
              </a:r>
              <a:r>
                <a:rPr lang="en-US" altLang="zh-CN" dirty="0"/>
                <a:t>0.5</a:t>
              </a:r>
              <a:r>
                <a:rPr lang="zh-CN" altLang="en-US" dirty="0"/>
                <a:t>人时</a:t>
              </a:r>
              <a:r>
                <a:rPr lang="en-US" altLang="zh-CN" dirty="0"/>
                <a:t>/</a:t>
              </a:r>
              <a:r>
                <a:rPr lang="zh-CN" altLang="en-US" dirty="0"/>
                <a:t>次项目</a:t>
              </a:r>
              <a:endParaRPr lang="zh-CN" altLang="en-US" dirty="0"/>
            </a:p>
          </p:txBody>
        </p:sp>
        <p:sp>
          <p:nvSpPr>
            <p:cNvPr id="123" name="文本框 122"/>
            <p:cNvSpPr txBox="1"/>
            <p:nvPr/>
          </p:nvSpPr>
          <p:spPr>
            <a:xfrm>
              <a:off x="5015880" y="4653136"/>
              <a:ext cx="1231533" cy="415498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76000"/>
              </a:schemeClr>
            </a:solidFill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05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en-US" altLang="zh-CN" dirty="0"/>
                <a:t>0.2</a:t>
              </a:r>
              <a:r>
                <a:rPr lang="zh-CN" altLang="en-US" dirty="0"/>
                <a:t>人时</a:t>
              </a:r>
              <a:r>
                <a:rPr lang="en-US" altLang="zh-CN" dirty="0"/>
                <a:t>/</a:t>
              </a:r>
              <a:r>
                <a:rPr lang="zh-CN" altLang="en-US" dirty="0"/>
                <a:t>合同</a:t>
              </a:r>
              <a:endParaRPr lang="en-US" altLang="zh-CN" dirty="0"/>
            </a:p>
            <a:p>
              <a:r>
                <a:rPr lang="en-US" altLang="zh-CN" dirty="0"/>
                <a:t>0</a:t>
              </a:r>
              <a:r>
                <a:rPr lang="zh-CN" altLang="en-US" dirty="0"/>
                <a:t>张纸</a:t>
              </a:r>
              <a:r>
                <a:rPr lang="en-US" altLang="zh-CN" dirty="0"/>
                <a:t>/</a:t>
              </a:r>
              <a:r>
                <a:rPr lang="zh-CN" altLang="en-US" dirty="0"/>
                <a:t>合同</a:t>
              </a:r>
              <a:endParaRPr lang="en-US" altLang="zh-CN" dirty="0"/>
            </a:p>
          </p:txBody>
        </p:sp>
      </p:grpSp>
      <p:pic>
        <p:nvPicPr>
          <p:cNvPr id="129" name="图片 128" descr="图形用户界面, 文本, 应用程序&#10;&#10;描述已自动生成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" t="646" r="2270" b="1673"/>
          <a:stretch>
            <a:fillRect/>
          </a:stretch>
        </p:blipFill>
        <p:spPr>
          <a:xfrm>
            <a:off x="9605582" y="5182082"/>
            <a:ext cx="1076959" cy="699484"/>
          </a:xfrm>
          <a:prstGeom prst="rect">
            <a:avLst/>
          </a:prstGeom>
        </p:spPr>
      </p:pic>
      <p:pic>
        <p:nvPicPr>
          <p:cNvPr id="131" name="图片 130" descr="图形用户界面, 文本, 应用程序, 电子邮件&#10;&#10;描述已自动生成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9636" y="5210414"/>
            <a:ext cx="325932" cy="611451"/>
          </a:xfrm>
          <a:prstGeom prst="rect">
            <a:avLst/>
          </a:prstGeom>
        </p:spPr>
      </p:pic>
      <p:pic>
        <p:nvPicPr>
          <p:cNvPr id="133" name="图片 13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73452" y="5139374"/>
            <a:ext cx="1075597" cy="742192"/>
          </a:xfrm>
          <a:prstGeom prst="rect">
            <a:avLst/>
          </a:prstGeom>
        </p:spPr>
      </p:pic>
      <p:grpSp>
        <p:nvGrpSpPr>
          <p:cNvPr id="135" name="组合 134"/>
          <p:cNvGrpSpPr/>
          <p:nvPr/>
        </p:nvGrpSpPr>
        <p:grpSpPr>
          <a:xfrm>
            <a:off x="3142489" y="1988840"/>
            <a:ext cx="8136904" cy="4320480"/>
            <a:chOff x="3647728" y="1988840"/>
            <a:chExt cx="8136904" cy="4320480"/>
          </a:xfrm>
        </p:grpSpPr>
        <p:grpSp>
          <p:nvGrpSpPr>
            <p:cNvPr id="102" name="组合 101"/>
            <p:cNvGrpSpPr/>
            <p:nvPr/>
          </p:nvGrpSpPr>
          <p:grpSpPr>
            <a:xfrm>
              <a:off x="3647728" y="1988840"/>
              <a:ext cx="8136904" cy="4320480"/>
              <a:chOff x="3647728" y="1988840"/>
              <a:chExt cx="8136904" cy="4320480"/>
            </a:xfrm>
          </p:grpSpPr>
          <p:grpSp>
            <p:nvGrpSpPr>
              <p:cNvPr id="100" name="组合 99"/>
              <p:cNvGrpSpPr/>
              <p:nvPr/>
            </p:nvGrpSpPr>
            <p:grpSpPr>
              <a:xfrm>
                <a:off x="3647728" y="1988840"/>
                <a:ext cx="8136904" cy="4320480"/>
                <a:chOff x="3647728" y="1988840"/>
                <a:chExt cx="8136904" cy="4320480"/>
              </a:xfrm>
            </p:grpSpPr>
            <p:grpSp>
              <p:nvGrpSpPr>
                <p:cNvPr id="8" name="组合 7"/>
                <p:cNvGrpSpPr/>
                <p:nvPr/>
              </p:nvGrpSpPr>
              <p:grpSpPr>
                <a:xfrm>
                  <a:off x="3854677" y="2559365"/>
                  <a:ext cx="7929955" cy="3749955"/>
                  <a:chOff x="4320707" y="2541293"/>
                  <a:chExt cx="7929955" cy="3749955"/>
                </a:xfrm>
              </p:grpSpPr>
              <p:grpSp>
                <p:nvGrpSpPr>
                  <p:cNvPr id="9" name="组合 8"/>
                  <p:cNvGrpSpPr/>
                  <p:nvPr/>
                </p:nvGrpSpPr>
                <p:grpSpPr>
                  <a:xfrm>
                    <a:off x="4320707" y="2541293"/>
                    <a:ext cx="902122" cy="971965"/>
                    <a:chOff x="-600581" y="1419981"/>
                    <a:chExt cx="1367454" cy="1216931"/>
                  </a:xfrm>
                </p:grpSpPr>
                <p:sp>
                  <p:nvSpPr>
                    <p:cNvPr id="27" name="Freeform 3"/>
                    <p:cNvSpPr/>
                    <p:nvPr/>
                  </p:nvSpPr>
                  <p:spPr bwMode="auto">
                    <a:xfrm>
                      <a:off x="153484" y="1646585"/>
                      <a:ext cx="563735" cy="990327"/>
                    </a:xfrm>
                    <a:custGeom>
                      <a:avLst/>
                      <a:gdLst>
                        <a:gd name="T0" fmla="*/ 0 w 498"/>
                        <a:gd name="T1" fmla="*/ 1029 h 1029"/>
                        <a:gd name="T2" fmla="*/ 91 w 498"/>
                        <a:gd name="T3" fmla="*/ 1029 h 1029"/>
                        <a:gd name="T4" fmla="*/ 91 w 498"/>
                        <a:gd name="T5" fmla="*/ 0 h 1029"/>
                        <a:gd name="T6" fmla="*/ 166 w 498"/>
                        <a:gd name="T7" fmla="*/ 0 h 1029"/>
                        <a:gd name="T8" fmla="*/ 166 w 498"/>
                        <a:gd name="T9" fmla="*/ 1029 h 1029"/>
                        <a:gd name="T10" fmla="*/ 498 w 498"/>
                        <a:gd name="T11" fmla="*/ 1029 h 10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498" h="1029">
                          <a:moveTo>
                            <a:pt x="0" y="1029"/>
                          </a:moveTo>
                          <a:lnTo>
                            <a:pt x="91" y="1029"/>
                          </a:lnTo>
                          <a:lnTo>
                            <a:pt x="91" y="0"/>
                          </a:lnTo>
                          <a:lnTo>
                            <a:pt x="166" y="0"/>
                          </a:lnTo>
                          <a:lnTo>
                            <a:pt x="166" y="1029"/>
                          </a:lnTo>
                          <a:lnTo>
                            <a:pt x="498" y="1029"/>
                          </a:lnTo>
                        </a:path>
                      </a:pathLst>
                    </a:custGeom>
                    <a:noFill/>
                    <a:ln w="28575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0" tIns="0" rIns="0" bIns="0" anchor="ctr"/>
                    <a:lstStyle/>
                    <a:p>
                      <a:endParaRPr lang="zh-CN" altLang="en-US" u="sng"/>
                    </a:p>
                  </p:txBody>
                </p:sp>
                <p:sp>
                  <p:nvSpPr>
                    <p:cNvPr id="28" name="Arc 4"/>
                    <p:cNvSpPr/>
                    <p:nvPr/>
                  </p:nvSpPr>
                  <p:spPr bwMode="auto">
                    <a:xfrm rot="16200000" flipV="1">
                      <a:off x="-235414" y="1054814"/>
                      <a:ext cx="637120" cy="1367454"/>
                    </a:xfrm>
                    <a:custGeom>
                      <a:avLst/>
                      <a:gdLst>
                        <a:gd name="G0" fmla="+- 0 0 0"/>
                        <a:gd name="G1" fmla="+- 14196 0 0"/>
                        <a:gd name="G2" fmla="+- 21600 0 0"/>
                        <a:gd name="T0" fmla="*/ 16280 w 21600"/>
                        <a:gd name="T1" fmla="*/ 0 h 27599"/>
                        <a:gd name="T2" fmla="*/ 16939 w 21600"/>
                        <a:gd name="T3" fmla="*/ 27599 h 27599"/>
                        <a:gd name="T4" fmla="*/ 0 w 21600"/>
                        <a:gd name="T5" fmla="*/ 14196 h 2759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27599" fill="none" extrusionOk="0">
                          <a:moveTo>
                            <a:pt x="16279" y="0"/>
                          </a:moveTo>
                          <a:cubicBezTo>
                            <a:pt x="19710" y="3933"/>
                            <a:pt x="21600" y="8976"/>
                            <a:pt x="21600" y="14196"/>
                          </a:cubicBezTo>
                          <a:cubicBezTo>
                            <a:pt x="21600" y="19061"/>
                            <a:pt x="19957" y="23783"/>
                            <a:pt x="16938" y="27598"/>
                          </a:cubicBezTo>
                        </a:path>
                        <a:path w="21600" h="27599" stroke="0" extrusionOk="0">
                          <a:moveTo>
                            <a:pt x="16279" y="0"/>
                          </a:moveTo>
                          <a:cubicBezTo>
                            <a:pt x="19710" y="3933"/>
                            <a:pt x="21600" y="8976"/>
                            <a:pt x="21600" y="14196"/>
                          </a:cubicBezTo>
                          <a:cubicBezTo>
                            <a:pt x="21600" y="19061"/>
                            <a:pt x="19957" y="23783"/>
                            <a:pt x="16938" y="27598"/>
                          </a:cubicBezTo>
                          <a:lnTo>
                            <a:pt x="0" y="14196"/>
                          </a:lnTo>
                          <a:close/>
                        </a:path>
                      </a:pathLst>
                    </a:custGeom>
                    <a:noFill/>
                    <a:ln w="22225">
                      <a:solidFill>
                        <a:schemeClr val="bg1">
                          <a:lumMod val="75000"/>
                        </a:schemeClr>
                      </a:solidFill>
                      <a:round/>
                      <a:headEnd type="triangle" w="med" len="lg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0" tIns="0" rIns="0" bIns="0" anchor="ctr"/>
                    <a:lstStyle/>
                    <a:p>
                      <a:endParaRPr lang="zh-CN" altLang="en-US" u="sng"/>
                    </a:p>
                  </p:txBody>
                </p:sp>
              </p:grpSp>
              <p:grpSp>
                <p:nvGrpSpPr>
                  <p:cNvPr id="10" name="组合 9"/>
                  <p:cNvGrpSpPr/>
                  <p:nvPr/>
                </p:nvGrpSpPr>
                <p:grpSpPr>
                  <a:xfrm>
                    <a:off x="8434237" y="2543065"/>
                    <a:ext cx="902121" cy="971965"/>
                    <a:chOff x="722988" y="1419981"/>
                    <a:chExt cx="1367453" cy="1216931"/>
                  </a:xfrm>
                </p:grpSpPr>
                <p:sp>
                  <p:nvSpPr>
                    <p:cNvPr id="25" name="Freeform 3"/>
                    <p:cNvSpPr/>
                    <p:nvPr/>
                  </p:nvSpPr>
                  <p:spPr bwMode="auto">
                    <a:xfrm>
                      <a:off x="1141614" y="1646585"/>
                      <a:ext cx="563735" cy="990327"/>
                    </a:xfrm>
                    <a:custGeom>
                      <a:avLst/>
                      <a:gdLst>
                        <a:gd name="T0" fmla="*/ 0 w 498"/>
                        <a:gd name="T1" fmla="*/ 1029 h 1029"/>
                        <a:gd name="T2" fmla="*/ 91 w 498"/>
                        <a:gd name="T3" fmla="*/ 1029 h 1029"/>
                        <a:gd name="T4" fmla="*/ 91 w 498"/>
                        <a:gd name="T5" fmla="*/ 0 h 1029"/>
                        <a:gd name="T6" fmla="*/ 166 w 498"/>
                        <a:gd name="T7" fmla="*/ 0 h 1029"/>
                        <a:gd name="T8" fmla="*/ 166 w 498"/>
                        <a:gd name="T9" fmla="*/ 1029 h 1029"/>
                        <a:gd name="T10" fmla="*/ 498 w 498"/>
                        <a:gd name="T11" fmla="*/ 1029 h 10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498" h="1029">
                          <a:moveTo>
                            <a:pt x="0" y="1029"/>
                          </a:moveTo>
                          <a:lnTo>
                            <a:pt x="91" y="1029"/>
                          </a:lnTo>
                          <a:lnTo>
                            <a:pt x="91" y="0"/>
                          </a:lnTo>
                          <a:lnTo>
                            <a:pt x="166" y="0"/>
                          </a:lnTo>
                          <a:lnTo>
                            <a:pt x="166" y="1029"/>
                          </a:lnTo>
                          <a:lnTo>
                            <a:pt x="498" y="1029"/>
                          </a:lnTo>
                        </a:path>
                      </a:pathLst>
                    </a:custGeom>
                    <a:noFill/>
                    <a:ln w="28575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0" tIns="0" rIns="0" bIns="0" anchor="ctr"/>
                    <a:lstStyle/>
                    <a:p>
                      <a:endParaRPr lang="zh-CN" altLang="en-US" u="sng"/>
                    </a:p>
                  </p:txBody>
                </p:sp>
                <p:sp>
                  <p:nvSpPr>
                    <p:cNvPr id="26" name="Arc 4"/>
                    <p:cNvSpPr/>
                    <p:nvPr/>
                  </p:nvSpPr>
                  <p:spPr bwMode="auto">
                    <a:xfrm rot="16200000" flipV="1">
                      <a:off x="1088155" y="1054814"/>
                      <a:ext cx="637120" cy="1367453"/>
                    </a:xfrm>
                    <a:custGeom>
                      <a:avLst/>
                      <a:gdLst>
                        <a:gd name="G0" fmla="+- 0 0 0"/>
                        <a:gd name="G1" fmla="+- 14196 0 0"/>
                        <a:gd name="G2" fmla="+- 21600 0 0"/>
                        <a:gd name="T0" fmla="*/ 16280 w 21600"/>
                        <a:gd name="T1" fmla="*/ 0 h 27599"/>
                        <a:gd name="T2" fmla="*/ 16939 w 21600"/>
                        <a:gd name="T3" fmla="*/ 27599 h 27599"/>
                        <a:gd name="T4" fmla="*/ 0 w 21600"/>
                        <a:gd name="T5" fmla="*/ 14196 h 2759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27599" fill="none" extrusionOk="0">
                          <a:moveTo>
                            <a:pt x="16279" y="0"/>
                          </a:moveTo>
                          <a:cubicBezTo>
                            <a:pt x="19710" y="3933"/>
                            <a:pt x="21600" y="8976"/>
                            <a:pt x="21600" y="14196"/>
                          </a:cubicBezTo>
                          <a:cubicBezTo>
                            <a:pt x="21600" y="19061"/>
                            <a:pt x="19957" y="23783"/>
                            <a:pt x="16938" y="27598"/>
                          </a:cubicBezTo>
                        </a:path>
                        <a:path w="21600" h="27599" stroke="0" extrusionOk="0">
                          <a:moveTo>
                            <a:pt x="16279" y="0"/>
                          </a:moveTo>
                          <a:cubicBezTo>
                            <a:pt x="19710" y="3933"/>
                            <a:pt x="21600" y="8976"/>
                            <a:pt x="21600" y="14196"/>
                          </a:cubicBezTo>
                          <a:cubicBezTo>
                            <a:pt x="21600" y="19061"/>
                            <a:pt x="19957" y="23783"/>
                            <a:pt x="16938" y="27598"/>
                          </a:cubicBezTo>
                          <a:lnTo>
                            <a:pt x="0" y="14196"/>
                          </a:lnTo>
                          <a:close/>
                        </a:path>
                      </a:pathLst>
                    </a:custGeom>
                    <a:noFill/>
                    <a:ln w="22225">
                      <a:solidFill>
                        <a:schemeClr val="bg1">
                          <a:lumMod val="75000"/>
                        </a:schemeClr>
                      </a:solidFill>
                      <a:round/>
                      <a:headEnd type="triangle" w="med" len="lg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0" tIns="0" rIns="0" bIns="0" anchor="ctr"/>
                    <a:lstStyle/>
                    <a:p>
                      <a:endParaRPr lang="zh-CN" altLang="en-US" u="sng"/>
                    </a:p>
                  </p:txBody>
                </p:sp>
              </p:grpSp>
              <p:sp>
                <p:nvSpPr>
                  <p:cNvPr id="13" name="Arc 4"/>
                  <p:cNvSpPr/>
                  <p:nvPr/>
                </p:nvSpPr>
                <p:spPr bwMode="auto">
                  <a:xfrm flipV="1">
                    <a:off x="11393423" y="2729325"/>
                    <a:ext cx="857239" cy="2018617"/>
                  </a:xfrm>
                  <a:custGeom>
                    <a:avLst/>
                    <a:gdLst>
                      <a:gd name="G0" fmla="+- 0 0 0"/>
                      <a:gd name="G1" fmla="+- 14196 0 0"/>
                      <a:gd name="G2" fmla="+- 21600 0 0"/>
                      <a:gd name="T0" fmla="*/ 16280 w 21600"/>
                      <a:gd name="T1" fmla="*/ 0 h 27599"/>
                      <a:gd name="T2" fmla="*/ 16939 w 21600"/>
                      <a:gd name="T3" fmla="*/ 27599 h 27599"/>
                      <a:gd name="T4" fmla="*/ 0 w 21600"/>
                      <a:gd name="T5" fmla="*/ 14196 h 2759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7599" fill="none" extrusionOk="0">
                        <a:moveTo>
                          <a:pt x="16279" y="0"/>
                        </a:moveTo>
                        <a:cubicBezTo>
                          <a:pt x="19710" y="3933"/>
                          <a:pt x="21600" y="8976"/>
                          <a:pt x="21600" y="14196"/>
                        </a:cubicBezTo>
                        <a:cubicBezTo>
                          <a:pt x="21600" y="19061"/>
                          <a:pt x="19957" y="23783"/>
                          <a:pt x="16938" y="27598"/>
                        </a:cubicBezTo>
                      </a:path>
                      <a:path w="21600" h="27599" stroke="0" extrusionOk="0">
                        <a:moveTo>
                          <a:pt x="16279" y="0"/>
                        </a:moveTo>
                        <a:cubicBezTo>
                          <a:pt x="19710" y="3933"/>
                          <a:pt x="21600" y="8976"/>
                          <a:pt x="21600" y="14196"/>
                        </a:cubicBezTo>
                        <a:cubicBezTo>
                          <a:pt x="21600" y="19061"/>
                          <a:pt x="19957" y="23783"/>
                          <a:pt x="16938" y="27598"/>
                        </a:cubicBezTo>
                        <a:lnTo>
                          <a:pt x="0" y="14196"/>
                        </a:lnTo>
                        <a:close/>
                      </a:path>
                    </a:pathLst>
                  </a:custGeom>
                  <a:noFill/>
                  <a:ln w="22225">
                    <a:solidFill>
                      <a:schemeClr val="bg1">
                        <a:lumMod val="75000"/>
                      </a:schemeClr>
                    </a:solidFill>
                    <a:round/>
                    <a:headEnd type="triangl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0" tIns="0" rIns="0" bIns="0" anchor="ctr"/>
                  <a:lstStyle/>
                  <a:p>
                    <a:endParaRPr lang="zh-CN" altLang="en-US" u="sng" dirty="0"/>
                  </a:p>
                </p:txBody>
              </p:sp>
              <p:sp>
                <p:nvSpPr>
                  <p:cNvPr id="19" name="Freeform 3"/>
                  <p:cNvSpPr/>
                  <p:nvPr/>
                </p:nvSpPr>
                <p:spPr bwMode="auto">
                  <a:xfrm flipH="1">
                    <a:off x="6050128" y="5498068"/>
                    <a:ext cx="365090" cy="790976"/>
                  </a:xfrm>
                  <a:custGeom>
                    <a:avLst/>
                    <a:gdLst>
                      <a:gd name="T0" fmla="*/ 0 w 498"/>
                      <a:gd name="T1" fmla="*/ 1029 h 1029"/>
                      <a:gd name="T2" fmla="*/ 91 w 498"/>
                      <a:gd name="T3" fmla="*/ 1029 h 1029"/>
                      <a:gd name="T4" fmla="*/ 91 w 498"/>
                      <a:gd name="T5" fmla="*/ 0 h 1029"/>
                      <a:gd name="T6" fmla="*/ 166 w 498"/>
                      <a:gd name="T7" fmla="*/ 0 h 1029"/>
                      <a:gd name="T8" fmla="*/ 166 w 498"/>
                      <a:gd name="T9" fmla="*/ 1029 h 1029"/>
                      <a:gd name="T10" fmla="*/ 498 w 498"/>
                      <a:gd name="T11" fmla="*/ 1029 h 10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498" h="1029">
                        <a:moveTo>
                          <a:pt x="0" y="1029"/>
                        </a:moveTo>
                        <a:lnTo>
                          <a:pt x="91" y="1029"/>
                        </a:lnTo>
                        <a:lnTo>
                          <a:pt x="91" y="0"/>
                        </a:lnTo>
                        <a:lnTo>
                          <a:pt x="166" y="0"/>
                        </a:lnTo>
                        <a:lnTo>
                          <a:pt x="166" y="1029"/>
                        </a:lnTo>
                        <a:lnTo>
                          <a:pt x="498" y="1029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bg1">
                        <a:lumMod val="75000"/>
                      </a:schemeClr>
                    </a:solidFill>
                    <a:prstDash val="solid"/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0" tIns="0" rIns="0" bIns="0" anchor="ctr"/>
                  <a:lstStyle/>
                  <a:p>
                    <a:endParaRPr lang="zh-CN" altLang="en-US" u="sng"/>
                  </a:p>
                </p:txBody>
              </p:sp>
              <p:grpSp>
                <p:nvGrpSpPr>
                  <p:cNvPr id="16" name="组合 15"/>
                  <p:cNvGrpSpPr/>
                  <p:nvPr/>
                </p:nvGrpSpPr>
                <p:grpSpPr>
                  <a:xfrm>
                    <a:off x="9422027" y="5159658"/>
                    <a:ext cx="885602" cy="1131590"/>
                    <a:chOff x="9629969" y="4384530"/>
                    <a:chExt cx="885602" cy="1131590"/>
                  </a:xfrm>
                </p:grpSpPr>
                <p:sp>
                  <p:nvSpPr>
                    <p:cNvPr id="17" name="Freeform 3"/>
                    <p:cNvSpPr/>
                    <p:nvPr/>
                  </p:nvSpPr>
                  <p:spPr bwMode="auto">
                    <a:xfrm flipH="1">
                      <a:off x="9826940" y="4725144"/>
                      <a:ext cx="365090" cy="790976"/>
                    </a:xfrm>
                    <a:custGeom>
                      <a:avLst/>
                      <a:gdLst>
                        <a:gd name="T0" fmla="*/ 0 w 498"/>
                        <a:gd name="T1" fmla="*/ 1029 h 1029"/>
                        <a:gd name="T2" fmla="*/ 91 w 498"/>
                        <a:gd name="T3" fmla="*/ 1029 h 1029"/>
                        <a:gd name="T4" fmla="*/ 91 w 498"/>
                        <a:gd name="T5" fmla="*/ 0 h 1029"/>
                        <a:gd name="T6" fmla="*/ 166 w 498"/>
                        <a:gd name="T7" fmla="*/ 0 h 1029"/>
                        <a:gd name="T8" fmla="*/ 166 w 498"/>
                        <a:gd name="T9" fmla="*/ 1029 h 1029"/>
                        <a:gd name="T10" fmla="*/ 498 w 498"/>
                        <a:gd name="T11" fmla="*/ 1029 h 10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498" h="1029">
                          <a:moveTo>
                            <a:pt x="0" y="1029"/>
                          </a:moveTo>
                          <a:lnTo>
                            <a:pt x="91" y="1029"/>
                          </a:lnTo>
                          <a:lnTo>
                            <a:pt x="91" y="0"/>
                          </a:lnTo>
                          <a:lnTo>
                            <a:pt x="166" y="0"/>
                          </a:lnTo>
                          <a:lnTo>
                            <a:pt x="166" y="1029"/>
                          </a:lnTo>
                          <a:lnTo>
                            <a:pt x="498" y="1029"/>
                          </a:lnTo>
                        </a:path>
                      </a:pathLst>
                    </a:custGeom>
                    <a:noFill/>
                    <a:ln w="28575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0" tIns="0" rIns="0" bIns="0" anchor="ctr"/>
                    <a:lstStyle/>
                    <a:p>
                      <a:endParaRPr lang="zh-CN" altLang="en-US" u="sng"/>
                    </a:p>
                  </p:txBody>
                </p:sp>
                <p:sp>
                  <p:nvSpPr>
                    <p:cNvPr id="18" name="Arc 4"/>
                    <p:cNvSpPr/>
                    <p:nvPr/>
                  </p:nvSpPr>
                  <p:spPr bwMode="auto">
                    <a:xfrm rot="16200000">
                      <a:off x="9818335" y="4196164"/>
                      <a:ext cx="508869" cy="885602"/>
                    </a:xfrm>
                    <a:custGeom>
                      <a:avLst/>
                      <a:gdLst>
                        <a:gd name="G0" fmla="+- 0 0 0"/>
                        <a:gd name="G1" fmla="+- 14196 0 0"/>
                        <a:gd name="G2" fmla="+- 21600 0 0"/>
                        <a:gd name="T0" fmla="*/ 16280 w 21600"/>
                        <a:gd name="T1" fmla="*/ 0 h 27599"/>
                        <a:gd name="T2" fmla="*/ 16939 w 21600"/>
                        <a:gd name="T3" fmla="*/ 27599 h 27599"/>
                        <a:gd name="T4" fmla="*/ 0 w 21600"/>
                        <a:gd name="T5" fmla="*/ 14196 h 2759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27599" fill="none" extrusionOk="0">
                          <a:moveTo>
                            <a:pt x="16279" y="0"/>
                          </a:moveTo>
                          <a:cubicBezTo>
                            <a:pt x="19710" y="3933"/>
                            <a:pt x="21600" y="8976"/>
                            <a:pt x="21600" y="14196"/>
                          </a:cubicBezTo>
                          <a:cubicBezTo>
                            <a:pt x="21600" y="19061"/>
                            <a:pt x="19957" y="23783"/>
                            <a:pt x="16938" y="27598"/>
                          </a:cubicBezTo>
                        </a:path>
                        <a:path w="21600" h="27599" stroke="0" extrusionOk="0">
                          <a:moveTo>
                            <a:pt x="16279" y="0"/>
                          </a:moveTo>
                          <a:cubicBezTo>
                            <a:pt x="19710" y="3933"/>
                            <a:pt x="21600" y="8976"/>
                            <a:pt x="21600" y="14196"/>
                          </a:cubicBezTo>
                          <a:cubicBezTo>
                            <a:pt x="21600" y="19061"/>
                            <a:pt x="19957" y="23783"/>
                            <a:pt x="16938" y="27598"/>
                          </a:cubicBezTo>
                          <a:lnTo>
                            <a:pt x="0" y="14196"/>
                          </a:lnTo>
                          <a:close/>
                        </a:path>
                      </a:pathLst>
                    </a:custGeom>
                    <a:noFill/>
                    <a:ln w="22225">
                      <a:solidFill>
                        <a:schemeClr val="bg1">
                          <a:lumMod val="75000"/>
                        </a:schemeClr>
                      </a:solidFill>
                      <a:round/>
                      <a:headEnd type="triangle" w="med" len="lg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0" tIns="0" rIns="0" bIns="0" anchor="ctr"/>
                    <a:lstStyle/>
                    <a:p>
                      <a:endParaRPr lang="zh-CN" altLang="en-US" u="sng"/>
                    </a:p>
                  </p:txBody>
                </p:sp>
              </p:grpSp>
            </p:grpSp>
            <p:sp>
              <p:nvSpPr>
                <p:cNvPr id="33" name="文本框 32"/>
                <p:cNvSpPr txBox="1"/>
                <p:nvPr/>
              </p:nvSpPr>
              <p:spPr>
                <a:xfrm>
                  <a:off x="3647728" y="1988840"/>
                  <a:ext cx="1512168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400" b="1" dirty="0">
                      <a:solidFill>
                        <a:schemeClr val="accent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市、区住建局</a:t>
                  </a:r>
                  <a:endParaRPr lang="en-US" altLang="zh-CN" sz="1400" b="1" dirty="0">
                    <a:solidFill>
                      <a:schemeClr val="accent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  <a:p>
                  <a:pPr algn="ctr"/>
                  <a:r>
                    <a:rPr lang="zh-CN" altLang="en-US" sz="1200" dirty="0">
                      <a:solidFill>
                        <a:schemeClr val="accent1">
                          <a:lumMod val="50000"/>
                        </a:schemeClr>
                      </a:solidFill>
                      <a:latin typeface="楷体_GB2312" panose="02010609030101010101" pitchFamily="49" charset="-122"/>
                      <a:ea typeface="楷体_GB2312" panose="02010609030101010101" pitchFamily="49" charset="-122"/>
                    </a:rPr>
                    <a:t>认租申请</a:t>
                  </a:r>
                  <a:r>
                    <a:rPr lang="en-US" altLang="zh-CN" sz="1200" dirty="0">
                      <a:solidFill>
                        <a:schemeClr val="accent1">
                          <a:lumMod val="50000"/>
                        </a:schemeClr>
                      </a:solidFill>
                      <a:latin typeface="楷体_GB2312" panose="02010609030101010101" pitchFamily="49" charset="-122"/>
                      <a:ea typeface="楷体_GB2312" panose="02010609030101010101" pitchFamily="49" charset="-122"/>
                    </a:rPr>
                    <a:t>-</a:t>
                  </a:r>
                  <a:r>
                    <a:rPr lang="zh-CN" altLang="en-US" sz="1200" dirty="0">
                      <a:solidFill>
                        <a:schemeClr val="accent1">
                          <a:lumMod val="50000"/>
                        </a:schemeClr>
                      </a:solidFill>
                      <a:latin typeface="楷体_GB2312" panose="02010609030101010101" pitchFamily="49" charset="-122"/>
                      <a:ea typeface="楷体_GB2312" panose="02010609030101010101" pitchFamily="49" charset="-122"/>
                    </a:rPr>
                    <a:t>资格审核</a:t>
                  </a:r>
                  <a:endParaRPr lang="en-US" altLang="zh-CN" sz="1200" dirty="0">
                    <a:solidFill>
                      <a:schemeClr val="accent1">
                        <a:lumMod val="50000"/>
                      </a:schemeClr>
                    </a:solidFill>
                    <a:latin typeface="楷体_GB2312" panose="02010609030101010101" pitchFamily="49" charset="-122"/>
                    <a:ea typeface="楷体_GB2312" panose="02010609030101010101" pitchFamily="49" charset="-122"/>
                  </a:endParaRPr>
                </a:p>
              </p:txBody>
            </p:sp>
          </p:grpSp>
          <p:sp>
            <p:nvSpPr>
              <p:cNvPr id="101" name="Arc 4"/>
              <p:cNvSpPr/>
              <p:nvPr/>
            </p:nvSpPr>
            <p:spPr bwMode="auto">
              <a:xfrm rot="16200000">
                <a:off x="5420271" y="4989364"/>
                <a:ext cx="508869" cy="885602"/>
              </a:xfrm>
              <a:custGeom>
                <a:avLst/>
                <a:gdLst>
                  <a:gd name="G0" fmla="+- 0 0 0"/>
                  <a:gd name="G1" fmla="+- 14196 0 0"/>
                  <a:gd name="G2" fmla="+- 21600 0 0"/>
                  <a:gd name="T0" fmla="*/ 16280 w 21600"/>
                  <a:gd name="T1" fmla="*/ 0 h 27599"/>
                  <a:gd name="T2" fmla="*/ 16939 w 21600"/>
                  <a:gd name="T3" fmla="*/ 27599 h 27599"/>
                  <a:gd name="T4" fmla="*/ 0 w 21600"/>
                  <a:gd name="T5" fmla="*/ 14196 h 275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7599" fill="none" extrusionOk="0">
                    <a:moveTo>
                      <a:pt x="16279" y="0"/>
                    </a:moveTo>
                    <a:cubicBezTo>
                      <a:pt x="19710" y="3933"/>
                      <a:pt x="21600" y="8976"/>
                      <a:pt x="21600" y="14196"/>
                    </a:cubicBezTo>
                    <a:cubicBezTo>
                      <a:pt x="21600" y="19061"/>
                      <a:pt x="19957" y="23783"/>
                      <a:pt x="16938" y="27598"/>
                    </a:cubicBezTo>
                  </a:path>
                  <a:path w="21600" h="27599" stroke="0" extrusionOk="0">
                    <a:moveTo>
                      <a:pt x="16279" y="0"/>
                    </a:moveTo>
                    <a:cubicBezTo>
                      <a:pt x="19710" y="3933"/>
                      <a:pt x="21600" y="8976"/>
                      <a:pt x="21600" y="14196"/>
                    </a:cubicBezTo>
                    <a:cubicBezTo>
                      <a:pt x="21600" y="19061"/>
                      <a:pt x="19957" y="23783"/>
                      <a:pt x="16938" y="27598"/>
                    </a:cubicBezTo>
                    <a:lnTo>
                      <a:pt x="0" y="14196"/>
                    </a:lnTo>
                    <a:close/>
                  </a:path>
                </a:pathLst>
              </a:custGeom>
              <a:noFill/>
              <a:ln w="22225">
                <a:solidFill>
                  <a:schemeClr val="bg1">
                    <a:lumMod val="75000"/>
                  </a:schemeClr>
                </a:solidFill>
                <a:round/>
                <a:head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 u="sng"/>
              </a:p>
            </p:txBody>
          </p:sp>
        </p:grpSp>
        <p:sp>
          <p:nvSpPr>
            <p:cNvPr id="134" name="Arc 4"/>
            <p:cNvSpPr/>
            <p:nvPr/>
          </p:nvSpPr>
          <p:spPr bwMode="auto">
            <a:xfrm rot="16200000" flipV="1">
              <a:off x="5608493" y="5130679"/>
              <a:ext cx="508869" cy="906215"/>
            </a:xfrm>
            <a:custGeom>
              <a:avLst/>
              <a:gdLst>
                <a:gd name="G0" fmla="+- 0 0 0"/>
                <a:gd name="G1" fmla="+- 14196 0 0"/>
                <a:gd name="G2" fmla="+- 21600 0 0"/>
                <a:gd name="T0" fmla="*/ 16280 w 21600"/>
                <a:gd name="T1" fmla="*/ 0 h 27599"/>
                <a:gd name="T2" fmla="*/ 16939 w 21600"/>
                <a:gd name="T3" fmla="*/ 27599 h 27599"/>
                <a:gd name="T4" fmla="*/ 0 w 21600"/>
                <a:gd name="T5" fmla="*/ 14196 h 27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7599" fill="none" extrusionOk="0">
                  <a:moveTo>
                    <a:pt x="16279" y="0"/>
                  </a:moveTo>
                  <a:cubicBezTo>
                    <a:pt x="19710" y="3933"/>
                    <a:pt x="21600" y="8976"/>
                    <a:pt x="21600" y="14196"/>
                  </a:cubicBezTo>
                  <a:cubicBezTo>
                    <a:pt x="21600" y="19061"/>
                    <a:pt x="19957" y="23783"/>
                    <a:pt x="16938" y="27598"/>
                  </a:cubicBezTo>
                </a:path>
                <a:path w="21600" h="27599" stroke="0" extrusionOk="0">
                  <a:moveTo>
                    <a:pt x="16279" y="0"/>
                  </a:moveTo>
                  <a:cubicBezTo>
                    <a:pt x="19710" y="3933"/>
                    <a:pt x="21600" y="8976"/>
                    <a:pt x="21600" y="14196"/>
                  </a:cubicBezTo>
                  <a:cubicBezTo>
                    <a:pt x="21600" y="19061"/>
                    <a:pt x="19957" y="23783"/>
                    <a:pt x="16938" y="27598"/>
                  </a:cubicBezTo>
                  <a:lnTo>
                    <a:pt x="0" y="14196"/>
                  </a:lnTo>
                  <a:close/>
                </a:path>
              </a:pathLst>
            </a:custGeom>
            <a:noFill/>
            <a:ln w="22225">
              <a:solidFill>
                <a:schemeClr val="bg1">
                  <a:lumMod val="75000"/>
                </a:schemeClr>
              </a:solidFill>
              <a:round/>
              <a:head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endParaRPr lang="zh-CN" altLang="en-US" u="sng"/>
            </a:p>
          </p:txBody>
        </p:sp>
      </p:grpSp>
      <p:pic>
        <p:nvPicPr>
          <p:cNvPr id="137" name="图片 136" descr="图形用户界面, 应用程序, 表格, Excel&#10;&#10;描述已自动生成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618" y="5177729"/>
            <a:ext cx="1060166" cy="660491"/>
          </a:xfrm>
          <a:prstGeom prst="rect">
            <a:avLst/>
          </a:prstGeom>
        </p:spPr>
      </p:pic>
      <p:sp>
        <p:nvSpPr>
          <p:cNvPr id="138" name="椭圆 137"/>
          <p:cNvSpPr/>
          <p:nvPr/>
        </p:nvSpPr>
        <p:spPr bwMode="auto">
          <a:xfrm>
            <a:off x="7560885" y="5257792"/>
            <a:ext cx="1075803" cy="1075807"/>
          </a:xfrm>
          <a:prstGeom prst="ellipse">
            <a:avLst/>
          </a:prstGeom>
          <a:blipFill dpi="0" rotWithShape="1">
            <a:blip r:embed="rId15"/>
            <a:srcRect/>
            <a:stretch>
              <a:fillRect/>
            </a:stretch>
          </a:blipFill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Calibri" panose="020F0502020204030204" charset="0"/>
            </a:endParaRPr>
          </a:p>
        </p:txBody>
      </p:sp>
      <p:pic>
        <p:nvPicPr>
          <p:cNvPr id="91" name="图片 90" descr="图标&#10;&#10;描述已自动生成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168" y="3837781"/>
            <a:ext cx="360040" cy="360040"/>
          </a:xfrm>
          <a:prstGeom prst="rect">
            <a:avLst/>
          </a:prstGeom>
        </p:spPr>
      </p:pic>
      <p:sp>
        <p:nvSpPr>
          <p:cNvPr id="92" name="文本框 91"/>
          <p:cNvSpPr txBox="1"/>
          <p:nvPr/>
        </p:nvSpPr>
        <p:spPr>
          <a:xfrm>
            <a:off x="695400" y="347960"/>
            <a:ext cx="64807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场景一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-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住房分配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（信息化之后）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2135560" y="2060847"/>
            <a:ext cx="9713506" cy="3771070"/>
            <a:chOff x="2099406" y="2520178"/>
            <a:chExt cx="9713506" cy="3771070"/>
          </a:xfrm>
        </p:grpSpPr>
        <p:grpSp>
          <p:nvGrpSpPr>
            <p:cNvPr id="9" name="组合 8"/>
            <p:cNvGrpSpPr/>
            <p:nvPr/>
          </p:nvGrpSpPr>
          <p:grpSpPr>
            <a:xfrm>
              <a:off x="5877803" y="2541292"/>
              <a:ext cx="902122" cy="971966"/>
              <a:chOff x="1759693" y="1419980"/>
              <a:chExt cx="1367454" cy="1216932"/>
            </a:xfrm>
          </p:grpSpPr>
          <p:sp>
            <p:nvSpPr>
              <p:cNvPr id="27" name="Freeform 3"/>
              <p:cNvSpPr/>
              <p:nvPr/>
            </p:nvSpPr>
            <p:spPr bwMode="auto">
              <a:xfrm>
                <a:off x="2513758" y="1646585"/>
                <a:ext cx="563735" cy="990327"/>
              </a:xfrm>
              <a:custGeom>
                <a:avLst/>
                <a:gdLst>
                  <a:gd name="T0" fmla="*/ 0 w 498"/>
                  <a:gd name="T1" fmla="*/ 1029 h 1029"/>
                  <a:gd name="T2" fmla="*/ 91 w 498"/>
                  <a:gd name="T3" fmla="*/ 1029 h 1029"/>
                  <a:gd name="T4" fmla="*/ 91 w 498"/>
                  <a:gd name="T5" fmla="*/ 0 h 1029"/>
                  <a:gd name="T6" fmla="*/ 166 w 498"/>
                  <a:gd name="T7" fmla="*/ 0 h 1029"/>
                  <a:gd name="T8" fmla="*/ 166 w 498"/>
                  <a:gd name="T9" fmla="*/ 1029 h 1029"/>
                  <a:gd name="T10" fmla="*/ 498 w 498"/>
                  <a:gd name="T11" fmla="*/ 1029 h 10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8" h="1029">
                    <a:moveTo>
                      <a:pt x="0" y="1029"/>
                    </a:moveTo>
                    <a:lnTo>
                      <a:pt x="91" y="1029"/>
                    </a:lnTo>
                    <a:lnTo>
                      <a:pt x="91" y="0"/>
                    </a:lnTo>
                    <a:lnTo>
                      <a:pt x="166" y="0"/>
                    </a:lnTo>
                    <a:lnTo>
                      <a:pt x="166" y="1029"/>
                    </a:lnTo>
                    <a:lnTo>
                      <a:pt x="498" y="1029"/>
                    </a:lnTo>
                  </a:path>
                </a:pathLst>
              </a:custGeom>
              <a:noFill/>
              <a:ln w="28575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 u="sng"/>
              </a:p>
            </p:txBody>
          </p:sp>
          <p:sp>
            <p:nvSpPr>
              <p:cNvPr id="28" name="Arc 4"/>
              <p:cNvSpPr/>
              <p:nvPr/>
            </p:nvSpPr>
            <p:spPr bwMode="auto">
              <a:xfrm rot="16200000" flipV="1">
                <a:off x="2124860" y="1054813"/>
                <a:ext cx="637120" cy="1367454"/>
              </a:xfrm>
              <a:custGeom>
                <a:avLst/>
                <a:gdLst>
                  <a:gd name="G0" fmla="+- 0 0 0"/>
                  <a:gd name="G1" fmla="+- 14196 0 0"/>
                  <a:gd name="G2" fmla="+- 21600 0 0"/>
                  <a:gd name="T0" fmla="*/ 16280 w 21600"/>
                  <a:gd name="T1" fmla="*/ 0 h 27599"/>
                  <a:gd name="T2" fmla="*/ 16939 w 21600"/>
                  <a:gd name="T3" fmla="*/ 27599 h 27599"/>
                  <a:gd name="T4" fmla="*/ 0 w 21600"/>
                  <a:gd name="T5" fmla="*/ 14196 h 275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7599" fill="none" extrusionOk="0">
                    <a:moveTo>
                      <a:pt x="16279" y="0"/>
                    </a:moveTo>
                    <a:cubicBezTo>
                      <a:pt x="19710" y="3933"/>
                      <a:pt x="21600" y="8976"/>
                      <a:pt x="21600" y="14196"/>
                    </a:cubicBezTo>
                    <a:cubicBezTo>
                      <a:pt x="21600" y="19061"/>
                      <a:pt x="19957" y="23783"/>
                      <a:pt x="16938" y="27598"/>
                    </a:cubicBezTo>
                  </a:path>
                  <a:path w="21600" h="27599" stroke="0" extrusionOk="0">
                    <a:moveTo>
                      <a:pt x="16279" y="0"/>
                    </a:moveTo>
                    <a:cubicBezTo>
                      <a:pt x="19710" y="3933"/>
                      <a:pt x="21600" y="8976"/>
                      <a:pt x="21600" y="14196"/>
                    </a:cubicBezTo>
                    <a:cubicBezTo>
                      <a:pt x="21600" y="19061"/>
                      <a:pt x="19957" y="23783"/>
                      <a:pt x="16938" y="27598"/>
                    </a:cubicBezTo>
                    <a:lnTo>
                      <a:pt x="0" y="14196"/>
                    </a:lnTo>
                    <a:close/>
                  </a:path>
                </a:pathLst>
              </a:custGeom>
              <a:noFill/>
              <a:ln w="22225">
                <a:solidFill>
                  <a:schemeClr val="bg1">
                    <a:lumMod val="75000"/>
                  </a:schemeClr>
                </a:solidFill>
                <a:round/>
                <a:head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 u="sng"/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8218214" y="2543065"/>
              <a:ext cx="902122" cy="971965"/>
              <a:chOff x="395534" y="1419981"/>
              <a:chExt cx="1367454" cy="1216931"/>
            </a:xfrm>
          </p:grpSpPr>
          <p:sp>
            <p:nvSpPr>
              <p:cNvPr id="25" name="Freeform 3"/>
              <p:cNvSpPr/>
              <p:nvPr/>
            </p:nvSpPr>
            <p:spPr bwMode="auto">
              <a:xfrm>
                <a:off x="1149599" y="1646585"/>
                <a:ext cx="563735" cy="990327"/>
              </a:xfrm>
              <a:custGeom>
                <a:avLst/>
                <a:gdLst>
                  <a:gd name="T0" fmla="*/ 0 w 498"/>
                  <a:gd name="T1" fmla="*/ 1029 h 1029"/>
                  <a:gd name="T2" fmla="*/ 91 w 498"/>
                  <a:gd name="T3" fmla="*/ 1029 h 1029"/>
                  <a:gd name="T4" fmla="*/ 91 w 498"/>
                  <a:gd name="T5" fmla="*/ 0 h 1029"/>
                  <a:gd name="T6" fmla="*/ 166 w 498"/>
                  <a:gd name="T7" fmla="*/ 0 h 1029"/>
                  <a:gd name="T8" fmla="*/ 166 w 498"/>
                  <a:gd name="T9" fmla="*/ 1029 h 1029"/>
                  <a:gd name="T10" fmla="*/ 498 w 498"/>
                  <a:gd name="T11" fmla="*/ 1029 h 10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8" h="1029">
                    <a:moveTo>
                      <a:pt x="0" y="1029"/>
                    </a:moveTo>
                    <a:lnTo>
                      <a:pt x="91" y="1029"/>
                    </a:lnTo>
                    <a:lnTo>
                      <a:pt x="91" y="0"/>
                    </a:lnTo>
                    <a:lnTo>
                      <a:pt x="166" y="0"/>
                    </a:lnTo>
                    <a:lnTo>
                      <a:pt x="166" y="1029"/>
                    </a:lnTo>
                    <a:lnTo>
                      <a:pt x="498" y="1029"/>
                    </a:lnTo>
                  </a:path>
                </a:pathLst>
              </a:custGeom>
              <a:noFill/>
              <a:ln w="28575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 u="sng"/>
              </a:p>
            </p:txBody>
          </p:sp>
          <p:sp>
            <p:nvSpPr>
              <p:cNvPr id="26" name="Arc 4"/>
              <p:cNvSpPr/>
              <p:nvPr/>
            </p:nvSpPr>
            <p:spPr bwMode="auto">
              <a:xfrm rot="16200000" flipV="1">
                <a:off x="760701" y="1054814"/>
                <a:ext cx="637120" cy="1367454"/>
              </a:xfrm>
              <a:custGeom>
                <a:avLst/>
                <a:gdLst>
                  <a:gd name="G0" fmla="+- 0 0 0"/>
                  <a:gd name="G1" fmla="+- 14196 0 0"/>
                  <a:gd name="G2" fmla="+- 21600 0 0"/>
                  <a:gd name="T0" fmla="*/ 16280 w 21600"/>
                  <a:gd name="T1" fmla="*/ 0 h 27599"/>
                  <a:gd name="T2" fmla="*/ 16939 w 21600"/>
                  <a:gd name="T3" fmla="*/ 27599 h 27599"/>
                  <a:gd name="T4" fmla="*/ 0 w 21600"/>
                  <a:gd name="T5" fmla="*/ 14196 h 275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7599" fill="none" extrusionOk="0">
                    <a:moveTo>
                      <a:pt x="16279" y="0"/>
                    </a:moveTo>
                    <a:cubicBezTo>
                      <a:pt x="19710" y="3933"/>
                      <a:pt x="21600" y="8976"/>
                      <a:pt x="21600" y="14196"/>
                    </a:cubicBezTo>
                    <a:cubicBezTo>
                      <a:pt x="21600" y="19061"/>
                      <a:pt x="19957" y="23783"/>
                      <a:pt x="16938" y="27598"/>
                    </a:cubicBezTo>
                  </a:path>
                  <a:path w="21600" h="27599" stroke="0" extrusionOk="0">
                    <a:moveTo>
                      <a:pt x="16279" y="0"/>
                    </a:moveTo>
                    <a:cubicBezTo>
                      <a:pt x="19710" y="3933"/>
                      <a:pt x="21600" y="8976"/>
                      <a:pt x="21600" y="14196"/>
                    </a:cubicBezTo>
                    <a:cubicBezTo>
                      <a:pt x="21600" y="19061"/>
                      <a:pt x="19957" y="23783"/>
                      <a:pt x="16938" y="27598"/>
                    </a:cubicBezTo>
                    <a:lnTo>
                      <a:pt x="0" y="14196"/>
                    </a:lnTo>
                    <a:close/>
                  </a:path>
                </a:pathLst>
              </a:custGeom>
              <a:noFill/>
              <a:ln w="22225">
                <a:solidFill>
                  <a:schemeClr val="bg1">
                    <a:lumMod val="75000"/>
                  </a:schemeClr>
                </a:solidFill>
                <a:round/>
                <a:head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 u="sng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2099406" y="2520178"/>
              <a:ext cx="902122" cy="971966"/>
              <a:chOff x="-365685" y="1419980"/>
              <a:chExt cx="1367454" cy="1216932"/>
            </a:xfrm>
          </p:grpSpPr>
          <p:sp>
            <p:nvSpPr>
              <p:cNvPr id="21" name="Freeform 3"/>
              <p:cNvSpPr/>
              <p:nvPr/>
            </p:nvSpPr>
            <p:spPr bwMode="auto">
              <a:xfrm>
                <a:off x="388380" y="1646585"/>
                <a:ext cx="563735" cy="990327"/>
              </a:xfrm>
              <a:custGeom>
                <a:avLst/>
                <a:gdLst>
                  <a:gd name="T0" fmla="*/ 0 w 498"/>
                  <a:gd name="T1" fmla="*/ 1029 h 1029"/>
                  <a:gd name="T2" fmla="*/ 91 w 498"/>
                  <a:gd name="T3" fmla="*/ 1029 h 1029"/>
                  <a:gd name="T4" fmla="*/ 91 w 498"/>
                  <a:gd name="T5" fmla="*/ 0 h 1029"/>
                  <a:gd name="T6" fmla="*/ 166 w 498"/>
                  <a:gd name="T7" fmla="*/ 0 h 1029"/>
                  <a:gd name="T8" fmla="*/ 166 w 498"/>
                  <a:gd name="T9" fmla="*/ 1029 h 1029"/>
                  <a:gd name="T10" fmla="*/ 498 w 498"/>
                  <a:gd name="T11" fmla="*/ 1029 h 10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8" h="1029">
                    <a:moveTo>
                      <a:pt x="0" y="1029"/>
                    </a:moveTo>
                    <a:lnTo>
                      <a:pt x="91" y="1029"/>
                    </a:lnTo>
                    <a:lnTo>
                      <a:pt x="91" y="0"/>
                    </a:lnTo>
                    <a:lnTo>
                      <a:pt x="166" y="0"/>
                    </a:lnTo>
                    <a:lnTo>
                      <a:pt x="166" y="1029"/>
                    </a:lnTo>
                    <a:lnTo>
                      <a:pt x="498" y="1029"/>
                    </a:lnTo>
                  </a:path>
                </a:pathLst>
              </a:custGeom>
              <a:noFill/>
              <a:ln w="28575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 u="sng"/>
              </a:p>
            </p:txBody>
          </p:sp>
          <p:sp>
            <p:nvSpPr>
              <p:cNvPr id="22" name="Arc 4"/>
              <p:cNvSpPr/>
              <p:nvPr/>
            </p:nvSpPr>
            <p:spPr bwMode="auto">
              <a:xfrm rot="16200000" flipV="1">
                <a:off x="-518" y="1054813"/>
                <a:ext cx="637120" cy="1367454"/>
              </a:xfrm>
              <a:custGeom>
                <a:avLst/>
                <a:gdLst>
                  <a:gd name="G0" fmla="+- 0 0 0"/>
                  <a:gd name="G1" fmla="+- 14196 0 0"/>
                  <a:gd name="G2" fmla="+- 21600 0 0"/>
                  <a:gd name="T0" fmla="*/ 16280 w 21600"/>
                  <a:gd name="T1" fmla="*/ 0 h 27599"/>
                  <a:gd name="T2" fmla="*/ 16939 w 21600"/>
                  <a:gd name="T3" fmla="*/ 27599 h 27599"/>
                  <a:gd name="T4" fmla="*/ 0 w 21600"/>
                  <a:gd name="T5" fmla="*/ 14196 h 275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7599" fill="none" extrusionOk="0">
                    <a:moveTo>
                      <a:pt x="16279" y="0"/>
                    </a:moveTo>
                    <a:cubicBezTo>
                      <a:pt x="19710" y="3933"/>
                      <a:pt x="21600" y="8976"/>
                      <a:pt x="21600" y="14196"/>
                    </a:cubicBezTo>
                    <a:cubicBezTo>
                      <a:pt x="21600" y="19061"/>
                      <a:pt x="19957" y="23783"/>
                      <a:pt x="16938" y="27598"/>
                    </a:cubicBezTo>
                  </a:path>
                  <a:path w="21600" h="27599" stroke="0" extrusionOk="0">
                    <a:moveTo>
                      <a:pt x="16279" y="0"/>
                    </a:moveTo>
                    <a:cubicBezTo>
                      <a:pt x="19710" y="3933"/>
                      <a:pt x="21600" y="8976"/>
                      <a:pt x="21600" y="14196"/>
                    </a:cubicBezTo>
                    <a:cubicBezTo>
                      <a:pt x="21600" y="19061"/>
                      <a:pt x="19957" y="23783"/>
                      <a:pt x="16938" y="27598"/>
                    </a:cubicBezTo>
                    <a:lnTo>
                      <a:pt x="0" y="14196"/>
                    </a:lnTo>
                    <a:close/>
                  </a:path>
                </a:pathLst>
              </a:custGeom>
              <a:noFill/>
              <a:ln w="22225">
                <a:solidFill>
                  <a:schemeClr val="bg1">
                    <a:lumMod val="75000"/>
                  </a:schemeClr>
                </a:solidFill>
                <a:round/>
                <a:head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 u="sng"/>
              </a:p>
            </p:txBody>
          </p:sp>
        </p:grpSp>
        <p:sp>
          <p:nvSpPr>
            <p:cNvPr id="13" name="Arc 4"/>
            <p:cNvSpPr/>
            <p:nvPr/>
          </p:nvSpPr>
          <p:spPr bwMode="auto">
            <a:xfrm flipV="1">
              <a:off x="10955673" y="2907903"/>
              <a:ext cx="857239" cy="2018617"/>
            </a:xfrm>
            <a:custGeom>
              <a:avLst/>
              <a:gdLst>
                <a:gd name="G0" fmla="+- 0 0 0"/>
                <a:gd name="G1" fmla="+- 14196 0 0"/>
                <a:gd name="G2" fmla="+- 21600 0 0"/>
                <a:gd name="T0" fmla="*/ 16280 w 21600"/>
                <a:gd name="T1" fmla="*/ 0 h 27599"/>
                <a:gd name="T2" fmla="*/ 16939 w 21600"/>
                <a:gd name="T3" fmla="*/ 27599 h 27599"/>
                <a:gd name="T4" fmla="*/ 0 w 21600"/>
                <a:gd name="T5" fmla="*/ 14196 h 27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7599" fill="none" extrusionOk="0">
                  <a:moveTo>
                    <a:pt x="16279" y="0"/>
                  </a:moveTo>
                  <a:cubicBezTo>
                    <a:pt x="19710" y="3933"/>
                    <a:pt x="21600" y="8976"/>
                    <a:pt x="21600" y="14196"/>
                  </a:cubicBezTo>
                  <a:cubicBezTo>
                    <a:pt x="21600" y="19061"/>
                    <a:pt x="19957" y="23783"/>
                    <a:pt x="16938" y="27598"/>
                  </a:cubicBezTo>
                </a:path>
                <a:path w="21600" h="27599" stroke="0" extrusionOk="0">
                  <a:moveTo>
                    <a:pt x="16279" y="0"/>
                  </a:moveTo>
                  <a:cubicBezTo>
                    <a:pt x="19710" y="3933"/>
                    <a:pt x="21600" y="8976"/>
                    <a:pt x="21600" y="14196"/>
                  </a:cubicBezTo>
                  <a:cubicBezTo>
                    <a:pt x="21600" y="19061"/>
                    <a:pt x="19957" y="23783"/>
                    <a:pt x="16938" y="27598"/>
                  </a:cubicBezTo>
                  <a:lnTo>
                    <a:pt x="0" y="14196"/>
                  </a:lnTo>
                  <a:close/>
                </a:path>
              </a:pathLst>
            </a:custGeom>
            <a:noFill/>
            <a:ln w="22225">
              <a:solidFill>
                <a:schemeClr val="bg1">
                  <a:lumMod val="75000"/>
                </a:schemeClr>
              </a:solidFill>
              <a:round/>
              <a:head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endParaRPr lang="zh-CN" altLang="en-US" u="sng" dirty="0"/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6203863" y="4809002"/>
              <a:ext cx="3954176" cy="1480042"/>
              <a:chOff x="9336328" y="4036078"/>
              <a:chExt cx="3954176" cy="1480042"/>
            </a:xfrm>
          </p:grpSpPr>
          <p:sp>
            <p:nvSpPr>
              <p:cNvPr id="19" name="Freeform 3"/>
              <p:cNvSpPr/>
              <p:nvPr/>
            </p:nvSpPr>
            <p:spPr bwMode="auto">
              <a:xfrm flipH="1">
                <a:off x="9449735" y="4725144"/>
                <a:ext cx="365090" cy="790976"/>
              </a:xfrm>
              <a:custGeom>
                <a:avLst/>
                <a:gdLst>
                  <a:gd name="T0" fmla="*/ 0 w 498"/>
                  <a:gd name="T1" fmla="*/ 1029 h 1029"/>
                  <a:gd name="T2" fmla="*/ 91 w 498"/>
                  <a:gd name="T3" fmla="*/ 1029 h 1029"/>
                  <a:gd name="T4" fmla="*/ 91 w 498"/>
                  <a:gd name="T5" fmla="*/ 0 h 1029"/>
                  <a:gd name="T6" fmla="*/ 166 w 498"/>
                  <a:gd name="T7" fmla="*/ 0 h 1029"/>
                  <a:gd name="T8" fmla="*/ 166 w 498"/>
                  <a:gd name="T9" fmla="*/ 1029 h 1029"/>
                  <a:gd name="T10" fmla="*/ 498 w 498"/>
                  <a:gd name="T11" fmla="*/ 1029 h 10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8" h="1029">
                    <a:moveTo>
                      <a:pt x="0" y="1029"/>
                    </a:moveTo>
                    <a:lnTo>
                      <a:pt x="91" y="1029"/>
                    </a:lnTo>
                    <a:lnTo>
                      <a:pt x="91" y="0"/>
                    </a:lnTo>
                    <a:lnTo>
                      <a:pt x="166" y="0"/>
                    </a:lnTo>
                    <a:lnTo>
                      <a:pt x="166" y="1029"/>
                    </a:lnTo>
                    <a:lnTo>
                      <a:pt x="498" y="1029"/>
                    </a:lnTo>
                  </a:path>
                </a:pathLst>
              </a:custGeom>
              <a:noFill/>
              <a:ln w="28575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 u="sng"/>
              </a:p>
            </p:txBody>
          </p:sp>
          <p:sp>
            <p:nvSpPr>
              <p:cNvPr id="20" name="Arc 4"/>
              <p:cNvSpPr/>
              <p:nvPr/>
            </p:nvSpPr>
            <p:spPr bwMode="auto">
              <a:xfrm rot="16200000">
                <a:off x="10812659" y="2559747"/>
                <a:ext cx="1001513" cy="3954176"/>
              </a:xfrm>
              <a:custGeom>
                <a:avLst/>
                <a:gdLst>
                  <a:gd name="G0" fmla="+- 0 0 0"/>
                  <a:gd name="G1" fmla="+- 14196 0 0"/>
                  <a:gd name="G2" fmla="+- 21600 0 0"/>
                  <a:gd name="T0" fmla="*/ 16280 w 21600"/>
                  <a:gd name="T1" fmla="*/ 0 h 27599"/>
                  <a:gd name="T2" fmla="*/ 16939 w 21600"/>
                  <a:gd name="T3" fmla="*/ 27599 h 27599"/>
                  <a:gd name="T4" fmla="*/ 0 w 21600"/>
                  <a:gd name="T5" fmla="*/ 14196 h 275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7599" fill="none" extrusionOk="0">
                    <a:moveTo>
                      <a:pt x="16279" y="0"/>
                    </a:moveTo>
                    <a:cubicBezTo>
                      <a:pt x="19710" y="3933"/>
                      <a:pt x="21600" y="8976"/>
                      <a:pt x="21600" y="14196"/>
                    </a:cubicBezTo>
                    <a:cubicBezTo>
                      <a:pt x="21600" y="19061"/>
                      <a:pt x="19957" y="23783"/>
                      <a:pt x="16938" y="27598"/>
                    </a:cubicBezTo>
                  </a:path>
                  <a:path w="21600" h="27599" stroke="0" extrusionOk="0">
                    <a:moveTo>
                      <a:pt x="16279" y="0"/>
                    </a:moveTo>
                    <a:cubicBezTo>
                      <a:pt x="19710" y="3933"/>
                      <a:pt x="21600" y="8976"/>
                      <a:pt x="21600" y="14196"/>
                    </a:cubicBezTo>
                    <a:cubicBezTo>
                      <a:pt x="21600" y="19061"/>
                      <a:pt x="19957" y="23783"/>
                      <a:pt x="16938" y="27598"/>
                    </a:cubicBezTo>
                    <a:lnTo>
                      <a:pt x="0" y="14196"/>
                    </a:lnTo>
                    <a:close/>
                  </a:path>
                </a:pathLst>
              </a:custGeom>
              <a:noFill/>
              <a:ln w="22225">
                <a:solidFill>
                  <a:schemeClr val="bg1">
                    <a:lumMod val="75000"/>
                  </a:schemeClr>
                </a:solidFill>
                <a:round/>
                <a:head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 u="sng"/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9241793" y="5040459"/>
              <a:ext cx="916244" cy="1250789"/>
              <a:chOff x="9449735" y="4265331"/>
              <a:chExt cx="916244" cy="1250789"/>
            </a:xfrm>
          </p:grpSpPr>
          <p:sp>
            <p:nvSpPr>
              <p:cNvPr id="17" name="Freeform 3"/>
              <p:cNvSpPr/>
              <p:nvPr/>
            </p:nvSpPr>
            <p:spPr bwMode="auto">
              <a:xfrm flipH="1">
                <a:off x="9449735" y="4725144"/>
                <a:ext cx="365090" cy="790976"/>
              </a:xfrm>
              <a:custGeom>
                <a:avLst/>
                <a:gdLst>
                  <a:gd name="T0" fmla="*/ 0 w 498"/>
                  <a:gd name="T1" fmla="*/ 1029 h 1029"/>
                  <a:gd name="T2" fmla="*/ 91 w 498"/>
                  <a:gd name="T3" fmla="*/ 1029 h 1029"/>
                  <a:gd name="T4" fmla="*/ 91 w 498"/>
                  <a:gd name="T5" fmla="*/ 0 h 1029"/>
                  <a:gd name="T6" fmla="*/ 166 w 498"/>
                  <a:gd name="T7" fmla="*/ 0 h 1029"/>
                  <a:gd name="T8" fmla="*/ 166 w 498"/>
                  <a:gd name="T9" fmla="*/ 1029 h 1029"/>
                  <a:gd name="T10" fmla="*/ 498 w 498"/>
                  <a:gd name="T11" fmla="*/ 1029 h 10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8" h="1029">
                    <a:moveTo>
                      <a:pt x="0" y="1029"/>
                    </a:moveTo>
                    <a:lnTo>
                      <a:pt x="91" y="1029"/>
                    </a:lnTo>
                    <a:lnTo>
                      <a:pt x="91" y="0"/>
                    </a:lnTo>
                    <a:lnTo>
                      <a:pt x="166" y="0"/>
                    </a:lnTo>
                    <a:lnTo>
                      <a:pt x="166" y="1029"/>
                    </a:lnTo>
                    <a:lnTo>
                      <a:pt x="498" y="1029"/>
                    </a:lnTo>
                  </a:path>
                </a:pathLst>
              </a:custGeom>
              <a:noFill/>
              <a:ln w="28575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 u="sng"/>
              </a:p>
            </p:txBody>
          </p:sp>
          <p:sp>
            <p:nvSpPr>
              <p:cNvPr id="18" name="Arc 4"/>
              <p:cNvSpPr/>
              <p:nvPr/>
            </p:nvSpPr>
            <p:spPr bwMode="auto">
              <a:xfrm rot="16200000">
                <a:off x="9668743" y="4076965"/>
                <a:ext cx="508869" cy="885602"/>
              </a:xfrm>
              <a:custGeom>
                <a:avLst/>
                <a:gdLst>
                  <a:gd name="G0" fmla="+- 0 0 0"/>
                  <a:gd name="G1" fmla="+- 14196 0 0"/>
                  <a:gd name="G2" fmla="+- 21600 0 0"/>
                  <a:gd name="T0" fmla="*/ 16280 w 21600"/>
                  <a:gd name="T1" fmla="*/ 0 h 27599"/>
                  <a:gd name="T2" fmla="*/ 16939 w 21600"/>
                  <a:gd name="T3" fmla="*/ 27599 h 27599"/>
                  <a:gd name="T4" fmla="*/ 0 w 21600"/>
                  <a:gd name="T5" fmla="*/ 14196 h 275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7599" fill="none" extrusionOk="0">
                    <a:moveTo>
                      <a:pt x="16279" y="0"/>
                    </a:moveTo>
                    <a:cubicBezTo>
                      <a:pt x="19710" y="3933"/>
                      <a:pt x="21600" y="8976"/>
                      <a:pt x="21600" y="14196"/>
                    </a:cubicBezTo>
                    <a:cubicBezTo>
                      <a:pt x="21600" y="19061"/>
                      <a:pt x="19957" y="23783"/>
                      <a:pt x="16938" y="27598"/>
                    </a:cubicBezTo>
                  </a:path>
                  <a:path w="21600" h="27599" stroke="0" extrusionOk="0">
                    <a:moveTo>
                      <a:pt x="16279" y="0"/>
                    </a:moveTo>
                    <a:cubicBezTo>
                      <a:pt x="19710" y="3933"/>
                      <a:pt x="21600" y="8976"/>
                      <a:pt x="21600" y="14196"/>
                    </a:cubicBezTo>
                    <a:cubicBezTo>
                      <a:pt x="21600" y="19061"/>
                      <a:pt x="19957" y="23783"/>
                      <a:pt x="16938" y="27598"/>
                    </a:cubicBezTo>
                    <a:lnTo>
                      <a:pt x="0" y="14196"/>
                    </a:lnTo>
                    <a:close/>
                  </a:path>
                </a:pathLst>
              </a:custGeom>
              <a:noFill/>
              <a:ln w="22225">
                <a:solidFill>
                  <a:schemeClr val="bg1">
                    <a:lumMod val="75000"/>
                  </a:schemeClr>
                </a:solidFill>
                <a:round/>
                <a:head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 u="sng"/>
              </a:p>
            </p:txBody>
          </p:sp>
        </p:grpSp>
      </p:grpSp>
      <p:pic>
        <p:nvPicPr>
          <p:cNvPr id="63" name="图片 6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30" y="2273676"/>
            <a:ext cx="1406566" cy="871773"/>
          </a:xfrm>
          <a:prstGeom prst="rect">
            <a:avLst/>
          </a:prstGeom>
        </p:spPr>
      </p:pic>
      <p:pic>
        <p:nvPicPr>
          <p:cNvPr id="64" name="图片 6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6854" y="2228318"/>
            <a:ext cx="511074" cy="923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" name="图片 6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1189" y="2221784"/>
            <a:ext cx="511074" cy="923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" name="图片 6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408" y="2273676"/>
            <a:ext cx="1406566" cy="871773"/>
          </a:xfrm>
          <a:prstGeom prst="rect">
            <a:avLst/>
          </a:prstGeom>
        </p:spPr>
      </p:pic>
      <p:pic>
        <p:nvPicPr>
          <p:cNvPr id="79" name="图片 7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596" y="2257677"/>
            <a:ext cx="1406566" cy="871773"/>
          </a:xfrm>
          <a:prstGeom prst="rect">
            <a:avLst/>
          </a:prstGeom>
        </p:spPr>
      </p:pic>
      <p:pic>
        <p:nvPicPr>
          <p:cNvPr id="80" name="图片 7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496" y="4972392"/>
            <a:ext cx="511074" cy="923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图片 8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856" y="4972392"/>
            <a:ext cx="511074" cy="923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" name="图片 8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6726" y="4957940"/>
            <a:ext cx="1406566" cy="871773"/>
          </a:xfrm>
          <a:prstGeom prst="rect">
            <a:avLst/>
          </a:prstGeom>
        </p:spPr>
      </p:pic>
      <p:sp>
        <p:nvSpPr>
          <p:cNvPr id="83" name="文本框 82"/>
          <p:cNvSpPr txBox="1"/>
          <p:nvPr/>
        </p:nvSpPr>
        <p:spPr>
          <a:xfrm>
            <a:off x="793257" y="3296597"/>
            <a:ext cx="191836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应收台账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各类场景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1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（租赁系统、物业系统）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623392" y="3352080"/>
            <a:ext cx="269418" cy="29019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3627417" y="3296597"/>
            <a:ext cx="227840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欠费提醒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缴费提醒</a:t>
            </a:r>
            <a:endParaRPr lang="en-US" altLang="zh-CN" sz="1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（系统、短信、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APP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、公众号）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3431704" y="3352080"/>
            <a:ext cx="269418" cy="29019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6960781" y="3271767"/>
            <a:ext cx="182634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快捷支付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托收授权</a:t>
            </a:r>
            <a:endParaRPr lang="en-US" altLang="zh-CN" sz="1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（移动应用）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6765068" y="3327250"/>
            <a:ext cx="269418" cy="29019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9842081" y="3244895"/>
            <a:ext cx="122949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系统核销</a:t>
            </a:r>
            <a:endParaRPr lang="en-US" altLang="zh-CN" sz="1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（自动）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9646367" y="3300378"/>
            <a:ext cx="269418" cy="29019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10596829" y="6008275"/>
            <a:ext cx="122949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开票申请</a:t>
            </a:r>
            <a:endParaRPr lang="en-US" altLang="zh-CN" sz="1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（自助）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10401115" y="6063758"/>
            <a:ext cx="269418" cy="29019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7752184" y="6008275"/>
            <a:ext cx="122949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触发开票</a:t>
            </a:r>
            <a:endParaRPr lang="en-US" altLang="zh-CN" sz="1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（数据同步）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7556470" y="6063758"/>
            <a:ext cx="269418" cy="29019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058012" y="6004982"/>
            <a:ext cx="122949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发票接收</a:t>
            </a:r>
            <a:endParaRPr lang="en-US" altLang="zh-CN" sz="1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（自助）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4862298" y="6060465"/>
            <a:ext cx="269418" cy="29019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7320136" y="4088105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>
                    <a:lumMod val="50000"/>
                  </a:schemeClr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普通电子发票</a:t>
            </a:r>
            <a:endParaRPr lang="en-US" altLang="zh-CN" sz="1200" dirty="0">
              <a:solidFill>
                <a:schemeClr val="accent1">
                  <a:lumMod val="50000"/>
                </a:schemeClr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9048328" y="4664169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>
                    <a:lumMod val="50000"/>
                  </a:schemeClr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纸质专用发票</a:t>
            </a:r>
            <a:endParaRPr lang="en-US" altLang="zh-CN" sz="1200" dirty="0">
              <a:solidFill>
                <a:schemeClr val="accent1">
                  <a:lumMod val="50000"/>
                </a:schemeClr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859" y="2308178"/>
            <a:ext cx="1085551" cy="7290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9963" y="2321577"/>
            <a:ext cx="1047521" cy="711235"/>
          </a:xfrm>
          <a:prstGeom prst="rect">
            <a:avLst/>
          </a:prstGeom>
        </p:spPr>
      </p:pic>
      <p:pic>
        <p:nvPicPr>
          <p:cNvPr id="124" name="图片 123" descr="图形用户界面, 应用程序&#10;&#10;描述已自动生成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2970" y="2335960"/>
            <a:ext cx="322375" cy="696852"/>
          </a:xfrm>
          <a:prstGeom prst="roundRect">
            <a:avLst>
              <a:gd name="adj" fmla="val 4690"/>
            </a:avLst>
          </a:prstGeom>
          <a:ln>
            <a:noFill/>
          </a:ln>
          <a:effectLst/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34" name="椭圆 133"/>
          <p:cNvSpPr/>
          <p:nvPr/>
        </p:nvSpPr>
        <p:spPr bwMode="auto">
          <a:xfrm>
            <a:off x="7529798" y="2226530"/>
            <a:ext cx="1075807" cy="1075807"/>
          </a:xfrm>
          <a:prstGeom prst="ellipse">
            <a:avLst/>
          </a:prstGeom>
          <a:blipFill dpi="0" rotWithShape="1">
            <a:blip r:embed="rId6"/>
            <a:srcRect/>
            <a:stretch>
              <a:fillRect l="2000" t="-6000" r="-12000"/>
            </a:stretch>
          </a:blip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Calibri" panose="020F0502020204030204" charset="0"/>
            </a:endParaRPr>
          </a:p>
        </p:txBody>
      </p:sp>
      <p:pic>
        <p:nvPicPr>
          <p:cNvPr id="135" name="图片 134" descr="图形用户界面, 文本, 应用程序, 电子邮件&#10;&#10;描述已自动生成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7185" y="5134521"/>
            <a:ext cx="337696" cy="600997"/>
          </a:xfrm>
          <a:prstGeom prst="roundRect">
            <a:avLst>
              <a:gd name="adj" fmla="val 4671"/>
            </a:avLst>
          </a:prstGeom>
          <a:ln>
            <a:noFill/>
          </a:ln>
          <a:effectLst/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36" name="椭圆 135"/>
          <p:cNvSpPr/>
          <p:nvPr/>
        </p:nvSpPr>
        <p:spPr bwMode="auto">
          <a:xfrm>
            <a:off x="10911105" y="4927058"/>
            <a:ext cx="1077924" cy="1077924"/>
          </a:xfrm>
          <a:prstGeom prst="ellipse">
            <a:avLst/>
          </a:prstGeom>
          <a:blipFill dpi="0" rotWithShape="1">
            <a:blip r:embed="rId8"/>
            <a:srcRect/>
            <a:stretch>
              <a:fillRect r="-7000"/>
            </a:stretch>
          </a:blip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Calibri" panose="020F0502020204030204" charset="0"/>
            </a:endParaRPr>
          </a:p>
        </p:txBody>
      </p:sp>
      <p:pic>
        <p:nvPicPr>
          <p:cNvPr id="137" name="图片 13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1727" y="2380997"/>
            <a:ext cx="341343" cy="615955"/>
          </a:xfrm>
          <a:prstGeom prst="roundRect">
            <a:avLst>
              <a:gd name="adj" fmla="val 8821"/>
            </a:avLst>
          </a:prstGeom>
          <a:ln>
            <a:noFill/>
          </a:ln>
          <a:effectLst/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26" name="椭圆 125"/>
          <p:cNvSpPr/>
          <p:nvPr/>
        </p:nvSpPr>
        <p:spPr bwMode="auto">
          <a:xfrm>
            <a:off x="5221078" y="2256670"/>
            <a:ext cx="1075807" cy="1075807"/>
          </a:xfrm>
          <a:prstGeom prst="ellipse">
            <a:avLst/>
          </a:prstGeom>
          <a:blipFill dpi="0" rotWithShape="1">
            <a:blip r:embed="rId10"/>
            <a:srcRect/>
            <a:stretch>
              <a:fillRect l="2000" t="-6000" r="-12000"/>
            </a:stretch>
          </a:blip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Calibri" panose="020F0502020204030204" charset="0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87647" y="2294107"/>
            <a:ext cx="1081731" cy="73870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245" y="5007602"/>
            <a:ext cx="1019260" cy="718294"/>
          </a:xfrm>
          <a:prstGeom prst="rect">
            <a:avLst/>
          </a:prstGeom>
        </p:spPr>
      </p:pic>
      <p:grpSp>
        <p:nvGrpSpPr>
          <p:cNvPr id="138" name="组合 137"/>
          <p:cNvGrpSpPr/>
          <p:nvPr/>
        </p:nvGrpSpPr>
        <p:grpSpPr>
          <a:xfrm>
            <a:off x="1120429" y="2652498"/>
            <a:ext cx="9964002" cy="2945497"/>
            <a:chOff x="839416" y="1857010"/>
            <a:chExt cx="9964002" cy="2945497"/>
          </a:xfrm>
        </p:grpSpPr>
        <p:sp>
          <p:nvSpPr>
            <p:cNvPr id="140" name="文本框 139"/>
            <p:cNvSpPr txBox="1"/>
            <p:nvPr/>
          </p:nvSpPr>
          <p:spPr>
            <a:xfrm>
              <a:off x="839416" y="1861599"/>
              <a:ext cx="1532294" cy="261610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76000"/>
              </a:schemeClr>
            </a:solidFill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05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en-US" altLang="zh-CN" dirty="0"/>
                <a:t>0</a:t>
              </a:r>
              <a:r>
                <a:rPr lang="zh-CN" altLang="en-US" dirty="0"/>
                <a:t>人时</a:t>
              </a:r>
              <a:r>
                <a:rPr lang="en-US" altLang="zh-CN" dirty="0"/>
                <a:t>/</a:t>
              </a:r>
              <a:r>
                <a:rPr lang="zh-CN" altLang="en-US" dirty="0"/>
                <a:t>项目</a:t>
              </a:r>
              <a:endParaRPr lang="zh-CN" altLang="en-US" dirty="0"/>
            </a:p>
          </p:txBody>
        </p:sp>
        <p:sp>
          <p:nvSpPr>
            <p:cNvPr id="142" name="文本框 141"/>
            <p:cNvSpPr txBox="1"/>
            <p:nvPr/>
          </p:nvSpPr>
          <p:spPr>
            <a:xfrm>
              <a:off x="3787813" y="1865446"/>
              <a:ext cx="1532294" cy="253916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76000"/>
              </a:schemeClr>
            </a:solidFill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05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en-US" altLang="zh-CN" dirty="0"/>
                <a:t>0</a:t>
              </a:r>
              <a:r>
                <a:rPr lang="zh-CN" altLang="en-US" dirty="0"/>
                <a:t>人时</a:t>
              </a:r>
              <a:r>
                <a:rPr lang="en-US" altLang="zh-CN" dirty="0"/>
                <a:t>/</a:t>
              </a:r>
              <a:r>
                <a:rPr lang="zh-CN" altLang="en-US" dirty="0"/>
                <a:t>项目*月</a:t>
              </a:r>
              <a:endParaRPr lang="en-US" altLang="zh-CN" dirty="0"/>
            </a:p>
          </p:txBody>
        </p:sp>
        <p:sp>
          <p:nvSpPr>
            <p:cNvPr id="143" name="文本框 142"/>
            <p:cNvSpPr txBox="1"/>
            <p:nvPr/>
          </p:nvSpPr>
          <p:spPr>
            <a:xfrm>
              <a:off x="9271124" y="1857010"/>
              <a:ext cx="1532294" cy="253916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76000"/>
              </a:schemeClr>
            </a:solidFill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05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en-US" altLang="zh-CN" dirty="0"/>
                <a:t>0</a:t>
              </a:r>
              <a:r>
                <a:rPr lang="zh-CN" altLang="en-US" dirty="0"/>
                <a:t>人时</a:t>
              </a:r>
              <a:r>
                <a:rPr lang="en-US" altLang="zh-CN" dirty="0"/>
                <a:t>/</a:t>
              </a:r>
              <a:r>
                <a:rPr lang="zh-CN" altLang="en-US" dirty="0"/>
                <a:t>项目*月</a:t>
              </a:r>
              <a:endParaRPr lang="en-US" altLang="zh-CN" dirty="0"/>
            </a:p>
          </p:txBody>
        </p:sp>
        <p:sp>
          <p:nvSpPr>
            <p:cNvPr id="144" name="文本框 143"/>
            <p:cNvSpPr txBox="1"/>
            <p:nvPr/>
          </p:nvSpPr>
          <p:spPr>
            <a:xfrm>
              <a:off x="9433818" y="4379172"/>
              <a:ext cx="1276996" cy="415498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76000"/>
              </a:schemeClr>
            </a:solidFill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05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en-US" altLang="zh-CN" dirty="0"/>
                <a:t>440*0.1</a:t>
              </a:r>
              <a:r>
                <a:rPr lang="zh-CN" altLang="en-US" dirty="0"/>
                <a:t>人时</a:t>
              </a:r>
              <a:r>
                <a:rPr lang="en-US" altLang="zh-CN" dirty="0"/>
                <a:t>/</a:t>
              </a:r>
              <a:endParaRPr lang="en-US" altLang="zh-CN" dirty="0"/>
            </a:p>
            <a:p>
              <a:r>
                <a:rPr lang="zh-CN" altLang="en-US" dirty="0"/>
                <a:t>项目*月</a:t>
              </a:r>
              <a:endParaRPr lang="en-US" altLang="zh-CN" dirty="0"/>
            </a:p>
          </p:txBody>
        </p:sp>
        <p:sp>
          <p:nvSpPr>
            <p:cNvPr id="145" name="文本框 144"/>
            <p:cNvSpPr txBox="1"/>
            <p:nvPr/>
          </p:nvSpPr>
          <p:spPr>
            <a:xfrm>
              <a:off x="6606525" y="4387009"/>
              <a:ext cx="1532294" cy="415498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76000"/>
              </a:schemeClr>
            </a:solidFill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05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en-US" altLang="zh-CN" dirty="0"/>
                <a:t>440</a:t>
              </a:r>
              <a:r>
                <a:rPr lang="zh-CN" altLang="en-US" dirty="0"/>
                <a:t>*</a:t>
              </a:r>
              <a:r>
                <a:rPr lang="en-US" altLang="zh-CN" dirty="0"/>
                <a:t>0.2</a:t>
              </a:r>
              <a:r>
                <a:rPr lang="zh-CN" altLang="en-US" dirty="0"/>
                <a:t>人时</a:t>
              </a:r>
              <a:r>
                <a:rPr lang="en-US" altLang="zh-CN" dirty="0"/>
                <a:t>/</a:t>
              </a:r>
              <a:endParaRPr lang="en-US" altLang="zh-CN" dirty="0"/>
            </a:p>
            <a:p>
              <a:r>
                <a:rPr lang="zh-CN" altLang="en-US" dirty="0"/>
                <a:t>项目*月</a:t>
              </a:r>
              <a:endParaRPr lang="en-US" altLang="zh-CN" dirty="0"/>
            </a:p>
          </p:txBody>
        </p:sp>
      </p:grpSp>
      <p:pic>
        <p:nvPicPr>
          <p:cNvPr id="33" name="图片 32" descr="图形用户界面, 应用程序&#10;&#10;描述已自动生成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329" y="5139466"/>
            <a:ext cx="349214" cy="600997"/>
          </a:xfrm>
          <a:prstGeom prst="rect">
            <a:avLst/>
          </a:prstGeom>
        </p:spPr>
      </p:pic>
      <p:sp>
        <p:nvSpPr>
          <p:cNvPr id="92" name="椭圆 91"/>
          <p:cNvSpPr/>
          <p:nvPr/>
        </p:nvSpPr>
        <p:spPr bwMode="auto">
          <a:xfrm>
            <a:off x="5159734" y="5007602"/>
            <a:ext cx="1075803" cy="1075807"/>
          </a:xfrm>
          <a:prstGeom prst="ellipse">
            <a:avLst/>
          </a:prstGeom>
          <a:blipFill dpi="0" rotWithShape="1">
            <a:blip r:embed="rId14"/>
            <a:srcRect/>
            <a:stretch>
              <a:fillRect r="-7000"/>
            </a:stretch>
          </a:blipFill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Calibri" panose="020F0502020204030204" charset="0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695400" y="347960"/>
            <a:ext cx="64807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场景二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-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rPr>
              <a:t>费用缴交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（信息化之后）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Segoe UI Black" panose="020B0A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UNIT_TABLE_BEAUTIFY" val="smartTable{0822b142-b2c7-4a20-9e86-a6ba2142074d}"/>
  <p:tag name="TABLE_ENDDRAG_ORIGIN_RECT" val="322*144"/>
  <p:tag name="TABLE_ENDDRAG_RECT" val="144*210*322*144"/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PP_MARK_KEY" val="7a149739-bafc-40d1-9b45-cd25dbc9f3c7"/>
  <p:tag name="COMMONDATA" val="eyJoZGlkIjoiOWZjY2QzZTQzMzI4YTFhYjA1ZjhmYTQ3ODMyZjk0MjU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2655</Words>
  <Application>WPS 演示</Application>
  <PresentationFormat>宽屏</PresentationFormat>
  <Paragraphs>556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47" baseType="lpstr">
      <vt:lpstr>Arial</vt:lpstr>
      <vt:lpstr>宋体</vt:lpstr>
      <vt:lpstr>Wingdings</vt:lpstr>
      <vt:lpstr>Wingdings</vt:lpstr>
      <vt:lpstr>微软雅黑</vt:lpstr>
      <vt:lpstr>汉仪旗黑</vt:lpstr>
      <vt:lpstr>Segoe UI Black</vt:lpstr>
      <vt:lpstr>黑体</vt:lpstr>
      <vt:lpstr>汉仪中黑KW</vt:lpstr>
      <vt:lpstr>Times New Roman</vt:lpstr>
      <vt:lpstr>Calibri</vt:lpstr>
      <vt:lpstr>仿宋_GB2312</vt:lpstr>
      <vt:lpstr>MS PGothic</vt:lpstr>
      <vt:lpstr>楷体_GB2312</vt:lpstr>
      <vt:lpstr>汉仪书宋二KW</vt:lpstr>
      <vt:lpstr>苹方-简</vt:lpstr>
      <vt:lpstr>Helvetica Neue</vt:lpstr>
      <vt:lpstr>方正仿宋_GBK</vt:lpstr>
      <vt:lpstr>冬青黑体简体中文</vt:lpstr>
      <vt:lpstr>汉仪楷体简</vt:lpstr>
      <vt:lpstr>宋体</vt:lpstr>
      <vt:lpstr>Arial Unicode MS</vt:lpstr>
      <vt:lpstr>MS PGothic</vt:lpstr>
      <vt:lpstr>仿宋_GB2312</vt:lpstr>
      <vt:lpstr>微软雅黑</vt:lpstr>
      <vt:lpstr>楷体_GB2312</vt:lpstr>
      <vt:lpstr>黑体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这一刻</cp:lastModifiedBy>
  <cp:revision>188</cp:revision>
  <dcterms:created xsi:type="dcterms:W3CDTF">2026-05-06T03:17:55Z</dcterms:created>
  <dcterms:modified xsi:type="dcterms:W3CDTF">2026-05-06T03:17:55Z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C8BCF2FF02C94F08A6D7CB3D577F7EF9_11</vt:lpwstr>
  </property>
</Properties>
</file>