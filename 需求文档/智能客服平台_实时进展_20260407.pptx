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dp" ContentType="image/vnd.ms-photo"/>
  <Default Extension="rels" ContentType="application/vnd.openxmlformats-package.relationships+xml"/>
  <Override PartName="/customXml/itemProps411.xml" ContentType="application/vnd.openxmlformats-officedocument.customXmlProperties+xml"/>
  <Override PartName="/customXml/itemProps412.xml" ContentType="application/vnd.openxmlformats-officedocument.customXmlProperties+xml"/>
  <Override PartName="/customXml/itemProps41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4.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59" r:id="rId4"/>
    <p:sldMasterId id="2147483684" r:id="rId5"/>
    <p:sldMasterId id="2147483695" r:id="rId6"/>
    <p:sldMasterId id="2147483705" r:id="rId7"/>
    <p:sldMasterId id="2147483711" r:id="rId8"/>
  </p:sldMasterIdLst>
  <p:notesMasterIdLst>
    <p:notesMasterId r:id="rId10"/>
  </p:notesMasterIdLst>
  <p:handoutMasterIdLst>
    <p:handoutMasterId r:id="rId41"/>
  </p:handoutMasterIdLst>
  <p:sldIdLst>
    <p:sldId id="16771282" r:id="rId9"/>
    <p:sldId id="16771487" r:id="rId11"/>
    <p:sldId id="16766539" r:id="rId12"/>
    <p:sldId id="16771498" r:id="rId13"/>
    <p:sldId id="16771499" r:id="rId14"/>
    <p:sldId id="16771500" r:id="rId15"/>
    <p:sldId id="16771501" r:id="rId16"/>
    <p:sldId id="16771527" r:id="rId17"/>
    <p:sldId id="16771522" r:id="rId18"/>
    <p:sldId id="16771531" r:id="rId19"/>
    <p:sldId id="16771532" r:id="rId20"/>
    <p:sldId id="16771523" r:id="rId21"/>
    <p:sldId id="16771528" r:id="rId22"/>
    <p:sldId id="16771524" r:id="rId23"/>
    <p:sldId id="16771525" r:id="rId24"/>
    <p:sldId id="16771526" r:id="rId25"/>
    <p:sldId id="16771529" r:id="rId26"/>
    <p:sldId id="16771508" r:id="rId27"/>
    <p:sldId id="16771509" r:id="rId28"/>
    <p:sldId id="16771510" r:id="rId29"/>
    <p:sldId id="16771511" r:id="rId30"/>
    <p:sldId id="16771512" r:id="rId31"/>
    <p:sldId id="16771513" r:id="rId32"/>
    <p:sldId id="16771514" r:id="rId33"/>
    <p:sldId id="16771515" r:id="rId34"/>
    <p:sldId id="16771516" r:id="rId35"/>
    <p:sldId id="16771517" r:id="rId36"/>
    <p:sldId id="16771518" r:id="rId37"/>
    <p:sldId id="16771519" r:id="rId38"/>
    <p:sldId id="16771521" r:id="rId39"/>
    <p:sldId id="16770492" r:id="rId40"/>
  </p:sldIdLst>
  <p:sldSz cx="12192000" cy="6858000"/>
  <p:notesSz cx="9939020" cy="6805295"/>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Rachel S.Q. (GZ/MC)" initials="LR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005EB8"/>
    <a:srgbClr val="AEAEAE"/>
    <a:srgbClr val="0080B7"/>
    <a:srgbClr val="8497B0"/>
    <a:srgbClr val="2E75B6"/>
    <a:srgbClr val="C55A11"/>
    <a:srgbClr val="C1D8F2"/>
    <a:srgbClr val="7F7F7F"/>
    <a:srgbClr val="0252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83536" autoAdjust="0"/>
  </p:normalViewPr>
  <p:slideViewPr>
    <p:cSldViewPr snapToGrid="0">
      <p:cViewPr varScale="1">
        <p:scale>
          <a:sx n="55" d="100"/>
          <a:sy n="55" d="100"/>
        </p:scale>
        <p:origin x="748" y="44"/>
      </p:cViewPr>
      <p:guideLst/>
    </p:cSldViewPr>
  </p:slideViewPr>
  <p:outlineViewPr>
    <p:cViewPr>
      <p:scale>
        <a:sx n="33" d="100"/>
        <a:sy n="33" d="100"/>
      </p:scale>
      <p:origin x="0" y="-3344"/>
    </p:cViewPr>
  </p:outlineViewPr>
  <p:notesTextViewPr>
    <p:cViewPr>
      <p:scale>
        <a:sx n="3" d="2"/>
        <a:sy n="3" d="2"/>
      </p:scale>
      <p:origin x="0" y="0"/>
    </p:cViewPr>
  </p:notesTextViewPr>
  <p:sorterViewPr>
    <p:cViewPr>
      <p:scale>
        <a:sx n="80" d="100"/>
        <a:sy n="80" d="100"/>
      </p:scale>
      <p:origin x="0" y="-17216"/>
    </p:cViewPr>
  </p:sorterViewPr>
  <p:notesViewPr>
    <p:cSldViewPr snapToGrid="0">
      <p:cViewPr varScale="1">
        <p:scale>
          <a:sx n="112" d="100"/>
          <a:sy n="112" d="100"/>
        </p:scale>
        <p:origin x="2142"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9" Type="http://schemas.openxmlformats.org/officeDocument/2006/relationships/tags" Target="tags/tag414.xml"/><Relationship Id="rId48" Type="http://schemas.openxmlformats.org/officeDocument/2006/relationships/customXml" Target="../customXml/item3.xml"/><Relationship Id="rId47" Type="http://schemas.openxmlformats.org/officeDocument/2006/relationships/customXml" Target="../customXml/item2.xml"/><Relationship Id="rId46" Type="http://schemas.openxmlformats.org/officeDocument/2006/relationships/customXml" Target="../customXml/item1.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3" name="Date Placeholder 2"/>
          <p:cNvSpPr>
            <a:spLocks noGrp="1"/>
          </p:cNvSpPr>
          <p:nvPr>
            <p:ph type="dt" sz="quarter" idx="1"/>
          </p:nvPr>
        </p:nvSpPr>
        <p:spPr>
          <a:xfrm>
            <a:off x="5629992" y="0"/>
            <a:ext cx="4307047" cy="341463"/>
          </a:xfrm>
          <a:prstGeom prst="rect">
            <a:avLst/>
          </a:prstGeom>
        </p:spPr>
        <p:txBody>
          <a:bodyPr vert="horz" lIns="91440" tIns="45720" rIns="91440" bIns="45720" rtlCol="0"/>
          <a:lstStyle>
            <a:lvl1pPr algn="r">
              <a:defRPr sz="1200"/>
            </a:lvl1pPr>
          </a:lstStyle>
          <a:p>
            <a:fld id="{AA2CA457-A97C-4AEC-9838-EDE6684F8094}" type="datetimeFigureOut">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
        <p:nvSpPr>
          <p:cNvPr id="4" name="Footer Placeholder 3"/>
          <p:cNvSpPr>
            <a:spLocks noGrp="1"/>
          </p:cNvSpPr>
          <p:nvPr>
            <p:ph type="ftr" sz="quarter" idx="2"/>
          </p:nvPr>
        </p:nvSpPr>
        <p:spPr>
          <a:xfrm>
            <a:off x="0" y="6464152"/>
            <a:ext cx="4307047" cy="341462"/>
          </a:xfrm>
          <a:prstGeom prst="rect">
            <a:avLst/>
          </a:prstGeom>
        </p:spPr>
        <p:txBody>
          <a:bodyPr vert="horz" lIns="91440" tIns="45720" rIns="91440" bIns="45720" rtlCol="0" anchor="b"/>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5" name="Slide Number Placeholder 4"/>
          <p:cNvSpPr>
            <a:spLocks noGrp="1"/>
          </p:cNvSpPr>
          <p:nvPr>
            <p:ph type="sldNum" sz="quarter" idx="3"/>
          </p:nvPr>
        </p:nvSpPr>
        <p:spPr>
          <a:xfrm>
            <a:off x="5629992" y="6464152"/>
            <a:ext cx="4307047" cy="341462"/>
          </a:xfrm>
          <a:prstGeom prst="rect">
            <a:avLst/>
          </a:prstGeom>
        </p:spPr>
        <p:txBody>
          <a:bodyPr vert="horz" lIns="91440" tIns="45720" rIns="91440" bIns="45720" rtlCol="0" anchor="b"/>
          <a:lstStyle>
            <a:lvl1pPr algn="r">
              <a:defRPr sz="1200"/>
            </a:lvl1pPr>
          </a:lstStyle>
          <a:p>
            <a:fld id="{36755459-8ECF-4672-B953-790FA88AF0B2}" type="slidenum">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3" name="Date Placeholder 2"/>
          <p:cNvSpPr>
            <a:spLocks noGrp="1"/>
          </p:cNvSpPr>
          <p:nvPr>
            <p:ph type="dt" idx="1"/>
          </p:nvPr>
        </p:nvSpPr>
        <p:spPr>
          <a:xfrm>
            <a:off x="5629992" y="0"/>
            <a:ext cx="4307047" cy="341463"/>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8B2BE96-1D28-4B89-B604-10F88B5BAAE5}" type="datetimeFigureOut">
              <a:rPr lang="en-GB" smtClean="0"/>
            </a:fld>
            <a:endParaRPr lang="en-GB"/>
          </a:p>
        </p:txBody>
      </p:sp>
      <p:sp>
        <p:nvSpPr>
          <p:cNvPr id="4" name="Slide Image Placeholder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3935" y="3275202"/>
            <a:ext cx="7951470" cy="267971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6" name="Footer Placeholder 5"/>
          <p:cNvSpPr>
            <a:spLocks noGrp="1"/>
          </p:cNvSpPr>
          <p:nvPr>
            <p:ph type="ftr" sz="quarter" idx="4"/>
          </p:nvPr>
        </p:nvSpPr>
        <p:spPr>
          <a:xfrm>
            <a:off x="0" y="6464152"/>
            <a:ext cx="4307047" cy="341462"/>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7" name="Slide Number Placeholder 6"/>
          <p:cNvSpPr>
            <a:spLocks noGrp="1"/>
          </p:cNvSpPr>
          <p:nvPr>
            <p:ph type="sldNum" sz="quarter" idx="5"/>
          </p:nvPr>
        </p:nvSpPr>
        <p:spPr>
          <a:xfrm>
            <a:off x="5629992" y="6464152"/>
            <a:ext cx="4307047" cy="341462"/>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CC3EC957-2CB0-4E14-8A5D-A0E8A71794B0}"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528638"/>
            <a:ext cx="6137275" cy="345281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17E8B6-20A1-4382-870B-8FA764EE56E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微软雅黑"/>
                <a:ea typeface="微软雅黑"/>
                <a:cs typeface="微软雅黑"/>
                <a:sym typeface="微软雅黑"/>
              </a:rPr>
              <a:t>单击此处添加文本</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78F8DC3E-D168-40E6-B4A0-C777D0AFDBEF}" type="datetime1">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9C451D31-6DB3-4853-A4B6-7D74BEE51832}" type="slidenum">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78F8DC3E-D168-40E6-B4A0-C777D0AFDBEF}" type="datetime1">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90204" pitchFamily="34" charset="0"/>
              <a:buNone/>
              <a:defRPr/>
            </a:pPr>
            <a:fld id="{9C451D31-6DB3-4853-A4B6-7D74BEE51832}" type="slidenum">
              <a:rPr kumimoji="0" lang="zh-CN" altLang="en-US" sz="1800" b="0" i="0" u="none" strike="noStrike" kern="1200" cap="none" spc="0" normalizeH="0" baseline="0" noProof="0" smtClean="0">
                <a:ln>
                  <a:noFill/>
                </a:ln>
                <a:solidFill>
                  <a:srgbClr val="000000"/>
                </a:solidFill>
                <a:effectLst/>
                <a:uLnTx/>
                <a:uFillTx/>
                <a:latin typeface="Arial" panose="020B0604020202090204" pitchFamily="34" charset="0"/>
                <a:ea typeface="宋体" pitchFamily="2" charset="-122"/>
                <a:cs typeface="+mn-cs"/>
              </a:rPr>
            </a:fld>
            <a:endParaRPr kumimoji="0" lang="zh-CN" altLang="en-US" sz="1300" b="0" i="0" u="none" strike="noStrike" kern="1200" cap="none" spc="0" normalizeH="0" baseline="0" noProof="0" dirty="0">
              <a:ln>
                <a:noFill/>
              </a:ln>
              <a:solidFill>
                <a:srgbClr val="000000"/>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10568" y="4863711"/>
            <a:ext cx="5684520" cy="4607719"/>
          </a:xfrm>
          <a:prstGeom prst="rect">
            <a:avLst/>
          </a:prstGeom>
        </p:spPr>
        <p:txBody>
          <a:bodyPr lIns="98984" tIns="49492" rIns="98984" bIns="49492"/>
          <a:lstStyle/>
          <a:p>
            <a:pPr>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本材料知识产权归房屋租赁公司所有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日期占位符 3"/>
          <p:cNvSpPr>
            <a:spLocks noGrp="1"/>
          </p:cNvSpPr>
          <p:nvPr>
            <p:ph type="dt" idx="10"/>
          </p:nvPr>
        </p:nvSpPr>
        <p:spPr/>
        <p:txBody>
          <a:bodyPr/>
          <a:lstStyle/>
          <a:p>
            <a:pPr>
              <a:defRPr/>
            </a:pPr>
            <a:fld id="{78F8DC3E-D168-40E6-B4A0-C777D0AFDBEF}" type="datetime1">
              <a:rPr lang="zh-CN" altLang="en-US" smtClean="0"/>
            </a:fld>
            <a:endParaRPr lang="zh-CN" altLang="en-US" sz="1300" dirty="0"/>
          </a:p>
        </p:txBody>
      </p:sp>
      <p:sp>
        <p:nvSpPr>
          <p:cNvPr id="5" name="灯片编号占位符 4"/>
          <p:cNvSpPr>
            <a:spLocks noGrp="1"/>
          </p:cNvSpPr>
          <p:nvPr>
            <p:ph type="sldNum" sz="quarter" idx="11"/>
          </p:nvPr>
        </p:nvSpPr>
        <p:spPr/>
        <p:txBody>
          <a:bodyPr/>
          <a:lstStyle/>
          <a:p>
            <a:fld id="{9C451D31-6DB3-4853-A4B6-7D74BEE51832}" type="slidenum">
              <a:rPr lang="zh-CN" altLang="en-US" smtClean="0"/>
            </a:fld>
            <a:endParaRPr lang="zh-CN" altLang="en-US" sz="13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2.jpeg"/><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tags" Target="../tags/tag6.xml"/><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tags" Target="../tags/tag9.xml"/><Relationship Id="rId4" Type="http://schemas.openxmlformats.org/officeDocument/2006/relationships/image" Target="../media/image6.emf"/><Relationship Id="rId3" Type="http://schemas.openxmlformats.org/officeDocument/2006/relationships/oleObject" Target="../embeddings/oleObject4.bin"/><Relationship Id="rId2" Type="http://schemas.openxmlformats.org/officeDocument/2006/relationships/tags" Target="../tags/tag8.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12.xml"/><Relationship Id="rId4" Type="http://schemas.openxmlformats.org/officeDocument/2006/relationships/image" Target="../media/image3.emf"/><Relationship Id="rId3" Type="http://schemas.openxmlformats.org/officeDocument/2006/relationships/oleObject" Target="../embeddings/oleObject5.bin"/><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tags" Target="../tags/tag15.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tags" Target="../tags/tag14.xml"/><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5" Type="http://schemas.openxmlformats.org/officeDocument/2006/relationships/image" Target="../media/image23.png"/><Relationship Id="rId4" Type="http://schemas.openxmlformats.org/officeDocument/2006/relationships/image" Target="../media/image22.png"/><Relationship Id="rId3" Type="http://schemas.microsoft.com/office/2007/relationships/hdphoto" Target="../media/image21.wdp"/><Relationship Id="rId2" Type="http://schemas.openxmlformats.org/officeDocument/2006/relationships/image" Target="../media/image20.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9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0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668338" y="302475"/>
            <a:ext cx="10692000" cy="186475"/>
          </a:xfrm>
          <a:ln>
            <a:noFill/>
          </a:ln>
        </p:spPr>
        <p:txBody>
          <a:bodyPr anchor="t"/>
          <a:lstStyle>
            <a:lvl1pPr>
              <a:defRPr sz="1400">
                <a:ln>
                  <a:noFill/>
                </a:ln>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US" dirty="0"/>
          </a:p>
        </p:txBody>
      </p:sp>
      <p:sp>
        <p:nvSpPr>
          <p:cNvPr id="6" name="Title 1"/>
          <p:cNvSpPr>
            <a:spLocks noGrp="1"/>
          </p:cNvSpPr>
          <p:nvPr>
            <p:ph type="title"/>
          </p:nvPr>
        </p:nvSpPr>
        <p:spPr>
          <a:xfrm>
            <a:off x="677008" y="508200"/>
            <a:ext cx="10683330" cy="587760"/>
          </a:xfrm>
        </p:spPr>
        <p:txBody>
          <a:bodyPr anchor="t"/>
          <a:lstStyle>
            <a:lvl1pPr>
              <a:lnSpc>
                <a:spcPct val="100000"/>
              </a:lnSpc>
              <a:defRPr sz="2400"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7178AC7-40C1-46AE-BBCE-A076CC2B34C7}" type="datetimeFigureOut">
              <a:rPr lang="en-GB" smtClean="0"/>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A9D9C215-A6BC-4D45-9CED-BF161D6DE604}" type="slidenum">
              <a:rPr lang="en-GB" smtClean="0"/>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目录页1">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cstate="email"/>
          <a:srcRect/>
          <a:stretch>
            <a:fillRect/>
          </a:stretch>
        </p:blipFill>
        <p:spPr>
          <a:xfrm>
            <a:off x="0" y="0"/>
            <a:ext cx="5511800" cy="6858000"/>
          </a:xfrm>
          <a:prstGeom prst="rect">
            <a:avLst/>
          </a:prstGeom>
        </p:spPr>
      </p:pic>
      <p:sp>
        <p:nvSpPr>
          <p:cNvPr id="13" name="Rectangle 5"/>
          <p:cNvSpPr/>
          <p:nvPr userDrawn="1"/>
        </p:nvSpPr>
        <p:spPr>
          <a:xfrm>
            <a:off x="5511800" y="0"/>
            <a:ext cx="670133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8" name="Rectangle 20"/>
          <p:cNvSpPr/>
          <p:nvPr userDrawn="1"/>
        </p:nvSpPr>
        <p:spPr>
          <a:xfrm>
            <a:off x="6042708" y="1"/>
            <a:ext cx="543024" cy="6858001"/>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9" name="Rectangle 6"/>
          <p:cNvSpPr/>
          <p:nvPr userDrawn="1"/>
        </p:nvSpPr>
        <p:spPr>
          <a:xfrm>
            <a:off x="6552160" y="1"/>
            <a:ext cx="224027" cy="685800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5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12" name="文本框 11"/>
          <p:cNvSpPr txBox="1"/>
          <p:nvPr userDrawn="1"/>
        </p:nvSpPr>
        <p:spPr>
          <a:xfrm>
            <a:off x="8184911" y="497150"/>
            <a:ext cx="2081724" cy="76944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4564" y="164635"/>
            <a:ext cx="10515600" cy="533401"/>
          </a:xfrm>
        </p:spPr>
        <p:txBody>
          <a:bodyPr anchor="t">
            <a:noAutofit/>
          </a:bodyPr>
          <a:lstStyle>
            <a:lvl1pPr>
              <a:lnSpc>
                <a:spcPct val="120000"/>
              </a:lnSpc>
              <a:defRPr sz="2400" b="1">
                <a:latin typeface="微软雅黑" panose="020B0503020204020204" pitchFamily="34" charset="-122"/>
                <a:ea typeface="微软雅黑" panose="020B0503020204020204" pitchFamily="34" charset="-122"/>
              </a:defRPr>
            </a:lvl1pPr>
          </a:lstStyle>
          <a:p>
            <a:r>
              <a:rPr lang="en-GB" altLang="zh-CN" dirty="0"/>
              <a:t>XXXX</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4AE71DD-B3F9-4283-A217-4A3EC9512DDC}" type="datetimeFigureOut">
              <a:rPr lang="en-US" smtClean="0"/>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C655258-56D8-4934-BD39-516EE5061D2F}"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2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5 - Singular image">
    <p:spTree>
      <p:nvGrpSpPr>
        <p:cNvPr id="1" name=""/>
        <p:cNvGrpSpPr/>
        <p:nvPr/>
      </p:nvGrpSpPr>
      <p:grpSpPr>
        <a:xfrm>
          <a:off x="0" y="0"/>
          <a:ext cx="0" cy="0"/>
          <a:chOff x="0" y="0"/>
          <a:chExt cx="0" cy="0"/>
        </a:xfrm>
      </p:grpSpPr>
      <p:sp>
        <p:nvSpPr>
          <p:cNvPr id="3" name="Title 2"/>
          <p:cNvSpPr>
            <a:spLocks noGrp="1"/>
          </p:cNvSpPr>
          <p:nvPr>
            <p:ph type="title"/>
          </p:nvPr>
        </p:nvSpPr>
        <p:spPr>
          <a:xfrm>
            <a:off x="4201551" y="451575"/>
            <a:ext cx="6974326" cy="723600"/>
          </a:xfrm>
        </p:spPr>
        <p:txBody>
          <a:bodyPr/>
          <a:lstStyle/>
          <a:p>
            <a:r>
              <a:rPr lang="en-US" dirty="0"/>
              <a:t>Click to edit Master title style</a:t>
            </a:r>
            <a:endParaRPr lang="en-GB" dirty="0"/>
          </a:p>
        </p:txBody>
      </p:sp>
      <p:pic>
        <p:nvPicPr>
          <p:cNvPr id="4" name="Picture 3"/>
          <p:cNvPicPr>
            <a:picLocks noChangeAspect="1"/>
          </p:cNvPicPr>
          <p:nvPr userDrawn="1"/>
        </p:nvPicPr>
        <p:blipFill rotWithShape="1">
          <a:blip r:embed="rId2" cstate="email"/>
          <a:srcRect/>
          <a:stretch>
            <a:fillRect/>
          </a:stretch>
        </p:blipFill>
        <p:spPr>
          <a:xfrm>
            <a:off x="0" y="0"/>
            <a:ext cx="3598985" cy="6858000"/>
          </a:xfrm>
          <a:prstGeom prst="rect">
            <a:avLst/>
          </a:prstGeom>
        </p:spPr>
      </p:pic>
      <p:sp>
        <p:nvSpPr>
          <p:cNvPr id="2" name="Rectangle 1"/>
          <p:cNvSpPr/>
          <p:nvPr userDrawn="1"/>
        </p:nvSpPr>
        <p:spPr>
          <a:xfrm>
            <a:off x="-93785" y="0"/>
            <a:ext cx="3692770" cy="6858000"/>
          </a:xfrm>
          <a:prstGeom prst="rect">
            <a:avLst/>
          </a:prstGeom>
          <a:solidFill>
            <a:schemeClr val="bg1">
              <a:lumMod val="9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pic>
        <p:nvPicPr>
          <p:cNvPr id="1026" name="Picture 2" descr="中海建筑有限公司"/>
          <p:cNvPicPr>
            <a:picLocks noChangeAspect="1" noChangeArrowheads="1"/>
          </p:cNvPicPr>
          <p:nvPr userDrawn="1"/>
        </p:nvPicPr>
        <p:blipFill rotWithShape="1">
          <a:blip r:embed="rId2" cstate="email"/>
          <a:srcRect/>
          <a:stretch>
            <a:fillRect/>
          </a:stretch>
        </p:blipFill>
        <p:spPr bwMode="auto">
          <a:xfrm>
            <a:off x="2684586" y="0"/>
            <a:ext cx="9507414"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0" y="0"/>
            <a:ext cx="8546123"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3" name="Freeform 19"/>
          <p:cNvSpPr>
            <a:spLocks noEditPoints="1"/>
          </p:cNvSpPr>
          <p:nvPr userDrawn="1"/>
        </p:nvSpPr>
        <p:spPr bwMode="auto">
          <a:xfrm>
            <a:off x="381000" y="496146"/>
            <a:ext cx="1060938" cy="45720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975" b="0" i="0">
                <a:solidFill>
                  <a:srgbClr val="7E7E7E"/>
                </a:solidFill>
                <a:latin typeface="微软雅黑"/>
                <a:cs typeface="微软雅黑"/>
              </a:defRPr>
            </a:lvl1pPr>
          </a:lstStyle>
          <a:p>
            <a:pPr marL="29210">
              <a:spcBef>
                <a:spcPts val="180"/>
              </a:spcBef>
            </a:pPr>
            <a:fld id="{81D60167-4931-47E6-BA6A-407CBD079E47}" type="slidenum">
              <a:rPr lang="en-GB" smtClean="0"/>
            </a:fld>
            <a:endParaRPr lang="en-GB"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a:xfrm>
            <a:off x="648000" y="288000"/>
            <a:ext cx="9291600" cy="608400"/>
          </a:xfrm>
        </p:spPr>
        <p:txBody>
          <a:bodyPr vert="horz" lIns="0" tIns="0" rIns="0" bIns="0" rtlCol="0" anchor="ctr" anchorCtr="0">
            <a:noAutofit/>
          </a:bodyPr>
          <a:lstStyle>
            <a:lvl1pPr>
              <a:defRPr lang="en-GB" sz="2800"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email"/>
          <a:stretch>
            <a:fillRect/>
          </a:stretch>
        </p:blipFill>
        <p:spPr>
          <a:xfrm>
            <a:off x="0" y="0"/>
            <a:ext cx="12192000" cy="6858000"/>
          </a:xfrm>
          <a:prstGeom prst="rect">
            <a:avLst/>
          </a:prstGeom>
        </p:spPr>
      </p:pic>
      <p:sp>
        <p:nvSpPr>
          <p:cNvPr id="7" name="矩形 6"/>
          <p:cNvSpPr/>
          <p:nvPr userDrawn="1"/>
        </p:nvSpPr>
        <p:spPr>
          <a:xfrm>
            <a:off x="12557760" y="2090058"/>
            <a:ext cx="383177" cy="383177"/>
          </a:xfrm>
          <a:prstGeom prst="rect">
            <a:avLst/>
          </a:prstGeom>
          <a:solidFill>
            <a:srgbClr val="BB1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email"/>
          <a:stretch>
            <a:fillRect/>
          </a:stretch>
        </p:blipFill>
        <p:spPr>
          <a:xfrm>
            <a:off x="10198249" y="217354"/>
            <a:ext cx="1864659" cy="468219"/>
          </a:xfrm>
          <a:prstGeom prst="rect">
            <a:avLst/>
          </a:prstGeom>
        </p:spPr>
      </p:pic>
      <p:sp>
        <p:nvSpPr>
          <p:cNvPr id="12" name="Slide Number Placeholder 8"/>
          <p:cNvSpPr txBox="1"/>
          <p:nvPr userDrawn="1"/>
        </p:nvSpPr>
        <p:spPr>
          <a:xfrm>
            <a:off x="10033000" y="647424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9F959E6-E528-4584-B6E6-E7C31719E4E2}" type="slidenum">
              <a:rPr lang="zh-CN" altLang="en-US" sz="1200" smtClean="0">
                <a:solidFill>
                  <a:schemeClr val="bg2">
                    <a:lumMod val="50000"/>
                  </a:schemeClr>
                </a:solidFill>
                <a:latin typeface="微软雅黑" panose="020B0503020204020204" pitchFamily="34" charset="-122"/>
                <a:ea typeface="微软雅黑" panose="020B0503020204020204" pitchFamily="34" charset="-122"/>
              </a:rPr>
            </a:fld>
            <a:endParaRPr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11" name="组合 46"/>
          <p:cNvGrpSpPr/>
          <p:nvPr userDrawn="1"/>
        </p:nvGrpSpPr>
        <p:grpSpPr>
          <a:xfrm>
            <a:off x="-1309" y="388156"/>
            <a:ext cx="7566435" cy="87923"/>
            <a:chOff x="-1309" y="474247"/>
            <a:chExt cx="7566435" cy="87923"/>
          </a:xfrm>
        </p:grpSpPr>
        <p:cxnSp>
          <p:nvCxnSpPr>
            <p:cNvPr id="13" name="直接连接符 47"/>
            <p:cNvCxnSpPr/>
            <p:nvPr/>
          </p:nvCxnSpPr>
          <p:spPr>
            <a:xfrm>
              <a:off x="365535" y="553915"/>
              <a:ext cx="7199591"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平行四边形 48"/>
            <p:cNvSpPr/>
            <p:nvPr userDrawn="1"/>
          </p:nvSpPr>
          <p:spPr>
            <a:xfrm>
              <a:off x="-1309" y="474247"/>
              <a:ext cx="451426" cy="87923"/>
            </a:xfrm>
            <a:prstGeom prst="parallelogram">
              <a:avLst>
                <a:gd name="adj" fmla="val 59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Picture 9" descr="C:\Users\blueWFJ\Desktop\005.png"/>
          <p:cNvPicPr>
            <a:picLocks noChangeAspect="1" noChangeArrowheads="1"/>
          </p:cNvPicPr>
          <p:nvPr userDrawn="1"/>
        </p:nvPicPr>
        <p:blipFill>
          <a:blip r:embed="rId2" cstate="email"/>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userDrawn="1"/>
        </p:nvSpPr>
        <p:spPr>
          <a:xfrm>
            <a:off x="10817226" y="6537961"/>
            <a:ext cx="1374776" cy="320041"/>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 name="标题 1"/>
          <p:cNvSpPr>
            <a:spLocks noGrp="1"/>
          </p:cNvSpPr>
          <p:nvPr>
            <p:ph type="title"/>
          </p:nvPr>
        </p:nvSpPr>
        <p:spPr>
          <a:xfrm>
            <a:off x="301624" y="218554"/>
            <a:ext cx="10515600" cy="516618"/>
          </a:xfrm>
          <a:prstGeom prst="rect">
            <a:avLst/>
          </a:prstGeom>
        </p:spPr>
        <p:txBody>
          <a:bodyPr>
            <a:normAutofit/>
          </a:bodyPr>
          <a:lstStyle>
            <a:lvl1pPr>
              <a:defRPr lang="zh-CN" altLang="en-US" sz="2800" b="1" kern="1200" dirty="0" smtClean="0">
                <a:solidFill>
                  <a:srgbClr val="0052D9"/>
                </a:solidFill>
                <a:latin typeface="+mj-lt"/>
                <a:ea typeface="微软雅黑" panose="020B0503020204020204" pitchFamily="34" charset="-122"/>
                <a:cs typeface="+mj-cs"/>
              </a:defRPr>
            </a:lvl1pPr>
          </a:lstStyle>
          <a:p>
            <a:pPr marL="0" lvl="0" indent="0" algn="l" rtl="0" eaLnBrk="0" fontAlgn="base" hangingPunct="0">
              <a:spcBef>
                <a:spcPct val="0"/>
              </a:spcBef>
              <a:spcAft>
                <a:spcPct val="0"/>
              </a:spcAft>
              <a:buNone/>
            </a:pPr>
            <a:r>
              <a:rPr lang="zh-CN" altLang="en-US" dirty="0"/>
              <a:t>单击此处编辑母版标题样式</a:t>
            </a:r>
            <a:endParaRPr lang="zh-CN" altLang="en-US" dirty="0"/>
          </a:p>
        </p:txBody>
      </p:sp>
      <p:sp>
        <p:nvSpPr>
          <p:cNvPr id="8" name="Rectangle 3"/>
          <p:cNvSpPr>
            <a:spLocks noChangeArrowheads="1"/>
          </p:cNvSpPr>
          <p:nvPr userDrawn="1"/>
        </p:nvSpPr>
        <p:spPr bwMode="auto">
          <a:xfrm>
            <a:off x="2" y="218556"/>
            <a:ext cx="152401"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9" name="Rectangle 4"/>
          <p:cNvSpPr>
            <a:spLocks noChangeArrowheads="1"/>
          </p:cNvSpPr>
          <p:nvPr userDrawn="1"/>
        </p:nvSpPr>
        <p:spPr bwMode="auto">
          <a:xfrm>
            <a:off x="198758" y="218556"/>
            <a:ext cx="45719"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14" name="梯形 13"/>
          <p:cNvSpPr/>
          <p:nvPr userDrawn="1"/>
        </p:nvSpPr>
        <p:spPr>
          <a:xfrm>
            <a:off x="10432916" y="6537963"/>
            <a:ext cx="1594490" cy="320041"/>
          </a:xfrm>
          <a:prstGeom prst="trapezoid">
            <a:avLst>
              <a:gd name="adj" fmla="val 72091"/>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5" name="矩形 14"/>
          <p:cNvSpPr/>
          <p:nvPr userDrawn="1"/>
        </p:nvSpPr>
        <p:spPr>
          <a:xfrm>
            <a:off x="0" y="6770544"/>
            <a:ext cx="12192000" cy="95074"/>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6" name="图片 15"/>
          <p:cNvPicPr>
            <a:picLocks noChangeAspect="1"/>
          </p:cNvPicPr>
          <p:nvPr userDrawn="1"/>
        </p:nvPicPr>
        <p:blipFill>
          <a:blip r:embed="rId3" cstate="email"/>
          <a:stretch>
            <a:fillRect/>
          </a:stretch>
        </p:blipFill>
        <p:spPr>
          <a:xfrm>
            <a:off x="10836275" y="6518518"/>
            <a:ext cx="1127126" cy="339485"/>
          </a:xfrm>
          <a:prstGeom prst="rect">
            <a:avLst/>
          </a:prstGeom>
          <a:noFill/>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pic>
        <p:nvPicPr>
          <p:cNvPr id="9" name="Picture 3"/>
          <p:cNvPicPr>
            <a:picLocks noChangeAspect="1"/>
          </p:cNvPicPr>
          <p:nvPr userDrawn="1"/>
        </p:nvPicPr>
        <p:blipFill>
          <a:blip r:embed="rId2"/>
          <a:stretch>
            <a:fillRect/>
          </a:stretch>
        </p:blipFill>
        <p:spPr>
          <a:xfrm>
            <a:off x="1782827" y="-1"/>
            <a:ext cx="10409173" cy="6858000"/>
          </a:xfrm>
          <a:prstGeom prst="rect">
            <a:avLst/>
          </a:prstGeom>
        </p:spPr>
      </p:pic>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marL="0" marR="0" lvl="0" indent="0" algn="ctr" defTabSz="410210" rtl="0" eaLnBrk="1" fontAlgn="auto" latinLnBrk="0" hangingPunct="1">
              <a:lnSpc>
                <a:spcPct val="100000"/>
              </a:lnSpc>
              <a:spcBef>
                <a:spcPts val="0"/>
              </a:spcBef>
              <a:spcAft>
                <a:spcPts val="0"/>
              </a:spcAft>
              <a:buClrTx/>
              <a:buSzTx/>
              <a:buFontTx/>
              <a:buNone/>
              <a:defRPr/>
            </a:pP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文档分类</a:t>
            </a:r>
            <a:r>
              <a:rPr kumimoji="0" lang="en-US" altLang="zh-CN"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 </a:t>
            </a: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保密</a:t>
            </a:r>
            <a:endPar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86CB4B4D-7CA3-9044-876B-883B54F8677D}" type="slidenum">
              <a:rPr kumimoji="0" lang="en-US" sz="12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标题 11"/>
          <p:cNvSpPr>
            <a:spLocks noGrp="1"/>
          </p:cNvSpPr>
          <p:nvPr>
            <p:ph type="title"/>
          </p:nvPr>
        </p:nvSpPr>
        <p:spPr>
          <a:xfrm>
            <a:off x="334860" y="163789"/>
            <a:ext cx="10528883" cy="591220"/>
          </a:xfrm>
          <a:prstGeom prst="rect">
            <a:avLst/>
          </a:prstGeom>
        </p:spPr>
        <p:txBody>
          <a:bodyPr anchor="ctr"/>
          <a:lstStyle>
            <a:lvl1pPr algn="l">
              <a:defRPr sz="2600" b="1">
                <a:solidFill>
                  <a:schemeClr val="tx1">
                    <a:lumMod val="95000"/>
                    <a:lumOff val="5000"/>
                  </a:schemeClr>
                </a:solidFill>
                <a:latin typeface="+mj-ea"/>
                <a:ea typeface="+mj-ea"/>
              </a:defRPr>
            </a:lvl1pPr>
          </a:lstStyle>
          <a:p>
            <a:r>
              <a:rPr lang="zh-CN" altLang="en-US"/>
              <a:t>单击此处编辑母版标题样式</a:t>
            </a:r>
            <a:endParaRPr lang="zh-CN" altLang="en-US" dirty="0"/>
          </a:p>
        </p:txBody>
      </p:sp>
      <p:sp>
        <p:nvSpPr>
          <p:cNvPr id="12" name="文本框 11"/>
          <p:cNvSpPr txBox="1"/>
          <p:nvPr userDrawn="1"/>
        </p:nvSpPr>
        <p:spPr>
          <a:xfrm>
            <a:off x="5055380" y="5142081"/>
            <a:ext cx="2096218" cy="456445"/>
          </a:xfrm>
          <a:prstGeom prst="rect">
            <a:avLst/>
          </a:prstGeom>
          <a:noFill/>
        </p:spPr>
        <p:txBody>
          <a:bodyPr wrap="square" rtlCol="0" anchor="ctr">
            <a:noAutofit/>
          </a:bodyPr>
          <a:lstStyle/>
          <a:p>
            <a:pPr marR="0" algn="ctr" defTabSz="914400" rtl="0" eaLnBrk="0" fontAlgn="base" latinLnBrk="0" hangingPunct="0">
              <a:lnSpc>
                <a:spcPct val="100000"/>
              </a:lnSpc>
              <a:spcBef>
                <a:spcPct val="20000"/>
              </a:spcBef>
              <a:buClrTx/>
              <a:buSzTx/>
              <a:buFontTx/>
            </a:pPr>
            <a:endParaRPr kumimoji="1" lang="zh-CN" altLang="en-US" sz="1400" b="0" i="0" baseline="0" dirty="0">
              <a:solidFill>
                <a:srgbClr val="1F56C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直接连接符 15"/>
          <p:cNvCxnSpPr/>
          <p:nvPr userDrawn="1"/>
        </p:nvCxnSpPr>
        <p:spPr>
          <a:xfrm flipV="1">
            <a:off x="702310" y="755009"/>
            <a:ext cx="10787380" cy="6"/>
          </a:xfrm>
          <a:prstGeom prst="line">
            <a:avLst/>
          </a:prstGeom>
          <a:ln w="28575">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灯片编号占位符 1"/>
          <p:cNvSpPr txBox="1"/>
          <p:nvPr userDrawn="1"/>
        </p:nvSpPr>
        <p:spPr>
          <a:xfrm>
            <a:off x="11693525" y="6473825"/>
            <a:ext cx="497840" cy="337185"/>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pPr fontAlgn="base">
              <a:spcBef>
                <a:spcPct val="0"/>
              </a:spcBef>
              <a:spcAft>
                <a:spcPct val="0"/>
              </a:spcAft>
            </a:pPr>
            <a:fld id="{D5DDBE9D-0EAE-4BF9-9976-992BCF72F40A}" type="slidenum">
              <a:rPr lang="zh-CN" altLang="en-US" sz="1200" smtClean="0">
                <a:solidFill>
                  <a:schemeClr val="bg1">
                    <a:lumMod val="50000"/>
                  </a:schemeClr>
                </a:solidFill>
              </a:rPr>
            </a:fld>
            <a:endParaRPr lang="zh-CN" altLang="en-US" sz="1200" dirty="0">
              <a:solidFill>
                <a:schemeClr val="bg1">
                  <a:lumMod val="50000"/>
                </a:scheme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pic>
        <p:nvPicPr>
          <p:cNvPr id="7"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13877" t="1439" r="19746" b="27477"/>
          <a:stretch>
            <a:fillRect/>
          </a:stretch>
        </p:blipFill>
        <p:spPr>
          <a:xfrm>
            <a:off x="2724150" y="-1"/>
            <a:ext cx="9467850" cy="6857999"/>
          </a:xfrm>
          <a:custGeom>
            <a:avLst/>
            <a:gdLst>
              <a:gd name="connsiteX0" fmla="*/ 0 w 3685065"/>
              <a:gd name="connsiteY0" fmla="*/ 0 h 5264375"/>
              <a:gd name="connsiteX1" fmla="*/ 3685065 w 3685065"/>
              <a:gd name="connsiteY1" fmla="*/ 0 h 5264375"/>
              <a:gd name="connsiteX2" fmla="*/ 3685065 w 3685065"/>
              <a:gd name="connsiteY2" fmla="*/ 5264375 h 5264375"/>
              <a:gd name="connsiteX3" fmla="*/ 0 w 3685065"/>
              <a:gd name="connsiteY3" fmla="*/ 5264375 h 5264375"/>
            </a:gdLst>
            <a:ahLst/>
            <a:cxnLst>
              <a:cxn ang="0">
                <a:pos x="connsiteX0" y="connsiteY0"/>
              </a:cxn>
              <a:cxn ang="0">
                <a:pos x="connsiteX1" y="connsiteY1"/>
              </a:cxn>
              <a:cxn ang="0">
                <a:pos x="connsiteX2" y="connsiteY2"/>
              </a:cxn>
              <a:cxn ang="0">
                <a:pos x="connsiteX3" y="connsiteY3"/>
              </a:cxn>
            </a:cxnLst>
            <a:rect l="l" t="t" r="r" b="b"/>
            <a:pathLst>
              <a:path w="3685065" h="5264375">
                <a:moveTo>
                  <a:pt x="0" y="0"/>
                </a:moveTo>
                <a:lnTo>
                  <a:pt x="3685065" y="0"/>
                </a:lnTo>
                <a:lnTo>
                  <a:pt x="3685065" y="5264375"/>
                </a:lnTo>
                <a:lnTo>
                  <a:pt x="0" y="5264375"/>
                </a:lnTo>
                <a:close/>
              </a:path>
            </a:pathLst>
          </a:custGeom>
        </p:spPr>
      </p:pic>
      <p:sp>
        <p:nvSpPr>
          <p:cNvPr id="9"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grpSp>
        <p:nvGrpSpPr>
          <p:cNvPr id="8" name="Group 7"/>
          <p:cNvGrpSpPr/>
          <p:nvPr userDrawn="1"/>
        </p:nvGrpSpPr>
        <p:grpSpPr>
          <a:xfrm>
            <a:off x="0" y="0"/>
            <a:ext cx="12196613" cy="6858709"/>
            <a:chOff x="0" y="0"/>
            <a:chExt cx="10907713" cy="7782059"/>
          </a:xfrm>
        </p:grpSpPr>
        <p:pic>
          <p:nvPicPr>
            <p:cNvPr id="11" name="Picture 10"/>
            <p:cNvPicPr>
              <a:picLocks noChangeAspect="1"/>
            </p:cNvPicPr>
            <p:nvPr/>
          </p:nvPicPr>
          <p:blipFill rotWithShape="1">
            <a:blip r:embed="rId2" cstate="email"/>
            <a:srcRect t="-10032"/>
            <a:stretch>
              <a:fillRect/>
            </a:stretch>
          </p:blipFill>
          <p:spPr>
            <a:xfrm>
              <a:off x="0" y="151357"/>
              <a:ext cx="10907713" cy="6916121"/>
            </a:xfrm>
            <a:prstGeom prst="rect">
              <a:avLst/>
            </a:prstGeom>
          </p:spPr>
        </p:pic>
        <p:pic>
          <p:nvPicPr>
            <p:cNvPr id="12" name="Picture 11"/>
            <p:cNvPicPr>
              <a:picLocks noChangeAspect="1"/>
            </p:cNvPicPr>
            <p:nvPr/>
          </p:nvPicPr>
          <p:blipFill rotWithShape="1">
            <a:blip r:embed="rId3" cstate="email"/>
            <a:srcRect/>
            <a:stretch>
              <a:fillRect/>
            </a:stretch>
          </p:blipFill>
          <p:spPr>
            <a:xfrm>
              <a:off x="0" y="0"/>
              <a:ext cx="10907713" cy="886397"/>
            </a:xfrm>
            <a:prstGeom prst="rect">
              <a:avLst/>
            </a:prstGeom>
          </p:spPr>
        </p:pic>
        <p:pic>
          <p:nvPicPr>
            <p:cNvPr id="14" name="Picture 13"/>
            <p:cNvPicPr>
              <a:picLocks noChangeAspect="1"/>
            </p:cNvPicPr>
            <p:nvPr userDrawn="1"/>
          </p:nvPicPr>
          <p:blipFill rotWithShape="1">
            <a:blip r:embed="rId3" cstate="email"/>
            <a:srcRect/>
            <a:stretch>
              <a:fillRect/>
            </a:stretch>
          </p:blipFill>
          <p:spPr>
            <a:xfrm>
              <a:off x="0" y="6895662"/>
              <a:ext cx="10907713" cy="886397"/>
            </a:xfrm>
            <a:prstGeom prst="rect">
              <a:avLst/>
            </a:prstGeom>
          </p:spPr>
        </p:pic>
      </p:gr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lnSpc>
                <a:spcPct val="80000"/>
              </a:lnSpc>
              <a:defRPr sz="6600" baseline="0">
                <a:solidFill>
                  <a:schemeClr val="bg1"/>
                </a:solidFill>
              </a:defRPr>
            </a:lvl1pPr>
          </a:lstStyle>
          <a:p>
            <a:r>
              <a:rPr lang="en-GB" dirty="0"/>
              <a:t>Title slide text only</a:t>
            </a:r>
            <a:endParaRPr lang="en-US" dirty="0"/>
          </a:p>
        </p:txBody>
      </p:sp>
      <p:sp>
        <p:nvSpPr>
          <p:cNvPr id="5" name="Freeform 19"/>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8" name="Freeform 19"/>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
        <p:nvSpPr>
          <p:cNvPr id="28" name="Picture Placeholder 3"/>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53" name="Text Placeholder 2"/>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zh-CN" altLang="en-US" dirty="0"/>
              <a:t>单击此处编辑母版文本样式</a:t>
            </a:r>
            <a:endParaRPr lang="zh-CN" altLang="en-US" dirty="0"/>
          </a:p>
          <a:p>
            <a:pPr lvl="1"/>
            <a:r>
              <a:rPr lang="zh-CN" altLang="en-US" dirty="0"/>
              <a:t>二级</a:t>
            </a:r>
            <a:endParaRPr lang="zh-CN" altLang="en-US" dirty="0"/>
          </a:p>
        </p:txBody>
      </p:sp>
      <p:grpSp>
        <p:nvGrpSpPr>
          <p:cNvPr id="50" name="Group 49"/>
          <p:cNvGrpSpPr/>
          <p:nvPr userDrawn="1"/>
        </p:nvGrpSpPr>
        <p:grpSpPr>
          <a:xfrm>
            <a:off x="989012" y="2833963"/>
            <a:ext cx="2531496" cy="402492"/>
            <a:chOff x="3127375" y="2960688"/>
            <a:chExt cx="5930900" cy="942975"/>
          </a:xfrm>
        </p:grpSpPr>
        <p:grpSp>
          <p:nvGrpSpPr>
            <p:cNvPr id="51" name="Group 50"/>
            <p:cNvGrpSpPr/>
            <p:nvPr/>
          </p:nvGrpSpPr>
          <p:grpSpPr>
            <a:xfrm>
              <a:off x="8115300" y="2960688"/>
              <a:ext cx="942975" cy="942975"/>
              <a:chOff x="8115300" y="2960688"/>
              <a:chExt cx="942975" cy="942975"/>
            </a:xfrm>
          </p:grpSpPr>
          <p:pic>
            <p:nvPicPr>
              <p:cNvPr id="72" name="Picture 5"/>
              <p:cNvPicPr>
                <a:picLocks noChangeAspect="1" noChangeArrowheads="1"/>
              </p:cNvPicPr>
              <p:nvPr/>
            </p:nvPicPr>
            <p:blipFill>
              <a:blip r:embed="rId2" cstate="screen">
                <a:clrChange>
                  <a:clrFrom>
                    <a:srgbClr val="FFFFFF"/>
                  </a:clrFrom>
                  <a:clrTo>
                    <a:srgbClr val="FFFFFF">
                      <a:alpha val="0"/>
                    </a:srgbClr>
                  </a:clrTo>
                </a:clrChange>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40"/>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2" name="Group 51"/>
            <p:cNvGrpSpPr/>
            <p:nvPr/>
          </p:nvGrpSpPr>
          <p:grpSpPr>
            <a:xfrm>
              <a:off x="7127875" y="2970213"/>
              <a:ext cx="914400" cy="914400"/>
              <a:chOff x="7127875" y="2970213"/>
              <a:chExt cx="914400" cy="914400"/>
            </a:xfrm>
          </p:grpSpPr>
          <p:sp>
            <p:nvSpPr>
              <p:cNvPr id="70" name="Freeform 37"/>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1" name="Freeform 38"/>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5" name="Group 54"/>
            <p:cNvGrpSpPr/>
            <p:nvPr/>
          </p:nvGrpSpPr>
          <p:grpSpPr>
            <a:xfrm>
              <a:off x="6127750" y="2970213"/>
              <a:ext cx="914400" cy="914400"/>
              <a:chOff x="6127750" y="2970213"/>
              <a:chExt cx="914400" cy="914400"/>
            </a:xfrm>
          </p:grpSpPr>
          <p:sp>
            <p:nvSpPr>
              <p:cNvPr id="68" name="Freeform 35"/>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9" name="Freeform 36"/>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6" name="Group 55"/>
            <p:cNvGrpSpPr/>
            <p:nvPr/>
          </p:nvGrpSpPr>
          <p:grpSpPr>
            <a:xfrm>
              <a:off x="4127500" y="2970213"/>
              <a:ext cx="914400" cy="914400"/>
              <a:chOff x="4127500" y="2970213"/>
              <a:chExt cx="914400" cy="914400"/>
            </a:xfrm>
          </p:grpSpPr>
          <p:sp>
            <p:nvSpPr>
              <p:cNvPr id="66" name="Freeform 33"/>
              <p:cNvSpPr/>
              <p:nvPr/>
            </p:nvSpPr>
            <p:spPr bwMode="auto">
              <a:xfrm>
                <a:off x="4127500"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28 w 576"/>
                  <a:gd name="T25" fmla="*/ 576 h 576"/>
                  <a:gd name="T26" fmla="*/ 22 w 576"/>
                  <a:gd name="T27" fmla="*/ 574 h 576"/>
                  <a:gd name="T28" fmla="*/ 16 w 576"/>
                  <a:gd name="T29" fmla="*/ 570 h 576"/>
                  <a:gd name="T30" fmla="*/ 10 w 576"/>
                  <a:gd name="T31" fmla="*/ 566 h 576"/>
                  <a:gd name="T32" fmla="*/ 6 w 576"/>
                  <a:gd name="T33" fmla="*/ 560 h 576"/>
                  <a:gd name="T34" fmla="*/ 2 w 576"/>
                  <a:gd name="T35" fmla="*/ 554 h 576"/>
                  <a:gd name="T36" fmla="*/ 0 w 576"/>
                  <a:gd name="T37" fmla="*/ 548 h 576"/>
                  <a:gd name="T38" fmla="*/ 0 w 576"/>
                  <a:gd name="T39" fmla="*/ 540 h 576"/>
                  <a:gd name="T40" fmla="*/ 0 w 576"/>
                  <a:gd name="T41" fmla="*/ 36 h 576"/>
                  <a:gd name="T42" fmla="*/ 0 w 576"/>
                  <a:gd name="T43" fmla="*/ 36 h 576"/>
                  <a:gd name="T44" fmla="*/ 0 w 576"/>
                  <a:gd name="T45" fmla="*/ 30 h 576"/>
                  <a:gd name="T46" fmla="*/ 2 w 576"/>
                  <a:gd name="T47" fmla="*/ 22 h 576"/>
                  <a:gd name="T48" fmla="*/ 6 w 576"/>
                  <a:gd name="T49" fmla="*/ 16 h 576"/>
                  <a:gd name="T50" fmla="*/ 10 w 576"/>
                  <a:gd name="T51" fmla="*/ 12 h 576"/>
                  <a:gd name="T52" fmla="*/ 16 w 576"/>
                  <a:gd name="T53" fmla="*/ 6 h 576"/>
                  <a:gd name="T54" fmla="*/ 22 w 576"/>
                  <a:gd name="T55" fmla="*/ 4 h 576"/>
                  <a:gd name="T56" fmla="*/ 28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28" y="576"/>
                    </a:lnTo>
                    <a:lnTo>
                      <a:pt x="22" y="574"/>
                    </a:lnTo>
                    <a:lnTo>
                      <a:pt x="16" y="570"/>
                    </a:lnTo>
                    <a:lnTo>
                      <a:pt x="10" y="566"/>
                    </a:lnTo>
                    <a:lnTo>
                      <a:pt x="6" y="560"/>
                    </a:lnTo>
                    <a:lnTo>
                      <a:pt x="2" y="554"/>
                    </a:lnTo>
                    <a:lnTo>
                      <a:pt x="0" y="548"/>
                    </a:lnTo>
                    <a:lnTo>
                      <a:pt x="0" y="540"/>
                    </a:lnTo>
                    <a:lnTo>
                      <a:pt x="0" y="36"/>
                    </a:lnTo>
                    <a:lnTo>
                      <a:pt x="0" y="36"/>
                    </a:lnTo>
                    <a:lnTo>
                      <a:pt x="0" y="30"/>
                    </a:lnTo>
                    <a:lnTo>
                      <a:pt x="2" y="22"/>
                    </a:lnTo>
                    <a:lnTo>
                      <a:pt x="6" y="16"/>
                    </a:lnTo>
                    <a:lnTo>
                      <a:pt x="10" y="12"/>
                    </a:lnTo>
                    <a:lnTo>
                      <a:pt x="16" y="6"/>
                    </a:lnTo>
                    <a:lnTo>
                      <a:pt x="22" y="4"/>
                    </a:lnTo>
                    <a:lnTo>
                      <a:pt x="28"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EBC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7" name="Freeform 34"/>
              <p:cNvSpPr/>
              <p:nvPr/>
            </p:nvSpPr>
            <p:spPr bwMode="auto">
              <a:xfrm>
                <a:off x="4244975" y="3128963"/>
                <a:ext cx="723900" cy="596900"/>
              </a:xfrm>
              <a:custGeom>
                <a:avLst/>
                <a:gdLst>
                  <a:gd name="T0" fmla="*/ 456 w 456"/>
                  <a:gd name="T1" fmla="*/ 46 h 376"/>
                  <a:gd name="T2" fmla="*/ 438 w 456"/>
                  <a:gd name="T3" fmla="*/ 70 h 376"/>
                  <a:gd name="T4" fmla="*/ 416 w 456"/>
                  <a:gd name="T5" fmla="*/ 90 h 376"/>
                  <a:gd name="T6" fmla="*/ 412 w 456"/>
                  <a:gd name="T7" fmla="*/ 94 h 376"/>
                  <a:gd name="T8" fmla="*/ 410 w 456"/>
                  <a:gd name="T9" fmla="*/ 100 h 376"/>
                  <a:gd name="T10" fmla="*/ 404 w 456"/>
                  <a:gd name="T11" fmla="*/ 166 h 376"/>
                  <a:gd name="T12" fmla="*/ 384 w 456"/>
                  <a:gd name="T13" fmla="*/ 224 h 376"/>
                  <a:gd name="T14" fmla="*/ 352 w 456"/>
                  <a:gd name="T15" fmla="*/ 276 h 376"/>
                  <a:gd name="T16" fmla="*/ 306 w 456"/>
                  <a:gd name="T17" fmla="*/ 322 h 376"/>
                  <a:gd name="T18" fmla="*/ 292 w 456"/>
                  <a:gd name="T19" fmla="*/ 332 h 376"/>
                  <a:gd name="T20" fmla="*/ 262 w 456"/>
                  <a:gd name="T21" fmla="*/ 350 h 376"/>
                  <a:gd name="T22" fmla="*/ 214 w 456"/>
                  <a:gd name="T23" fmla="*/ 366 h 376"/>
                  <a:gd name="T24" fmla="*/ 180 w 456"/>
                  <a:gd name="T25" fmla="*/ 372 h 376"/>
                  <a:gd name="T26" fmla="*/ 136 w 456"/>
                  <a:gd name="T27" fmla="*/ 376 h 376"/>
                  <a:gd name="T28" fmla="*/ 94 w 456"/>
                  <a:gd name="T29" fmla="*/ 370 h 376"/>
                  <a:gd name="T30" fmla="*/ 52 w 456"/>
                  <a:gd name="T31" fmla="*/ 358 h 376"/>
                  <a:gd name="T32" fmla="*/ 12 w 456"/>
                  <a:gd name="T33" fmla="*/ 340 h 376"/>
                  <a:gd name="T34" fmla="*/ 0 w 456"/>
                  <a:gd name="T35" fmla="*/ 334 h 376"/>
                  <a:gd name="T36" fmla="*/ 20 w 456"/>
                  <a:gd name="T37" fmla="*/ 334 h 376"/>
                  <a:gd name="T38" fmla="*/ 56 w 456"/>
                  <a:gd name="T39" fmla="*/ 332 h 376"/>
                  <a:gd name="T40" fmla="*/ 90 w 456"/>
                  <a:gd name="T41" fmla="*/ 322 h 376"/>
                  <a:gd name="T42" fmla="*/ 122 w 456"/>
                  <a:gd name="T43" fmla="*/ 304 h 376"/>
                  <a:gd name="T44" fmla="*/ 138 w 456"/>
                  <a:gd name="T45" fmla="*/ 294 h 376"/>
                  <a:gd name="T46" fmla="*/ 108 w 456"/>
                  <a:gd name="T47" fmla="*/ 288 h 376"/>
                  <a:gd name="T48" fmla="*/ 84 w 456"/>
                  <a:gd name="T49" fmla="*/ 274 h 376"/>
                  <a:gd name="T50" fmla="*/ 74 w 456"/>
                  <a:gd name="T51" fmla="*/ 264 h 376"/>
                  <a:gd name="T52" fmla="*/ 58 w 456"/>
                  <a:gd name="T53" fmla="*/ 242 h 376"/>
                  <a:gd name="T54" fmla="*/ 52 w 456"/>
                  <a:gd name="T55" fmla="*/ 228 h 376"/>
                  <a:gd name="T56" fmla="*/ 90 w 456"/>
                  <a:gd name="T57" fmla="*/ 228 h 376"/>
                  <a:gd name="T58" fmla="*/ 60 w 456"/>
                  <a:gd name="T59" fmla="*/ 212 h 376"/>
                  <a:gd name="T60" fmla="*/ 40 w 456"/>
                  <a:gd name="T61" fmla="*/ 192 h 376"/>
                  <a:gd name="T62" fmla="*/ 26 w 456"/>
                  <a:gd name="T63" fmla="*/ 166 h 376"/>
                  <a:gd name="T64" fmla="*/ 18 w 456"/>
                  <a:gd name="T65" fmla="*/ 134 h 376"/>
                  <a:gd name="T66" fmla="*/ 56 w 456"/>
                  <a:gd name="T67" fmla="*/ 146 h 376"/>
                  <a:gd name="T68" fmla="*/ 58 w 456"/>
                  <a:gd name="T69" fmla="*/ 142 h 376"/>
                  <a:gd name="T70" fmla="*/ 42 w 456"/>
                  <a:gd name="T71" fmla="*/ 128 h 376"/>
                  <a:gd name="T72" fmla="*/ 24 w 456"/>
                  <a:gd name="T73" fmla="*/ 92 h 376"/>
                  <a:gd name="T74" fmla="*/ 20 w 456"/>
                  <a:gd name="T75" fmla="*/ 70 h 376"/>
                  <a:gd name="T76" fmla="*/ 22 w 456"/>
                  <a:gd name="T77" fmla="*/ 44 h 376"/>
                  <a:gd name="T78" fmla="*/ 34 w 456"/>
                  <a:gd name="T79" fmla="*/ 18 h 376"/>
                  <a:gd name="T80" fmla="*/ 52 w 456"/>
                  <a:gd name="T81" fmla="*/ 40 h 376"/>
                  <a:gd name="T82" fmla="*/ 96 w 456"/>
                  <a:gd name="T83" fmla="*/ 74 h 376"/>
                  <a:gd name="T84" fmla="*/ 144 w 456"/>
                  <a:gd name="T85" fmla="*/ 98 h 376"/>
                  <a:gd name="T86" fmla="*/ 196 w 456"/>
                  <a:gd name="T87" fmla="*/ 114 h 376"/>
                  <a:gd name="T88" fmla="*/ 224 w 456"/>
                  <a:gd name="T89" fmla="*/ 116 h 376"/>
                  <a:gd name="T90" fmla="*/ 226 w 456"/>
                  <a:gd name="T91" fmla="*/ 82 h 376"/>
                  <a:gd name="T92" fmla="*/ 228 w 456"/>
                  <a:gd name="T93" fmla="*/ 68 h 376"/>
                  <a:gd name="T94" fmla="*/ 238 w 456"/>
                  <a:gd name="T95" fmla="*/ 44 h 376"/>
                  <a:gd name="T96" fmla="*/ 254 w 456"/>
                  <a:gd name="T97" fmla="*/ 26 h 376"/>
                  <a:gd name="T98" fmla="*/ 274 w 456"/>
                  <a:gd name="T99" fmla="*/ 10 h 376"/>
                  <a:gd name="T100" fmla="*/ 288 w 456"/>
                  <a:gd name="T101" fmla="*/ 6 h 376"/>
                  <a:gd name="T102" fmla="*/ 312 w 456"/>
                  <a:gd name="T103" fmla="*/ 0 h 376"/>
                  <a:gd name="T104" fmla="*/ 338 w 456"/>
                  <a:gd name="T105" fmla="*/ 2 h 376"/>
                  <a:gd name="T106" fmla="*/ 360 w 456"/>
                  <a:gd name="T107" fmla="*/ 10 h 376"/>
                  <a:gd name="T108" fmla="*/ 382 w 456"/>
                  <a:gd name="T109" fmla="*/ 26 h 376"/>
                  <a:gd name="T110" fmla="*/ 386 w 456"/>
                  <a:gd name="T111" fmla="*/ 30 h 376"/>
                  <a:gd name="T112" fmla="*/ 392 w 456"/>
                  <a:gd name="T113" fmla="*/ 28 h 376"/>
                  <a:gd name="T114" fmla="*/ 444 w 456"/>
                  <a:gd name="T115" fmla="*/ 10 h 376"/>
                  <a:gd name="T116" fmla="*/ 430 w 456"/>
                  <a:gd name="T117" fmla="*/ 36 h 376"/>
                  <a:gd name="T118" fmla="*/ 408 w 456"/>
                  <a:gd name="T119" fmla="*/ 58 h 376"/>
                  <a:gd name="T120" fmla="*/ 408 w 456"/>
                  <a:gd name="T121" fmla="*/ 60 h 376"/>
                  <a:gd name="T122" fmla="*/ 456 w 456"/>
                  <a:gd name="T123" fmla="*/ 4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6" h="376">
                    <a:moveTo>
                      <a:pt x="456" y="46"/>
                    </a:moveTo>
                    <a:lnTo>
                      <a:pt x="456" y="46"/>
                    </a:lnTo>
                    <a:lnTo>
                      <a:pt x="448" y="60"/>
                    </a:lnTo>
                    <a:lnTo>
                      <a:pt x="438" y="70"/>
                    </a:lnTo>
                    <a:lnTo>
                      <a:pt x="428" y="80"/>
                    </a:lnTo>
                    <a:lnTo>
                      <a:pt x="416" y="90"/>
                    </a:lnTo>
                    <a:lnTo>
                      <a:pt x="416" y="90"/>
                    </a:lnTo>
                    <a:lnTo>
                      <a:pt x="412" y="94"/>
                    </a:lnTo>
                    <a:lnTo>
                      <a:pt x="410" y="100"/>
                    </a:lnTo>
                    <a:lnTo>
                      <a:pt x="410" y="100"/>
                    </a:lnTo>
                    <a:lnTo>
                      <a:pt x="408" y="134"/>
                    </a:lnTo>
                    <a:lnTo>
                      <a:pt x="404" y="166"/>
                    </a:lnTo>
                    <a:lnTo>
                      <a:pt x="396" y="196"/>
                    </a:lnTo>
                    <a:lnTo>
                      <a:pt x="384" y="224"/>
                    </a:lnTo>
                    <a:lnTo>
                      <a:pt x="370" y="250"/>
                    </a:lnTo>
                    <a:lnTo>
                      <a:pt x="352" y="276"/>
                    </a:lnTo>
                    <a:lnTo>
                      <a:pt x="330" y="300"/>
                    </a:lnTo>
                    <a:lnTo>
                      <a:pt x="306" y="322"/>
                    </a:lnTo>
                    <a:lnTo>
                      <a:pt x="306" y="322"/>
                    </a:lnTo>
                    <a:lnTo>
                      <a:pt x="292" y="332"/>
                    </a:lnTo>
                    <a:lnTo>
                      <a:pt x="278" y="342"/>
                    </a:lnTo>
                    <a:lnTo>
                      <a:pt x="262" y="350"/>
                    </a:lnTo>
                    <a:lnTo>
                      <a:pt x="246" y="356"/>
                    </a:lnTo>
                    <a:lnTo>
                      <a:pt x="214" y="366"/>
                    </a:lnTo>
                    <a:lnTo>
                      <a:pt x="180" y="372"/>
                    </a:lnTo>
                    <a:lnTo>
                      <a:pt x="180" y="372"/>
                    </a:lnTo>
                    <a:lnTo>
                      <a:pt x="158" y="374"/>
                    </a:lnTo>
                    <a:lnTo>
                      <a:pt x="136" y="376"/>
                    </a:lnTo>
                    <a:lnTo>
                      <a:pt x="114" y="374"/>
                    </a:lnTo>
                    <a:lnTo>
                      <a:pt x="94" y="370"/>
                    </a:lnTo>
                    <a:lnTo>
                      <a:pt x="72" y="366"/>
                    </a:lnTo>
                    <a:lnTo>
                      <a:pt x="52" y="358"/>
                    </a:lnTo>
                    <a:lnTo>
                      <a:pt x="32" y="350"/>
                    </a:lnTo>
                    <a:lnTo>
                      <a:pt x="12" y="340"/>
                    </a:lnTo>
                    <a:lnTo>
                      <a:pt x="12" y="340"/>
                    </a:lnTo>
                    <a:lnTo>
                      <a:pt x="0" y="334"/>
                    </a:lnTo>
                    <a:lnTo>
                      <a:pt x="0" y="334"/>
                    </a:lnTo>
                    <a:lnTo>
                      <a:pt x="20" y="334"/>
                    </a:lnTo>
                    <a:lnTo>
                      <a:pt x="38" y="334"/>
                    </a:lnTo>
                    <a:lnTo>
                      <a:pt x="56" y="332"/>
                    </a:lnTo>
                    <a:lnTo>
                      <a:pt x="74" y="328"/>
                    </a:lnTo>
                    <a:lnTo>
                      <a:pt x="90" y="322"/>
                    </a:lnTo>
                    <a:lnTo>
                      <a:pt x="106" y="314"/>
                    </a:lnTo>
                    <a:lnTo>
                      <a:pt x="122" y="304"/>
                    </a:lnTo>
                    <a:lnTo>
                      <a:pt x="138" y="294"/>
                    </a:lnTo>
                    <a:lnTo>
                      <a:pt x="138" y="294"/>
                    </a:lnTo>
                    <a:lnTo>
                      <a:pt x="122" y="292"/>
                    </a:lnTo>
                    <a:lnTo>
                      <a:pt x="108" y="288"/>
                    </a:lnTo>
                    <a:lnTo>
                      <a:pt x="96" y="282"/>
                    </a:lnTo>
                    <a:lnTo>
                      <a:pt x="84" y="274"/>
                    </a:lnTo>
                    <a:lnTo>
                      <a:pt x="84" y="274"/>
                    </a:lnTo>
                    <a:lnTo>
                      <a:pt x="74" y="264"/>
                    </a:lnTo>
                    <a:lnTo>
                      <a:pt x="64" y="254"/>
                    </a:lnTo>
                    <a:lnTo>
                      <a:pt x="58" y="242"/>
                    </a:lnTo>
                    <a:lnTo>
                      <a:pt x="52" y="228"/>
                    </a:lnTo>
                    <a:lnTo>
                      <a:pt x="52" y="228"/>
                    </a:lnTo>
                    <a:lnTo>
                      <a:pt x="90" y="228"/>
                    </a:lnTo>
                    <a:lnTo>
                      <a:pt x="90" y="228"/>
                    </a:lnTo>
                    <a:lnTo>
                      <a:pt x="74" y="220"/>
                    </a:lnTo>
                    <a:lnTo>
                      <a:pt x="60" y="212"/>
                    </a:lnTo>
                    <a:lnTo>
                      <a:pt x="48" y="202"/>
                    </a:lnTo>
                    <a:lnTo>
                      <a:pt x="40" y="192"/>
                    </a:lnTo>
                    <a:lnTo>
                      <a:pt x="32" y="180"/>
                    </a:lnTo>
                    <a:lnTo>
                      <a:pt x="26" y="166"/>
                    </a:lnTo>
                    <a:lnTo>
                      <a:pt x="20" y="150"/>
                    </a:lnTo>
                    <a:lnTo>
                      <a:pt x="18" y="134"/>
                    </a:lnTo>
                    <a:lnTo>
                      <a:pt x="18" y="134"/>
                    </a:lnTo>
                    <a:lnTo>
                      <a:pt x="56" y="146"/>
                    </a:lnTo>
                    <a:lnTo>
                      <a:pt x="56" y="146"/>
                    </a:lnTo>
                    <a:lnTo>
                      <a:pt x="58" y="142"/>
                    </a:lnTo>
                    <a:lnTo>
                      <a:pt x="58" y="142"/>
                    </a:lnTo>
                    <a:lnTo>
                      <a:pt x="42" y="128"/>
                    </a:lnTo>
                    <a:lnTo>
                      <a:pt x="32" y="110"/>
                    </a:lnTo>
                    <a:lnTo>
                      <a:pt x="24" y="92"/>
                    </a:lnTo>
                    <a:lnTo>
                      <a:pt x="20" y="70"/>
                    </a:lnTo>
                    <a:lnTo>
                      <a:pt x="20" y="70"/>
                    </a:lnTo>
                    <a:lnTo>
                      <a:pt x="20" y="58"/>
                    </a:lnTo>
                    <a:lnTo>
                      <a:pt x="22" y="44"/>
                    </a:lnTo>
                    <a:lnTo>
                      <a:pt x="26" y="32"/>
                    </a:lnTo>
                    <a:lnTo>
                      <a:pt x="34" y="18"/>
                    </a:lnTo>
                    <a:lnTo>
                      <a:pt x="34" y="18"/>
                    </a:lnTo>
                    <a:lnTo>
                      <a:pt x="52" y="40"/>
                    </a:lnTo>
                    <a:lnTo>
                      <a:pt x="74" y="58"/>
                    </a:lnTo>
                    <a:lnTo>
                      <a:pt x="96" y="74"/>
                    </a:lnTo>
                    <a:lnTo>
                      <a:pt x="118" y="88"/>
                    </a:lnTo>
                    <a:lnTo>
                      <a:pt x="144" y="98"/>
                    </a:lnTo>
                    <a:lnTo>
                      <a:pt x="170" y="108"/>
                    </a:lnTo>
                    <a:lnTo>
                      <a:pt x="196" y="114"/>
                    </a:lnTo>
                    <a:lnTo>
                      <a:pt x="224" y="116"/>
                    </a:lnTo>
                    <a:lnTo>
                      <a:pt x="224" y="116"/>
                    </a:lnTo>
                    <a:lnTo>
                      <a:pt x="224" y="98"/>
                    </a:lnTo>
                    <a:lnTo>
                      <a:pt x="226" y="82"/>
                    </a:lnTo>
                    <a:lnTo>
                      <a:pt x="226" y="82"/>
                    </a:lnTo>
                    <a:lnTo>
                      <a:pt x="228" y="68"/>
                    </a:lnTo>
                    <a:lnTo>
                      <a:pt x="232" y="56"/>
                    </a:lnTo>
                    <a:lnTo>
                      <a:pt x="238" y="44"/>
                    </a:lnTo>
                    <a:lnTo>
                      <a:pt x="244" y="34"/>
                    </a:lnTo>
                    <a:lnTo>
                      <a:pt x="254" y="26"/>
                    </a:lnTo>
                    <a:lnTo>
                      <a:pt x="264" y="18"/>
                    </a:lnTo>
                    <a:lnTo>
                      <a:pt x="274" y="10"/>
                    </a:lnTo>
                    <a:lnTo>
                      <a:pt x="288" y="6"/>
                    </a:lnTo>
                    <a:lnTo>
                      <a:pt x="288" y="6"/>
                    </a:lnTo>
                    <a:lnTo>
                      <a:pt x="300" y="2"/>
                    </a:lnTo>
                    <a:lnTo>
                      <a:pt x="312" y="0"/>
                    </a:lnTo>
                    <a:lnTo>
                      <a:pt x="326" y="0"/>
                    </a:lnTo>
                    <a:lnTo>
                      <a:pt x="338" y="2"/>
                    </a:lnTo>
                    <a:lnTo>
                      <a:pt x="348" y="6"/>
                    </a:lnTo>
                    <a:lnTo>
                      <a:pt x="360" y="10"/>
                    </a:lnTo>
                    <a:lnTo>
                      <a:pt x="370" y="18"/>
                    </a:lnTo>
                    <a:lnTo>
                      <a:pt x="382" y="26"/>
                    </a:lnTo>
                    <a:lnTo>
                      <a:pt x="382" y="26"/>
                    </a:lnTo>
                    <a:lnTo>
                      <a:pt x="386" y="30"/>
                    </a:lnTo>
                    <a:lnTo>
                      <a:pt x="392" y="28"/>
                    </a:lnTo>
                    <a:lnTo>
                      <a:pt x="392" y="28"/>
                    </a:lnTo>
                    <a:lnTo>
                      <a:pt x="444" y="10"/>
                    </a:lnTo>
                    <a:lnTo>
                      <a:pt x="444" y="10"/>
                    </a:lnTo>
                    <a:lnTo>
                      <a:pt x="438" y="24"/>
                    </a:lnTo>
                    <a:lnTo>
                      <a:pt x="430" y="36"/>
                    </a:lnTo>
                    <a:lnTo>
                      <a:pt x="420" y="48"/>
                    </a:lnTo>
                    <a:lnTo>
                      <a:pt x="408" y="58"/>
                    </a:lnTo>
                    <a:lnTo>
                      <a:pt x="408" y="58"/>
                    </a:lnTo>
                    <a:lnTo>
                      <a:pt x="408" y="60"/>
                    </a:lnTo>
                    <a:lnTo>
                      <a:pt x="408" y="60"/>
                    </a:lnTo>
                    <a:lnTo>
                      <a:pt x="456" y="46"/>
                    </a:lnTo>
                    <a:lnTo>
                      <a:pt x="456" y="4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7" name="Group 56"/>
            <p:cNvGrpSpPr/>
            <p:nvPr/>
          </p:nvGrpSpPr>
          <p:grpSpPr>
            <a:xfrm>
              <a:off x="5127625" y="2970213"/>
              <a:ext cx="914400" cy="914400"/>
              <a:chOff x="5127625" y="2970213"/>
              <a:chExt cx="914400" cy="914400"/>
            </a:xfrm>
          </p:grpSpPr>
          <p:sp>
            <p:nvSpPr>
              <p:cNvPr id="64" name="Freeform 3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5" name="Freeform 32"/>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8" name="Group 57"/>
            <p:cNvGrpSpPr/>
            <p:nvPr/>
          </p:nvGrpSpPr>
          <p:grpSpPr>
            <a:xfrm>
              <a:off x="3127375" y="2970213"/>
              <a:ext cx="914400" cy="914400"/>
              <a:chOff x="3127375" y="2970213"/>
              <a:chExt cx="914400" cy="914400"/>
            </a:xfrm>
          </p:grpSpPr>
          <p:sp>
            <p:nvSpPr>
              <p:cNvPr id="59" name="Freeform 26"/>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0" name="Freeform 27"/>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1" name="Freeform 28"/>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2" name="Freeform 29"/>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3" name="Freeform 30"/>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dirty="0"/>
              <a:t>Click to edit Master title style</a:t>
            </a:r>
            <a:endParaRPr lang="en-US" dirty="0"/>
          </a:p>
        </p:txBody>
      </p:sp>
      <p:sp>
        <p:nvSpPr>
          <p:cNvPr id="5"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微软雅黑" panose="020B0503020204020204" pitchFamily="34" charset="-122"/>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spcAft>
                <a:spcPts val="1200"/>
              </a:spcAft>
              <a:defRPr sz="6600" baseline="0">
                <a:solidFill>
                  <a:schemeClr val="bg1"/>
                </a:solidFill>
              </a:defRPr>
            </a:lvl1pPr>
          </a:lstStyle>
          <a:p>
            <a:r>
              <a:rPr lang="en-GB" dirty="0"/>
              <a:t>Title slide text only</a:t>
            </a:r>
            <a:endParaRPr lang="en-US" dirty="0"/>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artisticFilmGrain/>
                    </a14:imgEffect>
                    <a14:imgEffect>
                      <a14:brightnessContrast bright="18000"/>
                    </a14:imgEffect>
                  </a14:imgLayer>
                </a14:imgProps>
              </a:ext>
            </a:extLst>
          </a:blip>
          <a:stretch>
            <a:fillRect/>
          </a:stretch>
        </p:blipFill>
        <p:spPr>
          <a:xfrm>
            <a:off x="0" y="0"/>
            <a:ext cx="12192000" cy="6857999"/>
          </a:xfrm>
          <a:prstGeom prst="rect">
            <a:avLst/>
          </a:prstGeom>
        </p:spPr>
      </p:pic>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30760CBC-EFAB-4AED-9D7D-DDCC21102B45}" type="datetime1">
              <a:rPr lang="zh-CN" altLang="en-US" smtClean="0"/>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fld id="{8D354129-EC9D-45B1-920B-3A920213E4C4}" type="slidenum">
              <a:rPr lang="zh-CN" altLang="en-US"/>
            </a:fld>
            <a:endParaRPr lang="zh-CN" altLang="en-US" sz="1800">
              <a:solidFill>
                <a:schemeClr val="tx1"/>
              </a:solidFill>
            </a:endParaRPr>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88640"/>
            <a:ext cx="1664348" cy="936104"/>
          </a:xfrm>
          <a:prstGeom prst="rect">
            <a:avLst/>
          </a:prstGeom>
        </p:spPr>
      </p:pic>
      <p:pic>
        <p:nvPicPr>
          <p:cNvPr id="10" name="图片 9"/>
          <p:cNvPicPr>
            <a:picLocks noChangeAspect="1"/>
          </p:cNvPicPr>
          <p:nvPr userDrawn="1"/>
        </p:nvPicPr>
        <p:blipFill>
          <a:blip r:embed="rId5"/>
          <a:stretch>
            <a:fillRect/>
          </a:stretch>
        </p:blipFill>
        <p:spPr>
          <a:xfrm>
            <a:off x="4174431" y="404664"/>
            <a:ext cx="8382000" cy="770720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vmlDrawing" Target="../drawings/vmlDrawing3.vml"/><Relationship Id="rId11" Type="http://schemas.openxmlformats.org/officeDocument/2006/relationships/image" Target="../media/image4.emf"/><Relationship Id="rId10" Type="http://schemas.openxmlformats.org/officeDocument/2006/relationships/oleObject" Target="../embeddings/oleObject3.bin"/><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6" Type="http://schemas.openxmlformats.org/officeDocument/2006/relationships/theme" Target="../theme/theme3.xml"/><Relationship Id="rId25" Type="http://schemas.openxmlformats.org/officeDocument/2006/relationships/tags" Target="../tags/tag10.xml"/><Relationship Id="rId24" Type="http://schemas.openxmlformats.org/officeDocument/2006/relationships/slideLayout" Target="../slideLayouts/slideLayout33.xml"/><Relationship Id="rId23" Type="http://schemas.openxmlformats.org/officeDocument/2006/relationships/slideLayout" Target="../slideLayouts/slideLayout32.xml"/><Relationship Id="rId22" Type="http://schemas.openxmlformats.org/officeDocument/2006/relationships/slideLayout" Target="../slideLayouts/slideLayout31.xml"/><Relationship Id="rId21" Type="http://schemas.openxmlformats.org/officeDocument/2006/relationships/slideLayout" Target="../slideLayouts/slideLayout30.xml"/><Relationship Id="rId20" Type="http://schemas.openxmlformats.org/officeDocument/2006/relationships/slideLayout" Target="../slideLayouts/slideLayout29.xml"/><Relationship Id="rId2" Type="http://schemas.openxmlformats.org/officeDocument/2006/relationships/slideLayout" Target="../slideLayouts/slideLayout11.xml"/><Relationship Id="rId19" Type="http://schemas.openxmlformats.org/officeDocument/2006/relationships/slideLayout" Target="../slideLayouts/slideLayout28.xml"/><Relationship Id="rId18" Type="http://schemas.openxmlformats.org/officeDocument/2006/relationships/slideLayout" Target="../slideLayouts/slideLayout2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tags" Target="../tags/tag13.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1" Type="http://schemas.openxmlformats.org/officeDocument/2006/relationships/theme" Target="../theme/theme5.xml"/><Relationship Id="rId10" Type="http://schemas.openxmlformats.org/officeDocument/2006/relationships/tags" Target="../tags/tag16.xml"/><Relationship Id="rId1"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 Type="http://schemas.openxmlformats.org/officeDocument/2006/relationships/slideLayout" Target="../slideLayouts/slideLayout53.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0" imgW="0" imgH="0" progId="TCLayout.ActiveDocument.1">
                  <p:embed/>
                </p:oleObj>
              </mc:Choice>
              <mc:Fallback>
                <p:oleObj name="think-cell 幻灯片" r:id="rId10" imgW="0" imgH="0" progId="TCLayout.ActiveDocument.1">
                  <p:embed/>
                  <p:pic>
                    <p:nvPicPr>
                      <p:cNvPr id="0" name="对象 2" hidden="1"/>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25"/>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2025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1"/>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©2024</a:t>
              </a:r>
              <a:r>
                <a:rPr lang="zh-CN" altLang="en-US" sz="1000" kern="1200" noProof="0" dirty="0">
                  <a:solidFill>
                    <a:schemeClr val="bg1">
                      <a:lumMod val="65000"/>
                    </a:schemeClr>
                  </a:solidFill>
                  <a:latin typeface="微软雅黑" panose="020B0503020204020204" pitchFamily="34" charset="-122"/>
                  <a:ea typeface="+mn-ea"/>
                  <a:cs typeface="+mn-cs"/>
                </a:rPr>
                <a:t>毕马威企业咨询</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0"/>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2023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Lst>
  <p:hf hdr="0" ftr="0" dt="0"/>
  <p:txStyles>
    <p:titleStyle>
      <a:lvl1pPr marL="1219200" indent="-1219200" algn="ctr" rtl="0" eaLnBrk="1" fontAlgn="base" hangingPunct="1">
        <a:spcBef>
          <a:spcPct val="0"/>
        </a:spcBef>
        <a:spcAft>
          <a:spcPct val="0"/>
        </a:spcAft>
        <a:defRPr kumimoji="1" sz="5865" kern="1200">
          <a:solidFill>
            <a:schemeClr val="tx1"/>
          </a:solidFill>
          <a:latin typeface="+mj-lt"/>
          <a:ea typeface="+mj-ea"/>
          <a:cs typeface="微软雅黑" panose="020B0503020204020204" pitchFamily="34" charset="-122"/>
          <a:sym typeface="Calibri" panose="020F0502020204030204" pitchFamily="34" charset="0"/>
        </a:defRPr>
      </a:lvl1pPr>
      <a:lvl2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2pPr>
      <a:lvl3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3pPr>
      <a:lvl4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4pPr>
      <a:lvl5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5pPr>
      <a:lvl6pPr marL="18288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437765"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0480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6576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457200" indent="-457200" algn="l" rtl="0" eaLnBrk="1" fontAlgn="base" hangingPunct="1">
        <a:spcBef>
          <a:spcPct val="20000"/>
        </a:spcBef>
        <a:spcAft>
          <a:spcPct val="0"/>
        </a:spcAft>
        <a:buFont typeface="Arial" panose="020B0604020202090204" pitchFamily="34" charset="0"/>
        <a:buChar char="•"/>
        <a:defRPr kumimoji="1" sz="4265" kern="1200">
          <a:solidFill>
            <a:schemeClr val="tx1"/>
          </a:solidFill>
          <a:latin typeface="+mn-lt"/>
          <a:ea typeface="+mn-ea"/>
          <a:cs typeface="微软雅黑" panose="020B0503020204020204" pitchFamily="34" charset="-122"/>
          <a:sym typeface="Calibri" panose="020F0502020204030204" pitchFamily="34" charset="0"/>
        </a:defRPr>
      </a:lvl1pPr>
      <a:lvl2pPr marL="990600" indent="-381000" algn="l" rtl="0" eaLnBrk="1" fontAlgn="base" hangingPunct="1">
        <a:spcBef>
          <a:spcPct val="20000"/>
        </a:spcBef>
        <a:spcAft>
          <a:spcPct val="0"/>
        </a:spcAft>
        <a:buFont typeface="Arial" panose="020B0604020202090204" pitchFamily="34" charset="0"/>
        <a:buChar char="–"/>
        <a:defRPr kumimoji="1" sz="3735" kern="1200">
          <a:solidFill>
            <a:schemeClr val="tx1"/>
          </a:solidFill>
          <a:latin typeface="+mn-lt"/>
          <a:ea typeface="+mn-ea"/>
          <a:cs typeface="微软雅黑" panose="020B0503020204020204" pitchFamily="34" charset="-122"/>
          <a:sym typeface="Calibri" panose="020F0502020204030204" pitchFamily="34" charset="0"/>
        </a:defRPr>
      </a:lvl2pPr>
      <a:lvl3pPr marL="1523365" indent="-304800" algn="l" rtl="0" eaLnBrk="1" fontAlgn="base" hangingPunct="1">
        <a:spcBef>
          <a:spcPct val="20000"/>
        </a:spcBef>
        <a:spcAft>
          <a:spcPct val="0"/>
        </a:spcAft>
        <a:buFont typeface="Arial" panose="020B0604020202090204" pitchFamily="34" charset="0"/>
        <a:buChar char="•"/>
        <a:defRPr kumimoji="1" sz="3200" kern="1200">
          <a:solidFill>
            <a:schemeClr val="tx1"/>
          </a:solidFill>
          <a:latin typeface="+mn-lt"/>
          <a:ea typeface="+mn-ea"/>
          <a:cs typeface="微软雅黑" panose="020B0503020204020204" pitchFamily="34" charset="-122"/>
          <a:sym typeface="Calibri" panose="020F0502020204030204" pitchFamily="34" charset="0"/>
        </a:defRPr>
      </a:lvl3pPr>
      <a:lvl4pPr marL="21336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4pPr>
      <a:lvl5pPr marL="27432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5pPr>
      <a:lvl6pPr marL="33521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17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13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09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9"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accent2"/>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7" name="Straight Connector 16"/>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Lst>
  <p:txStyles>
    <p:titleStyle>
      <a:lvl1pPr algn="l" defTabSz="914400" rtl="0" eaLnBrk="1" latinLnBrk="0" hangingPunct="1">
        <a:lnSpc>
          <a:spcPct val="70000"/>
        </a:lnSpc>
        <a:spcBef>
          <a:spcPct val="0"/>
        </a:spcBef>
        <a:buNone/>
        <a:defRPr sz="4400" b="1" kern="1200">
          <a:solidFill>
            <a:schemeClr val="accent2"/>
          </a:solidFill>
          <a:latin typeface="微软雅黑" panose="020B0503020204020204" pitchFamily="34" charset="-122"/>
          <a:ea typeface="微软雅黑" panose="020B0503020204020204" pitchFamily="34" charset="-122"/>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微软雅黑" panose="020B0503020204020204" pitchFamily="34" charset="-122"/>
          <a:ea typeface="微软雅黑" panose="020B0503020204020204" pitchFamily="34" charset="-122"/>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微软雅黑" panose="020B0503020204020204" pitchFamily="34" charset="-122"/>
          <a:ea typeface="微软雅黑" panose="020B0503020204020204" pitchFamily="34" charset="-122"/>
          <a:cs typeface="+mn-cs"/>
        </a:defRPr>
      </a:lvl2pPr>
      <a:lvl3pPr marL="18097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3pPr>
      <a:lvl4pPr marL="361950"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4pPr>
      <a:lvl5pPr marL="54292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baseline="0">
          <a:solidFill>
            <a:schemeClr val="accent2"/>
          </a:solidFill>
          <a:latin typeface="微软雅黑" panose="020B0503020204020204" pitchFamily="34" charset="-122"/>
          <a:ea typeface="微软雅黑" panose="020B0503020204020204" pitchFamily="34" charset="-122"/>
          <a:cs typeface="+mn-cs"/>
        </a:defRPr>
      </a:lvl5pPr>
      <a:lvl6pPr marL="719455" indent="-18097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8972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0750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1257300" indent="-182880" algn="l" defTabSz="914400" rtl="0" eaLnBrk="1" latinLnBrk="0" hangingPunct="1">
        <a:lnSpc>
          <a:spcPct val="90000"/>
        </a:lnSpc>
        <a:spcBef>
          <a:spcPts val="500"/>
        </a:spcBef>
        <a:buFont typeface="Arial" panose="020B060402020209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tags" Target="../tags/tag1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4.xml"/><Relationship Id="rId1" Type="http://schemas.openxmlformats.org/officeDocument/2006/relationships/image" Target="../media/image2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8.xml"/><Relationship Id="rId2" Type="http://schemas.openxmlformats.org/officeDocument/2006/relationships/image" Target="../media/image26.png"/><Relationship Id="rId1" Type="http://schemas.openxmlformats.org/officeDocument/2006/relationships/image" Target="../media/image2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5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7.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7.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37.svg"/><Relationship Id="rId5" Type="http://schemas.openxmlformats.org/officeDocument/2006/relationships/image" Target="../media/image27.png"/><Relationship Id="rId4" Type="http://schemas.openxmlformats.org/officeDocument/2006/relationships/image" Target="../media/image36.svg"/><Relationship Id="rId3" Type="http://schemas.openxmlformats.org/officeDocument/2006/relationships/image" Target="../media/image35.png"/><Relationship Id="rId2" Type="http://schemas.openxmlformats.org/officeDocument/2006/relationships/image" Target="../media/image34.svg"/><Relationship Id="rId10" Type="http://schemas.openxmlformats.org/officeDocument/2006/relationships/notesSlide" Target="../notesSlides/notesSlide12.xml"/><Relationship Id="rId1" Type="http://schemas.openxmlformats.org/officeDocument/2006/relationships/image" Target="../media/image33.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41.svg"/><Relationship Id="rId10" Type="http://schemas.openxmlformats.org/officeDocument/2006/relationships/notesSlide" Target="../notesSlides/notesSlide13.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7.xml"/><Relationship Id="rId1" Type="http://schemas.openxmlformats.org/officeDocument/2006/relationships/image" Target="../media/image4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64.xml"/><Relationship Id="rId2" Type="http://schemas.openxmlformats.org/officeDocument/2006/relationships/image" Target="../media/image50.png"/><Relationship Id="rId1"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4.xml"/><Relationship Id="rId1" Type="http://schemas.openxmlformats.org/officeDocument/2006/relationships/image" Target="../media/image51.png"/></Relationships>
</file>

<file path=ppt/slides/_rels/slide20.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0" Type="http://schemas.openxmlformats.org/officeDocument/2006/relationships/notesSlide" Target="../notesSlides/notesSlide20.xml"/><Relationship Id="rId6" Type="http://schemas.openxmlformats.org/officeDocument/2006/relationships/tags" Target="../tags/tag26.xml"/><Relationship Id="rId59" Type="http://schemas.openxmlformats.org/officeDocument/2006/relationships/slideLayout" Target="../slideLayouts/slideLayout64.xml"/><Relationship Id="rId58" Type="http://schemas.openxmlformats.org/officeDocument/2006/relationships/tags" Target="../tags/tag78.xml"/><Relationship Id="rId57" Type="http://schemas.openxmlformats.org/officeDocument/2006/relationships/tags" Target="../tags/tag77.xml"/><Relationship Id="rId56" Type="http://schemas.openxmlformats.org/officeDocument/2006/relationships/tags" Target="../tags/tag76.xml"/><Relationship Id="rId55" Type="http://schemas.openxmlformats.org/officeDocument/2006/relationships/tags" Target="../tags/tag75.xml"/><Relationship Id="rId54" Type="http://schemas.openxmlformats.org/officeDocument/2006/relationships/tags" Target="../tags/tag74.xml"/><Relationship Id="rId53" Type="http://schemas.openxmlformats.org/officeDocument/2006/relationships/tags" Target="../tags/tag73.xml"/><Relationship Id="rId52" Type="http://schemas.openxmlformats.org/officeDocument/2006/relationships/tags" Target="../tags/tag72.xml"/><Relationship Id="rId51" Type="http://schemas.openxmlformats.org/officeDocument/2006/relationships/tags" Target="../tags/tag71.xml"/><Relationship Id="rId50" Type="http://schemas.openxmlformats.org/officeDocument/2006/relationships/tags" Target="../tags/tag70.xml"/><Relationship Id="rId5" Type="http://schemas.openxmlformats.org/officeDocument/2006/relationships/tags" Target="../tags/tag25.xml"/><Relationship Id="rId49" Type="http://schemas.openxmlformats.org/officeDocument/2006/relationships/tags" Target="../tags/tag69.xml"/><Relationship Id="rId48" Type="http://schemas.openxmlformats.org/officeDocument/2006/relationships/tags" Target="../tags/tag68.xml"/><Relationship Id="rId47" Type="http://schemas.openxmlformats.org/officeDocument/2006/relationships/tags" Target="../tags/tag67.xml"/><Relationship Id="rId46" Type="http://schemas.openxmlformats.org/officeDocument/2006/relationships/tags" Target="../tags/tag66.xml"/><Relationship Id="rId45" Type="http://schemas.openxmlformats.org/officeDocument/2006/relationships/tags" Target="../tags/tag65.xml"/><Relationship Id="rId44" Type="http://schemas.openxmlformats.org/officeDocument/2006/relationships/tags" Target="../tags/tag64.xml"/><Relationship Id="rId43" Type="http://schemas.openxmlformats.org/officeDocument/2006/relationships/tags" Target="../tags/tag63.xml"/><Relationship Id="rId42" Type="http://schemas.openxmlformats.org/officeDocument/2006/relationships/tags" Target="../tags/tag62.xml"/><Relationship Id="rId41" Type="http://schemas.openxmlformats.org/officeDocument/2006/relationships/tags" Target="../tags/tag61.xml"/><Relationship Id="rId40" Type="http://schemas.openxmlformats.org/officeDocument/2006/relationships/tags" Target="../tags/tag60.xml"/><Relationship Id="rId4" Type="http://schemas.openxmlformats.org/officeDocument/2006/relationships/tags" Target="../tags/tag24.xml"/><Relationship Id="rId39" Type="http://schemas.openxmlformats.org/officeDocument/2006/relationships/tags" Target="../tags/tag59.xml"/><Relationship Id="rId38" Type="http://schemas.openxmlformats.org/officeDocument/2006/relationships/tags" Target="../tags/tag58.xml"/><Relationship Id="rId37" Type="http://schemas.openxmlformats.org/officeDocument/2006/relationships/tags" Target="../tags/tag57.xml"/><Relationship Id="rId36" Type="http://schemas.openxmlformats.org/officeDocument/2006/relationships/tags" Target="../tags/tag56.xml"/><Relationship Id="rId35" Type="http://schemas.openxmlformats.org/officeDocument/2006/relationships/tags" Target="../tags/tag55.xml"/><Relationship Id="rId34" Type="http://schemas.openxmlformats.org/officeDocument/2006/relationships/tags" Target="../tags/tag54.xml"/><Relationship Id="rId33" Type="http://schemas.openxmlformats.org/officeDocument/2006/relationships/tags" Target="../tags/tag53.xml"/><Relationship Id="rId32" Type="http://schemas.openxmlformats.org/officeDocument/2006/relationships/tags" Target="../tags/tag52.xml"/><Relationship Id="rId31" Type="http://schemas.openxmlformats.org/officeDocument/2006/relationships/tags" Target="../tags/tag51.xml"/><Relationship Id="rId30" Type="http://schemas.openxmlformats.org/officeDocument/2006/relationships/tags" Target="../tags/tag50.xml"/><Relationship Id="rId3" Type="http://schemas.openxmlformats.org/officeDocument/2006/relationships/tags" Target="../tags/tag23.xml"/><Relationship Id="rId29" Type="http://schemas.openxmlformats.org/officeDocument/2006/relationships/tags" Target="../tags/tag49.xml"/><Relationship Id="rId28" Type="http://schemas.openxmlformats.org/officeDocument/2006/relationships/tags" Target="../tags/tag48.xml"/><Relationship Id="rId27" Type="http://schemas.openxmlformats.org/officeDocument/2006/relationships/tags" Target="../tags/tag47.xml"/><Relationship Id="rId26" Type="http://schemas.openxmlformats.org/officeDocument/2006/relationships/tags" Target="../tags/tag46.xml"/><Relationship Id="rId25" Type="http://schemas.openxmlformats.org/officeDocument/2006/relationships/tags" Target="../tags/tag45.xml"/><Relationship Id="rId24" Type="http://schemas.openxmlformats.org/officeDocument/2006/relationships/tags" Target="../tags/tag44.xml"/><Relationship Id="rId23" Type="http://schemas.openxmlformats.org/officeDocument/2006/relationships/tags" Target="../tags/tag43.xml"/><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9" Type="http://schemas.openxmlformats.org/officeDocument/2006/relationships/notesSlide" Target="../notesSlides/notesSlide21.xml"/><Relationship Id="rId58" Type="http://schemas.openxmlformats.org/officeDocument/2006/relationships/slideLayout" Target="../slideLayouts/slideLayout64.xml"/><Relationship Id="rId57" Type="http://schemas.openxmlformats.org/officeDocument/2006/relationships/tags" Target="../tags/tag135.xml"/><Relationship Id="rId56" Type="http://schemas.openxmlformats.org/officeDocument/2006/relationships/tags" Target="../tags/tag134.xml"/><Relationship Id="rId55" Type="http://schemas.openxmlformats.org/officeDocument/2006/relationships/tags" Target="../tags/tag133.xml"/><Relationship Id="rId54" Type="http://schemas.openxmlformats.org/officeDocument/2006/relationships/tags" Target="../tags/tag132.xml"/><Relationship Id="rId53" Type="http://schemas.openxmlformats.org/officeDocument/2006/relationships/tags" Target="../tags/tag131.xml"/><Relationship Id="rId52" Type="http://schemas.openxmlformats.org/officeDocument/2006/relationships/tags" Target="../tags/tag130.xml"/><Relationship Id="rId51" Type="http://schemas.openxmlformats.org/officeDocument/2006/relationships/tags" Target="../tags/tag129.xml"/><Relationship Id="rId50" Type="http://schemas.openxmlformats.org/officeDocument/2006/relationships/tags" Target="../tags/tag128.xml"/><Relationship Id="rId5" Type="http://schemas.openxmlformats.org/officeDocument/2006/relationships/tags" Target="../tags/tag83.xml"/><Relationship Id="rId49" Type="http://schemas.openxmlformats.org/officeDocument/2006/relationships/tags" Target="../tags/tag127.xml"/><Relationship Id="rId48" Type="http://schemas.openxmlformats.org/officeDocument/2006/relationships/tags" Target="../tags/tag126.xml"/><Relationship Id="rId47" Type="http://schemas.openxmlformats.org/officeDocument/2006/relationships/tags" Target="../tags/tag125.xml"/><Relationship Id="rId46" Type="http://schemas.openxmlformats.org/officeDocument/2006/relationships/tags" Target="../tags/tag124.xml"/><Relationship Id="rId45" Type="http://schemas.openxmlformats.org/officeDocument/2006/relationships/tags" Target="../tags/tag123.xml"/><Relationship Id="rId44" Type="http://schemas.openxmlformats.org/officeDocument/2006/relationships/tags" Target="../tags/tag122.xml"/><Relationship Id="rId43" Type="http://schemas.openxmlformats.org/officeDocument/2006/relationships/tags" Target="../tags/tag121.xml"/><Relationship Id="rId42" Type="http://schemas.openxmlformats.org/officeDocument/2006/relationships/tags" Target="../tags/tag120.xml"/><Relationship Id="rId41" Type="http://schemas.openxmlformats.org/officeDocument/2006/relationships/tags" Target="../tags/tag119.xml"/><Relationship Id="rId40" Type="http://schemas.openxmlformats.org/officeDocument/2006/relationships/tags" Target="../tags/tag118.xml"/><Relationship Id="rId4" Type="http://schemas.openxmlformats.org/officeDocument/2006/relationships/tags" Target="../tags/tag82.xml"/><Relationship Id="rId39" Type="http://schemas.openxmlformats.org/officeDocument/2006/relationships/tags" Target="../tags/tag117.xml"/><Relationship Id="rId38" Type="http://schemas.openxmlformats.org/officeDocument/2006/relationships/tags" Target="../tags/tag116.xml"/><Relationship Id="rId37" Type="http://schemas.openxmlformats.org/officeDocument/2006/relationships/tags" Target="../tags/tag115.xml"/><Relationship Id="rId36" Type="http://schemas.openxmlformats.org/officeDocument/2006/relationships/tags" Target="../tags/tag114.xml"/><Relationship Id="rId35" Type="http://schemas.openxmlformats.org/officeDocument/2006/relationships/tags" Target="../tags/tag113.xml"/><Relationship Id="rId34" Type="http://schemas.openxmlformats.org/officeDocument/2006/relationships/tags" Target="../tags/tag112.xml"/><Relationship Id="rId33" Type="http://schemas.openxmlformats.org/officeDocument/2006/relationships/tags" Target="../tags/tag111.xml"/><Relationship Id="rId32" Type="http://schemas.openxmlformats.org/officeDocument/2006/relationships/tags" Target="../tags/tag110.xml"/><Relationship Id="rId31" Type="http://schemas.openxmlformats.org/officeDocument/2006/relationships/tags" Target="../tags/tag109.xml"/><Relationship Id="rId30" Type="http://schemas.openxmlformats.org/officeDocument/2006/relationships/tags" Target="../tags/tag108.xml"/><Relationship Id="rId3" Type="http://schemas.openxmlformats.org/officeDocument/2006/relationships/tags" Target="../tags/tag81.xml"/><Relationship Id="rId29" Type="http://schemas.openxmlformats.org/officeDocument/2006/relationships/tags" Target="../tags/tag107.xml"/><Relationship Id="rId28" Type="http://schemas.openxmlformats.org/officeDocument/2006/relationships/tags" Target="../tags/tag106.xml"/><Relationship Id="rId27" Type="http://schemas.openxmlformats.org/officeDocument/2006/relationships/tags" Target="../tags/tag105.xml"/><Relationship Id="rId26" Type="http://schemas.openxmlformats.org/officeDocument/2006/relationships/tags" Target="../tags/tag104.xml"/><Relationship Id="rId25" Type="http://schemas.openxmlformats.org/officeDocument/2006/relationships/tags" Target="../tags/tag103.xml"/><Relationship Id="rId24" Type="http://schemas.openxmlformats.org/officeDocument/2006/relationships/tags" Target="../tags/tag102.xml"/><Relationship Id="rId23" Type="http://schemas.openxmlformats.org/officeDocument/2006/relationships/tags" Target="../tags/tag101.xml"/><Relationship Id="rId22" Type="http://schemas.openxmlformats.org/officeDocument/2006/relationships/tags" Target="../tags/tag100.xml"/><Relationship Id="rId21" Type="http://schemas.openxmlformats.org/officeDocument/2006/relationships/tags" Target="../tags/tag99.xml"/><Relationship Id="rId20" Type="http://schemas.openxmlformats.org/officeDocument/2006/relationships/tags" Target="../tags/tag98.xml"/><Relationship Id="rId2" Type="http://schemas.openxmlformats.org/officeDocument/2006/relationships/tags" Target="../tags/tag80.xml"/><Relationship Id="rId19" Type="http://schemas.openxmlformats.org/officeDocument/2006/relationships/tags" Target="../tags/tag97.xml"/><Relationship Id="rId18" Type="http://schemas.openxmlformats.org/officeDocument/2006/relationships/tags" Target="../tags/tag96.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tags" Target="../tags/tag7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image" Target="../media/image53.svg"/><Relationship Id="rId4" Type="http://schemas.openxmlformats.org/officeDocument/2006/relationships/image" Target="../media/image52.png"/><Relationship Id="rId3" Type="http://schemas.openxmlformats.org/officeDocument/2006/relationships/tags" Target="../tags/tag138.xml"/><Relationship Id="rId25" Type="http://schemas.openxmlformats.org/officeDocument/2006/relationships/notesSlide" Target="../notesSlides/notesSlide25.xml"/><Relationship Id="rId24" Type="http://schemas.openxmlformats.org/officeDocument/2006/relationships/slideLayout" Target="../slideLayouts/slideLayout64.xml"/><Relationship Id="rId23" Type="http://schemas.openxmlformats.org/officeDocument/2006/relationships/tags" Target="../tags/tag156.xml"/><Relationship Id="rId22" Type="http://schemas.openxmlformats.org/officeDocument/2006/relationships/tags" Target="../tags/tag155.xml"/><Relationship Id="rId21" Type="http://schemas.openxmlformats.org/officeDocument/2006/relationships/tags" Target="../tags/tag154.xml"/><Relationship Id="rId20" Type="http://schemas.openxmlformats.org/officeDocument/2006/relationships/tags" Target="../tags/tag153.xml"/><Relationship Id="rId2" Type="http://schemas.openxmlformats.org/officeDocument/2006/relationships/tags" Target="../tags/tag137.xml"/><Relationship Id="rId19" Type="http://schemas.openxmlformats.org/officeDocument/2006/relationships/tags" Target="../tags/tag152.xml"/><Relationship Id="rId18" Type="http://schemas.openxmlformats.org/officeDocument/2006/relationships/tags" Target="../tags/tag151.xml"/><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tags" Target="../tags/tag136.xml"/></Relationships>
</file>

<file path=ppt/slides/_rels/slide26.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3" Type="http://schemas.openxmlformats.org/officeDocument/2006/relationships/notesSlide" Target="../notesSlides/notesSlide26.xml"/><Relationship Id="rId72" Type="http://schemas.openxmlformats.org/officeDocument/2006/relationships/slideLayout" Target="../slideLayouts/slideLayout64.xml"/><Relationship Id="rId71" Type="http://schemas.openxmlformats.org/officeDocument/2006/relationships/tags" Target="../tags/tag227.xml"/><Relationship Id="rId70" Type="http://schemas.openxmlformats.org/officeDocument/2006/relationships/tags" Target="../tags/tag226.xml"/><Relationship Id="rId7" Type="http://schemas.openxmlformats.org/officeDocument/2006/relationships/tags" Target="../tags/tag163.xml"/><Relationship Id="rId69" Type="http://schemas.openxmlformats.org/officeDocument/2006/relationships/tags" Target="../tags/tag225.xml"/><Relationship Id="rId68" Type="http://schemas.openxmlformats.org/officeDocument/2006/relationships/tags" Target="../tags/tag224.xml"/><Relationship Id="rId67" Type="http://schemas.openxmlformats.org/officeDocument/2006/relationships/tags" Target="../tags/tag223.xml"/><Relationship Id="rId66" Type="http://schemas.openxmlformats.org/officeDocument/2006/relationships/tags" Target="../tags/tag222.xml"/><Relationship Id="rId65" Type="http://schemas.openxmlformats.org/officeDocument/2006/relationships/tags" Target="../tags/tag221.xml"/><Relationship Id="rId64" Type="http://schemas.openxmlformats.org/officeDocument/2006/relationships/tags" Target="../tags/tag220.xml"/><Relationship Id="rId63" Type="http://schemas.openxmlformats.org/officeDocument/2006/relationships/tags" Target="../tags/tag219.xml"/><Relationship Id="rId62" Type="http://schemas.openxmlformats.org/officeDocument/2006/relationships/tags" Target="../tags/tag218.xml"/><Relationship Id="rId61" Type="http://schemas.openxmlformats.org/officeDocument/2006/relationships/tags" Target="../tags/tag217.xml"/><Relationship Id="rId60" Type="http://schemas.openxmlformats.org/officeDocument/2006/relationships/tags" Target="../tags/tag216.xml"/><Relationship Id="rId6" Type="http://schemas.openxmlformats.org/officeDocument/2006/relationships/tags" Target="../tags/tag162.xml"/><Relationship Id="rId59" Type="http://schemas.openxmlformats.org/officeDocument/2006/relationships/tags" Target="../tags/tag215.xml"/><Relationship Id="rId58" Type="http://schemas.openxmlformats.org/officeDocument/2006/relationships/tags" Target="../tags/tag214.xml"/><Relationship Id="rId57" Type="http://schemas.openxmlformats.org/officeDocument/2006/relationships/tags" Target="../tags/tag213.xml"/><Relationship Id="rId56" Type="http://schemas.openxmlformats.org/officeDocument/2006/relationships/tags" Target="../tags/tag212.xml"/><Relationship Id="rId55" Type="http://schemas.openxmlformats.org/officeDocument/2006/relationships/tags" Target="../tags/tag211.xml"/><Relationship Id="rId54" Type="http://schemas.openxmlformats.org/officeDocument/2006/relationships/tags" Target="../tags/tag210.xml"/><Relationship Id="rId53" Type="http://schemas.openxmlformats.org/officeDocument/2006/relationships/tags" Target="../tags/tag209.xml"/><Relationship Id="rId52" Type="http://schemas.openxmlformats.org/officeDocument/2006/relationships/tags" Target="../tags/tag208.xml"/><Relationship Id="rId51" Type="http://schemas.openxmlformats.org/officeDocument/2006/relationships/tags" Target="../tags/tag207.xml"/><Relationship Id="rId50" Type="http://schemas.openxmlformats.org/officeDocument/2006/relationships/tags" Target="../tags/tag206.xml"/><Relationship Id="rId5" Type="http://schemas.openxmlformats.org/officeDocument/2006/relationships/tags" Target="../tags/tag161.xml"/><Relationship Id="rId49" Type="http://schemas.openxmlformats.org/officeDocument/2006/relationships/tags" Target="../tags/tag205.xml"/><Relationship Id="rId48" Type="http://schemas.openxmlformats.org/officeDocument/2006/relationships/tags" Target="../tags/tag204.xml"/><Relationship Id="rId47" Type="http://schemas.openxmlformats.org/officeDocument/2006/relationships/tags" Target="../tags/tag203.xml"/><Relationship Id="rId46" Type="http://schemas.openxmlformats.org/officeDocument/2006/relationships/tags" Target="../tags/tag202.xml"/><Relationship Id="rId45" Type="http://schemas.openxmlformats.org/officeDocument/2006/relationships/tags" Target="../tags/tag201.xml"/><Relationship Id="rId44" Type="http://schemas.openxmlformats.org/officeDocument/2006/relationships/tags" Target="../tags/tag200.xml"/><Relationship Id="rId43" Type="http://schemas.openxmlformats.org/officeDocument/2006/relationships/tags" Target="../tags/tag199.xml"/><Relationship Id="rId42" Type="http://schemas.openxmlformats.org/officeDocument/2006/relationships/tags" Target="../tags/tag198.xml"/><Relationship Id="rId41" Type="http://schemas.openxmlformats.org/officeDocument/2006/relationships/tags" Target="../tags/tag197.xml"/><Relationship Id="rId40" Type="http://schemas.openxmlformats.org/officeDocument/2006/relationships/tags" Target="../tags/tag196.xml"/><Relationship Id="rId4" Type="http://schemas.openxmlformats.org/officeDocument/2006/relationships/tags" Target="../tags/tag160.xml"/><Relationship Id="rId39" Type="http://schemas.openxmlformats.org/officeDocument/2006/relationships/tags" Target="../tags/tag195.xml"/><Relationship Id="rId38" Type="http://schemas.openxmlformats.org/officeDocument/2006/relationships/tags" Target="../tags/tag194.xml"/><Relationship Id="rId37" Type="http://schemas.openxmlformats.org/officeDocument/2006/relationships/tags" Target="../tags/tag193.xml"/><Relationship Id="rId36" Type="http://schemas.openxmlformats.org/officeDocument/2006/relationships/tags" Target="../tags/tag192.xml"/><Relationship Id="rId35" Type="http://schemas.openxmlformats.org/officeDocument/2006/relationships/tags" Target="../tags/tag191.xml"/><Relationship Id="rId34" Type="http://schemas.openxmlformats.org/officeDocument/2006/relationships/tags" Target="../tags/tag190.xml"/><Relationship Id="rId33" Type="http://schemas.openxmlformats.org/officeDocument/2006/relationships/tags" Target="../tags/tag189.xml"/><Relationship Id="rId32" Type="http://schemas.openxmlformats.org/officeDocument/2006/relationships/tags" Target="../tags/tag188.xml"/><Relationship Id="rId31" Type="http://schemas.openxmlformats.org/officeDocument/2006/relationships/tags" Target="../tags/tag187.xml"/><Relationship Id="rId30" Type="http://schemas.openxmlformats.org/officeDocument/2006/relationships/tags" Target="../tags/tag186.xml"/><Relationship Id="rId3" Type="http://schemas.openxmlformats.org/officeDocument/2006/relationships/tags" Target="../tags/tag159.xml"/><Relationship Id="rId29" Type="http://schemas.openxmlformats.org/officeDocument/2006/relationships/tags" Target="../tags/tag185.xml"/><Relationship Id="rId28" Type="http://schemas.openxmlformats.org/officeDocument/2006/relationships/tags" Target="../tags/tag184.xml"/><Relationship Id="rId27" Type="http://schemas.openxmlformats.org/officeDocument/2006/relationships/tags" Target="../tags/tag183.xml"/><Relationship Id="rId26" Type="http://schemas.openxmlformats.org/officeDocument/2006/relationships/tags" Target="../tags/tag182.xml"/><Relationship Id="rId25" Type="http://schemas.openxmlformats.org/officeDocument/2006/relationships/tags" Target="../tags/tag181.xml"/><Relationship Id="rId24" Type="http://schemas.openxmlformats.org/officeDocument/2006/relationships/tags" Target="../tags/tag180.xml"/><Relationship Id="rId23" Type="http://schemas.openxmlformats.org/officeDocument/2006/relationships/tags" Target="../tags/tag179.xml"/><Relationship Id="rId22" Type="http://schemas.openxmlformats.org/officeDocument/2006/relationships/tags" Target="../tags/tag178.xml"/><Relationship Id="rId21" Type="http://schemas.openxmlformats.org/officeDocument/2006/relationships/tags" Target="../tags/tag177.xml"/><Relationship Id="rId20" Type="http://schemas.openxmlformats.org/officeDocument/2006/relationships/tags" Target="../tags/tag176.xml"/><Relationship Id="rId2" Type="http://schemas.openxmlformats.org/officeDocument/2006/relationships/tags" Target="../tags/tag158.xml"/><Relationship Id="rId19" Type="http://schemas.openxmlformats.org/officeDocument/2006/relationships/tags" Target="../tags/tag175.xml"/><Relationship Id="rId18" Type="http://schemas.openxmlformats.org/officeDocument/2006/relationships/tags" Target="../tags/tag174.xml"/><Relationship Id="rId17" Type="http://schemas.openxmlformats.org/officeDocument/2006/relationships/tags" Target="../tags/tag173.xml"/><Relationship Id="rId16" Type="http://schemas.openxmlformats.org/officeDocument/2006/relationships/tags" Target="../tags/tag17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tags" Target="../tags/tag157.xml"/></Relationships>
</file>

<file path=ppt/slides/_rels/slide27.xml.rels><?xml version="1.0" encoding="UTF-8" standalone="yes"?>
<Relationships xmlns="http://schemas.openxmlformats.org/package/2006/relationships"><Relationship Id="rId99" Type="http://schemas.openxmlformats.org/officeDocument/2006/relationships/tags" Target="../tags/tag323.xml"/><Relationship Id="rId98" Type="http://schemas.openxmlformats.org/officeDocument/2006/relationships/tags" Target="../tags/tag322.xml"/><Relationship Id="rId97" Type="http://schemas.openxmlformats.org/officeDocument/2006/relationships/tags" Target="../tags/tag321.xml"/><Relationship Id="rId96" Type="http://schemas.openxmlformats.org/officeDocument/2006/relationships/tags" Target="../tags/tag320.xml"/><Relationship Id="rId95" Type="http://schemas.openxmlformats.org/officeDocument/2006/relationships/tags" Target="../tags/tag319.xml"/><Relationship Id="rId94" Type="http://schemas.openxmlformats.org/officeDocument/2006/relationships/tags" Target="../tags/tag318.xml"/><Relationship Id="rId93" Type="http://schemas.openxmlformats.org/officeDocument/2006/relationships/tags" Target="../tags/tag317.xml"/><Relationship Id="rId92" Type="http://schemas.openxmlformats.org/officeDocument/2006/relationships/tags" Target="../tags/tag316.xml"/><Relationship Id="rId91" Type="http://schemas.openxmlformats.org/officeDocument/2006/relationships/tags" Target="../tags/tag315.xml"/><Relationship Id="rId90" Type="http://schemas.openxmlformats.org/officeDocument/2006/relationships/tags" Target="../tags/tag314.xml"/><Relationship Id="rId9" Type="http://schemas.openxmlformats.org/officeDocument/2006/relationships/tags" Target="../tags/tag236.xml"/><Relationship Id="rId89" Type="http://schemas.openxmlformats.org/officeDocument/2006/relationships/tags" Target="../tags/tag313.xml"/><Relationship Id="rId88" Type="http://schemas.openxmlformats.org/officeDocument/2006/relationships/tags" Target="../tags/tag312.xml"/><Relationship Id="rId87" Type="http://schemas.openxmlformats.org/officeDocument/2006/relationships/tags" Target="../tags/tag311.xml"/><Relationship Id="rId86" Type="http://schemas.openxmlformats.org/officeDocument/2006/relationships/tags" Target="../tags/tag310.xml"/><Relationship Id="rId85" Type="http://schemas.openxmlformats.org/officeDocument/2006/relationships/tags" Target="../tags/tag309.xml"/><Relationship Id="rId84" Type="http://schemas.openxmlformats.org/officeDocument/2006/relationships/tags" Target="../tags/tag308.xml"/><Relationship Id="rId83" Type="http://schemas.openxmlformats.org/officeDocument/2006/relationships/tags" Target="../tags/tag307.xml"/><Relationship Id="rId82" Type="http://schemas.openxmlformats.org/officeDocument/2006/relationships/tags" Target="../tags/tag306.xml"/><Relationship Id="rId81" Type="http://schemas.openxmlformats.org/officeDocument/2006/relationships/tags" Target="../tags/tag305.xml"/><Relationship Id="rId80" Type="http://schemas.openxmlformats.org/officeDocument/2006/relationships/tags" Target="../tags/tag304.xml"/><Relationship Id="rId8" Type="http://schemas.openxmlformats.org/officeDocument/2006/relationships/tags" Target="../tags/tag235.xml"/><Relationship Id="rId79" Type="http://schemas.openxmlformats.org/officeDocument/2006/relationships/tags" Target="../tags/tag303.xml"/><Relationship Id="rId78" Type="http://schemas.openxmlformats.org/officeDocument/2006/relationships/tags" Target="../tags/tag302.xml"/><Relationship Id="rId77" Type="http://schemas.openxmlformats.org/officeDocument/2006/relationships/tags" Target="../tags/tag301.xml"/><Relationship Id="rId76" Type="http://schemas.openxmlformats.org/officeDocument/2006/relationships/tags" Target="../tags/tag300.xml"/><Relationship Id="rId75" Type="http://schemas.openxmlformats.org/officeDocument/2006/relationships/tags" Target="../tags/tag299.xml"/><Relationship Id="rId74" Type="http://schemas.openxmlformats.org/officeDocument/2006/relationships/tags" Target="../tags/tag298.xml"/><Relationship Id="rId73" Type="http://schemas.openxmlformats.org/officeDocument/2006/relationships/tags" Target="../tags/tag297.xml"/><Relationship Id="rId72" Type="http://schemas.openxmlformats.org/officeDocument/2006/relationships/tags" Target="../tags/tag296.xml"/><Relationship Id="rId71" Type="http://schemas.openxmlformats.org/officeDocument/2006/relationships/tags" Target="../tags/tag295.xml"/><Relationship Id="rId70" Type="http://schemas.openxmlformats.org/officeDocument/2006/relationships/tags" Target="../tags/tag294.xml"/><Relationship Id="rId7" Type="http://schemas.openxmlformats.org/officeDocument/2006/relationships/tags" Target="../tags/tag234.xml"/><Relationship Id="rId69" Type="http://schemas.openxmlformats.org/officeDocument/2006/relationships/tags" Target="../tags/tag293.xml"/><Relationship Id="rId68" Type="http://schemas.openxmlformats.org/officeDocument/2006/relationships/tags" Target="../tags/tag292.xml"/><Relationship Id="rId67" Type="http://schemas.openxmlformats.org/officeDocument/2006/relationships/tags" Target="../tags/tag291.xml"/><Relationship Id="rId66" Type="http://schemas.openxmlformats.org/officeDocument/2006/relationships/tags" Target="../tags/tag290.xml"/><Relationship Id="rId65" Type="http://schemas.openxmlformats.org/officeDocument/2006/relationships/tags" Target="../tags/tag289.xml"/><Relationship Id="rId64" Type="http://schemas.openxmlformats.org/officeDocument/2006/relationships/tags" Target="../tags/tag288.xml"/><Relationship Id="rId63" Type="http://schemas.openxmlformats.org/officeDocument/2006/relationships/tags" Target="../tags/tag287.xml"/><Relationship Id="rId62" Type="http://schemas.openxmlformats.org/officeDocument/2006/relationships/tags" Target="../tags/tag286.xml"/><Relationship Id="rId61" Type="http://schemas.openxmlformats.org/officeDocument/2006/relationships/tags" Target="../tags/tag285.xml"/><Relationship Id="rId60" Type="http://schemas.openxmlformats.org/officeDocument/2006/relationships/tags" Target="../tags/tag284.xml"/><Relationship Id="rId6" Type="http://schemas.openxmlformats.org/officeDocument/2006/relationships/tags" Target="../tags/tag233.xml"/><Relationship Id="rId59" Type="http://schemas.openxmlformats.org/officeDocument/2006/relationships/tags" Target="../tags/tag283.xml"/><Relationship Id="rId58" Type="http://schemas.openxmlformats.org/officeDocument/2006/relationships/tags" Target="../tags/tag282.xml"/><Relationship Id="rId57" Type="http://schemas.openxmlformats.org/officeDocument/2006/relationships/tags" Target="../tags/tag281.xml"/><Relationship Id="rId56" Type="http://schemas.openxmlformats.org/officeDocument/2006/relationships/tags" Target="../tags/tag280.xml"/><Relationship Id="rId55" Type="http://schemas.openxmlformats.org/officeDocument/2006/relationships/tags" Target="../tags/tag279.xml"/><Relationship Id="rId54" Type="http://schemas.openxmlformats.org/officeDocument/2006/relationships/tags" Target="../tags/tag278.xml"/><Relationship Id="rId53" Type="http://schemas.openxmlformats.org/officeDocument/2006/relationships/tags" Target="../tags/tag277.xml"/><Relationship Id="rId52" Type="http://schemas.openxmlformats.org/officeDocument/2006/relationships/tags" Target="../tags/tag276.xml"/><Relationship Id="rId51" Type="http://schemas.openxmlformats.org/officeDocument/2006/relationships/tags" Target="../tags/tag275.xml"/><Relationship Id="rId50" Type="http://schemas.openxmlformats.org/officeDocument/2006/relationships/tags" Target="../tags/tag274.xml"/><Relationship Id="rId5" Type="http://schemas.openxmlformats.org/officeDocument/2006/relationships/tags" Target="../tags/tag232.xml"/><Relationship Id="rId49" Type="http://schemas.openxmlformats.org/officeDocument/2006/relationships/tags" Target="../tags/tag273.xml"/><Relationship Id="rId48" Type="http://schemas.openxmlformats.org/officeDocument/2006/relationships/image" Target="../media/image56.png"/><Relationship Id="rId47" Type="http://schemas.openxmlformats.org/officeDocument/2006/relationships/tags" Target="../tags/tag272.xml"/><Relationship Id="rId46" Type="http://schemas.openxmlformats.org/officeDocument/2006/relationships/image" Target="../media/image55.png"/><Relationship Id="rId45" Type="http://schemas.openxmlformats.org/officeDocument/2006/relationships/tags" Target="../tags/tag271.xml"/><Relationship Id="rId44" Type="http://schemas.openxmlformats.org/officeDocument/2006/relationships/image" Target="../media/image54.png"/><Relationship Id="rId43" Type="http://schemas.openxmlformats.org/officeDocument/2006/relationships/tags" Target="../tags/tag270.xml"/><Relationship Id="rId42" Type="http://schemas.openxmlformats.org/officeDocument/2006/relationships/tags" Target="../tags/tag269.xml"/><Relationship Id="rId41" Type="http://schemas.openxmlformats.org/officeDocument/2006/relationships/tags" Target="../tags/tag268.xml"/><Relationship Id="rId40" Type="http://schemas.openxmlformats.org/officeDocument/2006/relationships/tags" Target="../tags/tag267.xml"/><Relationship Id="rId4" Type="http://schemas.openxmlformats.org/officeDocument/2006/relationships/tags" Target="../tags/tag231.xml"/><Relationship Id="rId39" Type="http://schemas.openxmlformats.org/officeDocument/2006/relationships/tags" Target="../tags/tag266.xml"/><Relationship Id="rId38" Type="http://schemas.openxmlformats.org/officeDocument/2006/relationships/tags" Target="../tags/tag265.xml"/><Relationship Id="rId37" Type="http://schemas.openxmlformats.org/officeDocument/2006/relationships/tags" Target="../tags/tag264.xml"/><Relationship Id="rId36" Type="http://schemas.openxmlformats.org/officeDocument/2006/relationships/tags" Target="../tags/tag263.xml"/><Relationship Id="rId35" Type="http://schemas.openxmlformats.org/officeDocument/2006/relationships/tags" Target="../tags/tag262.xml"/><Relationship Id="rId34" Type="http://schemas.openxmlformats.org/officeDocument/2006/relationships/tags" Target="../tags/tag261.xml"/><Relationship Id="rId33" Type="http://schemas.openxmlformats.org/officeDocument/2006/relationships/tags" Target="../tags/tag260.xml"/><Relationship Id="rId32" Type="http://schemas.openxmlformats.org/officeDocument/2006/relationships/tags" Target="../tags/tag259.xml"/><Relationship Id="rId31" Type="http://schemas.openxmlformats.org/officeDocument/2006/relationships/tags" Target="../tags/tag258.xml"/><Relationship Id="rId30" Type="http://schemas.openxmlformats.org/officeDocument/2006/relationships/tags" Target="../tags/tag257.xml"/><Relationship Id="rId3" Type="http://schemas.openxmlformats.org/officeDocument/2006/relationships/tags" Target="../tags/tag230.xml"/><Relationship Id="rId29" Type="http://schemas.openxmlformats.org/officeDocument/2006/relationships/tags" Target="../tags/tag256.xml"/><Relationship Id="rId28" Type="http://schemas.openxmlformats.org/officeDocument/2006/relationships/tags" Target="../tags/tag255.xml"/><Relationship Id="rId27" Type="http://schemas.openxmlformats.org/officeDocument/2006/relationships/tags" Target="../tags/tag254.xml"/><Relationship Id="rId26" Type="http://schemas.openxmlformats.org/officeDocument/2006/relationships/tags" Target="../tags/tag253.xml"/><Relationship Id="rId25" Type="http://schemas.openxmlformats.org/officeDocument/2006/relationships/tags" Target="../tags/tag252.xml"/><Relationship Id="rId24" Type="http://schemas.openxmlformats.org/officeDocument/2006/relationships/tags" Target="../tags/tag251.xml"/><Relationship Id="rId23" Type="http://schemas.openxmlformats.org/officeDocument/2006/relationships/tags" Target="../tags/tag250.xml"/><Relationship Id="rId22" Type="http://schemas.openxmlformats.org/officeDocument/2006/relationships/tags" Target="../tags/tag249.xml"/><Relationship Id="rId21" Type="http://schemas.openxmlformats.org/officeDocument/2006/relationships/tags" Target="../tags/tag248.xml"/><Relationship Id="rId20" Type="http://schemas.openxmlformats.org/officeDocument/2006/relationships/tags" Target="../tags/tag247.xml"/><Relationship Id="rId2" Type="http://schemas.openxmlformats.org/officeDocument/2006/relationships/tags" Target="../tags/tag229.xml"/><Relationship Id="rId19" Type="http://schemas.openxmlformats.org/officeDocument/2006/relationships/tags" Target="../tags/tag246.xml"/><Relationship Id="rId18" Type="http://schemas.openxmlformats.org/officeDocument/2006/relationships/tags" Target="../tags/tag245.xml"/><Relationship Id="rId172" Type="http://schemas.openxmlformats.org/officeDocument/2006/relationships/notesSlide" Target="../notesSlides/notesSlide27.xml"/><Relationship Id="rId171" Type="http://schemas.openxmlformats.org/officeDocument/2006/relationships/slideLayout" Target="../slideLayouts/slideLayout64.xml"/><Relationship Id="rId170" Type="http://schemas.openxmlformats.org/officeDocument/2006/relationships/tags" Target="../tags/tag394.xml"/><Relationship Id="rId17" Type="http://schemas.openxmlformats.org/officeDocument/2006/relationships/tags" Target="../tags/tag244.xml"/><Relationship Id="rId169" Type="http://schemas.openxmlformats.org/officeDocument/2006/relationships/tags" Target="../tags/tag393.xml"/><Relationship Id="rId168" Type="http://schemas.openxmlformats.org/officeDocument/2006/relationships/tags" Target="../tags/tag392.xml"/><Relationship Id="rId167" Type="http://schemas.openxmlformats.org/officeDocument/2006/relationships/tags" Target="../tags/tag391.xml"/><Relationship Id="rId166" Type="http://schemas.openxmlformats.org/officeDocument/2006/relationships/tags" Target="../tags/tag390.xml"/><Relationship Id="rId165" Type="http://schemas.openxmlformats.org/officeDocument/2006/relationships/tags" Target="../tags/tag389.xml"/><Relationship Id="rId164" Type="http://schemas.openxmlformats.org/officeDocument/2006/relationships/tags" Target="../tags/tag388.xml"/><Relationship Id="rId163" Type="http://schemas.openxmlformats.org/officeDocument/2006/relationships/tags" Target="../tags/tag387.xml"/><Relationship Id="rId162" Type="http://schemas.openxmlformats.org/officeDocument/2006/relationships/tags" Target="../tags/tag386.xml"/><Relationship Id="rId161" Type="http://schemas.openxmlformats.org/officeDocument/2006/relationships/tags" Target="../tags/tag385.xml"/><Relationship Id="rId160" Type="http://schemas.openxmlformats.org/officeDocument/2006/relationships/tags" Target="../tags/tag384.xml"/><Relationship Id="rId16" Type="http://schemas.openxmlformats.org/officeDocument/2006/relationships/tags" Target="../tags/tag243.xml"/><Relationship Id="rId159" Type="http://schemas.openxmlformats.org/officeDocument/2006/relationships/tags" Target="../tags/tag383.xml"/><Relationship Id="rId158" Type="http://schemas.openxmlformats.org/officeDocument/2006/relationships/tags" Target="../tags/tag382.xml"/><Relationship Id="rId157" Type="http://schemas.openxmlformats.org/officeDocument/2006/relationships/tags" Target="../tags/tag381.xml"/><Relationship Id="rId156" Type="http://schemas.openxmlformats.org/officeDocument/2006/relationships/tags" Target="../tags/tag380.xml"/><Relationship Id="rId155" Type="http://schemas.openxmlformats.org/officeDocument/2006/relationships/tags" Target="../tags/tag379.xml"/><Relationship Id="rId154" Type="http://schemas.openxmlformats.org/officeDocument/2006/relationships/tags" Target="../tags/tag378.xml"/><Relationship Id="rId153" Type="http://schemas.openxmlformats.org/officeDocument/2006/relationships/tags" Target="../tags/tag377.xml"/><Relationship Id="rId152" Type="http://schemas.openxmlformats.org/officeDocument/2006/relationships/tags" Target="../tags/tag376.xml"/><Relationship Id="rId151" Type="http://schemas.openxmlformats.org/officeDocument/2006/relationships/tags" Target="../tags/tag375.xml"/><Relationship Id="rId150" Type="http://schemas.openxmlformats.org/officeDocument/2006/relationships/tags" Target="../tags/tag374.xml"/><Relationship Id="rId15" Type="http://schemas.openxmlformats.org/officeDocument/2006/relationships/tags" Target="../tags/tag242.xml"/><Relationship Id="rId149" Type="http://schemas.openxmlformats.org/officeDocument/2006/relationships/tags" Target="../tags/tag373.xml"/><Relationship Id="rId148" Type="http://schemas.openxmlformats.org/officeDocument/2006/relationships/tags" Target="../tags/tag372.xml"/><Relationship Id="rId147" Type="http://schemas.openxmlformats.org/officeDocument/2006/relationships/tags" Target="../tags/tag371.xml"/><Relationship Id="rId146" Type="http://schemas.openxmlformats.org/officeDocument/2006/relationships/tags" Target="../tags/tag370.xml"/><Relationship Id="rId145" Type="http://schemas.openxmlformats.org/officeDocument/2006/relationships/tags" Target="../tags/tag369.xml"/><Relationship Id="rId144" Type="http://schemas.openxmlformats.org/officeDocument/2006/relationships/tags" Target="../tags/tag368.xml"/><Relationship Id="rId143" Type="http://schemas.openxmlformats.org/officeDocument/2006/relationships/tags" Target="../tags/tag367.xml"/><Relationship Id="rId142" Type="http://schemas.openxmlformats.org/officeDocument/2006/relationships/tags" Target="../tags/tag366.xml"/><Relationship Id="rId141" Type="http://schemas.openxmlformats.org/officeDocument/2006/relationships/tags" Target="../tags/tag365.xml"/><Relationship Id="rId140" Type="http://schemas.openxmlformats.org/officeDocument/2006/relationships/tags" Target="../tags/tag364.xml"/><Relationship Id="rId14" Type="http://schemas.openxmlformats.org/officeDocument/2006/relationships/tags" Target="../tags/tag241.xml"/><Relationship Id="rId139" Type="http://schemas.openxmlformats.org/officeDocument/2006/relationships/tags" Target="../tags/tag363.xml"/><Relationship Id="rId138" Type="http://schemas.openxmlformats.org/officeDocument/2006/relationships/tags" Target="../tags/tag362.xml"/><Relationship Id="rId137" Type="http://schemas.openxmlformats.org/officeDocument/2006/relationships/tags" Target="../tags/tag361.xml"/><Relationship Id="rId136" Type="http://schemas.openxmlformats.org/officeDocument/2006/relationships/tags" Target="../tags/tag360.xml"/><Relationship Id="rId135" Type="http://schemas.openxmlformats.org/officeDocument/2006/relationships/tags" Target="../tags/tag359.xml"/><Relationship Id="rId134" Type="http://schemas.openxmlformats.org/officeDocument/2006/relationships/tags" Target="../tags/tag358.xml"/><Relationship Id="rId133" Type="http://schemas.openxmlformats.org/officeDocument/2006/relationships/tags" Target="../tags/tag357.xml"/><Relationship Id="rId132" Type="http://schemas.openxmlformats.org/officeDocument/2006/relationships/tags" Target="../tags/tag356.xml"/><Relationship Id="rId131" Type="http://schemas.openxmlformats.org/officeDocument/2006/relationships/tags" Target="../tags/tag355.xml"/><Relationship Id="rId130" Type="http://schemas.openxmlformats.org/officeDocument/2006/relationships/tags" Target="../tags/tag354.xml"/><Relationship Id="rId13" Type="http://schemas.openxmlformats.org/officeDocument/2006/relationships/tags" Target="../tags/tag240.xml"/><Relationship Id="rId129" Type="http://schemas.openxmlformats.org/officeDocument/2006/relationships/tags" Target="../tags/tag353.xml"/><Relationship Id="rId128" Type="http://schemas.openxmlformats.org/officeDocument/2006/relationships/tags" Target="../tags/tag352.xml"/><Relationship Id="rId127" Type="http://schemas.openxmlformats.org/officeDocument/2006/relationships/tags" Target="../tags/tag351.xml"/><Relationship Id="rId126" Type="http://schemas.openxmlformats.org/officeDocument/2006/relationships/tags" Target="../tags/tag350.xml"/><Relationship Id="rId125" Type="http://schemas.openxmlformats.org/officeDocument/2006/relationships/tags" Target="../tags/tag349.xml"/><Relationship Id="rId124" Type="http://schemas.openxmlformats.org/officeDocument/2006/relationships/tags" Target="../tags/tag348.xml"/><Relationship Id="rId123" Type="http://schemas.openxmlformats.org/officeDocument/2006/relationships/tags" Target="../tags/tag347.xml"/><Relationship Id="rId122" Type="http://schemas.openxmlformats.org/officeDocument/2006/relationships/tags" Target="../tags/tag346.xml"/><Relationship Id="rId121" Type="http://schemas.openxmlformats.org/officeDocument/2006/relationships/tags" Target="../tags/tag345.xml"/><Relationship Id="rId120" Type="http://schemas.openxmlformats.org/officeDocument/2006/relationships/tags" Target="../tags/tag344.xml"/><Relationship Id="rId12" Type="http://schemas.openxmlformats.org/officeDocument/2006/relationships/tags" Target="../tags/tag239.xml"/><Relationship Id="rId119" Type="http://schemas.openxmlformats.org/officeDocument/2006/relationships/tags" Target="../tags/tag343.xml"/><Relationship Id="rId118" Type="http://schemas.openxmlformats.org/officeDocument/2006/relationships/tags" Target="../tags/tag342.xml"/><Relationship Id="rId117" Type="http://schemas.openxmlformats.org/officeDocument/2006/relationships/tags" Target="../tags/tag341.xml"/><Relationship Id="rId116" Type="http://schemas.openxmlformats.org/officeDocument/2006/relationships/tags" Target="../tags/tag340.xml"/><Relationship Id="rId115" Type="http://schemas.openxmlformats.org/officeDocument/2006/relationships/tags" Target="../tags/tag339.xml"/><Relationship Id="rId114" Type="http://schemas.openxmlformats.org/officeDocument/2006/relationships/tags" Target="../tags/tag338.xml"/><Relationship Id="rId113" Type="http://schemas.openxmlformats.org/officeDocument/2006/relationships/tags" Target="../tags/tag337.xml"/><Relationship Id="rId112" Type="http://schemas.openxmlformats.org/officeDocument/2006/relationships/tags" Target="../tags/tag336.xml"/><Relationship Id="rId111" Type="http://schemas.openxmlformats.org/officeDocument/2006/relationships/tags" Target="../tags/tag335.xml"/><Relationship Id="rId110" Type="http://schemas.openxmlformats.org/officeDocument/2006/relationships/tags" Target="../tags/tag334.xml"/><Relationship Id="rId11" Type="http://schemas.openxmlformats.org/officeDocument/2006/relationships/tags" Target="../tags/tag238.xml"/><Relationship Id="rId109" Type="http://schemas.openxmlformats.org/officeDocument/2006/relationships/tags" Target="../tags/tag333.xml"/><Relationship Id="rId108" Type="http://schemas.openxmlformats.org/officeDocument/2006/relationships/tags" Target="../tags/tag332.xml"/><Relationship Id="rId107" Type="http://schemas.openxmlformats.org/officeDocument/2006/relationships/tags" Target="../tags/tag331.xml"/><Relationship Id="rId106" Type="http://schemas.openxmlformats.org/officeDocument/2006/relationships/tags" Target="../tags/tag330.xml"/><Relationship Id="rId105" Type="http://schemas.openxmlformats.org/officeDocument/2006/relationships/tags" Target="../tags/tag329.xml"/><Relationship Id="rId104" Type="http://schemas.openxmlformats.org/officeDocument/2006/relationships/tags" Target="../tags/tag328.xml"/><Relationship Id="rId103" Type="http://schemas.openxmlformats.org/officeDocument/2006/relationships/tags" Target="../tags/tag327.xml"/><Relationship Id="rId102" Type="http://schemas.openxmlformats.org/officeDocument/2006/relationships/tags" Target="../tags/tag326.xml"/><Relationship Id="rId101" Type="http://schemas.openxmlformats.org/officeDocument/2006/relationships/tags" Target="../tags/tag325.xml"/><Relationship Id="rId100" Type="http://schemas.openxmlformats.org/officeDocument/2006/relationships/tags" Target="../tags/tag324.xml"/><Relationship Id="rId10" Type="http://schemas.openxmlformats.org/officeDocument/2006/relationships/tags" Target="../tags/tag237.xml"/><Relationship Id="rId1" Type="http://schemas.openxmlformats.org/officeDocument/2006/relationships/tags" Target="../tags/tag2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4.xml"/><Relationship Id="rId1"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4.xml"/><Relationship Id="rId1" Type="http://schemas.openxmlformats.org/officeDocument/2006/relationships/image" Target="../media/image58.png"/></Relationships>
</file>

<file path=ppt/slides/_rels/slide30.xml.rels><?xml version="1.0" encoding="UTF-8" standalone="yes"?>
<Relationships xmlns="http://schemas.openxmlformats.org/package/2006/relationships"><Relationship Id="rId9" Type="http://schemas.openxmlformats.org/officeDocument/2006/relationships/tags" Target="../tags/tag403.xml"/><Relationship Id="rId8" Type="http://schemas.openxmlformats.org/officeDocument/2006/relationships/tags" Target="../tags/tag402.xml"/><Relationship Id="rId7" Type="http://schemas.openxmlformats.org/officeDocument/2006/relationships/tags" Target="../tags/tag401.xml"/><Relationship Id="rId6" Type="http://schemas.openxmlformats.org/officeDocument/2006/relationships/tags" Target="../tags/tag400.xml"/><Relationship Id="rId5" Type="http://schemas.openxmlformats.org/officeDocument/2006/relationships/tags" Target="../tags/tag399.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8" Type="http://schemas.openxmlformats.org/officeDocument/2006/relationships/notesSlide" Target="../notesSlides/notesSlide30.xml"/><Relationship Id="rId17" Type="http://schemas.openxmlformats.org/officeDocument/2006/relationships/slideLayout" Target="../slideLayouts/slideLayout64.xml"/><Relationship Id="rId16" Type="http://schemas.openxmlformats.org/officeDocument/2006/relationships/tags" Target="../tags/tag410.xml"/><Relationship Id="rId15" Type="http://schemas.openxmlformats.org/officeDocument/2006/relationships/tags" Target="../tags/tag409.xml"/><Relationship Id="rId14" Type="http://schemas.openxmlformats.org/officeDocument/2006/relationships/tags" Target="../tags/tag408.xml"/><Relationship Id="rId13" Type="http://schemas.openxmlformats.org/officeDocument/2006/relationships/tags" Target="../tags/tag407.xml"/><Relationship Id="rId12" Type="http://schemas.openxmlformats.org/officeDocument/2006/relationships/tags" Target="../tags/tag406.xml"/><Relationship Id="rId11" Type="http://schemas.openxmlformats.org/officeDocument/2006/relationships/tags" Target="../tags/tag405.xml"/><Relationship Id="rId10" Type="http://schemas.openxmlformats.org/officeDocument/2006/relationships/tags" Target="../tags/tag404.xml"/><Relationship Id="rId1" Type="http://schemas.openxmlformats.org/officeDocument/2006/relationships/tags" Target="../tags/tag39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Slide" r:id="rId2" imgW="0" imgH="0" progId="TCLayout.ActiveDocument.1">
                  <p:embed/>
                </p:oleObj>
              </mc:Choice>
              <mc:Fallback>
                <p:oleObj name="think-cell Slide" r:id="rId2" imgW="0" imgH="0" progId="TCLayout.ActiveDocument.1">
                  <p:embed/>
                  <p:pic>
                    <p:nvPicPr>
                      <p:cNvPr id="0" name="think-cell data - do not delete"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8" name="Subtitle 4"/>
          <p:cNvSpPr txBox="1"/>
          <p:nvPr/>
        </p:nvSpPr>
        <p:spPr>
          <a:xfrm>
            <a:off x="484694" y="5366831"/>
            <a:ext cx="6983148" cy="510094"/>
          </a:xfrm>
          <a:prstGeom prst="rect">
            <a:avLst/>
          </a:prstGeom>
        </p:spPr>
        <p:txBody>
          <a:bodyPr vert="horz" lIns="78227" tIns="39115" rIns="78227" bIns="39115" rtlCol="0" anchor="t" anchorCtr="0">
            <a:noAutofit/>
          </a:bodyPr>
          <a:lstStyle>
            <a:lvl1pPr marL="0" indent="0" algn="l" defTabSz="914400" rtl="0" eaLnBrk="1" latinLnBrk="0" hangingPunct="1">
              <a:lnSpc>
                <a:spcPct val="100000"/>
              </a:lnSpc>
              <a:spcBef>
                <a:spcPts val="0"/>
              </a:spcBef>
              <a:spcAft>
                <a:spcPts val="600"/>
              </a:spcAft>
              <a:buFontTx/>
              <a:buNone/>
              <a:defRPr sz="1290" b="1" kern="1200">
                <a:solidFill>
                  <a:schemeClr val="bg1"/>
                </a:solidFill>
                <a:latin typeface="+mj-lt"/>
                <a:ea typeface="华文楷体" panose="02010600040101010101" pitchFamily="2" charset="-122"/>
                <a:cs typeface="+mn-cs"/>
              </a:defRPr>
            </a:lvl1pPr>
            <a:lvl2pPr marL="421640" indent="0" algn="ctr" defTabSz="914400" rtl="0" eaLnBrk="1" latinLnBrk="0" hangingPunct="1">
              <a:lnSpc>
                <a:spcPct val="100000"/>
              </a:lnSpc>
              <a:spcBef>
                <a:spcPts val="0"/>
              </a:spcBef>
              <a:spcAft>
                <a:spcPts val="600"/>
              </a:spcAft>
              <a:buFontTx/>
              <a:buNone/>
              <a:defRPr sz="1000" kern="1200">
                <a:solidFill>
                  <a:schemeClr val="tx1">
                    <a:tint val="75000"/>
                  </a:schemeClr>
                </a:solidFill>
                <a:latin typeface="微软雅黑" panose="020B0503020204020204" pitchFamily="34" charset="-122"/>
                <a:ea typeface="+mn-ea"/>
                <a:cs typeface="+mn-cs"/>
              </a:defRPr>
            </a:lvl2pPr>
            <a:lvl3pPr marL="8432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3pPr>
            <a:lvl4pPr marL="126492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4pPr>
            <a:lvl5pPr marL="168656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baseline="0">
                <a:solidFill>
                  <a:schemeClr val="tx1">
                    <a:tint val="75000"/>
                  </a:schemeClr>
                </a:solidFill>
                <a:latin typeface="微软雅黑" panose="020B0503020204020204" pitchFamily="34" charset="-122"/>
                <a:ea typeface="+mn-ea"/>
                <a:cs typeface="+mn-cs"/>
              </a:defRPr>
            </a:lvl5pPr>
            <a:lvl6pPr marL="210820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6pPr>
            <a:lvl7pPr marL="252984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7pPr>
            <a:lvl8pPr marL="29514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8pPr>
            <a:lvl9pPr marL="337312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9pPr>
          </a:lstStyle>
          <a:p>
            <a:pPr defTabSz="914400">
              <a:spcAft>
                <a:spcPts val="600"/>
              </a:spcAft>
              <a:defRPr/>
            </a:pP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项目群管理办公室</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a:spcAft>
                <a:spcPts val="600"/>
              </a:spcAft>
              <a:defRPr/>
            </a:pP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2026</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年</a:t>
            </a: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月</a:t>
            </a:r>
            <a:r>
              <a:rPr lang="en-GB"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8</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日</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1"/>
          <p:cNvSpPr/>
          <p:nvPr/>
        </p:nvSpPr>
        <p:spPr>
          <a:xfrm>
            <a:off x="484694" y="1406172"/>
            <a:ext cx="6468197" cy="4215706"/>
          </a:xfrm>
          <a:prstGeom prst="rect">
            <a:avLst/>
          </a:prstGeom>
        </p:spPr>
        <p:txBody>
          <a:bodyPr wrap="square">
            <a:spAutoFit/>
          </a:bodyPr>
          <a:lstStyle/>
          <a:p>
            <a:pPr>
              <a:lnSpc>
                <a:spcPct val="120000"/>
              </a:lnSpc>
              <a:spcAft>
                <a:spcPts val="1800"/>
              </a:spcAft>
              <a:defRPr/>
            </a:pPr>
            <a:r>
              <a:rPr lang="zh-CN" altLang="en-US"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深圳市安居集团</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智能客服平台项目</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周报（第五周）</a:t>
            </a:r>
            <a:endParaRPr lang="en-US" altLang="zh-CN"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en-US" altLang="zh-CN"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0401-0407</a:t>
            </a:r>
            <a:endParaRPr lang="en-US" altLang="zh-CN"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endParaRPr lang="zh-CN" altLang="en-US" sz="32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 name="Freeform 8"/>
          <p:cNvSpPr/>
          <p:nvPr/>
        </p:nvSpPr>
        <p:spPr bwMode="gray">
          <a:xfrm>
            <a:off x="3057956" y="787044"/>
            <a:ext cx="905339" cy="135132"/>
          </a:xfrm>
          <a:prstGeom prst="rect">
            <a:avLst/>
          </a:prstGeom>
          <a:solidFill>
            <a:schemeClr val="accent1"/>
          </a:solidFill>
          <a:ln w="9525">
            <a:noFill/>
            <a:round/>
          </a:ln>
        </p:spPr>
        <p:txBody>
          <a:bodyPr vert="horz" wrap="square" lIns="72209" tIns="36105" rIns="72209" bIns="36105" numCol="1" anchor="t" anchorCtr="0" compatLnSpc="1">
            <a:noAutofit/>
          </a:bodyPr>
          <a:lstStyle/>
          <a:p>
            <a:pPr defTabSz="914400">
              <a:defRPr/>
            </a:pPr>
            <a:endParaRPr lang="en-GB" sz="16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2" name="Straight Connector 23"/>
          <p:cNvCxnSpPr/>
          <p:nvPr/>
        </p:nvCxnSpPr>
        <p:spPr>
          <a:xfrm flipH="1">
            <a:off x="616171" y="922176"/>
            <a:ext cx="3348000" cy="0"/>
          </a:xfrm>
          <a:prstGeom prst="line">
            <a:avLst/>
          </a:prstGeom>
          <a:ln w="19050">
            <a:solidFill>
              <a:schemeClr val="bg1">
                <a:lumMod val="75000"/>
                <a:alpha val="65098"/>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1" cstate="print">
            <a:extLst>
              <a:ext uri="{28A0092B-C50C-407E-A947-70E740481C1C}">
                <a14:useLocalDpi xmlns:a14="http://schemas.microsoft.com/office/drawing/2010/main" val="0"/>
              </a:ext>
            </a:extLst>
          </a:blip>
          <a:srcRect l="27176" t="12072" r="34699" b="8461"/>
          <a:stretch>
            <a:fillRect/>
          </a:stretch>
        </p:blipFill>
        <p:spPr>
          <a:xfrm>
            <a:off x="901812" y="862748"/>
            <a:ext cx="3690637" cy="5132504"/>
          </a:xfrm>
          <a:prstGeom prst="rect">
            <a:avLst/>
          </a:prstGeom>
          <a:effectLst>
            <a:outerShdw blurRad="50800" dist="38100" dir="2700000" algn="tl" rotWithShape="0">
              <a:prstClr val="black">
                <a:alpha val="40000"/>
              </a:prstClr>
            </a:outerShdw>
          </a:effectLst>
        </p:spPr>
      </p:pic>
      <p:sp>
        <p:nvSpPr>
          <p:cNvPr id="3" name="标题 1"/>
          <p:cNvSpPr txBox="1"/>
          <p:nvPr/>
        </p:nvSpPr>
        <p:spPr>
          <a:xfrm>
            <a:off x="5270930" y="1614488"/>
            <a:ext cx="2873375" cy="847477"/>
          </a:xfrm>
          <a:prstGeom prst="rect">
            <a:avLst/>
          </a:prstGeom>
        </p:spPr>
        <p:txBody>
          <a:bodyPr/>
          <a:lstStyle>
            <a:lvl1pPr algn="l" defTabSz="1036955" rtl="0" eaLnBrk="1" latinLnBrk="0" hangingPunct="1">
              <a:lnSpc>
                <a:spcPct val="100000"/>
              </a:lnSpc>
              <a:spcBef>
                <a:spcPct val="0"/>
              </a:spcBef>
              <a:buNone/>
              <a:defRPr sz="6125" kern="1200">
                <a:solidFill>
                  <a:schemeClr val="tx2"/>
                </a:solidFill>
                <a:latin typeface="微软雅黑" panose="020B0503020204020204" pitchFamily="34" charset="-122"/>
                <a:ea typeface="微软雅黑" panose="020B0503020204020204" pitchFamily="34" charset="-122"/>
                <a:cs typeface="+mj-cs"/>
              </a:defRPr>
            </a:lvl1pPr>
          </a:lstStyle>
          <a:p>
            <a:pPr marL="0" marR="0" lvl="0" indent="0" algn="l" defTabSz="1036955" rtl="0" eaLnBrk="1" fontAlgn="auto" latinLnBrk="0" hangingPunct="1">
              <a:lnSpc>
                <a:spcPct val="7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rPr>
              <a:t>目 录</a:t>
            </a:r>
            <a:endParaRPr kumimoji="0" 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4" name="文本框 1"/>
          <p:cNvSpPr txBox="1"/>
          <p:nvPr/>
        </p:nvSpPr>
        <p:spPr>
          <a:xfrm>
            <a:off x="5270930" y="2800124"/>
            <a:ext cx="4440639"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bg1">
                    <a:lumMod val="75000"/>
                  </a:schemeClr>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rgbClr val="0070C0"/>
                </a:solidFill>
              </a:rPr>
              <a:t>1 </a:t>
            </a:r>
            <a:r>
              <a:rPr lang="zh-CN" altLang="en-US" dirty="0">
                <a:solidFill>
                  <a:srgbClr val="0070C0"/>
                </a:solidFill>
              </a:rPr>
              <a:t>项目群整体进度</a:t>
            </a:r>
            <a:endParaRPr lang="zh-CN" altLang="en-US" dirty="0">
              <a:solidFill>
                <a:srgbClr val="0070C0"/>
              </a:solidFill>
            </a:endParaRPr>
          </a:p>
        </p:txBody>
      </p:sp>
      <p:sp>
        <p:nvSpPr>
          <p:cNvPr id="5" name="文本框 3"/>
          <p:cNvSpPr txBox="1"/>
          <p:nvPr/>
        </p:nvSpPr>
        <p:spPr>
          <a:xfrm>
            <a:off x="5270930" y="3736730"/>
            <a:ext cx="5016070"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tx2"/>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chemeClr val="tx1">
                    <a:lumMod val="50000"/>
                    <a:lumOff val="50000"/>
                  </a:schemeClr>
                </a:solidFill>
              </a:rPr>
              <a:t>2 </a:t>
            </a:r>
            <a:r>
              <a:rPr lang="zh-CN" altLang="en-US" dirty="0">
                <a:solidFill>
                  <a:schemeClr val="tx1">
                    <a:lumMod val="50000"/>
                    <a:lumOff val="50000"/>
                  </a:schemeClr>
                </a:solidFill>
              </a:rPr>
              <a:t>子项目工作进展</a:t>
            </a:r>
            <a:endParaRPr lang="zh-CN" altLang="en-US" dirty="0">
              <a:solidFill>
                <a:schemeClr val="tx1">
                  <a:lumMod val="50000"/>
                  <a:lumOff val="50000"/>
                </a:schemeClr>
              </a:solidFill>
            </a:endParaRPr>
          </a:p>
        </p:txBody>
      </p:sp>
      <p:sp>
        <p:nvSpPr>
          <p:cNvPr id="6" name="文本框 10"/>
          <p:cNvSpPr txBox="1"/>
          <p:nvPr/>
        </p:nvSpPr>
        <p:spPr>
          <a:xfrm>
            <a:off x="5270930" y="4673336"/>
            <a:ext cx="4440639" cy="523220"/>
          </a:xfrm>
          <a:prstGeom prst="rect">
            <a:avLst/>
          </a:prstGeom>
          <a:noFill/>
        </p:spPr>
        <p:txBody>
          <a:bodyPr wrap="square" anchor="b" anchorCtr="0">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en-US" altLang="zh-CN" sz="2800" b="1" dirty="0">
                <a:solidFill>
                  <a:schemeClr val="tx1">
                    <a:lumMod val="50000"/>
                    <a:lumOff val="50000"/>
                  </a:schemeClr>
                </a:solidFill>
                <a:latin typeface="微软雅黑" panose="020B0503020204020204" pitchFamily="34" charset="-122"/>
                <a:ea typeface="微软雅黑" panose="020B0503020204020204" pitchFamily="34" charset="-122"/>
                <a:cs typeface="Open Sans" panose="020B0606030504020204" pitchFamily="34" charset="0"/>
              </a:rPr>
              <a:t>3 </a:t>
            </a:r>
            <a:r>
              <a:rPr lang="zh-CN" altLang="en-US" sz="2800" b="1" dirty="0">
                <a:solidFill>
                  <a:prstClr val="black">
                    <a:lumMod val="50000"/>
                    <a:lumOff val="50000"/>
                  </a:prstClr>
                </a:solidFill>
                <a:latin typeface="微软雅黑" panose="020B0503020204020204" pitchFamily="34" charset="-122"/>
                <a:ea typeface="微软雅黑" panose="020B0503020204020204" pitchFamily="34" charset="-122"/>
              </a:rPr>
              <a:t>问题及风险关注项</a:t>
            </a:r>
            <a:endParaRPr kumimoji="0"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Open Sans" panose="020B060603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06000" y="1050063"/>
          <a:ext cx="11228956" cy="5071493"/>
        </p:xfrm>
        <a:graphic>
          <a:graphicData uri="http://schemas.openxmlformats.org/drawingml/2006/table">
            <a:tbl>
              <a:tblPr firstRow="1" bandRow="1"/>
              <a:tblGrid>
                <a:gridCol w="1104895"/>
                <a:gridCol w="1104895"/>
                <a:gridCol w="1104895"/>
                <a:gridCol w="1314892"/>
                <a:gridCol w="1314892"/>
                <a:gridCol w="684905"/>
                <a:gridCol w="1104895"/>
                <a:gridCol w="1104895"/>
                <a:gridCol w="1194896"/>
                <a:gridCol w="1194896"/>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rowSpan="8">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Tx/>
                        <a:buNone/>
                        <a:defRPr/>
                      </a:pPr>
                      <a:r>
                        <a:rPr lang="zh-CN" altLang="en-US" sz="1100" b="1" kern="1200">
                          <a:solidFill>
                            <a:schemeClr val="dk1"/>
                          </a:solidFill>
                          <a:latin typeface="Arial" panose="020B0604020202090204"/>
                          <a:ea typeface="微软雅黑"/>
                          <a:cs typeface="+mn-cs"/>
                        </a:rPr>
                        <a:t>需求调研</a:t>
                      </a:r>
                      <a:endParaRPr lang="en-US" sz="1100" b="1" kern="1200" dirty="0">
                        <a:solidFill>
                          <a:schemeClr val="dk1"/>
                        </a:solidFill>
                        <a:latin typeface="Arial" panose="020B0604020202090204"/>
                        <a:ea typeface="微软雅黑"/>
                        <a:cs typeface="+mn-cs"/>
                      </a:endParaRPr>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 typeface="Arial" panose="020B0604020202090204" pitchFamily="34" charset="0"/>
                        <a:buNone/>
                        <a:defRPr/>
                      </a:pPr>
                      <a:r>
                        <a:rPr lang="en-US" sz="1100" b="1" kern="1200">
                          <a:solidFill>
                            <a:schemeClr val="dk1"/>
                          </a:solidFill>
                          <a:latin typeface="Arial" panose="020B0604020202090204"/>
                          <a:ea typeface="微软雅黑"/>
                          <a:cs typeface="+mn-cs"/>
                        </a:rPr>
                        <a:t>2026年3月13日</a:t>
                      </a:r>
                      <a:endParaRPr lang="en-US" sz="1100" b="1" kern="120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CN" altLang="en-US" sz="1100" kern="1200">
                          <a:solidFill>
                            <a:schemeClr val="dk1"/>
                          </a:solidFill>
                          <a:latin typeface="Arial" panose="020B0604020202090204"/>
                          <a:ea typeface="微软雅黑"/>
                          <a:cs typeface="+mn-cs"/>
                        </a:rPr>
                        <a:t>现有系统调研</a:t>
                      </a:r>
                      <a:endParaRPr lang="zh-CN"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3</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10</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W2</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业务调研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3</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10</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W2</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供应商调研</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6</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17</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W5</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W6</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管理层访谈</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13</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24</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W6</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W7</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阶段梳理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需求梳理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13</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24</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W6</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W7</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流程图</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梳理</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13</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30</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W6</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W8</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确认</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4</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27</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kern="1200">
                          <a:solidFill>
                            <a:schemeClr val="dk1"/>
                          </a:solidFill>
                          <a:latin typeface="Arial" panose="020B0604020202090204"/>
                          <a:ea typeface="微软雅黑"/>
                          <a:cs typeface="+mn-cs"/>
                        </a:rPr>
                        <a:t>2026</a:t>
                      </a:r>
                      <a:r>
                        <a:rPr lang="zh-TW" altLang="en-US" sz="1100" kern="1200">
                          <a:solidFill>
                            <a:schemeClr val="dk1"/>
                          </a:solidFill>
                          <a:latin typeface="Arial" panose="020B0604020202090204"/>
                          <a:ea typeface="微软雅黑"/>
                          <a:cs typeface="+mn-cs"/>
                        </a:rPr>
                        <a:t>年</a:t>
                      </a:r>
                      <a:r>
                        <a:rPr lang="en-US" altLang="zh-TW" sz="1100" kern="1200">
                          <a:solidFill>
                            <a:schemeClr val="dk1"/>
                          </a:solidFill>
                          <a:latin typeface="Arial" panose="020B0604020202090204"/>
                          <a:ea typeface="微软雅黑"/>
                          <a:cs typeface="+mn-cs"/>
                        </a:rPr>
                        <a:t>5</a:t>
                      </a:r>
                      <a:r>
                        <a:rPr lang="zh-TW" altLang="en-US" sz="1100" kern="1200">
                          <a:solidFill>
                            <a:schemeClr val="dk1"/>
                          </a:solidFill>
                          <a:latin typeface="Arial" panose="020B0604020202090204"/>
                          <a:ea typeface="微软雅黑"/>
                          <a:cs typeface="+mn-cs"/>
                        </a:rPr>
                        <a:t>月</a:t>
                      </a:r>
                      <a:r>
                        <a:rPr lang="en-US" altLang="zh-TW" sz="1100" kern="1200">
                          <a:solidFill>
                            <a:schemeClr val="dk1"/>
                          </a:solidFill>
                          <a:latin typeface="Arial" panose="020B0604020202090204"/>
                          <a:ea typeface="微软雅黑"/>
                          <a:cs typeface="+mn-cs"/>
                        </a:rPr>
                        <a:t>9</a:t>
                      </a:r>
                      <a:r>
                        <a:rPr lang="zh-TW" altLang="en-US" sz="1100" kern="1200">
                          <a:solidFill>
                            <a:schemeClr val="dk1"/>
                          </a:solidFill>
                          <a:latin typeface="Arial" panose="020B0604020202090204"/>
                          <a:ea typeface="微软雅黑"/>
                          <a:cs typeface="+mn-cs"/>
                        </a:rPr>
                        <a:t>日</a:t>
                      </a:r>
                      <a:endParaRPr lang="zh-TW" altLang="en-US"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W8</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kern="1200">
                          <a:solidFill>
                            <a:schemeClr val="dk1"/>
                          </a:solidFill>
                          <a:latin typeface="Arial" panose="020B0604020202090204"/>
                          <a:ea typeface="微软雅黑"/>
                          <a:cs typeface="+mn-cs"/>
                        </a:rPr>
                        <a:t>W9</a:t>
                      </a:r>
                      <a:endParaRPr lang="en-GB" sz="1100"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171450" algn="ctr" defTabSz="843915" rtl="0" eaLnBrk="1" fontAlgn="b" latinLnBrk="0" hangingPunct="1">
                        <a:buFont typeface="Arial" panose="020B0604020202090204" pitchFamily="34" charset="0"/>
                        <a:buChar char="•"/>
                      </a:pPr>
                      <a:endParaRPr lang="en-US" sz="1100"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蓝图设计</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27</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6</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18</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8</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W8</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W15</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开发</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kern="1200">
                          <a:solidFill>
                            <a:schemeClr val="dk1"/>
                          </a:solidFill>
                          <a:latin typeface="Arial" panose="020B0604020202090204"/>
                          <a:ea typeface="微软雅黑"/>
                          <a:cs typeface="+mn-cs"/>
                        </a:rPr>
                        <a:t>一阶段</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5</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18</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W9</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W28</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b" latinLnBrk="0" hangingPunct="1">
                        <a:lnSpc>
                          <a:spcPct val="100000"/>
                        </a:lnSpc>
                        <a:spcBef>
                          <a:spcPts val="0"/>
                        </a:spcBef>
                        <a:spcAft>
                          <a:spcPts val="0"/>
                        </a:spcAft>
                        <a:buClrTx/>
                        <a:buSzTx/>
                        <a:buFontTx/>
                        <a:buNone/>
                        <a:defRPr/>
                      </a:pP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kern="1200">
                          <a:solidFill>
                            <a:schemeClr val="dk1"/>
                          </a:solidFill>
                          <a:latin typeface="Arial" panose="020B0604020202090204"/>
                          <a:ea typeface="微软雅黑"/>
                          <a:cs typeface="+mn-cs"/>
                        </a:rPr>
                        <a:t>二阶段</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8</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24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2027</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1</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15</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22</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W25</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W46</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交付</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2027</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1</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11</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rgbClr val="C00000"/>
                          </a:solidFill>
                          <a:latin typeface="Arial" panose="020B0604020202090204"/>
                          <a:ea typeface="微软雅黑"/>
                          <a:cs typeface="+mn-cs"/>
                        </a:rPr>
                        <a:t>2027</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3</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12</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altLang="zh-TW" sz="1100" b="1" kern="1200">
                          <a:solidFill>
                            <a:schemeClr val="dk1"/>
                          </a:solidFill>
                          <a:latin typeface="Arial" panose="020B0604020202090204"/>
                          <a:ea typeface="微软雅黑"/>
                          <a:cs typeface="+mn-cs"/>
                        </a:rPr>
                        <a:t>8</a:t>
                      </a:r>
                      <a:r>
                        <a:rPr lang="zh-TW" altLang="en-US" sz="1100" b="1" kern="1200">
                          <a:solidFill>
                            <a:schemeClr val="dk1"/>
                          </a:solidFill>
                          <a:latin typeface="Arial" panose="020B0604020202090204"/>
                          <a:ea typeface="微软雅黑"/>
                          <a:cs typeface="+mn-cs"/>
                        </a:rPr>
                        <a:t>周</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W46</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W53</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l" fontAlgn="b"/>
                      <a:endParaRPr lang="en-GB" sz="1100" b="1" kern="1200">
                        <a:solidFill>
                          <a:schemeClr val="dk1"/>
                        </a:solidFill>
                        <a:latin typeface="Arial" panose="020B0604020202090204"/>
                        <a:ea typeface="微软雅黑"/>
                        <a:cs typeface="+mn-cs"/>
                      </a:endParaRPr>
                    </a:p>
                  </a:txBody>
                  <a:tcPr marL="6350" marR="6350" marT="6350" marB="0" anchor="b">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项目关键节点：项目启动阶段已完成各类计划的撰写，按计划推进</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4" name="Table 3"/>
          <p:cNvGraphicFramePr>
            <a:graphicFrameLocks noGrp="1"/>
          </p:cNvGraphicFramePr>
          <p:nvPr/>
        </p:nvGraphicFramePr>
        <p:xfrm>
          <a:off x="671513" y="1189679"/>
          <a:ext cx="10848973" cy="791151"/>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bl>
          </a:graphicData>
        </a:graphic>
      </p:graphicFrame>
      <p:sp>
        <p:nvSpPr>
          <p:cNvPr id="7" name="Isosceles Triangle 10"/>
          <p:cNvSpPr/>
          <p:nvPr/>
        </p:nvSpPr>
        <p:spPr bwMode="ltGray">
          <a:xfrm rot="10800000">
            <a:off x="763089" y="2122989"/>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066313"/>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graphicFrame>
        <p:nvGraphicFramePr>
          <p:cNvPr id="11" name="Table 10"/>
          <p:cNvGraphicFramePr>
            <a:graphicFrameLocks noGrp="1"/>
          </p:cNvGraphicFramePr>
          <p:nvPr/>
        </p:nvGraphicFramePr>
        <p:xfrm>
          <a:off x="2344704" y="2524546"/>
          <a:ext cx="9175782" cy="3239646"/>
        </p:xfrm>
        <a:graphic>
          <a:graphicData uri="http://schemas.openxmlformats.org/drawingml/2006/table">
            <a:tbl>
              <a:tblPr firstRow="1" bandRow="1"/>
              <a:tblGrid>
                <a:gridCol w="2478586"/>
                <a:gridCol w="6697196"/>
              </a:tblGrid>
              <a:tr h="436514">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200">
                          <a:solidFill>
                            <a:schemeClr val="tx1"/>
                          </a:solidFill>
                        </a:rPr>
                        <a:t>一级</a:t>
                      </a:r>
                      <a:endParaRPr lang="en-US" sz="1200" dirty="0">
                        <a:solidFill>
                          <a:schemeClr val="tx1"/>
                        </a:solidFill>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200">
                          <a:solidFill>
                            <a:schemeClr val="tx1"/>
                          </a:solidFill>
                        </a:rPr>
                        <a:t>工作进展</a:t>
                      </a:r>
                      <a:endParaRPr lang="en-US" sz="1200" dirty="0">
                        <a:solidFill>
                          <a:schemeClr val="tx1"/>
                        </a:solidFill>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r>
              <a:tr h="2803132">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r>
                        <a:rPr lang="en-US" sz="1200" b="1"/>
                        <a:t>项目启动</a:t>
                      </a:r>
                      <a:endParaRPr lang="en-US" sz="1200" b="1" dirty="0"/>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完成</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项目整体计划</a:t>
                      </a:r>
                      <a:r>
                        <a:rPr lang="en-US" altLang="zh-CN" sz="1200" kern="1200">
                          <a:solidFill>
                            <a:schemeClr val="dk1"/>
                          </a:solidFill>
                          <a:latin typeface="Arial" panose="020B0604020202090204"/>
                          <a:ea typeface="微软雅黑"/>
                          <a:cs typeface="+mn-cs"/>
                        </a:rPr>
                        <a:t>》</a:t>
                      </a:r>
                      <a:endParaRPr lang="en-US" altLang="zh-CN" sz="1200" kern="1200">
                        <a:solidFill>
                          <a:schemeClr val="dk1"/>
                        </a:solidFill>
                        <a:latin typeface="Arial" panose="020B0604020202090204"/>
                        <a:ea typeface="微软雅黑"/>
                        <a:cs typeface="+mn-cs"/>
                      </a:endParaRPr>
                    </a:p>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完成</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上线计划</a:t>
                      </a:r>
                      <a:r>
                        <a:rPr lang="en-US" altLang="zh-CN" sz="1200" kern="1200">
                          <a:solidFill>
                            <a:schemeClr val="dk1"/>
                          </a:solidFill>
                          <a:latin typeface="Arial" panose="020B0604020202090204"/>
                          <a:ea typeface="微软雅黑"/>
                          <a:cs typeface="+mn-cs"/>
                        </a:rPr>
                        <a:t>》</a:t>
                      </a:r>
                      <a:endParaRPr lang="en-US" altLang="zh-CN" sz="1200" kern="1200">
                        <a:solidFill>
                          <a:schemeClr val="dk1"/>
                        </a:solidFill>
                        <a:latin typeface="Arial" panose="020B0604020202090204"/>
                        <a:ea typeface="微软雅黑"/>
                        <a:cs typeface="+mn-cs"/>
                      </a:endParaRPr>
                    </a:p>
                    <a:p>
                      <a:pPr marL="171450" marR="0" lvl="0" indent="-171450" algn="l" defTabSz="843915" rtl="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200" kern="1200">
                          <a:solidFill>
                            <a:schemeClr val="dk1"/>
                          </a:solidFill>
                          <a:latin typeface="Arial" panose="020B0604020202090204"/>
                          <a:ea typeface="微软雅黑"/>
                          <a:cs typeface="+mn-cs"/>
                        </a:rPr>
                        <a:t>编写</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调研计划</a:t>
                      </a:r>
                      <a:r>
                        <a:rPr lang="en-US" altLang="zh-CN" sz="1200" kern="1200">
                          <a:solidFill>
                            <a:schemeClr val="dk1"/>
                          </a:solidFill>
                          <a:latin typeface="Arial" panose="020B0604020202090204"/>
                          <a:ea typeface="微软雅黑"/>
                          <a:cs typeface="+mn-cs"/>
                        </a:rPr>
                        <a:t>》</a:t>
                      </a:r>
                      <a:r>
                        <a:rPr lang="zh-CN" altLang="en-US" sz="1200" kern="1200">
                          <a:solidFill>
                            <a:schemeClr val="dk1"/>
                          </a:solidFill>
                          <a:latin typeface="Arial" panose="020B0604020202090204"/>
                          <a:ea typeface="微软雅黑"/>
                          <a:cs typeface="+mn-cs"/>
                        </a:rPr>
                        <a:t>（持续更新）</a:t>
                      </a:r>
                      <a:endParaRPr lang="zh-CN" altLang="en-US" sz="1200" kern="1200">
                        <a:solidFill>
                          <a:schemeClr val="dk1"/>
                        </a:solidFill>
                        <a:latin typeface="Arial" panose="020B0604020202090204"/>
                        <a:ea typeface="微软雅黑"/>
                        <a:cs typeface="+mn-cs"/>
                      </a:endParaRPr>
                    </a:p>
                  </a:txBody>
                  <a:tcP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2" name="Parallelogram 26"/>
          <p:cNvSpPr/>
          <p:nvPr/>
        </p:nvSpPr>
        <p:spPr bwMode="ltGray">
          <a:xfrm flipH="1">
            <a:off x="707045" y="219963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52454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pic>
        <p:nvPicPr>
          <p:cNvPr id="6" name="Picture 5"/>
          <p:cNvPicPr>
            <a:picLocks noChangeAspect="1"/>
          </p:cNvPicPr>
          <p:nvPr/>
        </p:nvPicPr>
        <p:blipFill>
          <a:blip r:embed="rId1"/>
          <a:stretch>
            <a:fillRect/>
          </a:stretch>
        </p:blipFill>
        <p:spPr>
          <a:xfrm>
            <a:off x="2344704" y="3790197"/>
            <a:ext cx="3216787" cy="1878124"/>
          </a:xfrm>
          <a:prstGeom prst="rect">
            <a:avLst/>
          </a:prstGeom>
        </p:spPr>
      </p:pic>
      <p:pic>
        <p:nvPicPr>
          <p:cNvPr id="14" name="Picture 13"/>
          <p:cNvPicPr>
            <a:picLocks noChangeAspect="1"/>
          </p:cNvPicPr>
          <p:nvPr/>
        </p:nvPicPr>
        <p:blipFill>
          <a:blip r:embed="rId2"/>
          <a:stretch>
            <a:fillRect/>
          </a:stretch>
        </p:blipFill>
        <p:spPr>
          <a:xfrm>
            <a:off x="5861099" y="3790197"/>
            <a:ext cx="5382634" cy="18794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456090"/>
        </p:xfrm>
        <a:graphic>
          <a:graphicData uri="http://schemas.openxmlformats.org/drawingml/2006/table">
            <a:tbl>
              <a:tblPr/>
              <a:tblGrid>
                <a:gridCol w="408850"/>
                <a:gridCol w="732558"/>
                <a:gridCol w="349250"/>
                <a:gridCol w="869950"/>
                <a:gridCol w="1679473"/>
                <a:gridCol w="1043643"/>
                <a:gridCol w="1043643"/>
                <a:gridCol w="1043643"/>
                <a:gridCol w="1043643"/>
                <a:gridCol w="1043643"/>
              </a:tblGrid>
              <a:tr h="169795">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数营部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数据中台</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刘薇</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zh-TW" sz="900">
                          <a:solidFill>
                            <a:srgbClr val="000000"/>
                          </a:solidFill>
                          <a:effectLst/>
                          <a:latin typeface="微软雅黑" panose="020B0503020204020204" pitchFamily="34" charset="-122"/>
                          <a:ea typeface="微软雅黑" panose="020B0503020204020204" pitchFamily="34" charset="-122"/>
                          <a:sym typeface="+mn-ea"/>
                        </a:rPr>
                        <a:t>确认</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2</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15:00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友邻社区</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温雨龙</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2026-03-16</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3</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10:00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数营部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商业运营系统</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胡英俊</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4</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-400</a:t>
                      </a:r>
                      <a:endParaRPr lang="en-US" altLang="zh-TW"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黄礼萍</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2026-03-17</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959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5</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18</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多经</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沈芾（电商）、何佳霓（电商）、申华伟（充电桩）、梁嫚珊（点位）、罗成伟</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2026-03-18</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6</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19</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16:30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市场部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房源运营</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舒锐</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2026-03-19</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2026-03-19</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a:solidFill>
                            <a:srgbClr val="000000"/>
                          </a:solidFill>
                          <a:effectLst/>
                          <a:latin typeface="微软雅黑" panose="020B0503020204020204" pitchFamily="34" charset="-122"/>
                          <a:ea typeface="微软雅黑" panose="020B0503020204020204" pitchFamily="34" charset="-122"/>
                          <a:sym typeface="+mn-ea"/>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7</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20</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安技部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会员与积分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陈修华、王恪然</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8</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陈俊盛</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9</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14:30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商业部</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会员</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张培连</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10</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16:30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维修</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韩钟锐</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2026-03-23</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Arial" panose="020B0604020202090204" pitchFamily="34" charset="0"/>
                        </a:rPr>
                        <a:t>11</a:t>
                      </a:r>
                      <a:endParaRPr lang="en-GB" sz="900" b="0" i="0" u="none" strike="noStrike">
                        <a:solidFill>
                          <a:srgbClr val="000000"/>
                        </a:solidFill>
                        <a:effectLst/>
                        <a:latin typeface="Arial" panose="020B0604020202090204" pitchFamily="34" charset="0"/>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24</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9:30</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城服</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工单</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雷奇平</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2026-03-24</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en-GB" sz="900" b="0" i="0" u="none" strike="noStrike">
                          <a:solidFill>
                            <a:srgbClr val="000000"/>
                          </a:solidFill>
                          <a:effectLst/>
                          <a:latin typeface="微软雅黑" panose="020B0503020204020204" pitchFamily="34" charset="-122"/>
                          <a:ea typeface="微软雅黑" panose="020B0503020204020204" pitchFamily="34" charset="-122"/>
                        </a:rPr>
                        <a:t>2026-03-24</a:t>
                      </a:r>
                      <a:endParaRPr lang="en-GB"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mn-ea"/>
                        </a:rPr>
                        <a:t>确认</a:t>
                      </a:r>
                      <a:endParaRPr kumimoji="0" lang="en-GB"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6周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426143"/>
        </p:xfrm>
        <a:graphic>
          <a:graphicData uri="http://schemas.openxmlformats.org/drawingml/2006/table">
            <a:tbl>
              <a:tblPr/>
              <a:tblGrid>
                <a:gridCol w="408850"/>
                <a:gridCol w="948057"/>
                <a:gridCol w="365760"/>
                <a:gridCol w="818635"/>
                <a:gridCol w="1498779"/>
                <a:gridCol w="1043643"/>
                <a:gridCol w="1043643"/>
                <a:gridCol w="1043643"/>
                <a:gridCol w="1043643"/>
                <a:gridCol w="1043643"/>
              </a:tblGrid>
              <a:tr h="169795">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86896">
                <a:tc>
                  <a:txBody>
                    <a:bodyPr/>
                    <a:lstStyle/>
                    <a:p>
                      <a:pPr algn="ctr" fontAlgn="ctr"/>
                      <a:r>
                        <a:rPr lang="en-GB" sz="1000" b="0" i="0" u="none" strike="noStrike">
                          <a:solidFill>
                            <a:srgbClr val="000000"/>
                          </a:solidFill>
                          <a:effectLst/>
                          <a:latin typeface="Arial" panose="020B0604020202090204" pitchFamily="34" charset="0"/>
                        </a:rPr>
                        <a:t>12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乐寓公司</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连正一、易飞虎</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2026-03-25</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a:solidFill>
                            <a:srgbClr val="000000"/>
                          </a:solidFill>
                          <a:effectLst/>
                          <a:latin typeface="微软雅黑" panose="020B0503020204020204" pitchFamily="34" charset="-122"/>
                          <a:ea typeface="微软雅黑" panose="020B0503020204020204" pitchFamily="34" charset="-122"/>
                          <a:sym typeface="+mn-ea"/>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综合部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李振、梁柳</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翟冲飞、史文凯、申华伟</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4693">
                <a:tc>
                  <a:txBody>
                    <a:bodyPr/>
                    <a:lstStyle/>
                    <a:p>
                      <a:pPr algn="ctr" fontAlgn="ctr"/>
                      <a:r>
                        <a:rPr lang="en-GB" sz="1000" b="0" i="0" u="none" strike="noStrike">
                          <a:solidFill>
                            <a:srgbClr val="000000"/>
                          </a:solidFill>
                          <a:effectLst/>
                          <a:latin typeface="Arial" panose="020B0604020202090204" pitchFamily="34" charset="0"/>
                        </a:rPr>
                        <a:t>15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15:00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吴伟光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339591">
                <a:tc>
                  <a:txBody>
                    <a:bodyPr/>
                    <a:lstStyle/>
                    <a:p>
                      <a:pPr algn="ctr" fontAlgn="ctr"/>
                      <a:r>
                        <a:rPr lang="en-GB" sz="1000" b="0" i="0" u="none" strike="noStrike">
                          <a:solidFill>
                            <a:srgbClr val="000000"/>
                          </a:solidFill>
                          <a:effectLst/>
                          <a:latin typeface="Arial" panose="020B0604020202090204" pitchFamily="34" charset="0"/>
                        </a:rPr>
                        <a:t>16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李亚彬、唐本熹、唐欢</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2026-03-26</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市场部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黄聪</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周五</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贺虎、张重文</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2026-03-27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TW"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19</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商业部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欧永超</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周一</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彭勃、彭尘</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2026-03-30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21</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王福星、刘威、刘敏</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r h="286896">
                <a:tc>
                  <a:txBody>
                    <a:bodyPr/>
                    <a:lstStyle/>
                    <a:p>
                      <a:pPr algn="ctr" fontAlgn="ctr"/>
                      <a:r>
                        <a:rPr lang="en-GB" sz="1000" b="0" i="0" u="none" strike="noStrike">
                          <a:solidFill>
                            <a:srgbClr val="000000"/>
                          </a:solidFill>
                          <a:effectLst/>
                          <a:latin typeface="Arial" panose="020B0604020202090204" pitchFamily="34" charset="0"/>
                        </a:rPr>
                        <a:t>22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沙里剑</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5855" marR="5855" marT="5855"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3824520"/>
        </p:xfrm>
        <a:graphic>
          <a:graphicData uri="http://schemas.openxmlformats.org/drawingml/2006/table">
            <a:tbl>
              <a:tblPr/>
              <a:tblGrid>
                <a:gridCol w="408850"/>
                <a:gridCol w="948057"/>
                <a:gridCol w="365760"/>
                <a:gridCol w="847491"/>
                <a:gridCol w="1469923"/>
                <a:gridCol w="1043643"/>
                <a:gridCol w="1043643"/>
                <a:gridCol w="1043643"/>
                <a:gridCol w="1043643"/>
                <a:gridCol w="1043643"/>
              </a:tblGrid>
              <a:tr h="160424">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39982">
                <a:tc>
                  <a:txBody>
                    <a:bodyPr/>
                    <a:lstStyle/>
                    <a:p>
                      <a:pPr algn="ctr" fontAlgn="ctr"/>
                      <a:r>
                        <a:rPr lang="en-GB" sz="1000" b="0" i="0" u="none" strike="noStrike">
                          <a:solidFill>
                            <a:srgbClr val="000000"/>
                          </a:solidFill>
                          <a:effectLst/>
                          <a:latin typeface="Arial" panose="020B0604020202090204" pitchFamily="34" charset="0"/>
                        </a:rPr>
                        <a:t>23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营销部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罗酉艺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2026-04-01</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安胜旗团队</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2026-04-02</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外部供应商</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捷顺团队</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2026-04-02</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已完成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周二</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安技部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冯萍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2026-04-07</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已</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84060">
                <a:tc>
                  <a:txBody>
                    <a:bodyPr/>
                    <a:lstStyle/>
                    <a:p>
                      <a:pPr algn="ctr" fontAlgn="ctr"/>
                      <a:r>
                        <a:rPr lang="en-GB" sz="1000" b="0" i="0" u="none" strike="noStrike">
                          <a:solidFill>
                            <a:srgbClr val="000000"/>
                          </a:solidFill>
                          <a:effectLst/>
                          <a:latin typeface="Arial" panose="020B0604020202090204" pitchFamily="34" charset="0"/>
                        </a:rPr>
                        <a:t>27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市场部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诸正其</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a:solidFill>
                            <a:srgbClr val="000000"/>
                          </a:solidFill>
                          <a:effectLst/>
                          <a:latin typeface="微软雅黑" panose="020B0503020204020204" pitchFamily="34" charset="-122"/>
                          <a:ea typeface="微软雅黑" panose="020B0503020204020204" pitchFamily="34" charset="-122"/>
                          <a:sym typeface="+mn-ea"/>
                        </a:rPr>
                        <a:t>2026-04-0</a:t>
                      </a:r>
                      <a:r>
                        <a:rPr lang="en-US" altLang="en-GB" sz="1000">
                          <a:solidFill>
                            <a:srgbClr val="000000"/>
                          </a:solidFill>
                          <a:effectLst/>
                          <a:latin typeface="微软雅黑" panose="020B0503020204020204" pitchFamily="34" charset="-122"/>
                          <a:ea typeface="微软雅黑" panose="020B0503020204020204" pitchFamily="34" charset="-122"/>
                          <a:sym typeface="+mn-ea"/>
                        </a:rPr>
                        <a:t>8</a:t>
                      </a:r>
                      <a:endParaRPr lang="en-US" altLang="en-GB" sz="1000" b="0" i="0" u="none" strike="noStrike">
                        <a:solidFill>
                          <a:srgbClr val="000000"/>
                        </a:solidFill>
                        <a:effectLst/>
                        <a:latin typeface="微软雅黑" panose="020B0503020204020204" pitchFamily="34" charset="-122"/>
                        <a:ea typeface="微软雅黑" panose="020B0503020204020204" pitchFamily="34" charset="-122"/>
                        <a:sym typeface="+mn-ea"/>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zh-TW" sz="1000" b="0" i="0" u="none" strike="noStrike">
                          <a:solidFill>
                            <a:srgbClr val="000000"/>
                          </a:solidFill>
                          <a:effectLst/>
                          <a:latin typeface="微软雅黑" panose="020B0503020204020204" pitchFamily="34" charset="-122"/>
                          <a:ea typeface="微软雅黑" panose="020B0503020204020204" pitchFamily="34" charset="-122"/>
                        </a:rPr>
                        <a:t>待</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完成</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待确认</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待发出</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待确认</a:t>
                      </a:r>
                      <a:endParaRPr kumimoji="0" lang="zh-TW" altLang="en-US" sz="9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周三</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16:30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住房部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尹湘海</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a:solidFill>
                            <a:srgbClr val="000000"/>
                          </a:solidFill>
                          <a:effectLst/>
                          <a:latin typeface="微软雅黑" panose="020B0503020204020204" pitchFamily="34" charset="-122"/>
                          <a:ea typeface="微软雅黑" panose="020B0503020204020204" pitchFamily="34" charset="-122"/>
                          <a:sym typeface="+mn-ea"/>
                        </a:rPr>
                        <a:t>计划开始</a:t>
                      </a:r>
                      <a:endParaRPr lang="en-US" altLang="en-GB" sz="1000" b="0" i="0" u="none" strike="noStrike">
                        <a:solidFill>
                          <a:srgbClr val="000000"/>
                        </a:solidFill>
                        <a:effectLst/>
                        <a:latin typeface="微软雅黑" panose="020B0503020204020204" pitchFamily="34" charset="-122"/>
                        <a:ea typeface="微软雅黑" panose="020B0503020204020204" pitchFamily="34" charset="-122"/>
                        <a:sym typeface="+mn-ea"/>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29</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9</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9:30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王影</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9</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日 周四</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14:30</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城服</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谢绍杨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31</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10</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商业部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孙丹丹、洪晓彬</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32</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7-4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10</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数营部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郭小博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33</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34</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35</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60270">
                <a:tc>
                  <a:txBody>
                    <a:bodyPr/>
                    <a:lstStyle/>
                    <a:p>
                      <a:pPr algn="ctr" fontAlgn="ctr"/>
                      <a:r>
                        <a:rPr lang="en-GB" sz="1000" b="0" i="0" u="none" strike="noStrike">
                          <a:solidFill>
                            <a:srgbClr val="000000"/>
                          </a:solidFill>
                          <a:effectLst/>
                          <a:latin typeface="Arial" panose="020B0604020202090204" pitchFamily="34" charset="0"/>
                        </a:rPr>
                        <a:t>36</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37</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管理层</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27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27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/40</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67%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；需求确认</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17</a:t>
            </a:r>
            <a:r>
              <a:rPr lang="zh-CN" altLang="en-US">
                <a:solidFill>
                  <a:srgbClr val="00338D"/>
                </a:solidFill>
              </a:rPr>
              <a:t>份</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671513" y="1189679"/>
          <a:ext cx="10848973" cy="1155582"/>
        </p:xfrm>
        <a:graphic>
          <a:graphicData uri="http://schemas.openxmlformats.org/drawingml/2006/table">
            <a:tbl>
              <a:tblPr firstRow="1" bandRow="1"/>
              <a:tblGrid>
                <a:gridCol w="1084897"/>
                <a:gridCol w="1084897"/>
                <a:gridCol w="1084897"/>
                <a:gridCol w="1291093"/>
                <a:gridCol w="1291093"/>
                <a:gridCol w="672508"/>
                <a:gridCol w="1084897"/>
                <a:gridCol w="1084897"/>
                <a:gridCol w="1159121"/>
                <a:gridCol w="1010673"/>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已完成</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r>
              <a:tr h="364431">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843915" rtl="0" eaLnBrk="1" fontAlgn="auto" latinLnBrk="0" hangingPunct="1">
                        <a:lnSpc>
                          <a:spcPct val="100000"/>
                        </a:lnSpc>
                        <a:spcBef>
                          <a:spcPts val="0"/>
                        </a:spcBef>
                        <a:spcAft>
                          <a:spcPts val="0"/>
                        </a:spcAft>
                        <a:buClrTx/>
                        <a:buSzTx/>
                        <a:buFontTx/>
                        <a:buNone/>
                        <a:defRPr/>
                      </a:pPr>
                      <a:r>
                        <a:rPr lang="zh-CN" altLang="en-US" sz="1100" b="1" kern="1200">
                          <a:solidFill>
                            <a:schemeClr val="dk1"/>
                          </a:solidFill>
                          <a:latin typeface="+mn-lt"/>
                          <a:ea typeface="微软雅黑"/>
                          <a:cs typeface="+mn-cs"/>
                        </a:rPr>
                        <a:t>需求调研</a:t>
                      </a:r>
                      <a:endParaRPr lang="en-US" sz="1100" b="1" kern="1200">
                        <a:solidFill>
                          <a:schemeClr val="dk1"/>
                        </a:solidFill>
                        <a:latin typeface="+mn-lt"/>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16</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5</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9</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8周</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chemeClr val="dk1"/>
                          </a:solidFill>
                          <a:latin typeface="Arial" panose="020B0604020202090204"/>
                          <a:ea typeface="微软雅黑"/>
                          <a:cs typeface="+mn-cs"/>
                        </a:rPr>
                        <a:t>W2</a:t>
                      </a:r>
                      <a:endParaRPr lang="en-GB" sz="1100" b="1" kern="1200">
                        <a:solidFill>
                          <a:schemeClr val="dk1"/>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bl>
          </a:graphicData>
        </a:graphic>
      </p:graphicFrame>
      <p:sp>
        <p:nvSpPr>
          <p:cNvPr id="7" name="Isosceles Triangle 10"/>
          <p:cNvSpPr/>
          <p:nvPr/>
        </p:nvSpPr>
        <p:spPr bwMode="ltGray">
          <a:xfrm rot="10800000">
            <a:off x="763089" y="2562826"/>
            <a:ext cx="10721789" cy="250492"/>
          </a:xfrm>
          <a:prstGeom prst="triangle">
            <a:avLst/>
          </a:prstGeom>
          <a:solidFill>
            <a:sysClr val="window" lastClr="FFFFFF">
              <a:lumMod val="85000"/>
              <a:alpha val="49020"/>
            </a:sys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680" b="0" i="0" u="none" strike="noStrike" kern="0" cap="none" spc="0" normalizeH="0" baseline="0" noProof="0" err="1">
              <a:ln>
                <a:noFill/>
              </a:ln>
              <a:solidFill>
                <a:prstClr val="white"/>
              </a:solidFill>
              <a:effectLst/>
              <a:uLnTx/>
              <a:uFillTx/>
              <a:ea typeface="微软雅黑"/>
            </a:endParaRPr>
          </a:p>
        </p:txBody>
      </p:sp>
      <p:grpSp>
        <p:nvGrpSpPr>
          <p:cNvPr id="8" name="Group 7"/>
          <p:cNvGrpSpPr/>
          <p:nvPr/>
        </p:nvGrpSpPr>
        <p:grpSpPr>
          <a:xfrm>
            <a:off x="6009684" y="2506150"/>
            <a:ext cx="228600" cy="302609"/>
            <a:chOff x="4727088" y="5454758"/>
            <a:chExt cx="277538" cy="402560"/>
          </a:xfrm>
        </p:grpSpPr>
        <p:sp>
          <p:nvSpPr>
            <p:cNvPr id="9" name="Chevron 17"/>
            <p:cNvSpPr/>
            <p:nvPr/>
          </p:nvSpPr>
          <p:spPr bwMode="ltGray">
            <a:xfrm rot="5358138">
              <a:off x="4752230" y="5604922"/>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sp>
          <p:nvSpPr>
            <p:cNvPr id="10" name="Chevron 18"/>
            <p:cNvSpPr/>
            <p:nvPr/>
          </p:nvSpPr>
          <p:spPr bwMode="ltGray">
            <a:xfrm rot="5358138">
              <a:off x="4752230" y="5429616"/>
              <a:ext cx="227254" cy="277538"/>
            </a:xfrm>
            <a:prstGeom prst="chevron">
              <a:avLst/>
            </a:prstGeom>
            <a:solidFill>
              <a:srgbClr val="00338D"/>
            </a:solidFill>
            <a:ln w="3175" cap="flat" cmpd="sng" algn="ctr">
              <a:noFill/>
              <a:prstDash val="solid"/>
              <a:miter lim="800000"/>
            </a:ln>
            <a:effectLst/>
          </p:spPr>
          <p:txBody>
            <a:bodyPr rtlCol="0" anchor="ctr"/>
            <a:lstStyle/>
            <a:p>
              <a:pPr algn="ctr">
                <a:defRPr/>
              </a:pPr>
              <a:endParaRPr lang="en-GB" sz="1680" kern="0" err="1">
                <a:solidFill>
                  <a:prstClr val="white"/>
                </a:solidFill>
                <a:ea typeface="微软雅黑"/>
              </a:endParaRPr>
            </a:p>
          </p:txBody>
        </p:sp>
      </p:grpSp>
      <p:sp>
        <p:nvSpPr>
          <p:cNvPr id="12" name="Parallelogram 26"/>
          <p:cNvSpPr/>
          <p:nvPr/>
        </p:nvSpPr>
        <p:spPr bwMode="ltGray">
          <a:xfrm flipH="1">
            <a:off x="707045" y="2558459"/>
            <a:ext cx="634728" cy="3588959"/>
          </a:xfrm>
          <a:prstGeom prst="parallelogram">
            <a:avLst>
              <a:gd name="adj" fmla="val 54033"/>
            </a:avLst>
          </a:prstGeom>
          <a:solidFill>
            <a:srgbClr val="FFFFFF">
              <a:lumMod val="85000"/>
            </a:srgbClr>
          </a:solidFill>
          <a:ln w="3175" cap="flat" cmpd="sng" algn="ctr">
            <a:noFill/>
            <a:prstDash val="solid"/>
            <a:miter lim="800000"/>
          </a:ln>
          <a:effectLst/>
        </p:spPr>
        <p:txBody>
          <a:bodyPr rtlCol="0" anchor="ctr"/>
          <a:lstStyle/>
          <a:p>
            <a:pPr algn="ctr">
              <a:defRPr/>
            </a:pPr>
            <a:endParaRPr lang="en-GB" sz="2000" kern="0" dirty="0" err="1">
              <a:solidFill>
                <a:srgbClr val="FFFFFF"/>
              </a:solidFill>
              <a:latin typeface="微软雅黑" panose="020B0503020204020204" pitchFamily="34" charset="-122"/>
              <a:ea typeface="微软雅黑"/>
              <a:cs typeface="Arial" panose="020B0604020202090204" pitchFamily="34" charset="0"/>
            </a:endParaRPr>
          </a:p>
        </p:txBody>
      </p:sp>
      <p:sp>
        <p:nvSpPr>
          <p:cNvPr id="13" name="Rectangle 27"/>
          <p:cNvSpPr/>
          <p:nvPr/>
        </p:nvSpPr>
        <p:spPr>
          <a:xfrm>
            <a:off x="748496" y="2883366"/>
            <a:ext cx="1472245" cy="435968"/>
          </a:xfrm>
          <a:prstGeom prst="rect">
            <a:avLst/>
          </a:prstGeom>
          <a:solidFill>
            <a:srgbClr val="000000">
              <a:lumMod val="65000"/>
              <a:lumOff val="35000"/>
            </a:srgbClr>
          </a:solidFill>
          <a:ln w="12700" cap="flat" cmpd="sng" algn="ctr">
            <a:noFill/>
            <a:prstDash val="solid"/>
            <a:miter lim="800000"/>
          </a:ln>
          <a:effectLst/>
        </p:spPr>
        <p:txBody>
          <a:bodyPr lIns="54000" tIns="54000" rIns="54000" bIns="54000" rtlCol="0" anchor="ctr"/>
          <a:lstStyle/>
          <a:p>
            <a:pPr>
              <a:spcAft>
                <a:spcPts val="755"/>
              </a:spcAft>
              <a:defRPr/>
            </a:pPr>
            <a:r>
              <a:rPr lang="zh-CN" altLang="en-US" sz="1200" b="1" kern="0">
                <a:solidFill>
                  <a:srgbClr val="FFFFFF"/>
                </a:solidFill>
                <a:latin typeface="微软雅黑" panose="020B0503020204020204" pitchFamily="34" charset="-122"/>
                <a:ea typeface="微软雅黑"/>
                <a:cs typeface="Arial" panose="020B0604020202090204" pitchFamily="34" charset="0"/>
              </a:rPr>
              <a:t>开展内容</a:t>
            </a:r>
            <a:endParaRPr lang="en-GB" sz="1200" b="1" kern="0" dirty="0">
              <a:solidFill>
                <a:srgbClr val="FFFFFF"/>
              </a:solidFill>
              <a:latin typeface="微软雅黑" panose="020B0503020204020204" pitchFamily="34" charset="-122"/>
              <a:ea typeface="微软雅黑"/>
              <a:cs typeface="Arial" panose="020B0604020202090204" pitchFamily="34" charset="0"/>
            </a:endParaRPr>
          </a:p>
        </p:txBody>
      </p:sp>
      <p:graphicFrame>
        <p:nvGraphicFramePr>
          <p:cNvPr id="4" name="Table 3"/>
          <p:cNvGraphicFramePr>
            <a:graphicFrameLocks noGrp="1"/>
          </p:cNvGraphicFramePr>
          <p:nvPr/>
        </p:nvGraphicFramePr>
        <p:xfrm>
          <a:off x="2262192" y="2848009"/>
          <a:ext cx="9258296" cy="880370"/>
        </p:xfrm>
        <a:graphic>
          <a:graphicData uri="http://schemas.openxmlformats.org/drawingml/2006/table">
            <a:tbl>
              <a:tblPr/>
              <a:tblGrid>
                <a:gridCol w="408850"/>
                <a:gridCol w="948057"/>
                <a:gridCol w="365760"/>
                <a:gridCol w="847491"/>
                <a:gridCol w="1469923"/>
                <a:gridCol w="1043643"/>
                <a:gridCol w="1043643"/>
                <a:gridCol w="1043643"/>
                <a:gridCol w="1043643"/>
                <a:gridCol w="1043643"/>
              </a:tblGrid>
              <a:tr h="160424">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场次</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访谈时间</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hMerge="1">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部门</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访谈人</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访谈纪要完成情况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线下确认情况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TW" altLang="en-US" sz="900" b="1" i="0" u="none" strike="noStrike">
                          <a:solidFill>
                            <a:srgbClr val="FFFFFF"/>
                          </a:solidFill>
                          <a:effectLst/>
                          <a:latin typeface="微软雅黑" panose="020B0503020204020204" pitchFamily="34" charset="-122"/>
                          <a:ea typeface="微软雅黑" panose="020B0503020204020204" pitchFamily="34" charset="-122"/>
                        </a:rPr>
                        <a:t>发邮件情况</a:t>
                      </a:r>
                      <a:endParaRPr lang="zh-TW"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ctr"/>
                      <a:r>
                        <a:rPr lang="zh-CN" altLang="en-US" sz="900" b="1" i="0" u="none" strike="noStrike">
                          <a:solidFill>
                            <a:srgbClr val="FFFFFF"/>
                          </a:solidFill>
                          <a:effectLst/>
                          <a:latin typeface="微软雅黑" panose="020B0503020204020204" pitchFamily="34" charset="-122"/>
                          <a:ea typeface="微软雅黑" panose="020B0503020204020204" pitchFamily="34" charset="-122"/>
                        </a:rPr>
                        <a:t>确认情况</a:t>
                      </a:r>
                      <a:endParaRPr lang="zh-CN" altLang="en-US" sz="900" b="1" i="0" u="none" strike="noStrike">
                        <a:solidFill>
                          <a:srgbClr val="FFFFFF"/>
                        </a:solidFill>
                        <a:effectLst/>
                        <a:latin typeface="微软雅黑" panose="020B0503020204020204" pitchFamily="34" charset="-122"/>
                        <a:ea typeface="微软雅黑" panose="020B0503020204020204" pitchFamily="34" charset="-122"/>
                      </a:endParaRPr>
                    </a:p>
                  </a:txBody>
                  <a:tcPr marL="5855" marR="5855" marT="5855" marB="0" anchor="ctr">
                    <a:lnL>
                      <a:noFill/>
                    </a:lnL>
                    <a:lnR>
                      <a:noFill/>
                    </a:lnR>
                    <a:lnT>
                      <a:noFill/>
                    </a:lnT>
                    <a:lnB>
                      <a:noFill/>
                    </a:lnB>
                    <a:lnTlToBr w="12700" cmpd="sng">
                      <a:noFill/>
                      <a:prstDash val="solid"/>
                    </a:lnTlToBr>
                    <a:lnBlToTr w="12700" cmpd="sng">
                      <a:noFill/>
                      <a:prstDash val="solid"/>
                    </a:lnBlToTr>
                    <a:solidFill>
                      <a:srgbClr val="E97132"/>
                    </a:solidFill>
                  </a:tcPr>
                </a:tc>
              </a:tr>
              <a:tr h="239982">
                <a:tc>
                  <a:txBody>
                    <a:bodyPr/>
                    <a:lstStyle/>
                    <a:p>
                      <a:pPr algn="ctr" fontAlgn="ctr"/>
                      <a:r>
                        <a:rPr lang="en-GB" sz="1000" b="0" i="0" u="none" strike="noStrike">
                          <a:solidFill>
                            <a:srgbClr val="000000"/>
                          </a:solidFill>
                          <a:effectLst/>
                          <a:latin typeface="Arial" panose="020B0604020202090204" pitchFamily="34" charset="0"/>
                        </a:rPr>
                        <a:t>38</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信息部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骨干、周部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微软雅黑" panose="020B0503020204020204" pitchFamily="34" charset="-122"/>
                          <a:ea typeface="微软雅黑" panose="020B0503020204020204" pitchFamily="34" charset="-122"/>
                        </a:rPr>
                        <a:t>39</a:t>
                      </a: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CN" sz="10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000" b="0" i="0" u="none" strike="noStrike">
                          <a:solidFill>
                            <a:srgbClr val="000000"/>
                          </a:solidFill>
                          <a:effectLst/>
                          <a:latin typeface="微软雅黑" panose="020B0503020204020204" pitchFamily="34" charset="-122"/>
                          <a:ea typeface="微软雅黑" panose="020B0503020204020204" pitchFamily="34" charset="-122"/>
                        </a:rPr>
                        <a:t>住房中心</a:t>
                      </a:r>
                      <a:endParaRPr lang="zh-CN"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部长</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r h="239982">
                <a:tc>
                  <a:txBody>
                    <a:bodyPr/>
                    <a:lstStyle/>
                    <a:p>
                      <a:pPr algn="ctr" fontAlgn="ctr"/>
                      <a:r>
                        <a:rPr lang="en-GB" sz="1000" b="0" i="0" u="none" strike="noStrike">
                          <a:solidFill>
                            <a:srgbClr val="000000"/>
                          </a:solidFill>
                          <a:effectLst/>
                          <a:latin typeface="Arial" panose="020B0604020202090204" pitchFamily="34" charset="0"/>
                        </a:rPr>
                        <a:t>40</a:t>
                      </a:r>
                      <a:endParaRPr lang="en-GB" sz="1000" b="0" i="0" u="none" strike="noStrike">
                        <a:solidFill>
                          <a:srgbClr val="000000"/>
                        </a:solidFill>
                        <a:effectLst/>
                        <a:latin typeface="Arial" panose="020B060402020209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13-4</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17</a:t>
                      </a:r>
                      <a:endParaRPr lang="en-US" altLang="zh-TW"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待定</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集团</a:t>
                      </a:r>
                      <a:r>
                        <a:rPr lang="en-US" altLang="zh-TW" sz="1000" b="0" i="0" u="none" strike="noStrike">
                          <a:solidFill>
                            <a:srgbClr val="000000"/>
                          </a:solidFill>
                          <a:effectLst/>
                          <a:latin typeface="微软雅黑" panose="020B0503020204020204" pitchFamily="34" charset="-122"/>
                          <a:ea typeface="微软雅黑" panose="020B0503020204020204" pitchFamily="34" charset="-122"/>
                        </a:rPr>
                        <a:t>-</a:t>
                      </a: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财务部</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部长</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r>
                        <a:rPr lang="zh-TW" altLang="en-US" sz="1000" b="0" i="0" u="none" strike="noStrike">
                          <a:solidFill>
                            <a:srgbClr val="000000"/>
                          </a:solidFill>
                          <a:effectLst/>
                          <a:latin typeface="微软雅黑" panose="020B0503020204020204" pitchFamily="34" charset="-122"/>
                          <a:ea typeface="微软雅黑" panose="020B0503020204020204" pitchFamily="34" charset="-122"/>
                        </a:rPr>
                        <a:t>计划开始</a:t>
                      </a:r>
                      <a:endParaRPr lang="zh-TW" altLang="en-US"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p>
                      <a:pPr algn="ctr" fontAlgn="ctr"/>
                      <a:endParaRPr lang="en-GB" sz="10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68698" y="328334"/>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en-US" sz="1800" b="0" i="0" u="none" strike="noStrike" cap="none" normalizeH="0" baseline="0">
                <a:ln>
                  <a:noFill/>
                </a:ln>
                <a:solidFill>
                  <a:schemeClr val="bg1"/>
                </a:solidFill>
                <a:effectLst/>
                <a:latin typeface="+mj-ea"/>
                <a:ea typeface="+mj-ea"/>
              </a:rPr>
              <a:t>1-集团财务部沟通情况</a:t>
            </a:r>
            <a:endParaRPr kumimoji="0" lang="en-GB" sz="1800" b="0" i="0" u="none" strike="noStrike" cap="none" normalizeH="0" baseline="0">
              <a:ln>
                <a:noFill/>
              </a:ln>
              <a:solidFill>
                <a:schemeClr val="bg1"/>
              </a:solidFill>
              <a:effectLst/>
              <a:latin typeface="+mj-ea"/>
              <a:ea typeface="+mj-ea"/>
            </a:endParaRPr>
          </a:p>
        </p:txBody>
      </p:sp>
      <p:sp>
        <p:nvSpPr>
          <p:cNvPr id="6" name="AutoShape 5"/>
          <p:cNvSpPr/>
          <p:nvPr/>
        </p:nvSpPr>
        <p:spPr>
          <a:xfrm>
            <a:off x="50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7" name="AutoShape 6"/>
          <p:cNvSpPr/>
          <p:nvPr/>
        </p:nvSpPr>
        <p:spPr>
          <a:xfrm>
            <a:off x="76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14400" y="1736725"/>
            <a:ext cx="406400" cy="406400"/>
          </a:xfrm>
          <a:prstGeom prst="rect">
            <a:avLst/>
          </a:prstGeom>
        </p:spPr>
      </p:pic>
      <p:sp>
        <p:nvSpPr>
          <p:cNvPr id="9" name="AutoShape 8"/>
          <p:cNvSpPr/>
          <p:nvPr/>
        </p:nvSpPr>
        <p:spPr>
          <a:xfrm>
            <a:off x="158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a:solidFill>
                  <a:schemeClr val="accent1"/>
                </a:solidFill>
                <a:latin typeface="微软雅黑" charset="0"/>
                <a:ea typeface="微软雅黑" charset="0"/>
                <a:cs typeface="Noto Sans SC"/>
              </a:rPr>
              <a:t>是否成立结算公司</a:t>
            </a:r>
            <a:endParaRPr lang="en-US" sz="1800" b="1">
              <a:solidFill>
                <a:schemeClr val="accent1"/>
              </a:solidFill>
              <a:latin typeface="微软雅黑" charset="0"/>
              <a:ea typeface="微软雅黑" charset="0"/>
              <a:cs typeface="Noto Sans SC"/>
            </a:endParaRPr>
          </a:p>
        </p:txBody>
      </p:sp>
      <p:sp>
        <p:nvSpPr>
          <p:cNvPr id="10" name="AutoShape 9"/>
          <p:cNvSpPr/>
          <p:nvPr/>
        </p:nvSpPr>
        <p:spPr>
          <a:xfrm>
            <a:off x="762000" y="2536825"/>
            <a:ext cx="3048000" cy="1143000"/>
          </a:xfrm>
          <a:prstGeom prst="roundRect">
            <a:avLst>
              <a:gd name="adj" fmla="val 8888"/>
            </a:avLst>
          </a:prstGeom>
          <a:solidFill>
            <a:srgbClr val="2F4F4F">
              <a:alpha val="5000"/>
            </a:srgbClr>
          </a:solidFill>
          <a:ln w="25400" cap="flat" cmpd="sng">
            <a:noFill/>
            <a:prstDash val="solid"/>
            <a:round/>
          </a:ln>
        </p:spPr>
        <p:txBody>
          <a:bodyPr vert="horz" wrap="square" lIns="127000" tIns="0" rIns="127000" bIns="0" rtlCol="0" anchor="ctr" anchorCtr="0"/>
          <a:lstStyle/>
          <a:p>
            <a:pPr indent="0" algn="ctr">
              <a:lnSpc>
                <a:spcPct val="108000"/>
              </a:lnSpc>
              <a:defRPr/>
            </a:pPr>
            <a:r>
              <a:rPr lang="zh-CN" altLang="en-US" sz="1400" b="1" i="0" u="none" strike="noStrike">
                <a:solidFill>
                  <a:srgbClr val="333333"/>
                </a:solidFill>
                <a:latin typeface="微软雅黑" charset="0"/>
                <a:ea typeface="微软雅黑" charset="0"/>
                <a:cs typeface="微软雅黑" charset="0"/>
                <a:sym typeface="Noto Sans SC"/>
              </a:rPr>
              <a:t>建议</a:t>
            </a:r>
            <a:r>
              <a:rPr lang="en-US" sz="1400" b="1" i="0" u="none" strike="noStrike">
                <a:solidFill>
                  <a:srgbClr val="333333"/>
                </a:solidFill>
                <a:latin typeface="微软雅黑" charset="0"/>
                <a:ea typeface="微软雅黑" charset="0"/>
                <a:cs typeface="微软雅黑" charset="0"/>
                <a:sym typeface="Noto Sans SC"/>
              </a:rPr>
              <a:t>：</a:t>
            </a:r>
            <a:r>
              <a:rPr lang="zh-CN" altLang="en-US" sz="1400" b="1" i="0" u="none" strike="noStrike">
                <a:solidFill>
                  <a:srgbClr val="333333"/>
                </a:solidFill>
                <a:latin typeface="微软雅黑" charset="0"/>
                <a:ea typeface="微软雅黑" charset="0"/>
                <a:cs typeface="微软雅黑" charset="0"/>
                <a:sym typeface="Noto Sans SC"/>
              </a:rPr>
              <a:t>评估积分体量</a:t>
            </a:r>
            <a:r>
              <a:rPr lang="en-US" altLang="zh-CN" sz="1400" b="1" i="0" u="none" strike="noStrike">
                <a:solidFill>
                  <a:srgbClr val="333333"/>
                </a:solidFill>
                <a:latin typeface="微软雅黑" charset="0"/>
                <a:ea typeface="微软雅黑" charset="0"/>
                <a:cs typeface="微软雅黑" charset="0"/>
                <a:sym typeface="Noto Sans SC"/>
              </a:rPr>
              <a:t>、</a:t>
            </a:r>
            <a:r>
              <a:rPr lang="en-US" sz="1400" b="1">
                <a:solidFill>
                  <a:srgbClr val="3C3C3C"/>
                </a:solidFill>
                <a:latin typeface="微软雅黑" charset="0"/>
                <a:ea typeface="微软雅黑" charset="0"/>
                <a:cs typeface="微软雅黑" charset="0"/>
                <a:sym typeface="Noto Sans SC"/>
              </a:rPr>
              <a:t>业务规模</a:t>
            </a:r>
            <a:r>
              <a:rPr lang="zh-CN" altLang="en-US" sz="1400" b="1">
                <a:solidFill>
                  <a:srgbClr val="3C3C3C"/>
                </a:solidFill>
                <a:latin typeface="微软雅黑" charset="0"/>
                <a:ea typeface="微软雅黑" charset="0"/>
                <a:cs typeface="微软雅黑" charset="0"/>
                <a:sym typeface="Noto Sans SC"/>
              </a:rPr>
              <a:t>后确认</a:t>
            </a:r>
            <a:endParaRPr lang="en-US" sz="1400" b="1">
              <a:latin typeface="微软雅黑" charset="0"/>
              <a:ea typeface="微软雅黑" charset="0"/>
              <a:cs typeface="微软雅黑" charset="0"/>
            </a:endParaRPr>
          </a:p>
        </p:txBody>
      </p:sp>
      <p:sp>
        <p:nvSpPr>
          <p:cNvPr id="11" name="AutoShape 10"/>
          <p:cNvSpPr/>
          <p:nvPr/>
        </p:nvSpPr>
        <p:spPr>
          <a:xfrm>
            <a:off x="762000" y="3870325"/>
            <a:ext cx="3048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b="1" i="0" u="none" strike="noStrike">
                <a:solidFill>
                  <a:schemeClr val="accent1"/>
                </a:solidFill>
                <a:latin typeface="微软雅黑" charset="0"/>
                <a:ea typeface="微软雅黑" charset="0"/>
                <a:cs typeface="Noto Sans SC"/>
                <a:sym typeface="Noto Sans SC"/>
              </a:rPr>
              <a:t>核心依据</a:t>
            </a:r>
            <a:endParaRPr lang="en-US" b="1" i="0" u="none" strike="noStrike">
              <a:solidFill>
                <a:schemeClr val="accent1"/>
              </a:solidFill>
              <a:latin typeface="微软雅黑" charset="0"/>
              <a:ea typeface="微软雅黑" charset="0"/>
              <a:cs typeface="Noto Sans SC"/>
              <a:sym typeface="Noto Sans SC"/>
            </a:endParaRPr>
          </a:p>
        </p:txBody>
      </p:sp>
      <p:sp>
        <p:nvSpPr>
          <p:cNvPr id="12" name="AutoShape 11"/>
          <p:cNvSpPr/>
          <p:nvPr/>
        </p:nvSpPr>
        <p:spPr>
          <a:xfrm>
            <a:off x="762000" y="4251325"/>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微软雅黑" charset="0"/>
                <a:ea typeface="微软雅黑" charset="0"/>
                <a:cs typeface="微软雅黑" charset="0"/>
                <a:sym typeface="Noto Sans SC"/>
              </a:rPr>
              <a:t>● 成本效率：小组模式更灵活，避免新设主体</a:t>
            </a:r>
            <a:r>
              <a:rPr lang="zh-CN" altLang="en-US" sz="1400" b="0" i="0" u="none" strike="noStrike">
                <a:solidFill>
                  <a:srgbClr val="505050"/>
                </a:solidFill>
                <a:latin typeface="微软雅黑" charset="0"/>
                <a:ea typeface="微软雅黑" charset="0"/>
                <a:cs typeface="微软雅黑" charset="0"/>
                <a:sym typeface="Noto Sans SC"/>
              </a:rPr>
              <a:t>成本高</a:t>
            </a:r>
            <a:r>
              <a:rPr lang="en-US" altLang="zh-CN" sz="1400" b="0" i="0" u="none" strike="noStrike">
                <a:solidFill>
                  <a:srgbClr val="505050"/>
                </a:solidFill>
                <a:latin typeface="微软雅黑" charset="0"/>
                <a:ea typeface="微软雅黑" charset="0"/>
                <a:cs typeface="微软雅黑" charset="0"/>
                <a:sym typeface="Noto Sans SC"/>
              </a:rPr>
              <a:t>、</a:t>
            </a:r>
            <a:r>
              <a:rPr lang="en-US" sz="1400" b="0" i="0" u="none" strike="noStrike">
                <a:solidFill>
                  <a:srgbClr val="505050"/>
                </a:solidFill>
                <a:latin typeface="微软雅黑" charset="0"/>
                <a:ea typeface="微软雅黑" charset="0"/>
                <a:cs typeface="微软雅黑" charset="0"/>
                <a:sym typeface="Noto Sans SC"/>
              </a:rPr>
              <a:t>流程繁琐</a:t>
            </a:r>
            <a:br>
              <a:rPr lang="en-US" sz="1400" b="0" i="0" u="none" strike="noStrike">
                <a:solidFill>
                  <a:srgbClr val="505050"/>
                </a:solidFill>
                <a:latin typeface="微软雅黑" charset="0"/>
                <a:ea typeface="微软雅黑" charset="0"/>
                <a:cs typeface="微软雅黑" charset="0"/>
                <a:sym typeface="Noto Sans SC"/>
              </a:rPr>
            </a:br>
            <a:r>
              <a:rPr lang="en-US" sz="1400" b="0" i="0" u="none" strike="noStrike">
                <a:solidFill>
                  <a:srgbClr val="505050"/>
                </a:solidFill>
                <a:latin typeface="微软雅黑" charset="0"/>
                <a:ea typeface="微软雅黑" charset="0"/>
                <a:cs typeface="微软雅黑" charset="0"/>
                <a:sym typeface="Noto Sans SC"/>
              </a:rPr>
              <a:t>● 技术对接：可直连浪潮系统，确保对账与数据溯源</a:t>
            </a:r>
            <a:endParaRPr lang="en-US" sz="1400">
              <a:latin typeface="微软雅黑" charset="0"/>
              <a:ea typeface="微软雅黑" charset="0"/>
              <a:cs typeface="微软雅黑" charset="0"/>
            </a:endParaRPr>
          </a:p>
        </p:txBody>
      </p:sp>
      <p:sp>
        <p:nvSpPr>
          <p:cNvPr id="13" name="AutoShape 12"/>
          <p:cNvSpPr/>
          <p:nvPr/>
        </p:nvSpPr>
        <p:spPr>
          <a:xfrm>
            <a:off x="431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4" name="AutoShape 13"/>
          <p:cNvSpPr/>
          <p:nvPr/>
        </p:nvSpPr>
        <p:spPr>
          <a:xfrm>
            <a:off x="457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24400" y="1736725"/>
            <a:ext cx="406400" cy="406400"/>
          </a:xfrm>
          <a:prstGeom prst="rect">
            <a:avLst/>
          </a:prstGeom>
        </p:spPr>
      </p:pic>
      <p:sp>
        <p:nvSpPr>
          <p:cNvPr id="16" name="AutoShape 15"/>
          <p:cNvSpPr/>
          <p:nvPr/>
        </p:nvSpPr>
        <p:spPr>
          <a:xfrm>
            <a:off x="539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chemeClr val="accent1"/>
                </a:solidFill>
                <a:latin typeface="微软雅黑" charset="0"/>
                <a:ea typeface="微软雅黑" charset="0"/>
                <a:cs typeface="Noto Sans SC"/>
                <a:sym typeface="Noto Sans SC"/>
              </a:rPr>
              <a:t>结算方式（</a:t>
            </a:r>
            <a:r>
              <a:rPr lang="zh-CN" altLang="en-US" sz="1800" b="1" i="0" u="none" strike="noStrike">
                <a:solidFill>
                  <a:schemeClr val="accent1"/>
                </a:solidFill>
                <a:latin typeface="微软雅黑" charset="0"/>
                <a:ea typeface="微软雅黑" charset="0"/>
                <a:cs typeface="Noto Sans SC"/>
                <a:sym typeface="Noto Sans SC"/>
              </a:rPr>
              <a:t>发分</a:t>
            </a:r>
            <a:r>
              <a:rPr lang="en-US" altLang="zh-CN" sz="1800" b="1" i="0" u="none" strike="noStrike">
                <a:solidFill>
                  <a:schemeClr val="accent1"/>
                </a:solidFill>
                <a:latin typeface="微软雅黑" charset="0"/>
                <a:ea typeface="微软雅黑" charset="0"/>
                <a:cs typeface="Noto Sans SC"/>
                <a:sym typeface="Noto Sans SC"/>
              </a:rPr>
              <a:t>、</a:t>
            </a:r>
            <a:r>
              <a:rPr lang="zh-CN" altLang="en-US" sz="1800" b="1" i="0" u="none" strike="noStrike">
                <a:solidFill>
                  <a:schemeClr val="accent1"/>
                </a:solidFill>
                <a:latin typeface="微软雅黑" charset="0"/>
                <a:ea typeface="微软雅黑" charset="0"/>
                <a:cs typeface="Noto Sans SC"/>
                <a:sym typeface="Noto Sans SC"/>
              </a:rPr>
              <a:t>兑分</a:t>
            </a:r>
            <a:r>
              <a:rPr lang="en-US" sz="1800" b="1" i="0" u="none" strike="noStrike">
                <a:solidFill>
                  <a:schemeClr val="accent1"/>
                </a:solidFill>
                <a:latin typeface="微软雅黑" charset="0"/>
                <a:ea typeface="微软雅黑" charset="0"/>
                <a:cs typeface="Noto Sans SC"/>
                <a:sym typeface="Noto Sans SC"/>
              </a:rPr>
              <a:t>）</a:t>
            </a:r>
            <a:endParaRPr lang="en-US" sz="1800" b="1" i="0" u="none" strike="noStrike">
              <a:solidFill>
                <a:schemeClr val="accent1"/>
              </a:solidFill>
              <a:latin typeface="微软雅黑" charset="0"/>
              <a:ea typeface="微软雅黑" charset="0"/>
              <a:cs typeface="Noto Sans SC"/>
              <a:sym typeface="Noto Sans SC"/>
            </a:endParaRPr>
          </a:p>
        </p:txBody>
      </p:sp>
      <p:sp>
        <p:nvSpPr>
          <p:cNvPr id="17" name="AutoShape 16"/>
          <p:cNvSpPr/>
          <p:nvPr/>
        </p:nvSpPr>
        <p:spPr>
          <a:xfrm>
            <a:off x="4572000" y="2536825"/>
            <a:ext cx="3048000" cy="1143000"/>
          </a:xfrm>
          <a:prstGeom prst="roundRect">
            <a:avLst>
              <a:gd name="adj" fmla="val 8888"/>
            </a:avLst>
          </a:prstGeom>
          <a:solidFill>
            <a:srgbClr val="2F4F4F">
              <a:alpha val="5000"/>
            </a:srgbClr>
          </a:solidFill>
          <a:ln w="25400" cap="flat" cmpd="sng">
            <a:noFill/>
            <a:prstDash val="solid"/>
            <a:round/>
          </a:ln>
        </p:spPr>
        <p:txBody>
          <a:bodyPr vert="horz" wrap="square" lIns="127000" tIns="0" rIns="127000" bIns="0" rtlCol="0" anchor="ctr" anchorCtr="0"/>
          <a:lstStyle/>
          <a:p>
            <a:pPr indent="0" algn="ctr">
              <a:lnSpc>
                <a:spcPct val="108000"/>
              </a:lnSpc>
              <a:defRPr/>
            </a:pPr>
            <a:endParaRPr lang="en-US" sz="1400" b="1" i="0" u="none" strike="noStrike">
              <a:solidFill>
                <a:srgbClr val="333333"/>
              </a:solidFill>
              <a:latin typeface="微软雅黑" charset="0"/>
              <a:ea typeface="微软雅黑" charset="0"/>
              <a:cs typeface="微软雅黑" charset="0"/>
              <a:sym typeface="Noto Sans SC"/>
            </a:endParaRPr>
          </a:p>
          <a:p>
            <a:pPr indent="0" algn="ctr">
              <a:lnSpc>
                <a:spcPct val="108000"/>
              </a:lnSpc>
              <a:defRPr/>
            </a:pPr>
            <a:r>
              <a:rPr lang="zh-CN" altLang="en-US" sz="1400" b="1" i="0" u="none" strike="noStrike">
                <a:solidFill>
                  <a:srgbClr val="333333"/>
                </a:solidFill>
                <a:latin typeface="微软雅黑" charset="0"/>
                <a:ea typeface="微软雅黑" charset="0"/>
                <a:cs typeface="微软雅黑" charset="0"/>
                <a:sym typeface="Noto Sans SC"/>
              </a:rPr>
              <a:t>建议</a:t>
            </a:r>
            <a:r>
              <a:rPr lang="en-US" sz="1400" b="1" i="0" u="none" strike="noStrike">
                <a:solidFill>
                  <a:srgbClr val="333333"/>
                </a:solidFill>
                <a:latin typeface="微软雅黑" charset="0"/>
                <a:ea typeface="微软雅黑" charset="0"/>
                <a:cs typeface="微软雅黑" charset="0"/>
                <a:sym typeface="Noto Sans SC"/>
              </a:rPr>
              <a:t>：采用发分结算模式，</a:t>
            </a:r>
            <a:r>
              <a:rPr lang="zh-CN" altLang="en-US" sz="1400" b="1">
                <a:latin typeface="微软雅黑" charset="0"/>
                <a:ea typeface="微软雅黑" charset="0"/>
                <a:cs typeface="微软雅黑" charset="0"/>
                <a:sym typeface="微软雅黑"/>
              </a:rPr>
              <a:t>最终方案需结合场景梳理与历史积分体量确定。</a:t>
            </a:r>
            <a:br>
              <a:rPr lang="en-US" sz="1400" b="0" i="0" u="none" strike="noStrike">
                <a:solidFill>
                  <a:srgbClr val="1F2329"/>
                </a:solidFill>
                <a:latin typeface="微软雅黑" charset="0"/>
                <a:ea typeface="微软雅黑" charset="0"/>
                <a:cs typeface="微软雅黑" charset="0"/>
                <a:sym typeface="Noto Sans SC"/>
              </a:rPr>
            </a:br>
            <a:r>
              <a:rPr lang="en-US" sz="1400" b="0" i="0" u="none" strike="noStrike">
                <a:solidFill>
                  <a:srgbClr val="666666"/>
                </a:solidFill>
                <a:latin typeface="微软雅黑" charset="0"/>
                <a:ea typeface="微软雅黑" charset="0"/>
                <a:cs typeface="微软雅黑" charset="0"/>
                <a:sym typeface="Noto Sans SC"/>
              </a:rPr>
              <a:t>符合权责发生制，保障财务合规</a:t>
            </a:r>
            <a:endParaRPr lang="en-US" sz="1400" b="0" i="0" u="none" strike="noStrike">
              <a:solidFill>
                <a:srgbClr val="666666"/>
              </a:solidFill>
              <a:latin typeface="微软雅黑" charset="0"/>
              <a:ea typeface="微软雅黑" charset="0"/>
              <a:cs typeface="微软雅黑" charset="0"/>
              <a:sym typeface="Noto Sans SC"/>
            </a:endParaRPr>
          </a:p>
          <a:p>
            <a:pPr indent="0" algn="ctr">
              <a:lnSpc>
                <a:spcPct val="108000"/>
              </a:lnSpc>
              <a:defRPr/>
            </a:pPr>
            <a:endParaRPr lang="en-US" sz="1400">
              <a:latin typeface="微软雅黑" charset="0"/>
              <a:ea typeface="微软雅黑" charset="0"/>
              <a:cs typeface="微软雅黑" charset="0"/>
            </a:endParaRPr>
          </a:p>
        </p:txBody>
      </p:sp>
      <p:sp>
        <p:nvSpPr>
          <p:cNvPr id="18" name="AutoShape 17"/>
          <p:cNvSpPr/>
          <p:nvPr/>
        </p:nvSpPr>
        <p:spPr>
          <a:xfrm>
            <a:off x="4572000" y="3870325"/>
            <a:ext cx="3048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b="1" i="0" u="none" strike="noStrike">
                <a:solidFill>
                  <a:schemeClr val="accent1"/>
                </a:solidFill>
                <a:latin typeface="微软雅黑" charset="0"/>
                <a:ea typeface="微软雅黑" charset="0"/>
                <a:cs typeface="Noto Sans SC"/>
                <a:sym typeface="Noto Sans SC"/>
              </a:rPr>
              <a:t>核心依据</a:t>
            </a:r>
            <a:endParaRPr lang="en-US" b="1" i="0" u="none" strike="noStrike">
              <a:solidFill>
                <a:schemeClr val="accent1"/>
              </a:solidFill>
              <a:latin typeface="微软雅黑" charset="0"/>
              <a:ea typeface="微软雅黑" charset="0"/>
              <a:cs typeface="Noto Sans SC"/>
              <a:sym typeface="Noto Sans SC"/>
            </a:endParaRPr>
          </a:p>
        </p:txBody>
      </p:sp>
      <p:sp>
        <p:nvSpPr>
          <p:cNvPr id="19" name="AutoShape 18"/>
          <p:cNvSpPr/>
          <p:nvPr/>
        </p:nvSpPr>
        <p:spPr>
          <a:xfrm>
            <a:off x="4572000" y="4251325"/>
            <a:ext cx="3048000" cy="1651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微软雅黑" charset="0"/>
                <a:ea typeface="微软雅黑" charset="0"/>
                <a:cs typeface="微软雅黑" charset="0"/>
                <a:sym typeface="Noto Sans SC"/>
              </a:rPr>
              <a:t>● 账务清晰：形成完整闭环，便于预算控制与跨部门核算</a:t>
            </a:r>
            <a:br>
              <a:rPr lang="en-US" sz="1400" b="0" i="0" u="none" strike="noStrike">
                <a:solidFill>
                  <a:srgbClr val="505050"/>
                </a:solidFill>
                <a:latin typeface="微软雅黑" charset="0"/>
                <a:ea typeface="微软雅黑" charset="0"/>
                <a:cs typeface="微软雅黑" charset="0"/>
                <a:sym typeface="Noto Sans SC"/>
              </a:rPr>
            </a:br>
            <a:r>
              <a:rPr lang="en-US" sz="1400" b="0" i="0" u="none" strike="noStrike">
                <a:solidFill>
                  <a:srgbClr val="505050"/>
                </a:solidFill>
                <a:latin typeface="微软雅黑" charset="0"/>
                <a:ea typeface="微软雅黑" charset="0"/>
                <a:cs typeface="微软雅黑" charset="0"/>
                <a:sym typeface="Noto Sans SC"/>
              </a:rPr>
              <a:t>● 精细管理：支持业务端精细化运营与部门绩效考核</a:t>
            </a:r>
            <a:endParaRPr lang="en-US" sz="1400">
              <a:latin typeface="微软雅黑" charset="0"/>
              <a:ea typeface="微软雅黑" charset="0"/>
              <a:cs typeface="微软雅黑" charset="0"/>
            </a:endParaRPr>
          </a:p>
        </p:txBody>
      </p:sp>
      <p:sp>
        <p:nvSpPr>
          <p:cNvPr id="20" name="AutoShape 19"/>
          <p:cNvSpPr/>
          <p:nvPr/>
        </p:nvSpPr>
        <p:spPr>
          <a:xfrm>
            <a:off x="8128000" y="1330325"/>
            <a:ext cx="3556000" cy="4953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19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1" name="AutoShape 20"/>
          <p:cNvSpPr/>
          <p:nvPr/>
        </p:nvSpPr>
        <p:spPr>
          <a:xfrm>
            <a:off x="8382000" y="1584325"/>
            <a:ext cx="711200" cy="711200"/>
          </a:xfrm>
          <a:prstGeom prst="ellipse">
            <a:avLst/>
          </a:prstGeom>
          <a:solidFill>
            <a:srgbClr val="007EBA">
              <a:alpha val="10000"/>
            </a:srgbClr>
          </a:solidFill>
          <a:ln w="25400" cap="flat" cmpd="sng">
            <a:noFill/>
            <a:prstDash val="solid"/>
            <a:round/>
          </a:ln>
        </p:spPr>
        <p:txBody>
          <a:bodyPr vert="horz" wrap="square" lIns="0" tIns="0" rIns="0" bIns="0" rtlCol="0" anchor="ctr" anchorCtr="0"/>
          <a:lstStyle/>
          <a:p>
            <a:pPr algn="ctr">
              <a:defRPr/>
            </a:pPr>
            <a:endParaRPr>
              <a:latin typeface="微软雅黑" charset="0"/>
              <a:ea typeface="微软雅黑" charset="0"/>
            </a:endParaRPr>
          </a:p>
        </p:txBody>
      </p:sp>
      <p:pic>
        <p:nvPicPr>
          <p:cNvPr id="22"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4400" y="1736725"/>
            <a:ext cx="406400" cy="406400"/>
          </a:xfrm>
          <a:prstGeom prst="rect">
            <a:avLst/>
          </a:prstGeom>
        </p:spPr>
      </p:pic>
      <p:sp>
        <p:nvSpPr>
          <p:cNvPr id="23" name="AutoShape 22"/>
          <p:cNvSpPr/>
          <p:nvPr/>
        </p:nvSpPr>
        <p:spPr>
          <a:xfrm>
            <a:off x="9207500" y="1685925"/>
            <a:ext cx="2286000" cy="457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chemeClr val="accent1"/>
                </a:solidFill>
                <a:latin typeface="微软雅黑" charset="0"/>
                <a:ea typeface="微软雅黑" charset="0"/>
                <a:cs typeface="Noto Sans SC"/>
                <a:sym typeface="Noto Sans SC"/>
              </a:rPr>
              <a:t>下一步工作规划</a:t>
            </a:r>
            <a:endParaRPr lang="en-US" sz="1800" b="1" i="0" u="none" strike="noStrike">
              <a:solidFill>
                <a:schemeClr val="accent1"/>
              </a:solidFill>
              <a:latin typeface="微软雅黑" charset="0"/>
              <a:ea typeface="微软雅黑" charset="0"/>
              <a:cs typeface="Noto Sans SC"/>
              <a:sym typeface="Noto Sans SC"/>
            </a:endParaRPr>
          </a:p>
        </p:txBody>
      </p:sp>
      <p:sp>
        <p:nvSpPr>
          <p:cNvPr id="24" name="AutoShape 23"/>
          <p:cNvSpPr/>
          <p:nvPr/>
        </p:nvSpPr>
        <p:spPr>
          <a:xfrm>
            <a:off x="8382000" y="2536825"/>
            <a:ext cx="3048000" cy="3429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400" b="1" i="0" u="none" strike="noStrike">
                <a:solidFill>
                  <a:schemeClr val="accent1"/>
                </a:solidFill>
                <a:latin typeface="微软雅黑" charset="0"/>
                <a:ea typeface="微软雅黑" charset="0"/>
                <a:cs typeface="微软雅黑" charset="0"/>
                <a:sym typeface="Poppins"/>
              </a:rPr>
              <a:t>01. </a:t>
            </a:r>
            <a:r>
              <a:rPr lang="en-US" sz="1400" b="0" i="0" u="none" strike="noStrike">
                <a:solidFill>
                  <a:srgbClr val="3C3C3C"/>
                </a:solidFill>
                <a:latin typeface="微软雅黑" charset="0"/>
                <a:ea typeface="微软雅黑" charset="0"/>
                <a:cs typeface="微软雅黑" charset="0"/>
                <a:sym typeface="Noto Sans SC"/>
              </a:rPr>
              <a:t>穷举发分/耗分全场景清单</a:t>
            </a:r>
            <a:endParaRPr lang="en-US" sz="1400">
              <a:latin typeface="微软雅黑" charset="0"/>
              <a:ea typeface="微软雅黑" charset="0"/>
              <a:cs typeface="微软雅黑" charset="0"/>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02. </a:t>
            </a:r>
            <a:r>
              <a:rPr lang="en-US" sz="1400" b="0" i="0" u="none" strike="noStrike">
                <a:solidFill>
                  <a:srgbClr val="3C3C3C"/>
                </a:solidFill>
                <a:latin typeface="微软雅黑" charset="0"/>
                <a:ea typeface="微软雅黑" charset="0"/>
                <a:cs typeface="微软雅黑" charset="0"/>
                <a:sym typeface="Noto Sans SC"/>
              </a:rPr>
              <a:t>统计历史积分存量数据</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03.</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评估当前业务规模量级</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04.</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研讨并确定最终核算方案</a:t>
            </a:r>
            <a:endParaRPr lang="en-US" sz="1400" b="0" i="0" u="none" strike="noStrike">
              <a:solidFill>
                <a:srgbClr val="3C3C3C"/>
              </a:solidFill>
              <a:latin typeface="微软雅黑" charset="0"/>
              <a:ea typeface="微软雅黑" charset="0"/>
              <a:cs typeface="微软雅黑" charset="0"/>
              <a:sym typeface="Noto Sans SC"/>
            </a:endParaRPr>
          </a:p>
          <a:p>
            <a:pPr indent="0" algn="l">
              <a:lnSpc>
                <a:spcPct val="133000"/>
              </a:lnSpc>
            </a:pPr>
            <a:r>
              <a:rPr lang="en-US" sz="1400" b="1" i="0" u="none" strike="noStrike">
                <a:solidFill>
                  <a:schemeClr val="accent1"/>
                </a:solidFill>
                <a:latin typeface="微软雅黑" charset="0"/>
                <a:ea typeface="微软雅黑" charset="0"/>
                <a:cs typeface="微软雅黑" charset="0"/>
                <a:sym typeface="Poppins"/>
              </a:rPr>
              <a:t>05.</a:t>
            </a:r>
            <a:r>
              <a:rPr lang="en-US" sz="1400" b="1" i="0" u="none" strike="noStrike">
                <a:solidFill>
                  <a:srgbClr val="2F4F4F"/>
                </a:solidFill>
                <a:latin typeface="微软雅黑" charset="0"/>
                <a:ea typeface="微软雅黑" charset="0"/>
                <a:cs typeface="微软雅黑" charset="0"/>
                <a:sym typeface="Poppins"/>
              </a:rPr>
              <a:t> </a:t>
            </a:r>
            <a:r>
              <a:rPr lang="en-US" sz="1400" b="0" i="0" u="none" strike="noStrike">
                <a:solidFill>
                  <a:srgbClr val="3C3C3C"/>
                </a:solidFill>
                <a:latin typeface="微软雅黑" charset="0"/>
                <a:ea typeface="微软雅黑" charset="0"/>
                <a:cs typeface="微软雅黑" charset="0"/>
                <a:sym typeface="Noto Sans SC"/>
              </a:rPr>
              <a:t>对接浪潮系统实现数据同步</a:t>
            </a:r>
            <a:endParaRPr lang="en-US" sz="1400" b="0" i="0" u="none" strike="noStrike">
              <a:solidFill>
                <a:srgbClr val="3C3C3C"/>
              </a:solidFill>
              <a:latin typeface="微软雅黑" charset="0"/>
              <a:ea typeface="微软雅黑" charset="0"/>
              <a:cs typeface="微软雅黑" charset="0"/>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noProof="0">
                <a:ln>
                  <a:noFill/>
                </a:ln>
                <a:solidFill>
                  <a:srgbClr val="00338D"/>
                </a:solidFill>
                <a:effectLst/>
                <a:uLnTx/>
                <a:uFillTx/>
                <a:sym typeface="+mn-ea"/>
              </a:rPr>
              <a:t>积分发放场景及规则</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表格 2"/>
          <p:cNvGraphicFramePr/>
          <p:nvPr>
            <p:custDataLst>
              <p:tags r:id="rId1"/>
            </p:custDataLst>
          </p:nvPr>
        </p:nvGraphicFramePr>
        <p:xfrm>
          <a:off x="351155" y="1013460"/>
          <a:ext cx="5706745" cy="5666291"/>
        </p:xfrm>
        <a:graphic>
          <a:graphicData uri="http://schemas.openxmlformats.org/drawingml/2006/table">
            <a:tbl>
              <a:tblPr/>
              <a:tblGrid>
                <a:gridCol w="558322"/>
                <a:gridCol w="582507"/>
                <a:gridCol w="750770"/>
                <a:gridCol w="1568918"/>
                <a:gridCol w="2246228"/>
              </a:tblGrid>
              <a:tr h="325755">
                <a:tc>
                  <a:txBody>
                    <a:bodyPr/>
                    <a:lstStyle/>
                    <a:p>
                      <a:pPr indent="0" algn="ctr">
                        <a:buNone/>
                      </a:pPr>
                      <a:r>
                        <a:rPr lang="zh-CN" sz="1200" b="1" dirty="0">
                          <a:solidFill>
                            <a:srgbClr val="000000"/>
                          </a:solidFill>
                          <a:latin typeface="Arial" panose="020B0604020202090204" pitchFamily="34" charset="0"/>
                          <a:ea typeface="微软雅黑" panose="020B0503020204020204" pitchFamily="34" charset="-122"/>
                        </a:rPr>
                        <a:t>序号</a:t>
                      </a:r>
                      <a:endParaRPr lang="zh-CN" altLang="en-US" sz="1200" b="1"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部门</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业务板块</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积分场景内容</a:t>
                      </a:r>
                      <a:endParaRPr lang="zh-CN" altLang="en-US" sz="12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200" b="1" dirty="0">
                          <a:solidFill>
                            <a:srgbClr val="000000"/>
                          </a:solidFill>
                          <a:latin typeface="Arial" panose="020B0604020202090204" pitchFamily="34" charset="0"/>
                          <a:ea typeface="微软雅黑" panose="020B0503020204020204" pitchFamily="34" charset="-122"/>
                        </a:rPr>
                        <a:t>积分设置规则</a:t>
                      </a:r>
                      <a:endParaRPr lang="zh-CN" altLang="en-US" sz="1200" b="1"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dirty="0">
                          <a:solidFill>
                            <a:srgbClr val="000000"/>
                          </a:solidFill>
                          <a:latin typeface="微软雅黑" panose="020B0503020204020204" pitchFamily="34" charset="-122"/>
                        </a:rPr>
                        <a:t>1</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8">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平台运营</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5">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基础模块</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用户注册会员赠送积分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一次性奖励0.3~0.5元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dirty="0">
                          <a:solidFill>
                            <a:srgbClr val="000000"/>
                          </a:solidFill>
                          <a:latin typeface="微软雅黑" panose="020B0503020204020204" pitchFamily="34" charset="-122"/>
                        </a:rPr>
                        <a:t>2</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会员签到赠送积分，持续签到获得更多的积分奖励</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每月持续完成签到，获得0.8~1.5元</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dirty="0">
                          <a:solidFill>
                            <a:srgbClr val="000000"/>
                          </a:solidFill>
                          <a:latin typeface="微软雅黑" panose="020B0503020204020204" pitchFamily="34" charset="-122"/>
                        </a:rPr>
                        <a:t>3</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会员参与老虎机、大转盘等活动赠送积分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按照活动预算进行核算</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a:solidFill>
                            <a:srgbClr val="000000"/>
                          </a:solidFill>
                          <a:latin typeface="微软雅黑" panose="020B0503020204020204" pitchFamily="34" charset="-122"/>
                        </a:rPr>
                        <a:t>4</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会员填写满意度调查问卷赠送积分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每季度1次，每次填写问卷，奖励0.2~0.4元</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dirty="0">
                          <a:solidFill>
                            <a:srgbClr val="000000"/>
                          </a:solidFill>
                          <a:latin typeface="微软雅黑" panose="020B0503020204020204" pitchFamily="34" charset="-122"/>
                        </a:rPr>
                        <a:t>5</a:t>
                      </a:r>
                      <a:endParaRPr lang="en-US" altLang="en-US" sz="900" b="0" dirty="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会员关注公众号赠送积分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一次性奖励0.3~0.5元</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21273">
                <a:tc>
                  <a:txBody>
                    <a:bodyPr/>
                    <a:lstStyle/>
                    <a:p>
                      <a:pPr indent="0" algn="ctr">
                        <a:buNone/>
                      </a:pPr>
                      <a:r>
                        <a:rPr lang="en-US" sz="900" b="0">
                          <a:solidFill>
                            <a:srgbClr val="000000"/>
                          </a:solidFill>
                          <a:latin typeface="微软雅黑" panose="020B0503020204020204" pitchFamily="34" charset="-122"/>
                        </a:rPr>
                        <a:t>6</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3">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外部合作</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用户办理农行信用卡赠送积分</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a:solidFill>
                            <a:srgbClr val="4472C4"/>
                          </a:solidFill>
                          <a:latin typeface="Arial" panose="020B0604020202090204" pitchFamily="34" charset="0"/>
                          <a:ea typeface="微软雅黑" panose="020B0503020204020204" pitchFamily="34" charset="-122"/>
                        </a:rPr>
                        <a:t>办理成功，一次性赠送40~120元的积分（10000~30000积分，成本由银行承担）</a:t>
                      </a:r>
                      <a:endParaRPr lang="zh-CN" altLang="en-US" sz="900" b="1">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27496">
                <a:tc>
                  <a:txBody>
                    <a:bodyPr/>
                    <a:lstStyle/>
                    <a:p>
                      <a:pPr indent="0" algn="ctr">
                        <a:buNone/>
                      </a:pPr>
                      <a:r>
                        <a:rPr lang="en-US" sz="900" b="0">
                          <a:solidFill>
                            <a:srgbClr val="000000"/>
                          </a:solidFill>
                          <a:latin typeface="微软雅黑" panose="020B0503020204020204" pitchFamily="34" charset="-122"/>
                        </a:rPr>
                        <a:t>7</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1" dirty="0">
                          <a:solidFill>
                            <a:srgbClr val="4472C4"/>
                          </a:solidFill>
                          <a:latin typeface="Arial" panose="020B0604020202090204" pitchFamily="34" charset="0"/>
                          <a:ea typeface="微软雅黑" panose="020B0503020204020204" pitchFamily="34" charset="-122"/>
                        </a:rPr>
                        <a:t>使用银行信用卡消费</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1">
                          <a:solidFill>
                            <a:srgbClr val="4472C4"/>
                          </a:solidFill>
                          <a:latin typeface="Arial" panose="020B0604020202090204" pitchFamily="34" charset="0"/>
                          <a:ea typeface="微软雅黑" panose="020B0503020204020204" pitchFamily="34" charset="-122"/>
                        </a:rPr>
                        <a:t>使用信用卡消费1元，赠送1个积分（成本由银行承担）</a:t>
                      </a:r>
                      <a:endParaRPr lang="zh-CN" altLang="en-US" sz="900" b="1">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8</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solidFill>
                      <a:schemeClr val="bg1"/>
                    </a:solidFill>
                  </a:tcPr>
                </a:tc>
                <a:tc>
                  <a:txBody>
                    <a:bodyPr/>
                    <a:lstStyle/>
                    <a:p>
                      <a:pPr indent="0">
                        <a:buNone/>
                      </a:pPr>
                      <a:r>
                        <a:rPr lang="zh-CN" altLang="en-US" sz="900" b="1" dirty="0">
                          <a:solidFill>
                            <a:srgbClr val="4472C4"/>
                          </a:solidFill>
                          <a:latin typeface="Arial" panose="020B0604020202090204" pitchFamily="34" charset="0"/>
                          <a:ea typeface="微软雅黑" panose="020B0503020204020204" pitchFamily="34" charset="-122"/>
                        </a:rPr>
                        <a:t>外部积分互换的价差</a:t>
                      </a:r>
                      <a:endParaRPr lang="zh-CN" altLang="en-US"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altLang="zh-CN" sz="900" b="1" dirty="0">
                          <a:solidFill>
                            <a:srgbClr val="4472C4"/>
                          </a:solidFill>
                          <a:latin typeface="Arial" panose="020B0604020202090204" pitchFamily="34" charset="0"/>
                          <a:ea typeface="微软雅黑" panose="020B0503020204020204" pitchFamily="34" charset="-122"/>
                        </a:rPr>
                        <a:t>/</a:t>
                      </a:r>
                      <a:endParaRPr lang="en-US" altLang="zh-CN" sz="900" b="1"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9</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公共住房运营事业部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3">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公共住房租赁</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填写签约评价赠送积分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10</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填写押金退款评价赠送积分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84469">
                <a:tc>
                  <a:txBody>
                    <a:bodyPr/>
                    <a:lstStyle/>
                    <a:p>
                      <a:pPr indent="0" algn="ctr">
                        <a:buNone/>
                      </a:pPr>
                      <a:r>
                        <a:rPr lang="en-US" sz="900" b="0">
                          <a:solidFill>
                            <a:srgbClr val="000000"/>
                          </a:solidFill>
                          <a:latin typeface="微软雅黑" panose="020B0503020204020204" pitchFamily="34" charset="-122"/>
                        </a:rPr>
                        <a:t>11</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举报违规用房(转租、转借)，并核实成功赠送积分</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12</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4">
                  <a:txBody>
                    <a:bodyPr/>
                    <a:lstStyle/>
                    <a:p>
                      <a:pPr indent="0" algn="ctr">
                        <a:buNone/>
                      </a:pPr>
                      <a:r>
                        <a:rPr lang="zh-CN" altLang="en-US" sz="900" b="0">
                          <a:solidFill>
                            <a:srgbClr val="000000"/>
                          </a:solidFill>
                          <a:latin typeface="Arial" panose="020B0604020202090204" pitchFamily="34" charset="0"/>
                          <a:ea typeface="微软雅黑" panose="020B0503020204020204" pitchFamily="34" charset="-122"/>
                        </a:rPr>
                        <a:t>公共住房销售</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现场看房赠送积分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看房1次，奖励0.1~0.2元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13</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填写看房评价赠送积分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填写1次，奖励0.2~0.4元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14</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填写购房调查问卷赠送积分</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填写1次，奖励0.2~0.4元</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15</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a:solidFill>
                            <a:srgbClr val="4472C4"/>
                          </a:solidFill>
                          <a:latin typeface="Arial" panose="020B0604020202090204" pitchFamily="34" charset="0"/>
                          <a:ea typeface="微软雅黑" panose="020B0503020204020204" pitchFamily="34" charset="-122"/>
                        </a:rPr>
                        <a:t>完成购房签约赠送积分</a:t>
                      </a:r>
                      <a:endParaRPr lang="zh-CN" altLang="en-US" sz="900" b="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4472C4"/>
                          </a:solidFill>
                          <a:latin typeface="Arial" panose="020B0604020202090204" pitchFamily="34" charset="0"/>
                          <a:ea typeface="微软雅黑" panose="020B0503020204020204" pitchFamily="34" charset="-122"/>
                        </a:rPr>
                        <a:t>奖励金额=房屋金额*X%*40%</a:t>
                      </a:r>
                      <a:endParaRPr lang="zh-CN" altLang="en-US" sz="900" b="0" dirty="0">
                        <a:solidFill>
                          <a:srgbClr val="4472C4"/>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16</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市场租赁运营事业部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市场企业长租公寓</a:t>
                      </a:r>
                      <a:endParaRPr lang="zh-CN"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填写入住评价赠送积分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17</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填写租务评价赠送积分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18</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填写退租评价赠送积分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19</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参与社群活动赠送积分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每次参与社区活动，奖励0.3~0.5元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00389">
                <a:tc>
                  <a:txBody>
                    <a:bodyPr/>
                    <a:lstStyle/>
                    <a:p>
                      <a:pPr indent="0" algn="ctr">
                        <a:buNone/>
                      </a:pPr>
                      <a:r>
                        <a:rPr lang="en-US" sz="900" b="0">
                          <a:solidFill>
                            <a:srgbClr val="000000"/>
                          </a:solidFill>
                          <a:latin typeface="微软雅黑" panose="020B0503020204020204" pitchFamily="34" charset="-122"/>
                        </a:rPr>
                        <a:t>20</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4">
                  <a:txBody>
                    <a:bodyPr/>
                    <a:lstStyle/>
                    <a:p>
                      <a:pPr indent="0" algn="ctr">
                        <a:buNone/>
                      </a:pPr>
                      <a:r>
                        <a:rPr lang="zh-CN" sz="900" b="0">
                          <a:solidFill>
                            <a:srgbClr val="000000"/>
                          </a:solidFill>
                          <a:latin typeface="Arial" panose="020B0604020202090204" pitchFamily="34" charset="0"/>
                          <a:ea typeface="微软雅黑" panose="020B0503020204020204" pitchFamily="34" charset="-122"/>
                        </a:rPr>
                        <a:t>市场租赁运营事业部</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bg1"/>
                    </a:solidFill>
                  </a:tcPr>
                </a:tc>
                <a:tc rowSpan="4">
                  <a:txBody>
                    <a:bodyPr/>
                    <a:lstStyle/>
                    <a:p>
                      <a:pPr indent="0" algn="ctr">
                        <a:buNone/>
                      </a:pPr>
                      <a:r>
                        <a:rPr lang="zh-CN" sz="900" b="0" dirty="0">
                          <a:solidFill>
                            <a:srgbClr val="000000"/>
                          </a:solidFill>
                          <a:latin typeface="Arial" panose="020B0604020202090204" pitchFamily="34" charset="0"/>
                          <a:ea typeface="微软雅黑" panose="020B0503020204020204" pitchFamily="34" charset="-122"/>
                        </a:rPr>
                        <a:t>市场个人长租公寓</a:t>
                      </a:r>
                      <a:endParaRPr lang="zh-CN"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a:solidFill>
                        <a:schemeClr val="tx1"/>
                      </a:solidFill>
                      <a:prstDash val="solid"/>
                    </a:lnB>
                    <a:lnTlToBr>
                      <a:noFill/>
                    </a:lnTlToBr>
                    <a:lnBlToTr>
                      <a:noFill/>
                    </a:lnBlToTr>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参与社群活动赠送积分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每次参与社区活动，奖励0.3~0.5元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sz="900" b="0">
                          <a:solidFill>
                            <a:srgbClr val="000000"/>
                          </a:solidFill>
                          <a:latin typeface="微软雅黑" panose="020B0503020204020204" pitchFamily="34" charset="-122"/>
                        </a:rPr>
                        <a:t>21</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填写看房评价赠送积分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22</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填写入住评价赠送积分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133719">
                <a:tc>
                  <a:txBody>
                    <a:bodyPr/>
                    <a:lstStyle/>
                    <a:p>
                      <a:pPr indent="0" algn="ctr">
                        <a:buNone/>
                      </a:pPr>
                      <a:r>
                        <a:rPr lang="en-US" altLang="en-US" sz="900" b="0">
                          <a:solidFill>
                            <a:srgbClr val="000000"/>
                          </a:solidFill>
                          <a:latin typeface="微软雅黑" panose="020B0503020204020204" pitchFamily="34" charset="-122"/>
                        </a:rPr>
                        <a:t>23</a:t>
                      </a:r>
                      <a:endParaRPr lang="en-US" altLang="en-US" sz="9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a:solidFill>
                        <a:schemeClr val="tx1"/>
                      </a:solidFill>
                      <a:prstDash val="solid"/>
                    </a:lnB>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a:solidFill>
                        <a:schemeClr val="tx1"/>
                      </a:solidFill>
                      <a:prstDash val="solid"/>
                    </a:lnB>
                    <a:solidFill>
                      <a:schemeClr val="bg1"/>
                    </a:solidFill>
                  </a:tcPr>
                </a:tc>
                <a:tc>
                  <a:txBody>
                    <a:bodyPr/>
                    <a:lstStyle/>
                    <a:p>
                      <a:pPr indent="0">
                        <a:buNone/>
                      </a:pPr>
                      <a:r>
                        <a:rPr lang="zh-CN" sz="900" b="0">
                          <a:solidFill>
                            <a:srgbClr val="000000"/>
                          </a:solidFill>
                          <a:latin typeface="Arial" panose="020B0604020202090204" pitchFamily="34" charset="0"/>
                          <a:ea typeface="微软雅黑" panose="020B0503020204020204" pitchFamily="34" charset="-122"/>
                        </a:rPr>
                        <a:t>填写租务评价赠送积分</a:t>
                      </a:r>
                      <a:endParaRPr lang="zh-CN" altLang="en-US" sz="9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900" b="0" dirty="0">
                          <a:solidFill>
                            <a:srgbClr val="000000"/>
                          </a:solidFill>
                          <a:latin typeface="Arial" panose="020B0604020202090204" pitchFamily="34" charset="0"/>
                          <a:ea typeface="微软雅黑" panose="020B0503020204020204" pitchFamily="34" charset="-122"/>
                        </a:rPr>
                        <a:t>填写1次，奖励0.2~0.4元</a:t>
                      </a:r>
                      <a:endParaRPr lang="zh-CN" altLang="en-US" sz="9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aphicFrame>
        <p:nvGraphicFramePr>
          <p:cNvPr id="4" name="表格 3"/>
          <p:cNvGraphicFramePr>
            <a:graphicFrameLocks noGrp="1"/>
          </p:cNvGraphicFramePr>
          <p:nvPr/>
        </p:nvGraphicFramePr>
        <p:xfrm>
          <a:off x="6174542" y="1013461"/>
          <a:ext cx="5733768" cy="5707040"/>
        </p:xfrm>
        <a:graphic>
          <a:graphicData uri="http://schemas.openxmlformats.org/drawingml/2006/table">
            <a:tbl>
              <a:tblPr>
                <a:tableStyleId>{5C22544A-7EE6-4342-B048-85BDC9FD1C3A}</a:tableStyleId>
              </a:tblPr>
              <a:tblGrid>
                <a:gridCol w="530527"/>
                <a:gridCol w="530527"/>
                <a:gridCol w="652956"/>
                <a:gridCol w="2132308"/>
                <a:gridCol w="1887450"/>
              </a:tblGrid>
              <a:tr h="313169">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序号</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部门</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业务板块</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a:effectLst/>
                          <a:latin typeface="微软雅黑" panose="020B0503020204020204" pitchFamily="34" charset="-122"/>
                          <a:ea typeface="微软雅黑" panose="020B0503020204020204" pitchFamily="34" charset="-122"/>
                        </a:rPr>
                        <a:t>积分场景内容</a:t>
                      </a:r>
                      <a:endParaRPr lang="zh-CN" altLang="en-US" sz="1200" b="1"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r>
                        <a:rPr lang="zh-CN" altLang="en-US" sz="1200" b="1" u="none" strike="noStrike" dirty="0">
                          <a:effectLst/>
                          <a:latin typeface="微软雅黑" panose="020B0503020204020204" pitchFamily="34" charset="-122"/>
                          <a:ea typeface="微软雅黑" panose="020B0503020204020204" pitchFamily="34" charset="-122"/>
                        </a:rPr>
                        <a:t>积分设置规则</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市场租赁运营事业部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市场个人长租公寓</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填写退租评价赠送积分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填写客户续约赠送积分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填写押金退款评价赠送积分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推荐好友租房成功赠送积分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月平均租金*</a:t>
                      </a:r>
                      <a:r>
                        <a:rPr lang="en-US" altLang="zh-CN" sz="900" u="none" strike="noStrike">
                          <a:effectLst/>
                          <a:latin typeface="微软雅黑" panose="020B0503020204020204" pitchFamily="34" charset="-122"/>
                          <a:ea typeface="微软雅黑" panose="020B0503020204020204" pitchFamily="34" charset="-122"/>
                        </a:rPr>
                        <a:t>3%*40%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预付租金赠送积分（可选）</a:t>
                      </a:r>
                      <a:endParaRPr lang="zh-CN" altLang="en-US" sz="900" b="0" i="0" u="none" strike="noStrike">
                        <a:solidFill>
                          <a:srgbClr val="A6A6A6"/>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预付金额*</a:t>
                      </a:r>
                      <a:r>
                        <a:rPr lang="en-US" altLang="zh-CN" sz="900" u="none" strike="noStrike">
                          <a:effectLst/>
                          <a:latin typeface="微软雅黑" panose="020B0503020204020204" pitchFamily="34" charset="-122"/>
                          <a:ea typeface="微软雅黑" panose="020B0503020204020204" pitchFamily="34" charset="-122"/>
                        </a:rPr>
                        <a:t>1.75%*40%/2</a:t>
                      </a:r>
                      <a:endParaRPr lang="zh-CN" altLang="en-US" sz="900" b="0" i="0" u="none" strike="noStrike">
                        <a:solidFill>
                          <a:srgbClr val="A6A6A6"/>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29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缴纳租金赠送积分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13">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安居城服</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7">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城服物业</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填写报修评价赠送积分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填写入住评价赠送积分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填写退租评价赠送积分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建议采纳奖励</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建议采纳赠送积分，奖励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填写参与社区活动评价赠送积分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邀请好友参与物业活动赠送积分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预存物业费赠送积分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奖励金额</a:t>
                      </a:r>
                      <a:r>
                        <a:rPr lang="en-US" altLang="zh-CN" sz="900" u="none" strike="noStrike">
                          <a:effectLst/>
                          <a:latin typeface="微软雅黑" panose="020B0503020204020204" pitchFamily="34" charset="-122"/>
                          <a:ea typeface="微软雅黑" panose="020B0503020204020204" pitchFamily="34" charset="-122"/>
                        </a:rPr>
                        <a:t>=</a:t>
                      </a:r>
                      <a:r>
                        <a:rPr lang="zh-CN" altLang="en-US" sz="900" u="none" strike="noStrike">
                          <a:effectLst/>
                          <a:latin typeface="微软雅黑" panose="020B0503020204020204" pitchFamily="34" charset="-122"/>
                          <a:ea typeface="微软雅黑" panose="020B0503020204020204" pitchFamily="34" charset="-122"/>
                        </a:rPr>
                        <a:t>预付金额*</a:t>
                      </a:r>
                      <a:r>
                        <a:rPr lang="en-US" altLang="zh-CN" sz="900" u="none" strike="noStrike">
                          <a:effectLst/>
                          <a:latin typeface="微软雅黑" panose="020B0503020204020204" pitchFamily="34" charset="-122"/>
                          <a:ea typeface="微软雅黑" panose="020B0503020204020204" pitchFamily="34" charset="-122"/>
                        </a:rPr>
                        <a:t>1.75%*40%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rowSpan="6">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增值服务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消费评价赠送积分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填写</a:t>
                      </a:r>
                      <a:r>
                        <a:rPr lang="en-US" altLang="zh-CN" sz="900" u="none" strike="noStrike">
                          <a:effectLst/>
                          <a:latin typeface="微软雅黑" panose="020B0503020204020204" pitchFamily="34" charset="-122"/>
                          <a:ea typeface="微软雅黑" panose="020B0503020204020204" pitchFamily="34" charset="-122"/>
                        </a:rPr>
                        <a:t>1</a:t>
                      </a:r>
                      <a:r>
                        <a:rPr lang="zh-CN" altLang="en-US" sz="900" u="none" strike="noStrike">
                          <a:effectLst/>
                          <a:latin typeface="微软雅黑" panose="020B0503020204020204" pitchFamily="34" charset="-122"/>
                          <a:ea typeface="微软雅黑" panose="020B0503020204020204" pitchFamily="34" charset="-122"/>
                        </a:rPr>
                        <a:t>次，奖励</a:t>
                      </a:r>
                      <a:r>
                        <a:rPr lang="en-US" altLang="zh-CN" sz="900" u="none" strike="noStrike">
                          <a:effectLst/>
                          <a:latin typeface="微软雅黑" panose="020B0503020204020204" pitchFamily="34" charset="-122"/>
                          <a:ea typeface="微软雅黑" panose="020B0503020204020204" pitchFamily="34" charset="-122"/>
                        </a:rPr>
                        <a:t>0.1~0.2</a:t>
                      </a:r>
                      <a:r>
                        <a:rPr lang="zh-CN" altLang="en-US" sz="900" u="none" strike="noStrike">
                          <a:effectLst/>
                          <a:latin typeface="微软雅黑" panose="020B0503020204020204" pitchFamily="34" charset="-122"/>
                          <a:ea typeface="微软雅黑" panose="020B0503020204020204" pitchFamily="34" charset="-122"/>
                        </a:rPr>
                        <a:t>元，每周上限</a:t>
                      </a:r>
                      <a:r>
                        <a:rPr lang="en-US" altLang="zh-CN" sz="900" u="none" strike="noStrike">
                          <a:effectLst/>
                          <a:latin typeface="微软雅黑" panose="020B0503020204020204" pitchFamily="34" charset="-122"/>
                          <a:ea typeface="微软雅黑" panose="020B0503020204020204" pitchFamily="34" charset="-122"/>
                        </a:rPr>
                        <a:t>5</a:t>
                      </a:r>
                      <a:r>
                        <a:rPr lang="zh-CN" altLang="en-US" sz="900" u="none" strike="noStrike">
                          <a:effectLst/>
                          <a:latin typeface="微软雅黑" panose="020B0503020204020204" pitchFamily="34" charset="-122"/>
                          <a:ea typeface="微软雅黑" panose="020B0503020204020204" pitchFamily="34" charset="-122"/>
                        </a:rPr>
                        <a:t>次</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5346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38</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b="1" u="none" strike="noStrike">
                          <a:solidFill>
                            <a:srgbClr val="4472C4"/>
                          </a:solidFill>
                          <a:effectLst/>
                          <a:latin typeface="微软雅黑" panose="020B0503020204020204" pitchFamily="34" charset="-122"/>
                          <a:ea typeface="微软雅黑" panose="020B0503020204020204" pitchFamily="34" charset="-122"/>
                        </a:rPr>
                        <a:t>商城消费赠送积分，重大活动期间消费获取多倍积分</a:t>
                      </a:r>
                      <a:endParaRPr lang="zh-CN" altLang="en-US" sz="900" b="1" i="0" u="none" strike="noStrike">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消费</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元送</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积分。重大促销活动期间</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10</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倍积分，其中</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6</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倍由增值服务承担，</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4</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倍由服务商承担</a:t>
                      </a:r>
                      <a:endParaRPr lang="zh-CN" altLang="en-US" sz="900" b="1" i="0" u="none" strike="noStrike" dirty="0">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39</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会员在物业缴纳充电费，赠送积分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40</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会员在物业缴纳停车费，赠送积分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dirty="0">
                          <a:effectLst/>
                          <a:latin typeface="微软雅黑" panose="020B0503020204020204" pitchFamily="34" charset="-122"/>
                          <a:ea typeface="微软雅黑" panose="020B0503020204020204" pitchFamily="34" charset="-122"/>
                        </a:rPr>
                        <a:t>/</a:t>
                      </a:r>
                      <a:endParaRPr lang="en-US" altLang="zh-CN"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143">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41</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会员预缴充电费，赠送积分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143">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42</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会员预缴停车费，赠送积分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en-US" altLang="zh-CN" sz="900" u="none" strike="noStrike">
                          <a:effectLst/>
                          <a:latin typeface="微软雅黑" panose="020B0503020204020204" pitchFamily="34" charset="-122"/>
                          <a:ea typeface="微软雅黑" panose="020B0503020204020204" pitchFamily="34" charset="-122"/>
                        </a:rPr>
                        <a:t>/</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46642">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43</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5">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商业运营事业部</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5">
                  <a:txBody>
                    <a:bodyPr/>
                    <a:lstStyle/>
                    <a:p>
                      <a:pPr algn="ctr" rtl="0" fontAlgn="ctr"/>
                      <a:r>
                        <a:rPr lang="zh-CN" altLang="en-US" sz="900" u="none" strike="noStrike">
                          <a:effectLst/>
                          <a:latin typeface="微软雅黑" panose="020B0503020204020204" pitchFamily="34" charset="-122"/>
                          <a:ea typeface="微软雅黑" panose="020B0503020204020204" pitchFamily="34" charset="-122"/>
                        </a:rPr>
                        <a:t>商业运营</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a:solidFill>
                            <a:srgbClr val="4472C4"/>
                          </a:solidFill>
                          <a:effectLst/>
                          <a:latin typeface="微软雅黑" panose="020B0503020204020204" pitchFamily="34" charset="-122"/>
                          <a:ea typeface="微软雅黑" panose="020B0503020204020204" pitchFamily="34" charset="-122"/>
                        </a:rPr>
                        <a:t>商城消费赠送积分，重大活动期间消费获取多倍积分</a:t>
                      </a:r>
                      <a:endParaRPr lang="zh-CN" altLang="en-US" sz="900" b="1" i="0" u="none" strike="noStrike">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消费</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元送</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积分。重大促销活动期间</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10</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倍积分，其中</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6</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倍由增值服务承担，</a:t>
                      </a:r>
                      <a:r>
                        <a:rPr lang="en-US" altLang="zh-CN" sz="900" b="1" u="none" strike="noStrike" dirty="0">
                          <a:solidFill>
                            <a:srgbClr val="4472C4"/>
                          </a:solidFill>
                          <a:effectLst/>
                          <a:latin typeface="微软雅黑" panose="020B0503020204020204" pitchFamily="34" charset="-122"/>
                          <a:ea typeface="微软雅黑" panose="020B0503020204020204" pitchFamily="34" charset="-122"/>
                        </a:rPr>
                        <a:t>4</a:t>
                      </a:r>
                      <a:r>
                        <a:rPr lang="zh-CN" altLang="en-US" sz="900" b="1" u="none" strike="noStrike" dirty="0">
                          <a:solidFill>
                            <a:srgbClr val="4472C4"/>
                          </a:solidFill>
                          <a:effectLst/>
                          <a:latin typeface="微软雅黑" panose="020B0503020204020204" pitchFamily="34" charset="-122"/>
                          <a:ea typeface="微软雅黑" panose="020B0503020204020204" pitchFamily="34" charset="-122"/>
                        </a:rPr>
                        <a:t>倍由服务商承担</a:t>
                      </a:r>
                      <a:endParaRPr lang="zh-CN" altLang="en-US" sz="900" b="1" i="0" u="none" strike="noStrike" dirty="0">
                        <a:solidFill>
                          <a:srgbClr val="4472C4"/>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44</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生日送积分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主动领取，每年奖励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6354">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45</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节假日送积分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主动领取，每年奖励</a:t>
                      </a:r>
                      <a:r>
                        <a:rPr lang="en-US" altLang="zh-CN" sz="900" u="none" strike="noStrike">
                          <a:effectLst/>
                          <a:latin typeface="微软雅黑" panose="020B0503020204020204" pitchFamily="34" charset="-122"/>
                          <a:ea typeface="微软雅黑" panose="020B0503020204020204" pitchFamily="34" charset="-122"/>
                        </a:rPr>
                        <a:t>0.2~0.4</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46</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会员升级送积分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按照梯度进行设置，一次性奖励</a:t>
                      </a:r>
                      <a:r>
                        <a:rPr lang="en-US" altLang="zh-CN" sz="900" u="none" strike="noStrike">
                          <a:effectLst/>
                          <a:latin typeface="微软雅黑" panose="020B0503020204020204" pitchFamily="34" charset="-122"/>
                          <a:ea typeface="微软雅黑" panose="020B0503020204020204" pitchFamily="34" charset="-122"/>
                        </a:rPr>
                        <a:t>0.2~1</a:t>
                      </a:r>
                      <a:r>
                        <a:rPr lang="zh-CN" altLang="en-US" sz="900" u="none" strike="noStrike">
                          <a:effectLst/>
                          <a:latin typeface="微软雅黑" panose="020B0503020204020204" pitchFamily="34" charset="-122"/>
                          <a:ea typeface="微软雅黑" panose="020B0503020204020204" pitchFamily="34" charset="-122"/>
                        </a:rPr>
                        <a:t>元</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88487">
                <a:tc>
                  <a:txBody>
                    <a:bodyPr/>
                    <a:lstStyle/>
                    <a:p>
                      <a:pPr algn="ctr" rtl="0" fontAlgn="ctr"/>
                      <a:r>
                        <a:rPr lang="en-US" altLang="zh-CN" sz="900" u="none" strike="noStrike">
                          <a:effectLst/>
                          <a:latin typeface="微软雅黑" panose="020B0503020204020204" pitchFamily="34" charset="-122"/>
                          <a:ea typeface="微软雅黑" panose="020B0503020204020204" pitchFamily="34" charset="-122"/>
                        </a:rPr>
                        <a:t>47</a:t>
                      </a:r>
                      <a:endParaRPr lang="en-US" altLang="zh-CN"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cPr/>
                </a:tc>
                <a:tc vMerge="1">
                  <a:tcPr/>
                </a:tc>
                <a:tc>
                  <a:txBody>
                    <a:bodyPr/>
                    <a:lstStyle/>
                    <a:p>
                      <a:pPr algn="l" rtl="0" fontAlgn="ctr"/>
                      <a:r>
                        <a:rPr lang="zh-CN" altLang="en-US" sz="900" u="none" strike="noStrike">
                          <a:effectLst/>
                          <a:latin typeface="微软雅黑" panose="020B0503020204020204" pitchFamily="34" charset="-122"/>
                          <a:ea typeface="微软雅黑" panose="020B0503020204020204" pitchFamily="34" charset="-122"/>
                        </a:rPr>
                        <a:t>线下消费评价赠送积分</a:t>
                      </a:r>
                      <a:endParaRPr lang="zh-CN" altLang="en-US" sz="900" b="0" i="0" u="none" strike="noStrike">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r>
                        <a:rPr lang="zh-CN" altLang="en-US" sz="900" u="none" strike="noStrike" dirty="0">
                          <a:effectLst/>
                          <a:latin typeface="微软雅黑" panose="020B0503020204020204" pitchFamily="34" charset="-122"/>
                          <a:ea typeface="微软雅黑" panose="020B0503020204020204" pitchFamily="34" charset="-122"/>
                        </a:rPr>
                        <a:t>填写</a:t>
                      </a:r>
                      <a:r>
                        <a:rPr lang="en-US" altLang="zh-CN" sz="900" u="none" strike="noStrike" dirty="0">
                          <a:effectLst/>
                          <a:latin typeface="微软雅黑" panose="020B0503020204020204" pitchFamily="34" charset="-122"/>
                          <a:ea typeface="微软雅黑" panose="020B0503020204020204" pitchFamily="34" charset="-122"/>
                        </a:rPr>
                        <a:t>1</a:t>
                      </a:r>
                      <a:r>
                        <a:rPr lang="zh-CN" altLang="en-US" sz="900" u="none" strike="noStrike" dirty="0">
                          <a:effectLst/>
                          <a:latin typeface="微软雅黑" panose="020B0503020204020204" pitchFamily="34" charset="-122"/>
                          <a:ea typeface="微软雅黑" panose="020B0503020204020204" pitchFamily="34" charset="-122"/>
                        </a:rPr>
                        <a:t>次，奖励</a:t>
                      </a:r>
                      <a:r>
                        <a:rPr lang="en-US" altLang="zh-CN" sz="900" u="none" strike="noStrike" dirty="0">
                          <a:effectLst/>
                          <a:latin typeface="微软雅黑" panose="020B0503020204020204" pitchFamily="34" charset="-122"/>
                          <a:ea typeface="微软雅黑" panose="020B0503020204020204" pitchFamily="34" charset="-122"/>
                        </a:rPr>
                        <a:t>0.1~0.2</a:t>
                      </a:r>
                      <a:r>
                        <a:rPr lang="zh-CN" altLang="en-US" sz="900" u="none" strike="noStrike" dirty="0">
                          <a:effectLst/>
                          <a:latin typeface="微软雅黑" panose="020B0503020204020204" pitchFamily="34" charset="-122"/>
                          <a:ea typeface="微软雅黑" panose="020B0503020204020204" pitchFamily="34" charset="-122"/>
                        </a:rPr>
                        <a:t>元，每周上限</a:t>
                      </a:r>
                      <a:r>
                        <a:rPr lang="en-US" altLang="zh-CN" sz="900" u="none" strike="noStrike" dirty="0">
                          <a:effectLst/>
                          <a:latin typeface="微软雅黑" panose="020B0503020204020204" pitchFamily="34" charset="-122"/>
                          <a:ea typeface="微软雅黑" panose="020B0503020204020204" pitchFamily="34" charset="-122"/>
                        </a:rPr>
                        <a:t>5</a:t>
                      </a:r>
                      <a:r>
                        <a:rPr lang="zh-CN" altLang="en-US" sz="900" u="none" strike="noStrike" dirty="0">
                          <a:effectLst/>
                          <a:latin typeface="微软雅黑" panose="020B0503020204020204" pitchFamily="34" charset="-122"/>
                          <a:ea typeface="微软雅黑" panose="020B0503020204020204" pitchFamily="34" charset="-122"/>
                        </a:rPr>
                        <a:t>次</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5101" marR="5101" marT="51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lang="zh-CN" altLang="en-US" noProof="0">
                <a:ln>
                  <a:noFill/>
                </a:ln>
                <a:solidFill>
                  <a:srgbClr val="00338D"/>
                </a:solidFill>
                <a:effectLst/>
                <a:uLnTx/>
                <a:uFillTx/>
                <a:sym typeface="+mn-ea"/>
              </a:rPr>
              <a:t>积分</a:t>
            </a:r>
            <a:r>
              <a:rPr lang="zh-CN" altLang="en-US" noProof="0">
                <a:ln>
                  <a:noFill/>
                </a:ln>
                <a:solidFill>
                  <a:srgbClr val="00338D"/>
                </a:solidFill>
                <a:effectLst/>
                <a:uLnTx/>
                <a:uFillTx/>
                <a:sym typeface="+mn-ea"/>
              </a:rPr>
              <a:t>回收场景及规则</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6" name="表格 5"/>
          <p:cNvGraphicFramePr/>
          <p:nvPr>
            <p:custDataLst>
              <p:tags r:id="rId1"/>
            </p:custDataLst>
          </p:nvPr>
        </p:nvGraphicFramePr>
        <p:xfrm>
          <a:off x="508000" y="1149985"/>
          <a:ext cx="5781040" cy="5268595"/>
        </p:xfrm>
        <a:graphic>
          <a:graphicData uri="http://schemas.openxmlformats.org/drawingml/2006/table">
            <a:tbl>
              <a:tblPr/>
              <a:tblGrid>
                <a:gridCol w="309880"/>
                <a:gridCol w="679450"/>
                <a:gridCol w="791210"/>
                <a:gridCol w="1136015"/>
                <a:gridCol w="1181100"/>
                <a:gridCol w="1683385"/>
              </a:tblGrid>
              <a:tr h="62357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积分设置规则</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333375">
                <a:tc>
                  <a:txBody>
                    <a:bodyPr/>
                    <a:lstStyle/>
                    <a:p>
                      <a:pPr indent="0" algn="ctr">
                        <a:buNone/>
                      </a:pPr>
                      <a:r>
                        <a:rPr lang="en-US" sz="1100" b="0">
                          <a:solidFill>
                            <a:srgbClr val="000000"/>
                          </a:solidFill>
                          <a:latin typeface="微软雅黑" panose="020B0503020204020204" pitchFamily="34" charset="-122"/>
                        </a:rPr>
                        <a:t>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公共住房租赁</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1470">
                <a:tc>
                  <a:txBody>
                    <a:bodyPr/>
                    <a:lstStyle/>
                    <a:p>
                      <a:pPr indent="0" algn="ctr">
                        <a:buNone/>
                      </a:pPr>
                      <a:r>
                        <a:rPr lang="en-US" sz="1100" b="0">
                          <a:solidFill>
                            <a:srgbClr val="000000"/>
                          </a:solidFill>
                          <a:latin typeface="微软雅黑" panose="020B0503020204020204" pitchFamily="34" charset="-122"/>
                        </a:rPr>
                        <a:t>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公共住房销售</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45135">
                <a:tc>
                  <a:txBody>
                    <a:bodyPr/>
                    <a:lstStyle/>
                    <a:p>
                      <a:pPr indent="0" algn="ctr">
                        <a:buNone/>
                      </a:pPr>
                      <a:r>
                        <a:rPr lang="en-US" sz="1100" b="0">
                          <a:solidFill>
                            <a:srgbClr val="000000"/>
                          </a:solidFill>
                          <a:latin typeface="微软雅黑" panose="020B0503020204020204" pitchFamily="34" charset="-122"/>
                        </a:rPr>
                        <a:t>3</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2">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市场租赁运营事业部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市场型企业长租公寓</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000" b="0">
                          <a:solidFill>
                            <a:srgbClr val="000000"/>
                          </a:solidFill>
                          <a:latin typeface="微软雅黑" panose="020B0503020204020204" pitchFamily="34" charset="-122"/>
                        </a:rPr>
                        <a:t>/</a:t>
                      </a:r>
                      <a:endParaRPr lang="en-US" altLang="en-US" sz="10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43865">
                <a:tc>
                  <a:txBody>
                    <a:bodyPr/>
                    <a:lstStyle/>
                    <a:p>
                      <a:pPr indent="0" algn="ctr">
                        <a:buNone/>
                      </a:pPr>
                      <a:r>
                        <a:rPr lang="en-US" sz="1100" b="0">
                          <a:solidFill>
                            <a:srgbClr val="000000"/>
                          </a:solidFill>
                          <a:latin typeface="微软雅黑" panose="020B0503020204020204" pitchFamily="34" charset="-122"/>
                        </a:rPr>
                        <a:t>4</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市场型个人长租公寓</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抵</a:t>
                      </a:r>
                      <a:r>
                        <a:rPr lang="zh-CN" sz="1000" b="0" dirty="0" smtClean="0">
                          <a:solidFill>
                            <a:srgbClr val="000000"/>
                          </a:solidFill>
                          <a:latin typeface="Arial" panose="020B0604020202090204" pitchFamily="34" charset="0"/>
                          <a:ea typeface="微软雅黑" panose="020B0503020204020204" pitchFamily="34" charset="-122"/>
                        </a:rPr>
                        <a:t>扣</a:t>
                      </a:r>
                      <a:r>
                        <a:rPr lang="zh-CN" altLang="en-US" sz="1000" b="0" dirty="0" smtClean="0">
                          <a:solidFill>
                            <a:srgbClr val="000000"/>
                          </a:solidFill>
                          <a:latin typeface="Arial" panose="020B0604020202090204" pitchFamily="34" charset="0"/>
                          <a:ea typeface="微软雅黑" panose="020B0503020204020204" pitchFamily="34" charset="-122"/>
                        </a:rPr>
                        <a:t>服务费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积分抵扣个人长租公寓</a:t>
                      </a:r>
                      <a:r>
                        <a:rPr lang="zh-CN" sz="1000" b="0" dirty="0" smtClean="0">
                          <a:solidFill>
                            <a:srgbClr val="000000"/>
                          </a:solidFill>
                          <a:latin typeface="Arial" panose="020B0604020202090204" pitchFamily="34" charset="0"/>
                          <a:ea typeface="微软雅黑" panose="020B0503020204020204" pitchFamily="34" charset="-122"/>
                        </a:rPr>
                        <a:t>的</a:t>
                      </a:r>
                      <a:r>
                        <a:rPr lang="zh-CN" altLang="en-US" sz="1000" b="0" dirty="0" smtClean="0">
                          <a:solidFill>
                            <a:srgbClr val="000000"/>
                          </a:solidFill>
                          <a:latin typeface="Arial" panose="020B0604020202090204" pitchFamily="34" charset="0"/>
                          <a:ea typeface="微软雅黑" panose="020B0503020204020204" pitchFamily="34" charset="-122"/>
                        </a:rPr>
                        <a:t>服务费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1积分抵扣0.004元</a:t>
                      </a:r>
                      <a:r>
                        <a:rPr lang="zh-CN" sz="1000" b="0" dirty="0" smtClean="0">
                          <a:solidFill>
                            <a:srgbClr val="000000"/>
                          </a:solidFill>
                          <a:latin typeface="Arial" panose="020B0604020202090204" pitchFamily="34" charset="0"/>
                          <a:ea typeface="微软雅黑" panose="020B0503020204020204" pitchFamily="34" charset="-122"/>
                        </a:rPr>
                        <a:t>，</a:t>
                      </a:r>
                      <a:r>
                        <a:rPr lang="zh-CN" altLang="zh-CN" sz="1000" b="0" dirty="0" smtClean="0">
                          <a:solidFill>
                            <a:srgbClr val="000000"/>
                          </a:solidFill>
                          <a:latin typeface="Arial" panose="020B0604020202090204" pitchFamily="34" charset="0"/>
                          <a:ea typeface="微软雅黑" panose="020B0503020204020204" pitchFamily="34" charset="-122"/>
                        </a:rPr>
                        <a:t>抵扣上限20%</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5</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7">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安居城服</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城服物业</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兑换社区活动礼品</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积分兑换社区活动礼品</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63220">
                <a:tc>
                  <a:txBody>
                    <a:bodyPr/>
                    <a:lstStyle/>
                    <a:p>
                      <a:pPr indent="0" algn="ctr">
                        <a:buNone/>
                      </a:pPr>
                      <a:r>
                        <a:rPr lang="en-US" sz="1100" b="0">
                          <a:solidFill>
                            <a:srgbClr val="000000"/>
                          </a:solidFill>
                          <a:latin typeface="微软雅黑" panose="020B0503020204020204" pitchFamily="34" charset="-122"/>
                        </a:rPr>
                        <a:t>7</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rowSpan="6">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增值服务</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抵扣商城消费金额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积分抵扣商城消费金额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1积分抵扣0.004元，抵扣上限20%</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8</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兑换商城消费优惠券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积分兑换商城消费优惠券，金额券或者满减券</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9</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兑换商城商品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积分兑换商城商品，商品直接进行快递到家</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15620">
                <a:tc>
                  <a:txBody>
                    <a:bodyPr/>
                    <a:lstStyle/>
                    <a:p>
                      <a:pPr indent="0" algn="ctr">
                        <a:buNone/>
                      </a:pPr>
                      <a:r>
                        <a:rPr lang="en-US" sz="1100" b="0">
                          <a:solidFill>
                            <a:srgbClr val="000000"/>
                          </a:solidFill>
                          <a:latin typeface="微软雅黑" panose="020B0503020204020204" pitchFamily="34" charset="-122"/>
                        </a:rPr>
                        <a:t>10</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兑换商城服务</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积分兑换商城服务，保洁券、搬家券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3375">
                <a:tc>
                  <a:txBody>
                    <a:bodyPr/>
                    <a:lstStyle/>
                    <a:p>
                      <a:pPr indent="0" algn="ctr">
                        <a:buNone/>
                      </a:pPr>
                      <a:r>
                        <a:rPr lang="en-US" sz="1100" b="0">
                          <a:solidFill>
                            <a:srgbClr val="000000"/>
                          </a:solidFill>
                          <a:latin typeface="微软雅黑" panose="020B0503020204020204" pitchFamily="34" charset="-122"/>
                        </a:rPr>
                        <a:t>11</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积分抵扣充电费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1积分抵扣0.004元</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332105">
                <a:tc>
                  <a:txBody>
                    <a:bodyPr/>
                    <a:lstStyle/>
                    <a:p>
                      <a:pPr indent="0" algn="ctr">
                        <a:buNone/>
                      </a:pPr>
                      <a:r>
                        <a:rPr lang="en-US" sz="1100" b="0">
                          <a:solidFill>
                            <a:srgbClr val="000000"/>
                          </a:solidFill>
                          <a:latin typeface="微软雅黑" panose="020B0503020204020204" pitchFamily="34" charset="-122"/>
                        </a:rPr>
                        <a:t>12</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抵扣停车费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积分抵扣停车费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积分不抵扣停车费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graphicFrame>
        <p:nvGraphicFramePr>
          <p:cNvPr id="7" name="表格 6"/>
          <p:cNvGraphicFramePr/>
          <p:nvPr>
            <p:custDataLst>
              <p:tags r:id="rId2"/>
            </p:custDataLst>
          </p:nvPr>
        </p:nvGraphicFramePr>
        <p:xfrm>
          <a:off x="6435090" y="1153795"/>
          <a:ext cx="5479415" cy="5239385"/>
        </p:xfrm>
        <a:graphic>
          <a:graphicData uri="http://schemas.openxmlformats.org/drawingml/2006/table">
            <a:tbl>
              <a:tblPr/>
              <a:tblGrid>
                <a:gridCol w="293370"/>
                <a:gridCol w="643890"/>
                <a:gridCol w="750570"/>
                <a:gridCol w="1275080"/>
                <a:gridCol w="1290955"/>
                <a:gridCol w="1225550"/>
              </a:tblGrid>
              <a:tr h="554990">
                <a:tc>
                  <a:txBody>
                    <a:bodyPr/>
                    <a:lstStyle/>
                    <a:p>
                      <a:pPr indent="0" algn="ctr">
                        <a:buNone/>
                      </a:pPr>
                      <a:r>
                        <a:rPr lang="zh-CN" sz="1200" b="1">
                          <a:solidFill>
                            <a:srgbClr val="000000"/>
                          </a:solidFill>
                          <a:latin typeface="Arial" panose="020B0604020202090204" pitchFamily="34" charset="0"/>
                          <a:ea typeface="微软雅黑" panose="020B0503020204020204" pitchFamily="34" charset="-122"/>
                        </a:rPr>
                        <a:t>序号</a:t>
                      </a:r>
                      <a:endParaRPr lang="en-US" altLang="en-US" sz="1200" b="1">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部门</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业务板块</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积分行为名称</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积分场景内容</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lgn="ctr">
                        <a:buNone/>
                      </a:pPr>
                      <a:r>
                        <a:rPr lang="zh-CN" sz="1400" b="1">
                          <a:solidFill>
                            <a:srgbClr val="000000"/>
                          </a:solidFill>
                          <a:latin typeface="Arial" panose="020B0604020202090204" pitchFamily="34" charset="0"/>
                          <a:ea typeface="微软雅黑" panose="020B0503020204020204" pitchFamily="34" charset="-122"/>
                        </a:rPr>
                        <a:t>积分设置规则</a:t>
                      </a:r>
                      <a:endParaRPr lang="zh-CN" altLang="en-US" sz="1400" b="1">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a:solidFill>
                        <a:schemeClr val="tx1"/>
                      </a:solidFill>
                      <a:prstDash val="solid"/>
                    </a:lnT>
                    <a:lnB w="12700" cap="flat" cmpd="sng">
                      <a:solidFill>
                        <a:schemeClr val="tx1"/>
                      </a:solidFill>
                      <a:prstDash val="solid"/>
                      <a:headEnd type="none" w="med" len="med"/>
                      <a:tailEnd type="none" w="med" len="med"/>
                    </a:lnB>
                    <a:lnTlToBr>
                      <a:noFill/>
                    </a:lnTlToBr>
                    <a:lnBlToTr>
                      <a:noFill/>
                    </a:lnBlToTr>
                    <a:solidFill>
                      <a:schemeClr val="bg1"/>
                    </a:solidFill>
                  </a:tcPr>
                </a:tc>
              </a:tr>
              <a:tr h="393065">
                <a:tc>
                  <a:txBody>
                    <a:bodyPr/>
                    <a:lstStyle/>
                    <a:p>
                      <a:pPr indent="0" algn="ctr">
                        <a:buNone/>
                      </a:pPr>
                      <a:r>
                        <a:rPr lang="en-US" sz="1100" b="0">
                          <a:solidFill>
                            <a:srgbClr val="000000"/>
                          </a:solidFill>
                          <a:latin typeface="微软雅黑" panose="020B0503020204020204" pitchFamily="34" charset="-122"/>
                        </a:rPr>
                        <a:t>13</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9">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商业运营事业部</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rowSpan="9">
                  <a:txBody>
                    <a:bodyPr/>
                    <a:lstStyle/>
                    <a:p>
                      <a:pPr indent="0" algn="ctr">
                        <a:buNone/>
                      </a:pPr>
                      <a:r>
                        <a:rPr lang="zh-CN" sz="1000" b="0">
                          <a:solidFill>
                            <a:srgbClr val="000000"/>
                          </a:solidFill>
                          <a:latin typeface="Arial" panose="020B0604020202090204" pitchFamily="34" charset="0"/>
                          <a:ea typeface="微软雅黑" panose="020B0503020204020204" pitchFamily="34" charset="-122"/>
                        </a:rPr>
                        <a:t>商业运营</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抵扣线下消费金额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积分抵扣线下消费金额</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1积分抵扣0.004元，抵扣上限20%</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54990">
                <a:tc>
                  <a:txBody>
                    <a:bodyPr/>
                    <a:lstStyle/>
                    <a:p>
                      <a:pPr indent="0" algn="ctr">
                        <a:buNone/>
                      </a:pPr>
                      <a:r>
                        <a:rPr lang="en-US" sz="1100" b="0">
                          <a:solidFill>
                            <a:srgbClr val="000000"/>
                          </a:solidFill>
                          <a:latin typeface="微软雅黑" panose="020B0503020204020204" pitchFamily="34" charset="-122"/>
                        </a:rPr>
                        <a:t>14</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smtClean="0">
                          <a:solidFill>
                            <a:srgbClr val="205CC6"/>
                          </a:solidFill>
                          <a:latin typeface="Arial" panose="020B0604020202090204" pitchFamily="34" charset="0"/>
                          <a:ea typeface="微软雅黑" panose="020B0503020204020204" pitchFamily="34" charset="-122"/>
                        </a:rPr>
                        <a:t>兑换服务</a:t>
                      </a:r>
                      <a:r>
                        <a:rPr lang="zh-CN" altLang="en-US" sz="1000" b="1" dirty="0" smtClean="0">
                          <a:solidFill>
                            <a:srgbClr val="205CC6"/>
                          </a:solidFill>
                          <a:latin typeface="Arial" panose="020B0604020202090204" pitchFamily="34" charset="0"/>
                          <a:ea typeface="微软雅黑" panose="020B0503020204020204" pitchFamily="34" charset="-122"/>
                        </a:rPr>
                        <a:t>体验</a:t>
                      </a:r>
                      <a:r>
                        <a:rPr lang="zh-CN" sz="1000" b="1" dirty="0" smtClean="0">
                          <a:solidFill>
                            <a:srgbClr val="205CC6"/>
                          </a:solidFill>
                          <a:latin typeface="Arial" panose="020B0604020202090204" pitchFamily="34" charset="0"/>
                          <a:ea typeface="微软雅黑" panose="020B0503020204020204" pitchFamily="34" charset="-122"/>
                        </a:rPr>
                        <a:t>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a:t>
                      </a:r>
                      <a:r>
                        <a:rPr lang="zh-CN" sz="1000" b="1" dirty="0" smtClean="0">
                          <a:solidFill>
                            <a:srgbClr val="205CC6"/>
                          </a:solidFill>
                          <a:latin typeface="Arial" panose="020B0604020202090204" pitchFamily="34" charset="0"/>
                          <a:ea typeface="微软雅黑" panose="020B0503020204020204" pitchFamily="34" charset="-122"/>
                        </a:rPr>
                        <a:t>兑换</a:t>
                      </a:r>
                      <a:r>
                        <a:rPr lang="zh-CN" altLang="en-US" sz="1000" b="1" dirty="0" smtClean="0">
                          <a:solidFill>
                            <a:srgbClr val="205CC6"/>
                          </a:solidFill>
                          <a:latin typeface="Arial" panose="020B0604020202090204" pitchFamily="34" charset="0"/>
                          <a:ea typeface="微软雅黑" panose="020B0503020204020204" pitchFamily="34" charset="-122"/>
                        </a:rPr>
                        <a:t>体验</a:t>
                      </a:r>
                      <a:r>
                        <a:rPr lang="zh-CN" sz="1000" b="1" dirty="0" smtClean="0">
                          <a:solidFill>
                            <a:srgbClr val="205CC6"/>
                          </a:solidFill>
                          <a:latin typeface="Arial" panose="020B0604020202090204" pitchFamily="34" charset="0"/>
                          <a:ea typeface="微软雅黑" panose="020B0503020204020204" pitchFamily="34" charset="-122"/>
                        </a:rPr>
                        <a:t>服务</a:t>
                      </a:r>
                      <a:r>
                        <a:rPr lang="zh-CN" sz="1000" b="1" dirty="0">
                          <a:solidFill>
                            <a:srgbClr val="205CC6"/>
                          </a:solidFill>
                          <a:latin typeface="Arial" panose="020B0604020202090204" pitchFamily="34" charset="0"/>
                          <a:ea typeface="微软雅黑" panose="020B0503020204020204" pitchFamily="34" charset="-122"/>
                        </a:rPr>
                        <a:t>券（剪发体验券、洗衣券）</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15</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兑换消费优惠券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积分兑换消费优惠券，金额券或者满减券</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702945">
                <a:tc>
                  <a:txBody>
                    <a:bodyPr/>
                    <a:lstStyle/>
                    <a:p>
                      <a:pPr indent="0" algn="ctr">
                        <a:buNone/>
                      </a:pPr>
                      <a:r>
                        <a:rPr lang="en-US" sz="1100" b="0">
                          <a:solidFill>
                            <a:srgbClr val="000000"/>
                          </a:solidFill>
                          <a:latin typeface="微软雅黑" panose="020B0503020204020204" pitchFamily="34" charset="-122"/>
                        </a:rPr>
                        <a:t>16</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a:t>
                      </a:r>
                      <a:r>
                        <a:rPr lang="zh-CN" sz="1000" b="1" dirty="0" smtClean="0">
                          <a:solidFill>
                            <a:srgbClr val="205CC6"/>
                          </a:solidFill>
                          <a:latin typeface="Arial" panose="020B0604020202090204" pitchFamily="34" charset="0"/>
                          <a:ea typeface="微软雅黑" panose="020B0503020204020204" pitchFamily="34" charset="-122"/>
                        </a:rPr>
                        <a:t>礼品</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a:t>
                      </a:r>
                      <a:r>
                        <a:rPr lang="zh-CN" sz="1000" b="1" dirty="0" smtClean="0">
                          <a:solidFill>
                            <a:srgbClr val="205CC6"/>
                          </a:solidFill>
                          <a:latin typeface="Arial" panose="020B0604020202090204" pitchFamily="34" charset="0"/>
                          <a:ea typeface="微软雅黑" panose="020B0503020204020204" pitchFamily="34" charset="-122"/>
                        </a:rPr>
                        <a:t>礼品，</a:t>
                      </a:r>
                      <a:r>
                        <a:rPr lang="zh-CN" sz="1000" b="1" dirty="0">
                          <a:solidFill>
                            <a:srgbClr val="205CC6"/>
                          </a:solidFill>
                          <a:latin typeface="Arial" panose="020B0604020202090204" pitchFamily="34" charset="0"/>
                          <a:ea typeface="微软雅黑" panose="020B0503020204020204" pitchFamily="34" charset="-122"/>
                        </a:rPr>
                        <a:t>会员前往线下商业现场进行兑换</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按照积分及奖品价值对奖品进行折算，可设置盈余20%的盈余</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702310">
                <a:tc>
                  <a:txBody>
                    <a:bodyPr/>
                    <a:lstStyle/>
                    <a:p>
                      <a:pPr indent="0" algn="ctr">
                        <a:buNone/>
                      </a:pP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tc>
                <a:tc vMerge="1">
                  <a:tcPr/>
                </a:tc>
                <a:tc>
                  <a:txBody>
                    <a:bodyPr/>
                    <a:lstStyle/>
                    <a:p>
                      <a:pPr indent="0">
                        <a:buNone/>
                      </a:pPr>
                      <a:r>
                        <a:rPr lang="zh-CN" altLang="en-US" sz="1000" b="0" dirty="0" smtClean="0">
                          <a:solidFill>
                            <a:srgbClr val="000000"/>
                          </a:solidFill>
                          <a:latin typeface="Arial" panose="020B0604020202090204" pitchFamily="34" charset="0"/>
                          <a:ea typeface="微软雅黑" panose="020B0503020204020204" pitchFamily="34" charset="-122"/>
                        </a:rPr>
                        <a:t>兑换虚拟票券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en-US" sz="1000" b="0" dirty="0" smtClean="0">
                          <a:solidFill>
                            <a:srgbClr val="000000"/>
                          </a:solidFill>
                          <a:latin typeface="Arial" panose="020B0604020202090204" pitchFamily="34" charset="0"/>
                          <a:ea typeface="微软雅黑" panose="020B0503020204020204" pitchFamily="34" charset="-122"/>
                        </a:rPr>
                        <a:t>爱优腾视频会员等票券</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altLang="zh-CN" sz="1000" b="0" dirty="0" smtClean="0">
                          <a:solidFill>
                            <a:srgbClr val="000000"/>
                          </a:solidFill>
                          <a:latin typeface="Arial" panose="020B0604020202090204" pitchFamily="34" charset="0"/>
                          <a:ea typeface="微软雅黑" panose="020B0503020204020204" pitchFamily="34" charset="-122"/>
                        </a:rPr>
                        <a:t>按照积分及奖品价值对</a:t>
                      </a:r>
                      <a:r>
                        <a:rPr lang="zh-CN" altLang="en-US" sz="1000" b="0" dirty="0" smtClean="0">
                          <a:solidFill>
                            <a:srgbClr val="000000"/>
                          </a:solidFill>
                          <a:latin typeface="Arial" panose="020B0604020202090204" pitchFamily="34" charset="0"/>
                          <a:ea typeface="微软雅黑" panose="020B0503020204020204" pitchFamily="34" charset="-122"/>
                        </a:rPr>
                        <a:t>票券</a:t>
                      </a:r>
                      <a:r>
                        <a:rPr lang="zh-CN" altLang="zh-CN" sz="1000" b="0" dirty="0" smtClean="0">
                          <a:solidFill>
                            <a:srgbClr val="000000"/>
                          </a:solidFill>
                          <a:latin typeface="Arial" panose="020B0604020202090204" pitchFamily="34" charset="0"/>
                          <a:ea typeface="微软雅黑" panose="020B0503020204020204" pitchFamily="34" charset="-122"/>
                        </a:rPr>
                        <a:t>进行折算，可设置盈余20%的盈余</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lgn="ctr">
                      <a:solidFill>
                        <a:schemeClr val="tx1"/>
                      </a:solidFill>
                      <a:prstDash val="solid"/>
                      <a:round/>
                      <a:headEnd type="none" w="med" len="med"/>
                      <a:tailEnd type="none" w="med" len="med"/>
                    </a:lnL>
                    <a:lnR w="12700" cap="flat" cmpd="sng">
                      <a:solidFill>
                        <a:schemeClr val="tx1"/>
                      </a:solidFill>
                      <a:prstDash val="solid"/>
                      <a:headEnd type="none" w="med" len="med"/>
                      <a:tailEnd type="none" w="med" len="med"/>
                    </a:lnR>
                    <a:lnT w="12700" cap="flat" cmpd="sng" algn="ctr">
                      <a:solidFill>
                        <a:schemeClr val="tx1"/>
                      </a:solidFill>
                      <a:prstDash val="solid"/>
                      <a:roun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410210">
                <a:tc>
                  <a:txBody>
                    <a:bodyPr/>
                    <a:lstStyle/>
                    <a:p>
                      <a:pPr indent="0" algn="ctr">
                        <a:buNone/>
                      </a:pPr>
                      <a:r>
                        <a:rPr lang="en-US" sz="1100" b="0">
                          <a:solidFill>
                            <a:srgbClr val="000000"/>
                          </a:solidFill>
                          <a:latin typeface="微软雅黑" panose="020B0503020204020204" pitchFamily="34" charset="-122"/>
                        </a:rPr>
                        <a:t>17</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积分兑换线下活动参与资格</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按照活动预算进行核算</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18</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参与线上互动游戏（大转盘抽奖）</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按照活动预算进行核算</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295910">
                <a:tc>
                  <a:txBody>
                    <a:bodyPr/>
                    <a:lstStyle/>
                    <a:p>
                      <a:pPr indent="0" algn="ctr">
                        <a:buNone/>
                      </a:pPr>
                      <a:r>
                        <a:rPr lang="en-US" sz="1100" b="0">
                          <a:solidFill>
                            <a:srgbClr val="000000"/>
                          </a:solidFill>
                          <a:latin typeface="微软雅黑" panose="020B0503020204020204" pitchFamily="34" charset="-122"/>
                        </a:rPr>
                        <a:t>19</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p>
                      <a:pPr indent="0">
                        <a:buNone/>
                      </a:pPr>
                      <a:r>
                        <a:rPr lang="zh-CN" sz="1000" b="0" dirty="0">
                          <a:solidFill>
                            <a:srgbClr val="000000"/>
                          </a:solidFill>
                          <a:latin typeface="Arial" panose="020B0604020202090204" pitchFamily="34" charset="0"/>
                          <a:ea typeface="微软雅黑" panose="020B0503020204020204" pitchFamily="34" charset="-122"/>
                        </a:rPr>
                        <a:t>抵扣商业充电费</a:t>
                      </a:r>
                      <a:endParaRPr lang="zh-CN" altLang="en-US" sz="1000" b="0" dirty="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抵扣商业充电费</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0">
                          <a:solidFill>
                            <a:srgbClr val="000000"/>
                          </a:solidFill>
                          <a:latin typeface="Arial" panose="020B0604020202090204" pitchFamily="34" charset="0"/>
                          <a:ea typeface="微软雅黑" panose="020B0503020204020204" pitchFamily="34" charset="-122"/>
                        </a:rPr>
                        <a:t>1积分抵扣0.004元</a:t>
                      </a:r>
                      <a:endParaRPr lang="zh-CN" altLang="en-US" sz="1000" b="0">
                        <a:solidFill>
                          <a:srgbClr val="000000"/>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r h="541655">
                <a:tc>
                  <a:txBody>
                    <a:bodyPr/>
                    <a:lstStyle/>
                    <a:p>
                      <a:pPr indent="0" algn="ctr">
                        <a:buNone/>
                      </a:pPr>
                      <a:r>
                        <a:rPr lang="en-US" sz="1100" b="0">
                          <a:solidFill>
                            <a:srgbClr val="000000"/>
                          </a:solidFill>
                          <a:latin typeface="微软雅黑" panose="020B0503020204020204" pitchFamily="34" charset="-122"/>
                        </a:rPr>
                        <a:t>20</a:t>
                      </a:r>
                      <a:endParaRPr lang="en-US" altLang="en-US" sz="1100" b="0">
                        <a:solidFill>
                          <a:srgbClr val="000000"/>
                        </a:solidFill>
                        <a:latin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a:solidFill>
                            <a:srgbClr val="205CC6"/>
                          </a:solidFill>
                          <a:latin typeface="Arial" panose="020B0604020202090204" pitchFamily="34" charset="0"/>
                          <a:ea typeface="微软雅黑" panose="020B0503020204020204" pitchFamily="34" charset="-122"/>
                        </a:rPr>
                        <a:t>抵扣商业停车费</a:t>
                      </a:r>
                      <a:endParaRPr lang="zh-CN" altLang="en-US" sz="1000" b="1">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c>
                  <a:txBody>
                    <a:bodyPr/>
                    <a:lstStyle/>
                    <a:p>
                      <a:pPr indent="0">
                        <a:buNone/>
                      </a:pPr>
                      <a:r>
                        <a:rPr lang="zh-CN" sz="1000" b="1" dirty="0">
                          <a:solidFill>
                            <a:srgbClr val="205CC6"/>
                          </a:solidFill>
                          <a:latin typeface="Arial" panose="020B0604020202090204" pitchFamily="34" charset="0"/>
                          <a:ea typeface="微软雅黑" panose="020B0503020204020204" pitchFamily="34" charset="-122"/>
                        </a:rPr>
                        <a:t>1积分抵扣0.004元，最多抵扣2~4小时（可按等级设置）</a:t>
                      </a:r>
                      <a:endParaRPr lang="zh-CN" altLang="en-US" sz="1000" b="1" dirty="0">
                        <a:solidFill>
                          <a:srgbClr val="205CC6"/>
                        </a:solidFill>
                        <a:latin typeface="Arial" panose="020B0604020202090204" pitchFamily="34" charset="0"/>
                        <a:ea typeface="微软雅黑" panose="020B0503020204020204" pitchFamily="34" charset="-122"/>
                      </a:endParaRPr>
                    </a:p>
                  </a:txBody>
                  <a:tcPr marL="12700" marR="12700" marT="1270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95368" y="346749"/>
            <a:ext cx="2815097" cy="519977"/>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kumimoji="0" lang="en-US" sz="1800" b="0" i="0" u="none" strike="noStrike" cap="none" normalizeH="0" baseline="0">
                <a:ln>
                  <a:noFill/>
                </a:ln>
                <a:solidFill>
                  <a:schemeClr val="bg1"/>
                </a:solidFill>
                <a:effectLst/>
                <a:latin typeface="+mj-ea"/>
                <a:ea typeface="+mj-ea"/>
              </a:rPr>
              <a:t>2-集团营销部沟通情况</a:t>
            </a:r>
            <a:endParaRPr kumimoji="0" lang="en-GB" sz="1800" b="0" i="0" u="none" strike="noStrike" cap="none" normalizeH="0" baseline="0">
              <a:ln>
                <a:noFill/>
              </a:ln>
              <a:solidFill>
                <a:schemeClr val="bg1"/>
              </a:solidFill>
              <a:effectLst/>
              <a:latin typeface="+mj-ea"/>
              <a:ea typeface="+mj-ea"/>
            </a:endParaRPr>
          </a:p>
        </p:txBody>
      </p:sp>
      <p:sp>
        <p:nvSpPr>
          <p:cNvPr id="6" name="AutoShape 5"/>
          <p:cNvSpPr/>
          <p:nvPr/>
        </p:nvSpPr>
        <p:spPr>
          <a:xfrm>
            <a:off x="50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7" name="AutoShape 6"/>
          <p:cNvSpPr/>
          <p:nvPr/>
        </p:nvSpPr>
        <p:spPr>
          <a:xfrm>
            <a:off x="177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821815"/>
            <a:ext cx="508000" cy="508000"/>
          </a:xfrm>
          <a:prstGeom prst="rect">
            <a:avLst/>
          </a:prstGeom>
        </p:spPr>
      </p:pic>
      <p:sp>
        <p:nvSpPr>
          <p:cNvPr id="9" name="AutoShape 8"/>
          <p:cNvSpPr/>
          <p:nvPr/>
        </p:nvSpPr>
        <p:spPr>
          <a:xfrm>
            <a:off x="63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积分获取策略</a:t>
            </a:r>
            <a:endParaRPr lang="en-US" sz="2000" b="1" i="0" u="none" strike="noStrike">
              <a:solidFill>
                <a:schemeClr val="accent1"/>
              </a:solidFill>
              <a:latin typeface="微软雅黑" charset="0"/>
              <a:ea typeface="微软雅黑" charset="0"/>
              <a:cs typeface="Noto Sans SC"/>
              <a:sym typeface="Noto Sans SC"/>
            </a:endParaRPr>
          </a:p>
        </p:txBody>
      </p:sp>
      <p:sp>
        <p:nvSpPr>
          <p:cNvPr id="10" name="AutoShape 9"/>
          <p:cNvSpPr/>
          <p:nvPr/>
        </p:nvSpPr>
        <p:spPr>
          <a:xfrm>
            <a:off x="69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400" b="1" i="0" u="none" strike="noStrike">
                <a:solidFill>
                  <a:srgbClr val="333333"/>
                </a:solidFill>
                <a:latin typeface="微软雅黑" charset="0"/>
                <a:ea typeface="微软雅黑" charset="0"/>
                <a:cs typeface="Noto Sans SC"/>
                <a:sym typeface="Noto Sans SC"/>
              </a:rPr>
              <a:t>基础</a:t>
            </a:r>
            <a:r>
              <a:rPr lang="en-US" sz="1400" b="1" i="0" u="none" strike="noStrike">
                <a:solidFill>
                  <a:srgbClr val="333333"/>
                </a:solidFill>
                <a:latin typeface="微软雅黑" charset="0"/>
                <a:ea typeface="微软雅黑" charset="0"/>
                <a:cs typeface="Noto Sans SC"/>
                <a:sym typeface="Noto Sans SC"/>
              </a:rPr>
              <a:t>原则：</a:t>
            </a:r>
            <a:r>
              <a:rPr lang="en-US" sz="1400" b="0" i="0" u="none" strike="noStrike">
                <a:solidFill>
                  <a:srgbClr val="555555"/>
                </a:solidFill>
                <a:latin typeface="微软雅黑" charset="0"/>
                <a:ea typeface="微软雅黑" charset="0"/>
                <a:cs typeface="Noto Sans SC"/>
                <a:sym typeface="Noto Sans SC"/>
              </a:rPr>
              <a:t>统一业主身份积分，保障公平性。</a:t>
            </a:r>
            <a:endParaRPr lang="en-US" sz="1400" b="0" i="0" u="none" strike="noStrike">
              <a:solidFill>
                <a:srgbClr val="555555"/>
              </a:solidFill>
              <a:latin typeface="微软雅黑" charset="0"/>
              <a:ea typeface="微软雅黑" charset="0"/>
              <a:cs typeface="Noto Sans SC"/>
              <a:sym typeface="Noto Sans SC"/>
            </a:endParaRPr>
          </a:p>
          <a:p>
            <a:pPr indent="0" algn="l">
              <a:lnSpc>
                <a:spcPct val="117000"/>
              </a:lnSpc>
              <a:defRPr/>
            </a:pPr>
            <a:r>
              <a:rPr lang="en-US" sz="1400" b="1">
                <a:solidFill>
                  <a:srgbClr val="333333"/>
                </a:solidFill>
                <a:latin typeface="微软雅黑" charset="0"/>
                <a:ea typeface="微软雅黑" charset="0"/>
                <a:cs typeface="Noto Sans SC"/>
                <a:sym typeface="Noto Sans SC"/>
              </a:rPr>
              <a:t>差异化：</a:t>
            </a:r>
            <a:r>
              <a:rPr lang="en-US" sz="1400">
                <a:solidFill>
                  <a:srgbClr val="555555"/>
                </a:solidFill>
                <a:latin typeface="微软雅黑" charset="0"/>
                <a:ea typeface="微软雅黑" charset="0"/>
                <a:cs typeface="Noto Sans SC"/>
                <a:sym typeface="Noto Sans SC"/>
              </a:rPr>
              <a:t>高价段项目可设定</a:t>
            </a:r>
            <a:r>
              <a:rPr lang="zh-CN" altLang="en-US" sz="1400">
                <a:solidFill>
                  <a:srgbClr val="555555"/>
                </a:solidFill>
                <a:latin typeface="微软雅黑" charset="0"/>
                <a:ea typeface="微软雅黑" charset="0"/>
                <a:cs typeface="Noto Sans SC"/>
                <a:sym typeface="Noto Sans SC"/>
              </a:rPr>
              <a:t>高价值积分</a:t>
            </a:r>
            <a:r>
              <a:rPr lang="en-US" sz="1400">
                <a:solidFill>
                  <a:srgbClr val="555555"/>
                </a:solidFill>
                <a:latin typeface="微软雅黑" charset="0"/>
                <a:ea typeface="微软雅黑" charset="0"/>
                <a:cs typeface="Noto Sans SC"/>
                <a:sym typeface="Noto Sans SC"/>
              </a:rPr>
              <a:t>，兼顾公平与价值差异。</a:t>
            </a:r>
            <a:endParaRPr lang="en-US" sz="14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获取方式：</a:t>
            </a:r>
            <a:r>
              <a:rPr lang="en-US" sz="1400" b="0" i="0" u="none" strike="noStrike">
                <a:solidFill>
                  <a:srgbClr val="555555"/>
                </a:solidFill>
                <a:latin typeface="微软雅黑" charset="0"/>
                <a:ea typeface="微软雅黑" charset="0"/>
                <a:cs typeface="Noto Sans SC"/>
                <a:sym typeface="Noto Sans SC"/>
              </a:rPr>
              <a:t>小程序每日签到、社区活动参与、老带新推荐奖励。</a:t>
            </a:r>
            <a:endParaRPr lang="en-US" sz="1400" b="0" i="0" u="none" strike="noStrike">
              <a:solidFill>
                <a:srgbClr val="555555"/>
              </a:solidFill>
              <a:latin typeface="微软雅黑" charset="0"/>
              <a:ea typeface="微软雅黑" charset="0"/>
              <a:cs typeface="Noto Sans SC"/>
              <a:sym typeface="Noto Sans SC"/>
            </a:endParaRPr>
          </a:p>
        </p:txBody>
      </p:sp>
      <p:sp>
        <p:nvSpPr>
          <p:cNvPr id="11" name="AutoShape 10"/>
          <p:cNvSpPr/>
          <p:nvPr/>
        </p:nvSpPr>
        <p:spPr>
          <a:xfrm>
            <a:off x="431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2" name="AutoShape 11"/>
          <p:cNvSpPr/>
          <p:nvPr/>
        </p:nvSpPr>
        <p:spPr>
          <a:xfrm>
            <a:off x="558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42000" y="1821815"/>
            <a:ext cx="508000" cy="508000"/>
          </a:xfrm>
          <a:prstGeom prst="rect">
            <a:avLst/>
          </a:prstGeom>
        </p:spPr>
      </p:pic>
      <p:sp>
        <p:nvSpPr>
          <p:cNvPr id="14" name="AutoShape 13"/>
          <p:cNvSpPr/>
          <p:nvPr/>
        </p:nvSpPr>
        <p:spPr>
          <a:xfrm>
            <a:off x="444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积分消费场景</a:t>
            </a:r>
            <a:endParaRPr lang="en-US" sz="2000" b="1" i="0" u="none" strike="noStrike">
              <a:solidFill>
                <a:schemeClr val="accent1"/>
              </a:solidFill>
              <a:latin typeface="微软雅黑" charset="0"/>
              <a:ea typeface="微软雅黑" charset="0"/>
              <a:cs typeface="Noto Sans SC"/>
              <a:sym typeface="Noto Sans SC"/>
            </a:endParaRPr>
          </a:p>
        </p:txBody>
      </p:sp>
      <p:sp>
        <p:nvSpPr>
          <p:cNvPr id="15" name="AutoShape 14"/>
          <p:cNvSpPr/>
          <p:nvPr/>
        </p:nvSpPr>
        <p:spPr>
          <a:xfrm>
            <a:off x="450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微软雅黑" charset="0"/>
                <a:ea typeface="微软雅黑" charset="0"/>
                <a:cs typeface="Noto Sans SC"/>
                <a:sym typeface="Noto Sans SC"/>
              </a:rPr>
              <a:t>核心价值：</a:t>
            </a:r>
            <a:r>
              <a:rPr lang="en-US" sz="1400" b="0" i="0" u="none" strike="noStrike">
                <a:solidFill>
                  <a:srgbClr val="555555"/>
                </a:solidFill>
                <a:latin typeface="微软雅黑" charset="0"/>
                <a:ea typeface="微软雅黑" charset="0"/>
                <a:cs typeface="Noto Sans SC"/>
                <a:sym typeface="Noto Sans SC"/>
              </a:rPr>
              <a:t>优先打通高频生活场景，提升积分感知价值。</a:t>
            </a:r>
            <a:endParaRPr lang="en-US" sz="11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兑换渠道：</a:t>
            </a:r>
            <a:r>
              <a:rPr lang="en-US" sz="1400" b="0" i="0" u="none" strike="noStrike">
                <a:solidFill>
                  <a:srgbClr val="555555"/>
                </a:solidFill>
                <a:latin typeface="微软雅黑" charset="0"/>
                <a:ea typeface="微软雅黑" charset="0"/>
                <a:cs typeface="Noto Sans SC"/>
                <a:sym typeface="Noto Sans SC"/>
              </a:rPr>
              <a:t>物业费抵扣、物业权益服务兑换、商业联盟通兑及停车优惠。</a:t>
            </a:r>
            <a:endParaRPr lang="en-US" sz="1400" b="0" i="0" u="none" strike="noStrike">
              <a:solidFill>
                <a:srgbClr val="555555"/>
              </a:solidFill>
              <a:latin typeface="微软雅黑" charset="0"/>
              <a:ea typeface="微软雅黑" charset="0"/>
              <a:cs typeface="Noto Sans SC"/>
              <a:sym typeface="Noto Sans SC"/>
            </a:endParaRPr>
          </a:p>
        </p:txBody>
      </p:sp>
      <p:sp>
        <p:nvSpPr>
          <p:cNvPr id="16" name="AutoShape 15"/>
          <p:cNvSpPr/>
          <p:nvPr/>
        </p:nvSpPr>
        <p:spPr>
          <a:xfrm>
            <a:off x="8128000" y="1250315"/>
            <a:ext cx="3556000" cy="4064000"/>
          </a:xfrm>
          <a:prstGeom prst="roundRect">
            <a:avLst>
              <a:gd name="adj" fmla="val 3571"/>
            </a:avLst>
          </a:prstGeom>
          <a:solidFill>
            <a:srgbClr val="FFFFFF">
              <a:alpha val="100000"/>
            </a:srgbClr>
          </a:solidFill>
          <a:ln w="25400" cap="flat" cmpd="sng">
            <a:noFill/>
            <a:prstDash val="solid"/>
            <a:round/>
          </a:ln>
          <a:effectLst>
            <a:innerShdw blurRad="114300">
              <a:srgbClr val="007EBA">
                <a:alpha val="32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17" name="AutoShape 16"/>
          <p:cNvSpPr/>
          <p:nvPr/>
        </p:nvSpPr>
        <p:spPr>
          <a:xfrm>
            <a:off x="9398000" y="1567815"/>
            <a:ext cx="1016000" cy="1016000"/>
          </a:xfrm>
          <a:prstGeom prst="ellipse">
            <a:avLst/>
          </a:prstGeom>
          <a:solidFill>
            <a:srgbClr val="007EBA">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18"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52000" y="1821815"/>
            <a:ext cx="508000" cy="508000"/>
          </a:xfrm>
          <a:prstGeom prst="rect">
            <a:avLst/>
          </a:prstGeom>
        </p:spPr>
      </p:pic>
      <p:sp>
        <p:nvSpPr>
          <p:cNvPr id="19" name="AutoShape 18"/>
          <p:cNvSpPr/>
          <p:nvPr/>
        </p:nvSpPr>
        <p:spPr>
          <a:xfrm>
            <a:off x="8255000" y="2710815"/>
            <a:ext cx="330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1" i="0" u="none" strike="noStrike">
                <a:solidFill>
                  <a:schemeClr val="accent1"/>
                </a:solidFill>
                <a:latin typeface="微软雅黑" charset="0"/>
                <a:ea typeface="微软雅黑" charset="0"/>
                <a:cs typeface="Noto Sans SC"/>
                <a:sym typeface="Noto Sans SC"/>
              </a:rPr>
              <a:t>会员等级体系</a:t>
            </a:r>
            <a:endParaRPr lang="en-US" sz="2000" b="1" i="0" u="none" strike="noStrike">
              <a:solidFill>
                <a:schemeClr val="accent1"/>
              </a:solidFill>
              <a:latin typeface="微软雅黑" charset="0"/>
              <a:ea typeface="微软雅黑" charset="0"/>
              <a:cs typeface="Noto Sans SC"/>
              <a:sym typeface="Noto Sans SC"/>
            </a:endParaRPr>
          </a:p>
        </p:txBody>
      </p:sp>
      <p:sp>
        <p:nvSpPr>
          <p:cNvPr id="20" name="AutoShape 19"/>
          <p:cNvSpPr/>
          <p:nvPr/>
        </p:nvSpPr>
        <p:spPr>
          <a:xfrm>
            <a:off x="8318500" y="3218815"/>
            <a:ext cx="3175000" cy="190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333333"/>
                </a:solidFill>
                <a:latin typeface="微软雅黑" charset="0"/>
                <a:ea typeface="微软雅黑" charset="0"/>
                <a:cs typeface="Noto Sans SC"/>
                <a:sym typeface="Noto Sans SC"/>
              </a:rPr>
              <a:t>基础规则：</a:t>
            </a:r>
            <a:r>
              <a:rPr lang="en-US" sz="1400" b="0" i="0" u="none" strike="noStrike">
                <a:solidFill>
                  <a:srgbClr val="555555"/>
                </a:solidFill>
                <a:latin typeface="微软雅黑" charset="0"/>
                <a:ea typeface="微软雅黑" charset="0"/>
                <a:cs typeface="Noto Sans SC"/>
                <a:sym typeface="Noto Sans SC"/>
              </a:rPr>
              <a:t>保障房业主统一初始等级，通过积分</a:t>
            </a:r>
            <a:r>
              <a:rPr lang="zh-CN" altLang="en-US" sz="1400" b="0" i="0" u="none" strike="noStrike">
                <a:solidFill>
                  <a:srgbClr val="555555"/>
                </a:solidFill>
                <a:latin typeface="微软雅黑" charset="0"/>
                <a:ea typeface="微软雅黑" charset="0"/>
                <a:cs typeface="Noto Sans SC"/>
                <a:sym typeface="Noto Sans SC"/>
              </a:rPr>
              <a:t>数据</a:t>
            </a:r>
            <a:r>
              <a:rPr lang="en-US" sz="1400" b="0" i="0" u="none" strike="noStrike">
                <a:solidFill>
                  <a:srgbClr val="555555"/>
                </a:solidFill>
                <a:latin typeface="微软雅黑" charset="0"/>
                <a:ea typeface="微软雅黑" charset="0"/>
                <a:cs typeface="Noto Sans SC"/>
                <a:sym typeface="Noto Sans SC"/>
              </a:rPr>
              <a:t>累计升级。</a:t>
            </a:r>
            <a:endParaRPr lang="en-US" sz="1100">
              <a:latin typeface="微软雅黑" charset="0"/>
              <a:ea typeface="微软雅黑" charset="0"/>
            </a:endParaRPr>
          </a:p>
          <a:p>
            <a:pPr indent="0" algn="l">
              <a:lnSpc>
                <a:spcPct val="117000"/>
              </a:lnSpc>
            </a:pPr>
            <a:r>
              <a:rPr lang="en-US" sz="1400" b="1" i="0" u="none" strike="noStrike">
                <a:solidFill>
                  <a:srgbClr val="333333"/>
                </a:solidFill>
                <a:latin typeface="微软雅黑" charset="0"/>
                <a:ea typeface="微软雅黑" charset="0"/>
                <a:cs typeface="Noto Sans SC"/>
                <a:sym typeface="Noto Sans SC"/>
              </a:rPr>
              <a:t>差异化：</a:t>
            </a:r>
            <a:r>
              <a:rPr lang="en-US" sz="1400" b="0" i="0" u="none" strike="noStrike">
                <a:solidFill>
                  <a:srgbClr val="555555"/>
                </a:solidFill>
                <a:latin typeface="微软雅黑" charset="0"/>
                <a:ea typeface="微软雅黑" charset="0"/>
                <a:cs typeface="Noto Sans SC"/>
                <a:sym typeface="Noto Sans SC"/>
              </a:rPr>
              <a:t>高价段项目可设定初始高等级，兼顾公平与价值差异。</a:t>
            </a:r>
            <a:endParaRPr lang="en-US" sz="1400" b="0" i="0" u="none" strike="noStrike">
              <a:solidFill>
                <a:srgbClr val="555555"/>
              </a:solidFill>
              <a:latin typeface="微软雅黑" charset="0"/>
              <a:ea typeface="微软雅黑" charset="0"/>
              <a:cs typeface="Noto Sans SC"/>
              <a:sym typeface="Noto Sans SC"/>
            </a:endParaRPr>
          </a:p>
        </p:txBody>
      </p:sp>
      <p:sp>
        <p:nvSpPr>
          <p:cNvPr id="21" name="AutoShape 20"/>
          <p:cNvSpPr/>
          <p:nvPr/>
        </p:nvSpPr>
        <p:spPr>
          <a:xfrm>
            <a:off x="508000" y="5568315"/>
            <a:ext cx="11176000" cy="825500"/>
          </a:xfrm>
          <a:prstGeom prst="roundRect">
            <a:avLst>
              <a:gd name="adj" fmla="val 15384"/>
            </a:avLst>
          </a:prstGeom>
          <a:solidFill>
            <a:srgbClr val="E6F2FA">
              <a:alpha val="100000"/>
            </a:srgbClr>
          </a:solidFill>
          <a:ln w="12700" cap="flat" cmpd="sng">
            <a:solidFill>
              <a:schemeClr val="accent1">
                <a:alpha val="100000"/>
              </a:schemeClr>
            </a:solid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2"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5758815"/>
            <a:ext cx="406400" cy="406400"/>
          </a:xfrm>
          <a:prstGeom prst="rect">
            <a:avLst/>
          </a:prstGeom>
        </p:spPr>
      </p:pic>
      <p:sp>
        <p:nvSpPr>
          <p:cNvPr id="23" name="AutoShape 22"/>
          <p:cNvSpPr/>
          <p:nvPr/>
        </p:nvSpPr>
        <p:spPr>
          <a:xfrm>
            <a:off x="1397000" y="5695315"/>
            <a:ext cx="10033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1" i="0" u="none" strike="noStrike">
                <a:solidFill>
                  <a:schemeClr val="accent1"/>
                </a:solidFill>
                <a:latin typeface="微软雅黑" charset="0"/>
                <a:ea typeface="微软雅黑" charset="0"/>
                <a:cs typeface="Noto Sans SC"/>
                <a:sym typeface="Noto Sans SC"/>
              </a:rPr>
              <a:t>客户</a:t>
            </a:r>
            <a:r>
              <a:rPr lang="en-US" sz="1400" b="1" i="0" u="none" strike="noStrike">
                <a:solidFill>
                  <a:schemeClr val="accent1"/>
                </a:solidFill>
                <a:latin typeface="微软雅黑" charset="0"/>
                <a:ea typeface="微软雅黑" charset="0"/>
                <a:cs typeface="Noto Sans SC"/>
                <a:sym typeface="Noto Sans SC"/>
              </a:rPr>
              <a:t>数据</a:t>
            </a:r>
            <a:r>
              <a:rPr lang="en-US" sz="1400" b="1" i="0" u="none" strike="noStrike">
                <a:solidFill>
                  <a:schemeClr val="accent5">
                    <a:lumMod val="75000"/>
                  </a:schemeClr>
                </a:solidFill>
                <a:latin typeface="微软雅黑" charset="0"/>
                <a:ea typeface="微软雅黑" charset="0"/>
                <a:cs typeface="Noto Sans SC"/>
                <a:sym typeface="Noto Sans SC"/>
              </a:rPr>
              <a:t>：</a:t>
            </a:r>
            <a:r>
              <a:rPr lang="en-US" sz="1400" b="0" i="0" u="none" strike="noStrike">
                <a:solidFill>
                  <a:srgbClr val="3C3C3C"/>
                </a:solidFill>
                <a:latin typeface="微软雅黑" charset="0"/>
                <a:ea typeface="微软雅黑" charset="0"/>
                <a:cs typeface="Noto Sans SC"/>
                <a:sym typeface="Noto Sans SC"/>
              </a:rPr>
              <a:t>营销侧</a:t>
            </a:r>
            <a:r>
              <a:rPr lang="zh-CN" altLang="en-US" sz="1400" b="0" i="0" u="none" strike="noStrike">
                <a:solidFill>
                  <a:srgbClr val="3C3C3C"/>
                </a:solidFill>
                <a:latin typeface="微软雅黑" charset="0"/>
                <a:ea typeface="微软雅黑" charset="0"/>
                <a:cs typeface="Noto Sans SC"/>
                <a:sym typeface="Noto Sans SC"/>
              </a:rPr>
              <a:t>业主数据沉淀在</a:t>
            </a:r>
            <a:r>
              <a:rPr lang="en-US" sz="1400" b="0" i="0" u="none" strike="noStrike">
                <a:solidFill>
                  <a:srgbClr val="3C3C3C"/>
                </a:solidFill>
                <a:latin typeface="微软雅黑" charset="0"/>
                <a:ea typeface="微软雅黑" charset="0"/>
                <a:cs typeface="Noto Sans SC"/>
                <a:sym typeface="Noto Sans SC"/>
              </a:rPr>
              <a:t>「安居选房通」。</a:t>
            </a:r>
            <a:endParaRPr lang="en-US" sz="1100">
              <a:latin typeface="微软雅黑" charset="0"/>
              <a:ea typeface="微软雅黑"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59" name="Rectangle 58"/>
          <p:cNvSpPr/>
          <p:nvPr/>
        </p:nvSpPr>
        <p:spPr bwMode="auto">
          <a:xfrm>
            <a:off x="2595245" y="346710"/>
            <a:ext cx="3500755" cy="520065"/>
          </a:xfrm>
          <a:prstGeom prst="rect">
            <a:avLst/>
          </a:prstGeom>
          <a:solidFill>
            <a:srgbClr val="00338D"/>
          </a:solidFill>
          <a:ln w="9525" cap="flat" cmpd="sng" algn="ctr">
            <a:noFill/>
            <a:prstDash val="solid"/>
            <a:round/>
            <a:headEnd type="none" w="med" len="med"/>
            <a:tailEnd type="none" w="med" len="med"/>
          </a:ln>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pPr>
            <a:r>
              <a:rPr lang="en-US">
                <a:solidFill>
                  <a:srgbClr val="FFFFFF"/>
                </a:solidFill>
                <a:latin typeface="微软雅黑"/>
                <a:ea typeface="微软雅黑"/>
                <a:cs typeface="微软雅黑"/>
                <a:sym typeface="微软雅黑"/>
              </a:rPr>
              <a:t>3-集团</a:t>
            </a:r>
            <a:r>
              <a:rPr lang="zh-CN" altLang="en-US">
                <a:solidFill>
                  <a:srgbClr val="FFFFFF"/>
                </a:solidFill>
                <a:latin typeface="微软雅黑"/>
                <a:ea typeface="微软雅黑"/>
                <a:cs typeface="微软雅黑"/>
                <a:sym typeface="微软雅黑"/>
              </a:rPr>
              <a:t>住房服务中心</a:t>
            </a:r>
            <a:r>
              <a:rPr lang="en-US">
                <a:solidFill>
                  <a:srgbClr val="FFFFFF"/>
                </a:solidFill>
                <a:latin typeface="微软雅黑"/>
                <a:ea typeface="微软雅黑"/>
                <a:cs typeface="微软雅黑"/>
                <a:sym typeface="微软雅黑"/>
              </a:rPr>
              <a:t>沟通情况</a:t>
            </a:r>
            <a:endParaRPr kumimoji="0" lang="en-GB" sz="1800" b="0" i="0" u="none" strike="noStrike" cap="none" normalizeH="0" baseline="0">
              <a:ln>
                <a:noFill/>
              </a:ln>
              <a:solidFill>
                <a:schemeClr val="bg1"/>
              </a:solidFill>
              <a:effectLst/>
              <a:latin typeface="+mj-ea"/>
              <a:ea typeface="+mj-ea"/>
            </a:endParaRPr>
          </a:p>
        </p:txBody>
      </p:sp>
      <p:sp>
        <p:nvSpPr>
          <p:cNvPr id="3" name="AutoShape 5"/>
          <p:cNvSpPr/>
          <p:nvPr/>
        </p:nvSpPr>
        <p:spPr>
          <a:xfrm>
            <a:off x="5080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6"/>
          <p:cNvSpPr/>
          <p:nvPr/>
        </p:nvSpPr>
        <p:spPr>
          <a:xfrm>
            <a:off x="12700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24"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1905000"/>
            <a:ext cx="698500" cy="698500"/>
          </a:xfrm>
          <a:prstGeom prst="rect">
            <a:avLst/>
          </a:prstGeom>
        </p:spPr>
      </p:pic>
      <p:sp>
        <p:nvSpPr>
          <p:cNvPr id="25" name="AutoShape 8"/>
          <p:cNvSpPr/>
          <p:nvPr/>
        </p:nvSpPr>
        <p:spPr>
          <a:xfrm>
            <a:off x="6350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指标考核与风险识别</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26" name="Connector 9"/>
          <p:cNvCxnSpPr/>
          <p:nvPr/>
        </p:nvCxnSpPr>
        <p:spPr>
          <a:xfrm rot="-22178">
            <a:off x="8255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27" name="AutoShape 10"/>
          <p:cNvSpPr/>
          <p:nvPr/>
        </p:nvSpPr>
        <p:spPr>
          <a:xfrm>
            <a:off x="6985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全维考核体系：</a:t>
            </a:r>
            <a:r>
              <a:rPr lang="en-US" sz="1400" b="0" i="0" u="none" strike="noStrike">
                <a:solidFill>
                  <a:srgbClr val="505050"/>
                </a:solidFill>
                <a:latin typeface="微软雅黑" charset="0"/>
                <a:ea typeface="微软雅黑" charset="0"/>
                <a:cs typeface="Noto Sans SC"/>
                <a:sym typeface="Noto Sans SC"/>
              </a:rPr>
              <a:t>涵盖</a:t>
            </a:r>
            <a:r>
              <a:rPr lang="zh-CN" altLang="en-US" sz="1400" b="0" i="0" u="none" strike="noStrike">
                <a:solidFill>
                  <a:srgbClr val="505050"/>
                </a:solidFill>
                <a:latin typeface="微软雅黑" charset="0"/>
                <a:ea typeface="微软雅黑" charset="0"/>
                <a:cs typeface="Noto Sans SC"/>
                <a:sym typeface="Noto Sans SC"/>
              </a:rPr>
              <a:t>工单</a:t>
            </a:r>
            <a:r>
              <a:rPr lang="en-US" sz="1400" b="0" i="0" u="none" strike="noStrike">
                <a:solidFill>
                  <a:srgbClr val="505050"/>
                </a:solidFill>
                <a:latin typeface="微软雅黑" charset="0"/>
                <a:ea typeface="微软雅黑" charset="0"/>
                <a:cs typeface="Noto Sans SC"/>
                <a:sym typeface="Noto Sans SC"/>
              </a:rPr>
              <a:t>分配时效、办结率及满意度，解决数据人工存储失真问题。</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智能风险预警：</a:t>
            </a:r>
            <a:r>
              <a:rPr lang="en-US" sz="1400" b="0" i="0" u="none" strike="noStrike">
                <a:solidFill>
                  <a:srgbClr val="505050"/>
                </a:solidFill>
                <a:latin typeface="微软雅黑" charset="0"/>
                <a:ea typeface="微软雅黑" charset="0"/>
                <a:cs typeface="Noto Sans SC"/>
                <a:sym typeface="Noto Sans SC"/>
              </a:rPr>
              <a:t>系统自动识别客诉量级与过激行为，替代人工上报，即时触发风险响应。</a:t>
            </a:r>
            <a:endParaRPr lang="en-US" sz="1400" b="0" i="0" u="none" strike="noStrike">
              <a:solidFill>
                <a:srgbClr val="505050"/>
              </a:solidFill>
              <a:latin typeface="微软雅黑" charset="0"/>
              <a:ea typeface="微软雅黑" charset="0"/>
              <a:cs typeface="Noto Sans SC"/>
              <a:sym typeface="Noto Sans SC"/>
            </a:endParaRPr>
          </a:p>
        </p:txBody>
      </p:sp>
      <p:sp>
        <p:nvSpPr>
          <p:cNvPr id="28" name="AutoShape 11"/>
          <p:cNvSpPr/>
          <p:nvPr/>
        </p:nvSpPr>
        <p:spPr>
          <a:xfrm>
            <a:off x="32385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29" name="AutoShape 12"/>
          <p:cNvSpPr/>
          <p:nvPr/>
        </p:nvSpPr>
        <p:spPr>
          <a:xfrm>
            <a:off x="40005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0"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1000" y="1905000"/>
            <a:ext cx="698500" cy="698500"/>
          </a:xfrm>
          <a:prstGeom prst="rect">
            <a:avLst/>
          </a:prstGeom>
        </p:spPr>
      </p:pic>
      <p:sp>
        <p:nvSpPr>
          <p:cNvPr id="31" name="AutoShape 14"/>
          <p:cNvSpPr/>
          <p:nvPr/>
        </p:nvSpPr>
        <p:spPr>
          <a:xfrm>
            <a:off x="33655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积分规则与客户激励</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32" name="Connector 15"/>
          <p:cNvCxnSpPr/>
          <p:nvPr/>
        </p:nvCxnSpPr>
        <p:spPr>
          <a:xfrm rot="-22178">
            <a:off x="35560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33" name="AutoShape 16"/>
          <p:cNvSpPr/>
          <p:nvPr/>
        </p:nvSpPr>
        <p:spPr>
          <a:xfrm>
            <a:off x="34290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规则灵活配置：</a:t>
            </a:r>
            <a:r>
              <a:rPr lang="en-US" sz="1400" b="0" i="0" u="none" strike="noStrike">
                <a:solidFill>
                  <a:srgbClr val="505050"/>
                </a:solidFill>
                <a:latin typeface="微软雅黑" charset="0"/>
                <a:ea typeface="微软雅黑" charset="0"/>
                <a:cs typeface="Noto Sans SC"/>
                <a:sym typeface="Noto Sans SC"/>
              </a:rPr>
              <a:t>通兑标准后台自定义，经业务部门协同校准，确保规则公平可行。</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消费激励闭环：</a:t>
            </a:r>
            <a:r>
              <a:rPr lang="en-US" sz="1400" b="0" i="0" u="none" strike="noStrike">
                <a:solidFill>
                  <a:srgbClr val="505050"/>
                </a:solidFill>
                <a:latin typeface="微软雅黑" charset="0"/>
                <a:ea typeface="微软雅黑" charset="0"/>
                <a:cs typeface="Noto Sans SC"/>
                <a:sym typeface="Noto Sans SC"/>
              </a:rPr>
              <a:t>通过缴纳租金物业费获积分机制，引导租户商业消费，深度绑定客户粘性。</a:t>
            </a:r>
            <a:endParaRPr lang="en-US" sz="1400" b="0" i="0" u="none" strike="noStrike">
              <a:solidFill>
                <a:srgbClr val="505050"/>
              </a:solidFill>
              <a:latin typeface="微软雅黑" charset="0"/>
              <a:ea typeface="微软雅黑" charset="0"/>
              <a:cs typeface="Noto Sans SC"/>
              <a:sym typeface="Noto Sans SC"/>
            </a:endParaRPr>
          </a:p>
        </p:txBody>
      </p:sp>
      <p:sp>
        <p:nvSpPr>
          <p:cNvPr id="34" name="AutoShape 17"/>
          <p:cNvSpPr/>
          <p:nvPr/>
        </p:nvSpPr>
        <p:spPr>
          <a:xfrm>
            <a:off x="59690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35" name="AutoShape 18"/>
          <p:cNvSpPr/>
          <p:nvPr/>
        </p:nvSpPr>
        <p:spPr>
          <a:xfrm>
            <a:off x="67310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36"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21500" y="1905000"/>
            <a:ext cx="698500" cy="698500"/>
          </a:xfrm>
          <a:prstGeom prst="rect">
            <a:avLst/>
          </a:prstGeom>
        </p:spPr>
      </p:pic>
      <p:sp>
        <p:nvSpPr>
          <p:cNvPr id="37" name="AutoShape 20"/>
          <p:cNvSpPr/>
          <p:nvPr/>
        </p:nvSpPr>
        <p:spPr>
          <a:xfrm>
            <a:off x="60960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知识库与智能服务</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38" name="Connector 21"/>
          <p:cNvCxnSpPr/>
          <p:nvPr/>
        </p:nvCxnSpPr>
        <p:spPr>
          <a:xfrm rot="-22178">
            <a:off x="62865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39" name="AutoShape 22"/>
          <p:cNvSpPr/>
          <p:nvPr/>
        </p:nvSpPr>
        <p:spPr>
          <a:xfrm>
            <a:off x="61595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微软雅黑" charset="0"/>
                <a:sym typeface="Noto Sans SC"/>
              </a:rPr>
              <a:t>知识赋能：</a:t>
            </a:r>
            <a:r>
              <a:rPr lang="en-US" sz="1400" b="0" i="0" u="none" strike="noStrike">
                <a:solidFill>
                  <a:srgbClr val="505050"/>
                </a:solidFill>
                <a:latin typeface="微软雅黑" charset="0"/>
                <a:ea typeface="微软雅黑" charset="0"/>
                <a:cs typeface="微软雅黑" charset="0"/>
                <a:sym typeface="Noto Sans SC"/>
              </a:rPr>
              <a:t>支持政策导入与智能学习，提供精准搜索，为客服提供权威应答依据。</a:t>
            </a:r>
            <a:endParaRPr lang="en-US" sz="1400" b="0" i="0" u="none" strike="noStrike">
              <a:solidFill>
                <a:srgbClr val="505050"/>
              </a:solidFill>
              <a:latin typeface="微软雅黑" charset="0"/>
              <a:ea typeface="微软雅黑" charset="0"/>
              <a:cs typeface="微软雅黑" charset="0"/>
              <a:sym typeface="Noto Sans SC"/>
            </a:endParaRPr>
          </a:p>
          <a:p>
            <a:pPr indent="0" algn="l">
              <a:lnSpc>
                <a:spcPct val="117000"/>
              </a:lnSpc>
              <a:defRPr/>
            </a:pPr>
            <a:endParaRPr lang="en-US" sz="1400">
              <a:latin typeface="微软雅黑" charset="0"/>
              <a:ea typeface="微软雅黑" charset="0"/>
              <a:cs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微软雅黑" charset="0"/>
                <a:sym typeface="Noto Sans SC"/>
              </a:rPr>
              <a:t>人机协同：</a:t>
            </a:r>
            <a:r>
              <a:rPr lang="en-US" sz="1400" b="0" i="0" u="none" strike="noStrike">
                <a:solidFill>
                  <a:srgbClr val="505050"/>
                </a:solidFill>
                <a:latin typeface="微软雅黑" charset="0"/>
                <a:ea typeface="微软雅黑" charset="0"/>
                <a:cs typeface="微软雅黑" charset="0"/>
                <a:sym typeface="Noto Sans SC"/>
              </a:rPr>
              <a:t>智能体自动回复高频问题，复杂场景无缝转接人工，提供实时话术辅助。</a:t>
            </a:r>
            <a:endParaRPr lang="en-US" sz="1400" b="0" i="0" u="none" strike="noStrike">
              <a:solidFill>
                <a:srgbClr val="505050"/>
              </a:solidFill>
              <a:latin typeface="微软雅黑" charset="0"/>
              <a:ea typeface="微软雅黑" charset="0"/>
              <a:cs typeface="微软雅黑" charset="0"/>
              <a:sym typeface="Noto Sans SC"/>
            </a:endParaRPr>
          </a:p>
          <a:p>
            <a:pPr indent="0" algn="l">
              <a:lnSpc>
                <a:spcPct val="117000"/>
              </a:lnSpc>
            </a:pPr>
            <a:endParaRPr lang="en-US" sz="1400" b="0" i="0" u="none" strike="noStrike">
              <a:solidFill>
                <a:srgbClr val="505050"/>
              </a:solidFill>
              <a:latin typeface="微软雅黑" charset="0"/>
              <a:ea typeface="微软雅黑" charset="0"/>
              <a:cs typeface="微软雅黑" charset="0"/>
              <a:sym typeface="Noto Sans SC"/>
            </a:endParaRPr>
          </a:p>
        </p:txBody>
      </p:sp>
      <p:sp>
        <p:nvSpPr>
          <p:cNvPr id="40" name="AutoShape 23"/>
          <p:cNvSpPr/>
          <p:nvPr/>
        </p:nvSpPr>
        <p:spPr>
          <a:xfrm>
            <a:off x="8699500" y="1397000"/>
            <a:ext cx="2603500" cy="4699000"/>
          </a:xfrm>
          <a:prstGeom prst="roundRect">
            <a:avLst>
              <a:gd name="adj" fmla="val 4878"/>
            </a:avLst>
          </a:prstGeom>
          <a:solidFill>
            <a:srgbClr val="FFFFFF">
              <a:alpha val="100000"/>
            </a:srgbClr>
          </a:solidFill>
          <a:ln w="25400" cap="flat" cmpd="sng">
            <a:noFill/>
            <a:prstDash val="solid"/>
            <a:round/>
          </a:ln>
          <a:effectLst>
            <a:innerShdw blurRad="114300">
              <a:srgbClr val="007EBA">
                <a:alpha val="30000"/>
              </a:srgbClr>
            </a:inn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1" name="AutoShape 24"/>
          <p:cNvSpPr/>
          <p:nvPr/>
        </p:nvSpPr>
        <p:spPr>
          <a:xfrm>
            <a:off x="9461500" y="1714500"/>
            <a:ext cx="1079500" cy="1079500"/>
          </a:xfrm>
          <a:prstGeom prst="ellipse">
            <a:avLst/>
          </a:prstGeom>
          <a:solidFill>
            <a:srgbClr val="2F4F4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pic>
        <p:nvPicPr>
          <p:cNvPr id="42"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52000" y="1905000"/>
            <a:ext cx="698500" cy="698500"/>
          </a:xfrm>
          <a:prstGeom prst="rect">
            <a:avLst/>
          </a:prstGeom>
        </p:spPr>
      </p:pic>
      <p:sp>
        <p:nvSpPr>
          <p:cNvPr id="43" name="AutoShape 26"/>
          <p:cNvSpPr/>
          <p:nvPr/>
        </p:nvSpPr>
        <p:spPr>
          <a:xfrm>
            <a:off x="8826500" y="2921000"/>
            <a:ext cx="2349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chemeClr val="accent1"/>
                </a:solidFill>
                <a:latin typeface="微软雅黑" charset="0"/>
                <a:ea typeface="微软雅黑" charset="0"/>
                <a:cs typeface="Noto Sans SC"/>
                <a:sym typeface="Noto Sans SC"/>
              </a:rPr>
              <a:t>客户互动与信息管理</a:t>
            </a:r>
            <a:endParaRPr lang="en-US" sz="1600" b="1" i="0" u="none" strike="noStrike">
              <a:solidFill>
                <a:schemeClr val="accent1"/>
              </a:solidFill>
              <a:latin typeface="微软雅黑" charset="0"/>
              <a:ea typeface="微软雅黑" charset="0"/>
              <a:cs typeface="Noto Sans SC"/>
              <a:sym typeface="Noto Sans SC"/>
            </a:endParaRPr>
          </a:p>
        </p:txBody>
      </p:sp>
      <p:cxnSp>
        <p:nvCxnSpPr>
          <p:cNvPr id="44" name="Connector 27"/>
          <p:cNvCxnSpPr/>
          <p:nvPr/>
        </p:nvCxnSpPr>
        <p:spPr>
          <a:xfrm rot="-22178">
            <a:off x="9017020" y="3422650"/>
            <a:ext cx="1968500" cy="12700"/>
          </a:xfrm>
          <a:prstGeom prst="straightConnector1">
            <a:avLst/>
          </a:prstGeom>
          <a:solidFill>
            <a:srgbClr val="DEE0E3">
              <a:alpha val="100000"/>
            </a:srgbClr>
          </a:solidFill>
          <a:ln w="12700" cap="flat" cmpd="sng">
            <a:solidFill>
              <a:srgbClr val="2F4F4F">
                <a:alpha val="30000"/>
              </a:srgbClr>
            </a:solidFill>
            <a:prstDash val="solid"/>
            <a:round/>
            <a:headEnd type="none" w="med" len="med"/>
            <a:tailEnd type="none" w="med" len="med"/>
          </a:ln>
        </p:spPr>
      </p:cxnSp>
      <p:sp>
        <p:nvSpPr>
          <p:cNvPr id="45" name="AutoShape 28"/>
          <p:cNvSpPr/>
          <p:nvPr/>
        </p:nvSpPr>
        <p:spPr>
          <a:xfrm>
            <a:off x="8890000" y="3619500"/>
            <a:ext cx="2222500" cy="22225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505050"/>
                </a:solidFill>
                <a:latin typeface="微软雅黑" charset="0"/>
                <a:ea typeface="微软雅黑" charset="0"/>
                <a:cs typeface="Noto Sans SC"/>
                <a:sym typeface="Noto Sans SC"/>
              </a:rPr>
              <a:t>透明互动：</a:t>
            </a:r>
            <a:r>
              <a:rPr lang="en-US" sz="1400" b="0" i="0" u="none" strike="noStrike">
                <a:solidFill>
                  <a:srgbClr val="505050"/>
                </a:solidFill>
                <a:latin typeface="微软雅黑" charset="0"/>
                <a:ea typeface="微软雅黑" charset="0"/>
                <a:cs typeface="Noto Sans SC"/>
                <a:sym typeface="Noto Sans SC"/>
              </a:rPr>
              <a:t>全流程推送工单状态，利用积分激励客户反馈，优化问卷信息收集效率。</a:t>
            </a:r>
            <a:endParaRPr lang="en-US" sz="1400" b="0" i="0" u="none" strike="noStrike">
              <a:solidFill>
                <a:srgbClr val="505050"/>
              </a:solidFill>
              <a:latin typeface="微软雅黑" charset="0"/>
              <a:ea typeface="微软雅黑" charset="0"/>
              <a:cs typeface="Noto Sans SC"/>
              <a:sym typeface="Noto Sans SC"/>
            </a:endParaRPr>
          </a:p>
          <a:p>
            <a:pPr indent="0" algn="l">
              <a:lnSpc>
                <a:spcPct val="117000"/>
              </a:lnSpc>
              <a:defRPr/>
            </a:pPr>
            <a:endParaRPr lang="en-US" sz="1400">
              <a:latin typeface="微软雅黑" charset="0"/>
              <a:ea typeface="微软雅黑" charset="0"/>
            </a:endParaRPr>
          </a:p>
          <a:p>
            <a:pPr indent="0" algn="l">
              <a:lnSpc>
                <a:spcPct val="117000"/>
              </a:lnSpc>
            </a:pPr>
            <a:r>
              <a:rPr lang="en-US" sz="1400" b="1" i="0" u="none" strike="noStrike">
                <a:solidFill>
                  <a:srgbClr val="505050"/>
                </a:solidFill>
                <a:latin typeface="微软雅黑" charset="0"/>
                <a:ea typeface="微软雅黑" charset="0"/>
                <a:cs typeface="Noto Sans SC"/>
                <a:sym typeface="Noto Sans SC"/>
              </a:rPr>
              <a:t>精准画像：</a:t>
            </a:r>
            <a:r>
              <a:rPr lang="en-US" sz="1400" b="0" i="0" u="none" strike="noStrike">
                <a:solidFill>
                  <a:srgbClr val="505050"/>
                </a:solidFill>
                <a:latin typeface="微软雅黑" charset="0"/>
                <a:ea typeface="微软雅黑" charset="0"/>
                <a:cs typeface="Noto Sans SC"/>
                <a:sym typeface="Noto Sans SC"/>
              </a:rPr>
              <a:t>建立集团统一标签体系，基于多渠道数据自动打标，实现精细化运营圈选。</a:t>
            </a:r>
            <a:endParaRPr lang="en-US" sz="1400" b="0" i="0" u="none" strike="noStrike">
              <a:solidFill>
                <a:srgbClr val="505050"/>
              </a:solidFill>
              <a:latin typeface="微软雅黑" charset="0"/>
              <a:ea typeface="微软雅黑" charset="0"/>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AutoShape 4"/>
          <p:cNvSpPr/>
          <p:nvPr/>
        </p:nvSpPr>
        <p:spPr>
          <a:xfrm>
            <a:off x="2603623" y="388659"/>
            <a:ext cx="2815097" cy="519977"/>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90000"/>
              </a:lnSpc>
              <a:defRPr/>
            </a:pPr>
            <a:r>
              <a:rPr lang="en-US" sz="1800" b="0" i="0" u="none" strike="noStrike">
                <a:solidFill>
                  <a:srgbClr val="FFFFFF"/>
                </a:solidFill>
                <a:latin typeface="微软雅黑"/>
                <a:ea typeface="微软雅黑"/>
                <a:cs typeface="微软雅黑"/>
                <a:sym typeface="微软雅黑"/>
              </a:rPr>
              <a:t>4-小程序C</a:t>
            </a:r>
            <a:r>
              <a:rPr lang="zh-CN" altLang="en-US" sz="1800" b="0" i="0" u="none" strike="noStrike">
                <a:solidFill>
                  <a:srgbClr val="FFFFFF"/>
                </a:solidFill>
                <a:latin typeface="微软雅黑"/>
                <a:ea typeface="微软雅黑"/>
                <a:cs typeface="微软雅黑"/>
                <a:sym typeface="微软雅黑"/>
              </a:rPr>
              <a:t>端功能</a:t>
            </a:r>
            <a:r>
              <a:rPr lang="zh-CN" altLang="en-US" sz="1800" b="0" i="0" u="none" strike="noStrike">
                <a:solidFill>
                  <a:srgbClr val="FFFFFF"/>
                </a:solidFill>
                <a:latin typeface="微软雅黑"/>
                <a:ea typeface="微软雅黑"/>
                <a:cs typeface="微软雅黑"/>
                <a:sym typeface="微软雅黑"/>
              </a:rPr>
              <a:t>边界</a:t>
            </a:r>
            <a:endParaRPr lang="zh-CN" altLang="en-US" sz="1800" b="0" i="0" u="none" strike="noStrike">
              <a:solidFill>
                <a:srgbClr val="FFFFFF"/>
              </a:solidFill>
              <a:latin typeface="微软雅黑"/>
              <a:ea typeface="微软雅黑"/>
              <a:cs typeface="微软雅黑"/>
              <a:sym typeface="微软雅黑"/>
            </a:endParaRPr>
          </a:p>
        </p:txBody>
      </p:sp>
      <p:pic>
        <p:nvPicPr>
          <p:cNvPr id="8" name="图片 7"/>
          <p:cNvPicPr>
            <a:picLocks noChangeAspect="1"/>
          </p:cNvPicPr>
          <p:nvPr/>
        </p:nvPicPr>
        <p:blipFill>
          <a:blip r:embed="rId1"/>
          <a:stretch>
            <a:fillRect/>
          </a:stretch>
        </p:blipFill>
        <p:spPr>
          <a:xfrm>
            <a:off x="1016000" y="1006475"/>
            <a:ext cx="10601325" cy="5730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AutoShape 4"/>
          <p:cNvSpPr/>
          <p:nvPr/>
        </p:nvSpPr>
        <p:spPr>
          <a:xfrm>
            <a:off x="2682998" y="373419"/>
            <a:ext cx="2815097" cy="519977"/>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100000"/>
              </a:lnSpc>
              <a:defRPr/>
            </a:pPr>
            <a:r>
              <a:rPr lang="en-US" sz="1800" b="0" i="0" u="none" strike="noStrike">
                <a:solidFill>
                  <a:srgbClr val="FFFFFF"/>
                </a:solidFill>
                <a:latin typeface="微软雅黑"/>
                <a:ea typeface="微软雅黑"/>
                <a:cs typeface="微软雅黑"/>
                <a:sym typeface="微软雅黑"/>
              </a:rPr>
              <a:t>4-400智能客服</a:t>
            </a:r>
            <a:endParaRPr lang="en-US" sz="1100"/>
          </a:p>
        </p:txBody>
      </p:sp>
      <p:sp>
        <p:nvSpPr>
          <p:cNvPr id="6" name="AutoShape 5"/>
          <p:cNvSpPr/>
          <p:nvPr/>
        </p:nvSpPr>
        <p:spPr>
          <a:xfrm>
            <a:off x="920750" y="1002030"/>
            <a:ext cx="10584815" cy="5660390"/>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algn="l">
              <a:lnSpc>
                <a:spcPct val="100000"/>
              </a:lnSpc>
              <a:buSzTx/>
              <a:defRPr/>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一、公司投诉风险识别能否在第一阶段实现？</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回复：建议在第二阶段中优先上线；第一阶段功能上线后，可获取投诉案例数据，作为投诉风险智能识别模型的训练数据。</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二、各项目的前台中控能否接入400，包括各项目座机，及需要分析相关费用</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回复：技术上可接入客服平台进行管控（包括智能导航、弹屏客户信息、录音质检等）；当前调研数量为</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88</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台项目座机，需要进一步调研项目电话情况及业务使用方式，再根据需求制定技术方案后评估费用。</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三、与停车项目的联动，例如语音开闸</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回复：智能客服不做集成</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停车系统有内部</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坐席操作能力</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坐席可查看现场视频、修正车牌、下发二维码、协助缴费</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开闸，具备完整闭环操作能力。</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实时性要求高：车辆滞留</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30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秒易引发投诉，需秒级响应，不适合传统</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400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电话转接流程。</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四、与黄礼萍沟通的结论，相关需求是否均被满足，包括参观OCC情况</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回复：已参观</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OCC</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，已演示智能客服系统，黄礼萍的需求当前能满足。</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五、语音识别准确率</a:t>
            </a: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回复：语音识别准确率能满足合同定义的标准：</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标准普通话识别准确率≥90%，轻微不标准普通话识别准确率≥85%。</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ct val="100000"/>
              </a:lnSpc>
              <a:buSzTx/>
              <a:defRPr/>
            </a:pPr>
            <a:endParaRPr lang="zh-CN" altLang="en-US" sz="1800" b="1" i="0" u="none" strike="noStrike">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6" name="AutoShape 4"/>
          <p:cNvSpPr/>
          <p:nvPr/>
        </p:nvSpPr>
        <p:spPr>
          <a:xfrm>
            <a:off x="2533650" y="373380"/>
            <a:ext cx="3562350" cy="520065"/>
          </a:xfrm>
          <a:prstGeom prst="rect">
            <a:avLst/>
          </a:prstGeom>
          <a:solidFill>
            <a:srgbClr val="00338D">
              <a:alpha val="100000"/>
            </a:srgbClr>
          </a:solidFill>
          <a:ln w="12700" cap="flat" cmpd="sng">
            <a:noFill/>
            <a:prstDash val="solid"/>
            <a:round/>
          </a:ln>
        </p:spPr>
        <p:txBody>
          <a:bodyPr vert="horz" wrap="square" lIns="91440" tIns="45720" rIns="91440" bIns="45720" rtlCol="0" anchor="ctr" anchorCtr="0">
            <a:noAutofit/>
          </a:bodyPr>
          <a:lstStyle/>
          <a:p>
            <a:pPr indent="0" algn="l">
              <a:lnSpc>
                <a:spcPct val="100000"/>
              </a:lnSpc>
              <a:defRPr/>
            </a:pPr>
            <a:r>
              <a:rPr lang="en-US" sz="1800" b="0" i="0" u="none" strike="noStrike">
                <a:solidFill>
                  <a:srgbClr val="FFFFFF"/>
                </a:solidFill>
                <a:latin typeface="微软雅黑"/>
                <a:ea typeface="微软雅黑"/>
                <a:cs typeface="微软雅黑"/>
                <a:sym typeface="微软雅黑"/>
              </a:rPr>
              <a:t>5-</a:t>
            </a:r>
            <a:r>
              <a:rPr lang="zh-CN" altLang="en-US" sz="1800" b="0" i="0" u="none" strike="noStrike">
                <a:solidFill>
                  <a:srgbClr val="FFFFFF"/>
                </a:solidFill>
                <a:latin typeface="微软雅黑"/>
                <a:ea typeface="微软雅黑"/>
                <a:cs typeface="微软雅黑"/>
                <a:sym typeface="微软雅黑"/>
              </a:rPr>
              <a:t>需求梳理</a:t>
            </a:r>
            <a:r>
              <a:rPr lang="en-US" altLang="zh-CN" sz="1800" b="0" i="0" u="none" strike="noStrike">
                <a:solidFill>
                  <a:srgbClr val="FFFFFF"/>
                </a:solidFill>
                <a:latin typeface="微软雅黑"/>
                <a:ea typeface="微软雅黑"/>
                <a:cs typeface="微软雅黑"/>
                <a:sym typeface="微软雅黑"/>
              </a:rPr>
              <a:t>，</a:t>
            </a:r>
            <a:r>
              <a:rPr lang="en-US" sz="1800" b="0" i="0" u="none" strike="noStrike">
                <a:solidFill>
                  <a:srgbClr val="FFFFFF"/>
                </a:solidFill>
                <a:latin typeface="微软雅黑"/>
                <a:ea typeface="微软雅黑"/>
                <a:cs typeface="微软雅黑"/>
                <a:sym typeface="微软雅黑"/>
              </a:rPr>
              <a:t>明确所有干系人</a:t>
            </a:r>
            <a:endParaRPr lang="en-US" sz="1100"/>
          </a:p>
        </p:txBody>
      </p:sp>
      <p:sp>
        <p:nvSpPr>
          <p:cNvPr id="7" name="AutoShape 5"/>
          <p:cNvSpPr/>
          <p:nvPr/>
        </p:nvSpPr>
        <p:spPr>
          <a:xfrm>
            <a:off x="1016000" y="1168400"/>
            <a:ext cx="9307195" cy="4937125"/>
          </a:xfrm>
          <a:prstGeom prst="rect">
            <a:avLst/>
          </a:prstGeom>
          <a:solidFill>
            <a:srgbClr val="F2F2F2">
              <a:alpha val="100000"/>
            </a:srgbClr>
          </a:solidFill>
          <a:ln w="12700" cap="flat" cmpd="sng">
            <a:noFill/>
            <a:prstDash val="solid"/>
            <a:roun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微软雅黑"/>
                <a:ea typeface="微软雅黑"/>
                <a:cs typeface="微软雅黑"/>
                <a:sym typeface="微软雅黑"/>
              </a:rPr>
              <a:t>1-识别25场调研后，【真需求】、【伪需求】，真需求的干系人是谁、伪需求都有哪些</a:t>
            </a:r>
            <a:endParaRPr 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会员和积分管理</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原</a:t>
            </a:r>
            <a:r>
              <a:rPr lang="en-US" altLang="zh-CN" sz="1800" b="0" i="0" u="none" strike="noStrike">
                <a:solidFill>
                  <a:srgbClr val="000000"/>
                </a:solidFill>
                <a:latin typeface="微软雅黑"/>
                <a:ea typeface="微软雅黑"/>
                <a:cs typeface="微软雅黑"/>
                <a:sym typeface="微软雅黑"/>
              </a:rPr>
              <a:t>：</a:t>
            </a:r>
            <a:r>
              <a:rPr lang="zh-CN" altLang="en-US" sz="1800" b="0" i="0" u="none" strike="noStrike">
                <a:solidFill>
                  <a:srgbClr val="000000"/>
                </a:solidFill>
                <a:latin typeface="微软雅黑"/>
                <a:ea typeface="微软雅黑"/>
                <a:cs typeface="微软雅黑"/>
                <a:sym typeface="微软雅黑"/>
              </a:rPr>
              <a:t>一共</a:t>
            </a:r>
            <a:r>
              <a:rPr lang="en-US" altLang="zh-CN" sz="1800" b="0" i="0" u="none" strike="noStrike">
                <a:solidFill>
                  <a:srgbClr val="000000"/>
                </a:solidFill>
                <a:latin typeface="微软雅黑"/>
                <a:ea typeface="微软雅黑"/>
                <a:cs typeface="微软雅黑"/>
                <a:sym typeface="微软雅黑"/>
              </a:rPr>
              <a:t>9</a:t>
            </a:r>
            <a:r>
              <a:rPr lang="zh-CN" altLang="en-US" sz="1800" b="0" i="0" u="none" strike="noStrike">
                <a:solidFill>
                  <a:srgbClr val="000000"/>
                </a:solidFill>
                <a:latin typeface="微软雅黑"/>
                <a:ea typeface="微软雅黑"/>
                <a:cs typeface="微软雅黑"/>
                <a:sym typeface="微软雅黑"/>
              </a:rPr>
              <a:t>个一级功能</a:t>
            </a:r>
            <a:r>
              <a:rPr lang="en-US" altLang="zh-CN" sz="1800" b="0" i="0" u="none" strike="noStrike">
                <a:solidFill>
                  <a:srgbClr val="000000"/>
                </a:solidFill>
                <a:latin typeface="微软雅黑"/>
                <a:ea typeface="微软雅黑"/>
                <a:cs typeface="微软雅黑"/>
                <a:sym typeface="微软雅黑"/>
              </a:rPr>
              <a:t>，39</a:t>
            </a:r>
            <a:r>
              <a:rPr lang="zh-CN" altLang="en-US" sz="1800" b="0" i="0" u="none" strike="noStrike">
                <a:solidFill>
                  <a:srgbClr val="000000"/>
                </a:solidFill>
                <a:latin typeface="微软雅黑"/>
                <a:ea typeface="微软雅黑"/>
                <a:cs typeface="微软雅黑"/>
                <a:sym typeface="微软雅黑"/>
              </a:rPr>
              <a:t>个二级功能</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1" i="0" u="none" strike="noStrike">
                <a:solidFill>
                  <a:srgbClr val="FF0000"/>
                </a:solidFill>
                <a:latin typeface="微软雅黑"/>
                <a:ea typeface="微软雅黑"/>
                <a:cs typeface="微软雅黑"/>
                <a:sym typeface="微软雅黑"/>
              </a:rPr>
              <a:t>伪需求涉及</a:t>
            </a:r>
            <a:r>
              <a:rPr lang="en-US" altLang="zh-CN" sz="1800" b="1" i="0" u="none" strike="noStrike">
                <a:solidFill>
                  <a:srgbClr val="FF0000"/>
                </a:solidFill>
                <a:latin typeface="微软雅黑"/>
                <a:ea typeface="微软雅黑"/>
                <a:cs typeface="微软雅黑"/>
                <a:sym typeface="微软雅黑"/>
              </a:rPr>
              <a:t>7</a:t>
            </a:r>
            <a:r>
              <a:rPr lang="zh-CN" altLang="en-US" sz="1800" b="1" i="0" u="none" strike="noStrike">
                <a:solidFill>
                  <a:srgbClr val="FF0000"/>
                </a:solidFill>
                <a:latin typeface="微软雅黑"/>
                <a:ea typeface="微软雅黑"/>
                <a:cs typeface="微软雅黑"/>
                <a:sym typeface="微软雅黑"/>
              </a:rPr>
              <a:t>个二级功能</a:t>
            </a:r>
            <a:endParaRPr lang="en-US" altLang="zh-CN" sz="1800" b="1" i="0" u="none" strike="noStrike">
              <a:solidFill>
                <a:srgbClr val="FF0000"/>
              </a:solidFill>
              <a:latin typeface="微软雅黑"/>
              <a:ea typeface="微软雅黑"/>
              <a:cs typeface="微软雅黑"/>
              <a:sym typeface="微软雅黑"/>
            </a:endParaRPr>
          </a:p>
          <a:p>
            <a:pPr indent="0" algn="l">
              <a:lnSpc>
                <a:spcPct val="100000"/>
              </a:lnSpc>
              <a:defRPr/>
            </a:pP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客户数据模块</a:t>
            </a:r>
            <a:r>
              <a:rPr lang="en-US" altLang="zh-CN" sz="1800" b="0" i="0" u="none" strike="noStrike">
                <a:solidFill>
                  <a:srgbClr val="000000"/>
                </a:solidFill>
                <a:latin typeface="微软雅黑"/>
                <a:ea typeface="微软雅黑"/>
                <a:cs typeface="微软雅黑"/>
                <a:sym typeface="微软雅黑"/>
              </a:rPr>
              <a:t>:</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en-US" altLang="zh-CN" sz="1800" b="0" i="0" u="none" strike="noStrike">
                <a:solidFill>
                  <a:srgbClr val="000000"/>
                </a:solidFill>
                <a:latin typeface="微软雅黑"/>
                <a:ea typeface="微软雅黑"/>
                <a:cs typeface="微软雅黑"/>
                <a:sym typeface="微软雅黑"/>
              </a:rPr>
              <a:t>14</a:t>
            </a:r>
            <a:r>
              <a:rPr lang="zh-CN" altLang="en-US" sz="1800" b="0" i="0" u="none" strike="noStrike">
                <a:solidFill>
                  <a:srgbClr val="000000"/>
                </a:solidFill>
                <a:latin typeface="微软雅黑"/>
                <a:ea typeface="微软雅黑"/>
                <a:cs typeface="微软雅黑"/>
                <a:sym typeface="微软雅黑"/>
              </a:rPr>
              <a:t>个一级功能</a:t>
            </a:r>
            <a:r>
              <a:rPr lang="en-US" altLang="zh-CN" sz="1800" b="0" i="0" u="none" strike="noStrike">
                <a:solidFill>
                  <a:srgbClr val="000000"/>
                </a:solidFill>
                <a:latin typeface="微软雅黑"/>
                <a:ea typeface="微软雅黑"/>
                <a:cs typeface="微软雅黑"/>
                <a:sym typeface="微软雅黑"/>
              </a:rPr>
              <a:t>，33</a:t>
            </a:r>
            <a:r>
              <a:rPr lang="zh-CN" altLang="en-US" sz="1800" b="0" i="0" u="none" strike="noStrike">
                <a:solidFill>
                  <a:srgbClr val="000000"/>
                </a:solidFill>
                <a:latin typeface="微软雅黑"/>
                <a:ea typeface="微软雅黑"/>
                <a:cs typeface="微软雅黑"/>
                <a:sym typeface="微软雅黑"/>
              </a:rPr>
              <a:t>个二级功能</a:t>
            </a: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智能客服</a:t>
            </a:r>
            <a:r>
              <a:rPr lang="en-US" altLang="zh-CN" sz="1800" b="0" i="0" u="none" strike="noStrike">
                <a:solidFill>
                  <a:srgbClr val="000000"/>
                </a:solidFill>
                <a:latin typeface="微软雅黑"/>
                <a:ea typeface="微软雅黑"/>
                <a:cs typeface="微软雅黑"/>
                <a:sym typeface="微软雅黑"/>
              </a:rPr>
              <a:t>400：</a:t>
            </a:r>
            <a:endParaRPr lang="en-US" altLang="zh-CN" sz="1800" b="0" i="0" u="none" strike="noStrike">
              <a:solidFill>
                <a:srgbClr val="000000"/>
              </a:solidFill>
              <a:latin typeface="微软雅黑"/>
              <a:ea typeface="微软雅黑"/>
              <a:cs typeface="微软雅黑"/>
              <a:sym typeface="微软雅黑"/>
            </a:endParaRPr>
          </a:p>
          <a:p>
            <a:pPr indent="0" algn="l">
              <a:lnSpc>
                <a:spcPct val="100000"/>
              </a:lnSpc>
              <a:defRPr/>
            </a:pPr>
            <a:r>
              <a:rPr lang="zh-CN" altLang="en-US" sz="1800" b="0" i="0" u="none" strike="noStrike">
                <a:solidFill>
                  <a:srgbClr val="000000"/>
                </a:solidFill>
                <a:latin typeface="微软雅黑"/>
                <a:ea typeface="微软雅黑"/>
                <a:cs typeface="微软雅黑"/>
                <a:sym typeface="微软雅黑"/>
              </a:rPr>
              <a:t>目前</a:t>
            </a:r>
            <a:r>
              <a:rPr lang="zh-CN" altLang="en-US" sz="1800" b="0" i="0" u="none" strike="noStrike">
                <a:solidFill>
                  <a:srgbClr val="000000"/>
                </a:solidFill>
                <a:latin typeface="微软雅黑"/>
                <a:ea typeface="微软雅黑"/>
                <a:cs typeface="微软雅黑"/>
                <a:sym typeface="微软雅黑"/>
              </a:rPr>
              <a:t>梳理中</a:t>
            </a:r>
            <a:endParaRPr lang="zh-CN" altLang="en-US" sz="1800" b="0" i="0" u="none" strike="noStrike">
              <a:solidFill>
                <a:srgbClr val="000000"/>
              </a:solidFill>
              <a:latin typeface="微软雅黑"/>
              <a:ea typeface="微软雅黑"/>
              <a:cs typeface="微软雅黑"/>
              <a:sym typeface="微软雅黑"/>
            </a:endParaRPr>
          </a:p>
          <a:p>
            <a:pPr indent="0" algn="l">
              <a:lnSpc>
                <a:spcPct val="100000"/>
              </a:lnSpc>
              <a:defRPr/>
            </a:pPr>
            <a:endParaRPr lang="en-US" sz="1100"/>
          </a:p>
          <a:p>
            <a:pPr indent="0" algn="l">
              <a:lnSpc>
                <a:spcPct val="100000"/>
              </a:lnSpc>
            </a:pPr>
            <a:endParaRPr lang="en-US" sz="1800" b="0" i="0" u="none" strike="noStrike">
              <a:solidFill>
                <a:srgbClr val="000000"/>
              </a:solidFill>
              <a:latin typeface="微软雅黑"/>
              <a:ea typeface="微软雅黑"/>
              <a:cs typeface="微软雅黑"/>
              <a:sym typeface="微软雅黑"/>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123" y="451575"/>
            <a:ext cx="10159754" cy="519976"/>
          </a:xfrm>
          <a:prstGeom prst="rect">
            <a:avLst/>
          </a:prstGeom>
          <a:noFill/>
          <a:ln w="12700">
            <a:noFill/>
            <a:prstDash val="solid"/>
          </a:ln>
        </p:spPr>
        <p:txBody>
          <a:bodyPr vert="horz" wrap="square" lIns="0" tIns="0" rIns="0" bIns="0" rtlCol="0" anchor="t">
            <a:noAutofit/>
          </a:bodyPr>
          <a:lstStyle/>
          <a:p>
            <a:pPr indent="0" algn="l">
              <a:lnSpc>
                <a:spcPct val="100000"/>
              </a:lnSpc>
              <a:defRPr/>
            </a:pPr>
            <a:r>
              <a:rPr lang="zh-CN" altLang="en-US" sz="2400" b="1" i="0" u="none" strike="noStrike">
                <a:solidFill>
                  <a:srgbClr val="00338D"/>
                </a:solidFill>
                <a:latin typeface="微软雅黑"/>
                <a:ea typeface="微软雅黑"/>
                <a:cs typeface="微软雅黑"/>
                <a:sym typeface="微软雅黑"/>
              </a:rPr>
              <a:t>新增需求分析</a:t>
            </a:r>
            <a:r>
              <a:rPr lang="en-US" sz="2400" b="1" i="0" u="none" strike="noStrike">
                <a:solidFill>
                  <a:srgbClr val="00338D"/>
                </a:solidFill>
                <a:latin typeface="微软雅黑"/>
                <a:ea typeface="微软雅黑"/>
                <a:cs typeface="微软雅黑"/>
                <a:sym typeface="微软雅黑"/>
              </a:rPr>
              <a:t>：</a:t>
            </a:r>
            <a:endParaRPr lang="en-US" sz="1100"/>
          </a:p>
        </p:txBody>
      </p:sp>
      <p:sp>
        <p:nvSpPr>
          <p:cNvPr id="3" name="AutoShape 3"/>
          <p:cNvSpPr/>
          <p:nvPr/>
        </p:nvSpPr>
        <p:spPr>
          <a:xfrm>
            <a:off x="1016123" y="203863"/>
            <a:ext cx="10159754" cy="169200"/>
          </a:xfrm>
          <a:prstGeom prst="rect">
            <a:avLst/>
          </a:prstGeom>
          <a:noFill/>
          <a:ln w="12700">
            <a:noFill/>
            <a:prstDash val="solid"/>
          </a:ln>
        </p:spPr>
        <p:txBody>
          <a:bodyPr vert="horz" wrap="square" lIns="0" tIns="0" rIns="0" bIns="0" rtlCol="0" anchor="b">
            <a:noAutofit/>
          </a:bodyPr>
          <a:lstStyle/>
          <a:p>
            <a:pPr indent="0" algn="l">
              <a:lnSpc>
                <a:spcPct val="100000"/>
              </a:lnSpc>
              <a:defRPr/>
            </a:pPr>
            <a:r>
              <a:rPr lang="en-US" sz="1200" b="1" i="0" u="none" strike="noStrike">
                <a:solidFill>
                  <a:srgbClr val="00338D"/>
                </a:solidFill>
                <a:latin typeface="微软雅黑"/>
                <a:ea typeface="微软雅黑"/>
                <a:cs typeface="微软雅黑"/>
                <a:sym typeface="微软雅黑"/>
              </a:rPr>
              <a:t>01 团队及节点概览</a:t>
            </a:r>
            <a:endParaRPr lang="en-US" sz="1100"/>
          </a:p>
        </p:txBody>
      </p:sp>
      <p:graphicFrame>
        <p:nvGraphicFramePr>
          <p:cNvPr id="6" name="Table 3"/>
          <p:cNvGraphicFramePr>
            <a:graphicFrameLocks noGrp="1"/>
          </p:cNvGraphicFramePr>
          <p:nvPr/>
        </p:nvGraphicFramePr>
        <p:xfrm>
          <a:off x="995680" y="1065530"/>
          <a:ext cx="10204450" cy="5436870"/>
        </p:xfrm>
        <a:graphic>
          <a:graphicData uri="http://schemas.openxmlformats.org/drawingml/2006/table">
            <a:tbl>
              <a:tblPr>
                <a:effectLst/>
              </a:tblPr>
              <a:tblGrid>
                <a:gridCol w="588010"/>
                <a:gridCol w="826135"/>
                <a:gridCol w="6023610"/>
                <a:gridCol w="1356995"/>
                <a:gridCol w="1409700"/>
              </a:tblGrid>
              <a:tr h="309880">
                <a:tc>
                  <a:txBody>
                    <a:bodyPr rtlCol="0"/>
                    <a:lstStyle/>
                    <a:p>
                      <a:pPr indent="0" algn="ctr">
                        <a:lnSpc>
                          <a:spcPct val="100000"/>
                        </a:lnSpc>
                        <a:defRPr/>
                      </a:pPr>
                      <a:r>
                        <a:rPr lang="en-US" sz="1100" b="0" i="0" u="none" strike="noStrike">
                          <a:solidFill>
                            <a:srgbClr val="FFFFFF"/>
                          </a:solidFill>
                          <a:latin typeface="微软雅黑" charset="0"/>
                          <a:ea typeface="微软雅黑" charset="0"/>
                          <a:cs typeface="微软雅黑"/>
                          <a:sym typeface="微软雅黑"/>
                        </a:rPr>
                        <a:t>序号</a:t>
                      </a:r>
                      <a:endParaRPr lang="en-US" sz="1100" b="0" i="0" u="none" strike="noStrike">
                        <a:solidFill>
                          <a:srgbClr val="FFFFFF"/>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rtlCol="0"/>
                    <a:lstStyle/>
                    <a:p>
                      <a:pPr indent="0" algn="ctr">
                        <a:lnSpc>
                          <a:spcPct val="100000"/>
                        </a:lnSpc>
                        <a:defRPr/>
                      </a:pPr>
                      <a:r>
                        <a:rPr lang="en-US" sz="1100" b="0" i="0" u="none" strike="noStrike">
                          <a:solidFill>
                            <a:srgbClr val="FFFFFF"/>
                          </a:solidFill>
                          <a:latin typeface="微软雅黑" charset="0"/>
                          <a:ea typeface="微软雅黑" charset="0"/>
                          <a:cs typeface="微软雅黑"/>
                          <a:sym typeface="微软雅黑"/>
                        </a:rPr>
                        <a:t>事项</a:t>
                      </a:r>
                      <a:endParaRPr lang="en-US" sz="1100" b="0" i="0" u="none" strike="noStrike">
                        <a:solidFill>
                          <a:srgbClr val="FFFFFF"/>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rtlCol="0"/>
                    <a:lstStyle/>
                    <a:p>
                      <a:pPr indent="0" algn="ctr">
                        <a:lnSpc>
                          <a:spcPct val="100000"/>
                        </a:lnSpc>
                        <a:defRPr/>
                      </a:pPr>
                      <a:r>
                        <a:rPr lang="en-US" sz="1100" b="1" i="0" u="none" strike="noStrike">
                          <a:solidFill>
                            <a:srgbClr val="FFFFFF"/>
                          </a:solidFill>
                          <a:latin typeface="微软雅黑" charset="0"/>
                          <a:ea typeface="微软雅黑" charset="0"/>
                          <a:cs typeface="微软雅黑"/>
                          <a:sym typeface="微软雅黑"/>
                        </a:rPr>
                        <a:t>事项描述</a:t>
                      </a:r>
                      <a:endParaRPr lang="en-US" sz="1100" b="1" i="0" u="none" strike="noStrike">
                        <a:solidFill>
                          <a:srgbClr val="FFFFFF"/>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a:p>
                      <a:pPr indent="0" algn="ctr">
                        <a:lnSpc>
                          <a:spcPct val="100000"/>
                        </a:lnSpc>
                        <a:buNone/>
                        <a:defRPr/>
                      </a:pPr>
                      <a:r>
                        <a:rPr lang="zh-CN" altLang="en-US" sz="1100" b="1" i="0" u="none" strike="noStrike">
                          <a:solidFill>
                            <a:srgbClr val="FFFFFF"/>
                          </a:solidFill>
                          <a:latin typeface="微软雅黑" charset="0"/>
                          <a:ea typeface="微软雅黑" charset="0"/>
                          <a:cs typeface="微软雅黑"/>
                          <a:sym typeface="微软雅黑"/>
                        </a:rPr>
                        <a:t>提出人</a:t>
                      </a:r>
                      <a:endParaRPr lang="zh-CN" altLang="en-US" sz="1100" b="1" i="0" u="none" strike="noStrike">
                        <a:solidFill>
                          <a:srgbClr val="FFFFFF"/>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5EB8">
                        <a:alpha val="100000"/>
                      </a:srgbClr>
                    </a:solidFill>
                  </a:tcPr>
                </a:tc>
                <a:tc>
                  <a:txBody>
                    <a:bodyPr rtlCol="0"/>
                    <a:lstStyle/>
                    <a:p>
                      <a:pPr indent="0" algn="ctr">
                        <a:lnSpc>
                          <a:spcPct val="100000"/>
                        </a:lnSpc>
                        <a:defRPr/>
                      </a:pPr>
                      <a:r>
                        <a:rPr lang="zh-CN" altLang="en-US" sz="1100" b="0" i="0" u="none" strike="noStrike">
                          <a:solidFill>
                            <a:srgbClr val="FFFFFF"/>
                          </a:solidFill>
                          <a:latin typeface="微软雅黑" charset="0"/>
                          <a:ea typeface="微软雅黑" charset="0"/>
                          <a:cs typeface="微软雅黑"/>
                          <a:sym typeface="微软雅黑"/>
                        </a:rPr>
                        <a:t>备注</a:t>
                      </a:r>
                      <a:endParaRPr lang="zh-CN" altLang="en-US" sz="1100" b="0" i="0" u="none" strike="noStrike">
                        <a:solidFill>
                          <a:srgbClr val="FFFFFF"/>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solidFill>
                        <a:srgbClr val="00338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9A44">
                        <a:alpha val="100000"/>
                      </a:srgbClr>
                    </a:solidFill>
                  </a:tcPr>
                </a:tc>
              </a:tr>
              <a:tr h="379730">
                <a:tc>
                  <a:txBody>
                    <a:bodyPr rtlCol="0"/>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1</a:t>
                      </a:r>
                      <a:endParaRPr 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rtlCol="0"/>
                    <a:lstStyle/>
                    <a:p>
                      <a:pPr indent="0" algn="ctr">
                        <a:lnSpc>
                          <a:spcPct val="100000"/>
                        </a:lnSpc>
                        <a:defRPr/>
                      </a:pPr>
                      <a:r>
                        <a:rPr lang="en-US" sz="1100" b="0" i="0" u="none" strike="noStrike">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indent="0" algn="l">
                        <a:lnSpc>
                          <a:spcPct val="100000"/>
                        </a:lnSpc>
                        <a:defRPr/>
                      </a:pPr>
                      <a:r>
                        <a:rPr lang="en-US" sz="1100" b="0" i="0" u="none" strike="noStrike">
                          <a:solidFill>
                            <a:srgbClr val="000000"/>
                          </a:solidFill>
                          <a:latin typeface="微软雅黑" charset="0"/>
                          <a:ea typeface="微软雅黑" charset="0"/>
                          <a:cs typeface="微软雅黑"/>
                          <a:sym typeface="微软雅黑"/>
                        </a:rPr>
                        <a:t>目前市场租赁、公共住房、城服，业务部门没有积分会员系统，对于会员积分无承接和落地能力</a:t>
                      </a:r>
                      <a:endParaRPr 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智能客服</a:t>
                      </a:r>
                      <a:r>
                        <a:rPr lang="zh-CN" altLang="en-US" sz="1100" b="0" i="0" u="none" strike="noStrike">
                          <a:solidFill>
                            <a:srgbClr val="000000"/>
                          </a:solidFill>
                          <a:latin typeface="微软雅黑" charset="0"/>
                          <a:ea typeface="微软雅黑" charset="0"/>
                          <a:cs typeface="微软雅黑"/>
                          <a:sym typeface="微软雅黑"/>
                        </a:rPr>
                        <a:t>项目组</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待</a:t>
                      </a:r>
                      <a:r>
                        <a:rPr lang="zh-CN" altLang="en-US" sz="1100" b="0" i="0" u="none" strike="noStrike">
                          <a:solidFill>
                            <a:srgbClr val="000000"/>
                          </a:solidFill>
                          <a:latin typeface="微软雅黑" charset="0"/>
                          <a:ea typeface="微软雅黑" charset="0"/>
                          <a:cs typeface="微软雅黑"/>
                          <a:sym typeface="微软雅黑"/>
                        </a:rPr>
                        <a:t>回复</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46405">
                <a:tc>
                  <a:txBody>
                    <a:bodyPr rtlCol="0"/>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2</a:t>
                      </a:r>
                      <a:endParaRPr 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rtlCol="0"/>
                    <a:lstStyle/>
                    <a:p>
                      <a:pPr indent="0" algn="ctr">
                        <a:lnSpc>
                          <a:spcPct val="100000"/>
                        </a:lnSpc>
                        <a:defRPr/>
                      </a:pPr>
                      <a:r>
                        <a:rPr lang="en-US" sz="1100">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indent="0" algn="l">
                        <a:lnSpc>
                          <a:spcPct val="100000"/>
                        </a:lnSpc>
                        <a:defRPr/>
                      </a:pPr>
                      <a:r>
                        <a:rPr lang="zh-CN" altLang="en-US" sz="1100" b="0" i="0" u="none" strike="noStrike">
                          <a:solidFill>
                            <a:srgbClr val="000000"/>
                          </a:solidFill>
                          <a:latin typeface="微软雅黑" charset="0"/>
                          <a:ea typeface="微软雅黑" charset="0"/>
                          <a:cs typeface="微软雅黑" charset="0"/>
                          <a:sym typeface="微软雅黑"/>
                        </a:rPr>
                        <a:t>【邻里互助业务】：租户可以在</a:t>
                      </a:r>
                      <a:r>
                        <a:rPr lang="en-US" altLang="zh-CN" sz="1100" b="0" i="0" u="none" strike="noStrike">
                          <a:solidFill>
                            <a:srgbClr val="000000"/>
                          </a:solidFill>
                          <a:latin typeface="微软雅黑" charset="0"/>
                          <a:ea typeface="微软雅黑" charset="0"/>
                          <a:cs typeface="微软雅黑" charset="0"/>
                          <a:sym typeface="微软雅黑"/>
                        </a:rPr>
                        <a:t>C</a:t>
                      </a:r>
                      <a:r>
                        <a:rPr lang="zh-CN" altLang="en-US" sz="1100" b="0" i="0" u="none" strike="noStrike">
                          <a:solidFill>
                            <a:srgbClr val="000000"/>
                          </a:solidFill>
                          <a:latin typeface="微软雅黑" charset="0"/>
                          <a:ea typeface="微软雅黑" charset="0"/>
                          <a:cs typeface="微软雅黑" charset="0"/>
                          <a:sym typeface="微软雅黑"/>
                        </a:rPr>
                        <a:t>端发布</a:t>
                      </a:r>
                      <a:r>
                        <a:rPr lang="en-US" altLang="zh-CN" sz="1100" b="0" i="0" u="none" strike="noStrike">
                          <a:solidFill>
                            <a:srgbClr val="000000"/>
                          </a:solidFill>
                          <a:latin typeface="微软雅黑" charset="0"/>
                          <a:ea typeface="微软雅黑" charset="0"/>
                          <a:cs typeface="微软雅黑" charset="0"/>
                          <a:sym typeface="微软雅黑"/>
                        </a:rPr>
                        <a:t>“</a:t>
                      </a:r>
                      <a:r>
                        <a:rPr lang="zh-CN" altLang="en-US" sz="1100" b="0" i="0" u="none" strike="noStrike">
                          <a:solidFill>
                            <a:srgbClr val="000000"/>
                          </a:solidFill>
                          <a:latin typeface="微软雅黑" charset="0"/>
                          <a:ea typeface="微软雅黑" charset="0"/>
                          <a:cs typeface="微软雅黑" charset="0"/>
                          <a:sym typeface="微软雅黑"/>
                        </a:rPr>
                        <a:t>互助任务</a:t>
                      </a:r>
                      <a:r>
                        <a:rPr lang="en-US" altLang="zh-CN" sz="1100" b="0" i="0" u="none" strike="noStrike">
                          <a:solidFill>
                            <a:srgbClr val="000000"/>
                          </a:solidFill>
                          <a:latin typeface="微软雅黑" charset="0"/>
                          <a:ea typeface="微软雅黑" charset="0"/>
                          <a:cs typeface="微软雅黑" charset="0"/>
                          <a:sym typeface="微软雅黑"/>
                        </a:rPr>
                        <a:t>”</a:t>
                      </a:r>
                      <a:r>
                        <a:rPr lang="zh-CN" altLang="en-US" sz="1100" b="0" i="0" u="none" strike="noStrike">
                          <a:solidFill>
                            <a:srgbClr val="000000"/>
                          </a:solidFill>
                          <a:latin typeface="微软雅黑" charset="0"/>
                          <a:ea typeface="微软雅黑" charset="0"/>
                          <a:cs typeface="微软雅黑" charset="0"/>
                          <a:sym typeface="微软雅黑"/>
                        </a:rPr>
                        <a:t>，其他租户</a:t>
                      </a:r>
                      <a:r>
                        <a:rPr lang="en-US" altLang="zh-CN" sz="1100" b="0" i="0" u="none" strike="noStrike">
                          <a:solidFill>
                            <a:srgbClr val="000000"/>
                          </a:solidFill>
                          <a:latin typeface="微软雅黑" charset="0"/>
                          <a:ea typeface="微软雅黑" charset="0"/>
                          <a:cs typeface="微软雅黑" charset="0"/>
                          <a:sym typeface="微软雅黑"/>
                        </a:rPr>
                        <a:t>B</a:t>
                      </a:r>
                      <a:r>
                        <a:rPr lang="zh-CN" altLang="en-US" sz="1100" b="0" i="0" u="none" strike="noStrike">
                          <a:solidFill>
                            <a:srgbClr val="000000"/>
                          </a:solidFill>
                          <a:latin typeface="微软雅黑" charset="0"/>
                          <a:ea typeface="微软雅黑" charset="0"/>
                          <a:cs typeface="微软雅黑" charset="0"/>
                          <a:sym typeface="微软雅黑"/>
                        </a:rPr>
                        <a:t>可以承接任务，然后可以给</a:t>
                      </a:r>
                      <a:r>
                        <a:rPr lang="en-US" altLang="zh-CN" sz="1100" b="0" i="0" u="none" strike="noStrike">
                          <a:solidFill>
                            <a:srgbClr val="000000"/>
                          </a:solidFill>
                          <a:latin typeface="微软雅黑" charset="0"/>
                          <a:ea typeface="微软雅黑" charset="0"/>
                          <a:cs typeface="微软雅黑" charset="0"/>
                          <a:sym typeface="微软雅黑"/>
                        </a:rPr>
                        <a:t>B</a:t>
                      </a:r>
                      <a:r>
                        <a:rPr lang="zh-CN" altLang="en-US" sz="1100" b="0" i="0" u="none" strike="noStrike">
                          <a:solidFill>
                            <a:srgbClr val="000000"/>
                          </a:solidFill>
                          <a:latin typeface="微软雅黑" charset="0"/>
                          <a:ea typeface="微软雅黑" charset="0"/>
                          <a:cs typeface="微软雅黑" charset="0"/>
                          <a:sym typeface="微软雅黑"/>
                        </a:rPr>
                        <a:t>发放积分等奖励</a:t>
                      </a:r>
                      <a:endParaRPr lang="zh-CN" altLang="en-US" sz="1100" b="0" i="0" u="none" strike="noStrike">
                        <a:solidFill>
                          <a:srgbClr val="000000"/>
                        </a:solidFill>
                        <a:latin typeface="微软雅黑" charset="0"/>
                        <a:ea typeface="微软雅黑" charset="0"/>
                        <a:cs typeface="微软雅黑" charset="0"/>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charset="0"/>
                          <a:sym typeface="微软雅黑"/>
                        </a:rPr>
                        <a:t>城服</a:t>
                      </a:r>
                      <a:endParaRPr lang="zh-CN" altLang="en-US" sz="1100" b="0" i="0" u="none" strike="noStrike">
                        <a:solidFill>
                          <a:srgbClr val="000000"/>
                        </a:solidFill>
                        <a:latin typeface="微软雅黑" charset="0"/>
                        <a:ea typeface="微软雅黑" charset="0"/>
                        <a:cs typeface="微软雅黑" charset="0"/>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a:sym typeface="微软雅黑"/>
                        </a:rPr>
                        <a:t>新需求点</a:t>
                      </a:r>
                      <a:r>
                        <a:rPr lang="en-US" altLang="zh-CN" sz="1100">
                          <a:solidFill>
                            <a:srgbClr val="000000"/>
                          </a:solidFill>
                          <a:latin typeface="微软雅黑" charset="0"/>
                          <a:ea typeface="微软雅黑" charset="0"/>
                          <a:cs typeface="微软雅黑"/>
                          <a:sym typeface="微软雅黑"/>
                        </a:rPr>
                        <a:t>，</a:t>
                      </a:r>
                      <a:r>
                        <a:rPr lang="zh-CN" altLang="en-US" sz="1100">
                          <a:solidFill>
                            <a:srgbClr val="000000"/>
                          </a:solidFill>
                          <a:latin typeface="微软雅黑" charset="0"/>
                          <a:ea typeface="微软雅黑" charset="0"/>
                          <a:cs typeface="微软雅黑"/>
                          <a:sym typeface="微软雅黑"/>
                        </a:rPr>
                        <a:t>是否</a:t>
                      </a:r>
                      <a:r>
                        <a:rPr lang="zh-CN" altLang="en-US" sz="1100" b="0" i="0" u="none" strike="noStrike">
                          <a:solidFill>
                            <a:srgbClr val="000000"/>
                          </a:solidFill>
                          <a:latin typeface="微软雅黑" charset="0"/>
                          <a:ea typeface="微软雅黑" charset="0"/>
                          <a:cs typeface="微软雅黑"/>
                          <a:sym typeface="微软雅黑"/>
                        </a:rPr>
                        <a:t>友邻社区</a:t>
                      </a:r>
                      <a:r>
                        <a:rPr lang="zh-CN" altLang="en-US" sz="1100" b="0" i="0" u="none" strike="noStrike">
                          <a:solidFill>
                            <a:srgbClr val="000000"/>
                          </a:solidFill>
                          <a:latin typeface="微软雅黑" charset="0"/>
                          <a:ea typeface="微软雅黑" charset="0"/>
                          <a:cs typeface="微软雅黑"/>
                          <a:sym typeface="微软雅黑"/>
                        </a:rPr>
                        <a:t>规划</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64185">
                <a:tc>
                  <a:txBody>
                    <a:bodyPr rtlCol="0"/>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3</a:t>
                      </a:r>
                      <a:endParaRPr 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rtlCol="0"/>
                    <a:lstStyle/>
                    <a:p>
                      <a:pPr indent="0" algn="ctr">
                        <a:lnSpc>
                          <a:spcPct val="100000"/>
                        </a:lnSpc>
                        <a:defRPr/>
                      </a:pPr>
                      <a:r>
                        <a:rPr lang="en-US" sz="1100">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algn="l" latinLnBrk="0">
                        <a:buClrTx/>
                        <a:buSzTx/>
                        <a:buFontTx/>
                        <a:defRPr/>
                      </a:pPr>
                      <a:r>
                        <a:rPr lang="zh-CN" altLang="en-US" sz="1100" b="0" i="0">
                          <a:solidFill>
                            <a:srgbClr val="000000"/>
                          </a:solidFill>
                          <a:latin typeface="微软雅黑" charset="0"/>
                          <a:ea typeface="微软雅黑" charset="0"/>
                          <a:cs typeface="微软雅黑" charset="0"/>
                        </a:rPr>
                        <a:t>客户咨询，400客服弹屏的，显示客户画像标签，并支持智能识别打标签</a:t>
                      </a:r>
                      <a:r>
                        <a:rPr lang="en-US" altLang="zh-CN" sz="1100" b="0" i="0">
                          <a:solidFill>
                            <a:srgbClr val="000000"/>
                          </a:solidFill>
                          <a:latin typeface="微软雅黑" charset="0"/>
                          <a:ea typeface="微软雅黑" charset="0"/>
                          <a:cs typeface="微软雅黑" charset="0"/>
                        </a:rPr>
                        <a:t>、</a:t>
                      </a:r>
                      <a:r>
                        <a:rPr lang="zh-CN" altLang="en-US" sz="1100" b="0" i="0">
                          <a:solidFill>
                            <a:srgbClr val="000000"/>
                          </a:solidFill>
                          <a:latin typeface="微软雅黑" charset="0"/>
                          <a:ea typeface="微软雅黑" charset="0"/>
                          <a:cs typeface="微软雅黑" charset="0"/>
                        </a:rPr>
                        <a:t>手动</a:t>
                      </a:r>
                      <a:r>
                        <a:rPr lang="zh-CN" altLang="en-US" sz="1100" b="0" i="0">
                          <a:solidFill>
                            <a:srgbClr val="000000"/>
                          </a:solidFill>
                          <a:latin typeface="微软雅黑" charset="0"/>
                          <a:ea typeface="微软雅黑" charset="0"/>
                          <a:cs typeface="微软雅黑" charset="0"/>
                        </a:rPr>
                        <a:t>打标签</a:t>
                      </a:r>
                      <a:endParaRPr lang="zh-CN" altLang="en-US" sz="1100" b="0" i="0">
                        <a:solidFill>
                          <a:srgbClr val="000000"/>
                        </a:solidFill>
                        <a:latin typeface="微软雅黑" charset="0"/>
                        <a:ea typeface="微软雅黑" charset="0"/>
                        <a:cs typeface="微软雅黑" charset="0"/>
                      </a:endParaRPr>
                    </a:p>
                  </a:txBody>
                  <a:tcPr marL="0" marR="0" marT="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a:solidFill>
                            <a:srgbClr val="000000"/>
                          </a:solidFill>
                          <a:latin typeface="微软雅黑" charset="0"/>
                          <a:ea typeface="微软雅黑" charset="0"/>
                          <a:cs typeface="微软雅黑" charset="0"/>
                          <a:sym typeface="微软雅黑"/>
                        </a:rPr>
                        <a:t>城服</a:t>
                      </a:r>
                      <a:r>
                        <a:rPr lang="en-US" altLang="zh-CN" sz="1100">
                          <a:solidFill>
                            <a:srgbClr val="000000"/>
                          </a:solidFill>
                          <a:latin typeface="微软雅黑" charset="0"/>
                          <a:ea typeface="微软雅黑" charset="0"/>
                          <a:cs typeface="微软雅黑" charset="0"/>
                          <a:sym typeface="微软雅黑"/>
                        </a:rPr>
                        <a:t>-400</a:t>
                      </a:r>
                      <a:endParaRPr lang="en-US" altLang="zh-CN" sz="1100" b="0" i="0" u="none" strike="noStrike">
                        <a:solidFill>
                          <a:srgbClr val="000000"/>
                        </a:solidFill>
                        <a:latin typeface="微软雅黑" charset="0"/>
                        <a:ea typeface="微软雅黑" charset="0"/>
                        <a:cs typeface="微软雅黑" charset="0"/>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marL="139700" indent="-139700" algn="l">
                        <a:lnSpc>
                          <a:spcPct val="100000"/>
                        </a:lnSpc>
                        <a:spcAft>
                          <a:spcPts val="600"/>
                        </a:spcAft>
                        <a:buClr>
                          <a:srgbClr val="000000"/>
                        </a:buClr>
                        <a:buChar char="•"/>
                        <a:defRPr/>
                      </a:pP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99110">
                <a:tc>
                  <a:txBody>
                    <a:bodyPr rtlCol="0"/>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4</a:t>
                      </a:r>
                      <a:endParaRPr 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rtlCol="0"/>
                    <a:lstStyle/>
                    <a:p>
                      <a:pPr indent="0" algn="ctr">
                        <a:lnSpc>
                          <a:spcPct val="100000"/>
                        </a:lnSpc>
                        <a:defRPr/>
                      </a:pPr>
                      <a:r>
                        <a:rPr lang="en-US" sz="1100">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indent="0" algn="l">
                        <a:lnSpc>
                          <a:spcPct val="100000"/>
                        </a:lnSpc>
                        <a:defRPr/>
                      </a:pPr>
                      <a:r>
                        <a:rPr lang="zh-CN" altLang="en-US" sz="1100" b="0" i="0" u="none" strike="noStrike">
                          <a:solidFill>
                            <a:srgbClr val="000000"/>
                          </a:solidFill>
                          <a:latin typeface="微软雅黑" charset="0"/>
                          <a:ea typeface="微软雅黑" charset="0"/>
                          <a:cs typeface="微软雅黑"/>
                          <a:sym typeface="微软雅黑"/>
                        </a:rPr>
                        <a:t>工单进度提醒：客户</a:t>
                      </a:r>
                      <a:r>
                        <a:rPr lang="zh-CN" altLang="en-US" sz="1100" b="0" i="0" u="none" strike="noStrike">
                          <a:solidFill>
                            <a:srgbClr val="000000"/>
                          </a:solidFill>
                          <a:latin typeface="微软雅黑" charset="0"/>
                          <a:ea typeface="微软雅黑" charset="0"/>
                          <a:cs typeface="微软雅黑"/>
                          <a:sym typeface="微软雅黑"/>
                        </a:rPr>
                        <a:t>工单，考虑通过短信或微信小程序推送工单受理、进度和办结信息，让客户及时了解处理情况。</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集团住房中心</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城服</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charset="0"/>
                          <a:sym typeface="微软雅黑"/>
                        </a:rPr>
                        <a:t>是否在运营一体化</a:t>
                      </a:r>
                      <a:r>
                        <a:rPr lang="zh-CN" altLang="en-US" sz="1100" b="0" i="0" u="none" strike="noStrike">
                          <a:solidFill>
                            <a:srgbClr val="000000"/>
                          </a:solidFill>
                          <a:latin typeface="微软雅黑" charset="0"/>
                          <a:ea typeface="微软雅黑" charset="0"/>
                          <a:cs typeface="微软雅黑" charset="0"/>
                          <a:sym typeface="微软雅黑"/>
                        </a:rPr>
                        <a:t>规划</a:t>
                      </a:r>
                      <a:endParaRPr lang="zh-CN" altLang="en-US" sz="1100" b="0" i="0" u="none" strike="noStrike">
                        <a:solidFill>
                          <a:srgbClr val="000000"/>
                        </a:solidFill>
                        <a:latin typeface="微软雅黑" charset="0"/>
                        <a:ea typeface="微软雅黑" charset="0"/>
                        <a:cs typeface="微软雅黑" charset="0"/>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66725">
                <a:tc>
                  <a:txBody>
                    <a:bodyPr rtlCol="0"/>
                    <a:lstStyle/>
                    <a:p>
                      <a:pPr indent="0" algn="ctr">
                        <a:lnSpc>
                          <a:spcPct val="100000"/>
                        </a:lnSpc>
                        <a:defRPr/>
                      </a:pPr>
                      <a:r>
                        <a:rPr lang="en-US" sz="1100" b="1" i="0" u="none" strike="noStrike">
                          <a:solidFill>
                            <a:srgbClr val="000000"/>
                          </a:solidFill>
                          <a:latin typeface="微软雅黑" charset="0"/>
                          <a:ea typeface="微软雅黑" charset="0"/>
                          <a:cs typeface="微软雅黑"/>
                          <a:sym typeface="微软雅黑"/>
                        </a:rPr>
                        <a:t>5</a:t>
                      </a:r>
                      <a:endParaRPr 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rtlCol="0"/>
                    <a:lstStyle/>
                    <a:p>
                      <a:pPr indent="0" algn="ctr">
                        <a:lnSpc>
                          <a:spcPct val="100000"/>
                        </a:lnSpc>
                        <a:defRPr/>
                      </a:pPr>
                      <a:r>
                        <a:rPr lang="en-US" sz="1100">
                          <a:solidFill>
                            <a:srgbClr val="000000"/>
                          </a:solidFill>
                          <a:latin typeface="微软雅黑" charset="0"/>
                          <a:ea typeface="微软雅黑" charset="0"/>
                          <a:cs typeface="微软雅黑"/>
                          <a:sym typeface="微软雅黑"/>
                        </a:rPr>
                        <a:t>需求边界</a:t>
                      </a:r>
                      <a:endParaRPr 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indent="0" algn="l">
                        <a:lnSpc>
                          <a:spcPct val="100000"/>
                        </a:lnSpc>
                        <a:defRPr/>
                      </a:pPr>
                      <a:r>
                        <a:rPr lang="zh-CN" altLang="en-US" sz="1100" b="0" i="0" u="none" strike="noStrike">
                          <a:solidFill>
                            <a:srgbClr val="000000"/>
                          </a:solidFill>
                          <a:latin typeface="微软雅黑" charset="0"/>
                          <a:ea typeface="微软雅黑" charset="0"/>
                          <a:cs typeface="微软雅黑"/>
                          <a:sym typeface="微软雅黑"/>
                        </a:rPr>
                        <a:t>客户「调查问卷</a:t>
                      </a:r>
                      <a:r>
                        <a:rPr lang="zh-CN" altLang="en-US" sz="1100">
                          <a:solidFill>
                            <a:srgbClr val="000000"/>
                          </a:solidFill>
                          <a:latin typeface="微软雅黑" charset="0"/>
                          <a:ea typeface="微软雅黑" charset="0"/>
                          <a:cs typeface="微软雅黑"/>
                          <a:sym typeface="微软雅黑"/>
                        </a:rPr>
                        <a:t>功能</a:t>
                      </a:r>
                      <a:r>
                        <a:rPr lang="zh-CN" altLang="en-US" sz="1100" b="0" i="0" u="none" strike="noStrike">
                          <a:solidFill>
                            <a:srgbClr val="000000"/>
                          </a:solidFill>
                          <a:latin typeface="微软雅黑" charset="0"/>
                          <a:ea typeface="微软雅黑" charset="0"/>
                          <a:cs typeface="微软雅黑"/>
                          <a:sym typeface="微软雅黑"/>
                        </a:rPr>
                        <a:t>」：系统具备问卷调查功能，可通过短信、</a:t>
                      </a:r>
                      <a:r>
                        <a:rPr lang="en-US" altLang="zh-CN" sz="1100" b="0" i="0" u="none" strike="noStrike">
                          <a:solidFill>
                            <a:srgbClr val="000000"/>
                          </a:solidFill>
                          <a:latin typeface="微软雅黑" charset="0"/>
                          <a:ea typeface="微软雅黑" charset="0"/>
                          <a:cs typeface="微软雅黑"/>
                          <a:sym typeface="微软雅黑"/>
                        </a:rPr>
                        <a:t>APP </a:t>
                      </a:r>
                      <a:r>
                        <a:rPr lang="zh-CN" altLang="en-US" sz="1100" b="0" i="0" u="none" strike="noStrike">
                          <a:solidFill>
                            <a:srgbClr val="000000"/>
                          </a:solidFill>
                          <a:latin typeface="微软雅黑" charset="0"/>
                          <a:ea typeface="微软雅黑" charset="0"/>
                          <a:cs typeface="微软雅黑"/>
                          <a:sym typeface="微软雅黑"/>
                        </a:rPr>
                        <a:t>等方式发送问卷，定制常规问题，了解客户需求和画像。</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rtlCol="0"/>
                    <a:lstStyle/>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各个业务线承接</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中台做数据</a:t>
                      </a:r>
                      <a:r>
                        <a:rPr lang="zh-CN" altLang="en-US" sz="1100" b="0" i="0" u="none" strike="noStrike">
                          <a:solidFill>
                            <a:srgbClr val="000000"/>
                          </a:solidFill>
                          <a:latin typeface="微软雅黑" charset="0"/>
                          <a:ea typeface="微软雅黑" charset="0"/>
                          <a:cs typeface="微软雅黑"/>
                          <a:sym typeface="微软雅黑"/>
                        </a:rPr>
                        <a:t>汇集</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434340">
                <a:tc>
                  <a:txBody>
                    <a:bodyPr/>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6</a:t>
                      </a:r>
                      <a:endParaRPr lang="en-US" alt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p>
                      <a:pPr indent="0" algn="ctr">
                        <a:lnSpc>
                          <a:spcPct val="100000"/>
                        </a:lnSpc>
                        <a:buNone/>
                        <a:defRPr/>
                      </a:pPr>
                      <a:r>
                        <a:rPr lang="en-US" sz="1100">
                          <a:solidFill>
                            <a:srgbClr val="000000"/>
                          </a:solidFill>
                          <a:latin typeface="微软雅黑" charset="0"/>
                          <a:ea typeface="微软雅黑" charset="0"/>
                          <a:cs typeface="微软雅黑"/>
                          <a:sym typeface="微软雅黑"/>
                        </a:rPr>
                        <a:t>需求边界</a:t>
                      </a:r>
                      <a:endParaRPr lang="en-US"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12345</a:t>
                      </a:r>
                      <a:r>
                        <a:rPr lang="zh-CN" altLang="en-US" sz="1100" b="0" i="0" u="none" strike="noStrike">
                          <a:solidFill>
                            <a:srgbClr val="000000"/>
                          </a:solidFill>
                          <a:latin typeface="微软雅黑" charset="0"/>
                          <a:ea typeface="微软雅黑" charset="0"/>
                          <a:cs typeface="微软雅黑"/>
                          <a:sym typeface="微软雅黑"/>
                        </a:rPr>
                        <a:t>政府工单</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政务内网工单需支持</a:t>
                      </a:r>
                      <a:r>
                        <a:rPr lang="en-US" altLang="zh-CN" sz="1100" b="0" i="0" u="none" strike="noStrike">
                          <a:solidFill>
                            <a:srgbClr val="000000"/>
                          </a:solidFill>
                          <a:latin typeface="微软雅黑" charset="0"/>
                          <a:ea typeface="微软雅黑" charset="0"/>
                          <a:cs typeface="微软雅黑"/>
                          <a:sym typeface="微软雅黑"/>
                        </a:rPr>
                        <a:t> Word </a:t>
                      </a:r>
                      <a:r>
                        <a:rPr lang="zh-CN" altLang="en-US" sz="1100" b="0" i="0" u="none" strike="noStrike">
                          <a:solidFill>
                            <a:srgbClr val="000000"/>
                          </a:solidFill>
                          <a:latin typeface="微软雅黑" charset="0"/>
                          <a:ea typeface="微软雅黑" charset="0"/>
                          <a:cs typeface="微软雅黑"/>
                          <a:sym typeface="微软雅黑"/>
                        </a:rPr>
                        <a:t>自动导入，并自动识别创建工单</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charset="0"/>
                          <a:sym typeface="微软雅黑"/>
                        </a:rPr>
                        <a:t>是否在运营一体化规划</a:t>
                      </a:r>
                      <a:endParaRPr lang="en-US"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385445">
                <a:tc>
                  <a:txBody>
                    <a:bodyPr/>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7</a:t>
                      </a:r>
                      <a:endParaRPr lang="en-US" alt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p>
                      <a:pPr indent="0" algn="ctr">
                        <a:lnSpc>
                          <a:spcPct val="100000"/>
                        </a:lnSpc>
                        <a:buNone/>
                        <a:defRPr/>
                      </a:pPr>
                      <a:r>
                        <a:rPr lang="en-US" sz="1100">
                          <a:solidFill>
                            <a:srgbClr val="000000"/>
                          </a:solidFill>
                          <a:latin typeface="微软雅黑" charset="0"/>
                          <a:ea typeface="微软雅黑" charset="0"/>
                          <a:cs typeface="微软雅黑"/>
                          <a:sym typeface="微软雅黑"/>
                        </a:rPr>
                        <a:t>需求边界</a:t>
                      </a:r>
                      <a:endParaRPr lang="en-US"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针对智能客服话务数据：做大屏数据承载</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区分客服运营大屏与集团管理大屏</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a:solidFill>
                            <a:srgbClr val="000000"/>
                          </a:solidFill>
                          <a:latin typeface="微软雅黑" charset="0"/>
                          <a:ea typeface="微软雅黑" charset="0"/>
                          <a:cs typeface="微软雅黑"/>
                          <a:sym typeface="微软雅黑"/>
                        </a:rPr>
                        <a:t>集团住房中心</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marL="0" indent="0" algn="l">
                        <a:lnSpc>
                          <a:spcPct val="100000"/>
                        </a:lnSpc>
                        <a:spcAft>
                          <a:spcPts val="600"/>
                        </a:spcAft>
                        <a:buClr>
                          <a:srgbClr val="000000"/>
                        </a:buClr>
                        <a:buNone/>
                        <a:defRPr/>
                      </a:pPr>
                      <a:r>
                        <a:rPr lang="zh-CN" altLang="en-US" sz="1100" b="0" i="0" u="none" strike="noStrike">
                          <a:solidFill>
                            <a:srgbClr val="000000"/>
                          </a:solidFill>
                          <a:latin typeface="微软雅黑" charset="0"/>
                          <a:ea typeface="微软雅黑" charset="0"/>
                          <a:cs typeface="微软雅黑"/>
                          <a:sym typeface="微软雅黑"/>
                        </a:rPr>
                        <a:t>新</a:t>
                      </a:r>
                      <a:r>
                        <a:rPr lang="zh-CN" altLang="en-US" sz="1100" b="0" i="0" u="none" strike="noStrike">
                          <a:solidFill>
                            <a:srgbClr val="000000"/>
                          </a:solidFill>
                          <a:latin typeface="微软雅黑" charset="0"/>
                          <a:ea typeface="微软雅黑" charset="0"/>
                          <a:cs typeface="微软雅黑"/>
                          <a:sym typeface="微软雅黑"/>
                        </a:rPr>
                        <a:t>需求点</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r h="2051050">
                <a:tc>
                  <a:txBody>
                    <a:bodyPr/>
                    <a:p>
                      <a:pPr indent="0" algn="ctr">
                        <a:lnSpc>
                          <a:spcPct val="100000"/>
                        </a:lnSpc>
                        <a:buNone/>
                        <a:defRPr/>
                      </a:pPr>
                      <a:r>
                        <a:rPr lang="en-US" altLang="en-US" sz="1100" b="1" i="0" u="none" strike="noStrike">
                          <a:solidFill>
                            <a:srgbClr val="000000"/>
                          </a:solidFill>
                          <a:latin typeface="微软雅黑" charset="0"/>
                          <a:ea typeface="微软雅黑" charset="0"/>
                          <a:cs typeface="微软雅黑"/>
                          <a:sym typeface="微软雅黑"/>
                        </a:rPr>
                        <a:t>8</a:t>
                      </a:r>
                      <a:endParaRPr lang="en-US" altLang="en-US" sz="1100" b="1"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EEBF7">
                        <a:alpha val="100000"/>
                      </a:srgbClr>
                    </a:solidFill>
                  </a:tcPr>
                </a:tc>
                <a:tc>
                  <a:txBody>
                    <a:bodyPr/>
                    <a:p>
                      <a:pPr indent="0" algn="ctr">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需求</a:t>
                      </a:r>
                      <a:r>
                        <a:rPr lang="zh-CN" altLang="en-US" sz="1100" b="0" i="0" u="none" strike="noStrike">
                          <a:solidFill>
                            <a:srgbClr val="000000"/>
                          </a:solidFill>
                          <a:latin typeface="微软雅黑" charset="0"/>
                          <a:ea typeface="微软雅黑" charset="0"/>
                          <a:cs typeface="微软雅黑"/>
                          <a:sym typeface="微软雅黑"/>
                        </a:rPr>
                        <a:t>边界</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营销</a:t>
                      </a:r>
                      <a:r>
                        <a:rPr lang="en-US" altLang="zh-CN" sz="1100" b="0" i="0" u="none" strike="noStrike">
                          <a:solidFill>
                            <a:srgbClr val="000000"/>
                          </a:solidFill>
                          <a:latin typeface="微软雅黑" charset="0"/>
                          <a:ea typeface="微软雅黑" charset="0"/>
                          <a:cs typeface="微软雅黑"/>
                          <a:sym typeface="微软雅黑"/>
                        </a:rPr>
                        <a:t>CRM </a:t>
                      </a:r>
                      <a:r>
                        <a:rPr lang="zh-CN" altLang="en-US" sz="1100" b="0" i="0" u="none" strike="noStrike">
                          <a:solidFill>
                            <a:srgbClr val="000000"/>
                          </a:solidFill>
                          <a:latin typeface="微软雅黑" charset="0"/>
                          <a:ea typeface="微软雅黑" charset="0"/>
                          <a:cs typeface="微软雅黑"/>
                          <a:sym typeface="微软雅黑"/>
                        </a:rPr>
                        <a:t>与商机管理</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 </a:t>
                      </a:r>
                      <a:r>
                        <a:rPr lang="zh-CN" altLang="en-US" sz="1100" b="0" i="0" u="none" strike="noStrike">
                          <a:solidFill>
                            <a:srgbClr val="000000"/>
                          </a:solidFill>
                          <a:latin typeface="微软雅黑" charset="0"/>
                          <a:ea typeface="微软雅黑" charset="0"/>
                          <a:cs typeface="微软雅黑"/>
                          <a:sym typeface="微软雅黑"/>
                        </a:rPr>
                        <a:t>租前商机全流程：意向咨询</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带看</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签约</a:t>
                      </a:r>
                      <a:r>
                        <a:rPr lang="en-US" altLang="en-US"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到期续租提醒</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2. </a:t>
                      </a:r>
                      <a:r>
                        <a:rPr lang="zh-CN" altLang="en-US" sz="1100" b="0" i="0" u="none" strike="noStrike">
                          <a:solidFill>
                            <a:srgbClr val="000000"/>
                          </a:solidFill>
                          <a:latin typeface="微软雅黑" charset="0"/>
                          <a:ea typeface="微软雅黑" charset="0"/>
                          <a:cs typeface="微软雅黑"/>
                          <a:sym typeface="微软雅黑"/>
                        </a:rPr>
                        <a:t>与租赁系统数据打通：签约状态自动同步、商机自动闭环</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3. </a:t>
                      </a:r>
                      <a:r>
                        <a:rPr lang="zh-CN" altLang="en-US" sz="1100" b="0" i="0" u="none" strike="noStrike">
                          <a:solidFill>
                            <a:srgbClr val="000000"/>
                          </a:solidFill>
                          <a:latin typeface="微软雅黑" charset="0"/>
                          <a:ea typeface="微软雅黑" charset="0"/>
                          <a:cs typeface="微软雅黑"/>
                          <a:sym typeface="微软雅黑"/>
                        </a:rPr>
                        <a:t>到期提醒置：客户租约到期前自动提醒，支持提前运营触达</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4. </a:t>
                      </a:r>
                      <a:r>
                        <a:rPr lang="zh-CN" altLang="en-US" sz="1100" b="0" i="0" u="none" strike="noStrike">
                          <a:solidFill>
                            <a:srgbClr val="000000"/>
                          </a:solidFill>
                          <a:latin typeface="微软雅黑" charset="0"/>
                          <a:ea typeface="微软雅黑" charset="0"/>
                          <a:cs typeface="微软雅黑"/>
                          <a:sym typeface="微软雅黑"/>
                        </a:rPr>
                        <a:t>业绩归属</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：明确首接、跟进、签约的业绩分配规则</a:t>
                      </a:r>
                      <a:r>
                        <a:rPr lang="en-US" altLang="zh-CN" sz="1100" b="0" i="0" u="none" strike="noStrike">
                          <a:solidFill>
                            <a:srgbClr val="000000"/>
                          </a:solidFill>
                          <a:latin typeface="微软雅黑" charset="0"/>
                          <a:ea typeface="微软雅黑" charset="0"/>
                          <a:cs typeface="微软雅黑"/>
                          <a:sym typeface="微软雅黑"/>
                        </a:rPr>
                        <a:t> </a:t>
                      </a: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5. </a:t>
                      </a:r>
                      <a:r>
                        <a:rPr lang="zh-CN" altLang="en-US" sz="1100" b="0" i="0" u="none" strike="noStrike">
                          <a:solidFill>
                            <a:srgbClr val="000000"/>
                          </a:solidFill>
                          <a:latin typeface="微软雅黑" charset="0"/>
                          <a:ea typeface="微软雅黑" charset="0"/>
                          <a:cs typeface="微软雅黑"/>
                          <a:sym typeface="微软雅黑"/>
                        </a:rPr>
                        <a:t>响应效率监控</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：商机响应时效、跟进频率、转化率等数据可视化</a:t>
                      </a:r>
                      <a:r>
                        <a:rPr lang="en-US" altLang="zh-CN" sz="1100" b="0" i="0" u="none" strike="noStrike">
                          <a:solidFill>
                            <a:srgbClr val="000000"/>
                          </a:solidFill>
                          <a:latin typeface="微软雅黑" charset="0"/>
                          <a:ea typeface="微软雅黑" charset="0"/>
                          <a:cs typeface="微软雅黑"/>
                          <a:sym typeface="微软雅黑"/>
                        </a:rPr>
                        <a:t> </a:t>
                      </a: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6. </a:t>
                      </a:r>
                      <a:r>
                        <a:rPr lang="zh-CN" altLang="en-US" sz="1100" b="0" i="0" u="none" strike="noStrike">
                          <a:solidFill>
                            <a:srgbClr val="000000"/>
                          </a:solidFill>
                          <a:latin typeface="微软雅黑" charset="0"/>
                          <a:ea typeface="微软雅黑" charset="0"/>
                          <a:cs typeface="微软雅黑"/>
                          <a:sym typeface="微软雅黑"/>
                        </a:rPr>
                        <a:t>渠道溯源</a:t>
                      </a:r>
                      <a:r>
                        <a:rPr lang="en-US" altLang="zh-CN" sz="1100" b="0" i="0" u="none" strike="noStrike">
                          <a:solidFill>
                            <a:srgbClr val="000000"/>
                          </a:solidFill>
                          <a:latin typeface="微软雅黑" charset="0"/>
                          <a:ea typeface="微软雅黑" charset="0"/>
                          <a:cs typeface="微软雅黑"/>
                          <a:sym typeface="微软雅黑"/>
                        </a:rPr>
                        <a:t> </a:t>
                      </a:r>
                      <a:r>
                        <a:rPr lang="zh-CN" altLang="en-US" sz="1100" b="0" i="0" u="none" strike="noStrike">
                          <a:solidFill>
                            <a:srgbClr val="000000"/>
                          </a:solidFill>
                          <a:latin typeface="微软雅黑" charset="0"/>
                          <a:ea typeface="微软雅黑" charset="0"/>
                          <a:cs typeface="微软雅黑"/>
                          <a:sym typeface="微软雅黑"/>
                        </a:rPr>
                        <a:t>：清晰记录客户来源渠道（广告、活动、</a:t>
                      </a:r>
                      <a:r>
                        <a:rPr lang="en-US" altLang="zh-CN" sz="1100" b="0" i="0" u="none" strike="noStrike">
                          <a:solidFill>
                            <a:srgbClr val="000000"/>
                          </a:solidFill>
                          <a:latin typeface="微软雅黑" charset="0"/>
                          <a:ea typeface="微软雅黑" charset="0"/>
                          <a:cs typeface="微软雅黑"/>
                          <a:sym typeface="微软雅黑"/>
                        </a:rPr>
                        <a:t>400</a:t>
                      </a:r>
                      <a:r>
                        <a:rPr lang="zh-CN" altLang="en-US" sz="1100" b="0" i="0" u="none" strike="noStrike">
                          <a:solidFill>
                            <a:srgbClr val="000000"/>
                          </a:solidFill>
                          <a:latin typeface="微软雅黑" charset="0"/>
                          <a:ea typeface="微软雅黑" charset="0"/>
                          <a:cs typeface="微软雅黑"/>
                          <a:sym typeface="微软雅黑"/>
                        </a:rPr>
                        <a:t>电话等）</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endParaRPr lang="en-US" altLang="zh-CN"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运营与管理</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1. </a:t>
                      </a:r>
                      <a:r>
                        <a:rPr lang="zh-CN" altLang="en-US" sz="1100" b="0" i="0" u="none" strike="noStrike">
                          <a:solidFill>
                            <a:srgbClr val="000000"/>
                          </a:solidFill>
                          <a:latin typeface="微软雅黑" charset="0"/>
                          <a:ea typeface="微软雅黑" charset="0"/>
                          <a:cs typeface="微软雅黑"/>
                          <a:sym typeface="微软雅黑"/>
                        </a:rPr>
                        <a:t>商机跟进监控：待跟进、超时未跟进、跟进完备率统计</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2. </a:t>
                      </a:r>
                      <a:r>
                        <a:rPr lang="zh-CN" altLang="en-US" sz="1100" b="0" i="0" u="none" strike="noStrike">
                          <a:solidFill>
                            <a:srgbClr val="000000"/>
                          </a:solidFill>
                          <a:latin typeface="微软雅黑" charset="0"/>
                          <a:ea typeface="微软雅黑" charset="0"/>
                          <a:cs typeface="微软雅黑"/>
                          <a:sym typeface="微软雅黑"/>
                        </a:rPr>
                        <a:t>数据报表：管理层关注企微报表中的客户实时响应率、沟通率、活跃率等数据，用于运营决策。</a:t>
                      </a:r>
                      <a:endParaRPr lang="zh-CN" altLang="en-US" sz="1100" b="0" i="0" u="none" strike="noStrike">
                        <a:solidFill>
                          <a:srgbClr val="000000"/>
                        </a:solidFill>
                        <a:latin typeface="微软雅黑" charset="0"/>
                        <a:ea typeface="微软雅黑" charset="0"/>
                        <a:cs typeface="微软雅黑"/>
                        <a:sym typeface="微软雅黑"/>
                      </a:endParaRPr>
                    </a:p>
                    <a:p>
                      <a:pPr indent="0" algn="l">
                        <a:lnSpc>
                          <a:spcPct val="100000"/>
                        </a:lnSpc>
                        <a:buNone/>
                        <a:defRPr/>
                      </a:pPr>
                      <a:r>
                        <a:rPr lang="en-US" altLang="zh-CN" sz="1100" b="0" i="0" u="none" strike="noStrike">
                          <a:solidFill>
                            <a:srgbClr val="000000"/>
                          </a:solidFill>
                          <a:latin typeface="微软雅黑" charset="0"/>
                          <a:ea typeface="微软雅黑" charset="0"/>
                          <a:cs typeface="微软雅黑"/>
                          <a:sym typeface="微软雅黑"/>
                        </a:rPr>
                        <a:t>3. </a:t>
                      </a:r>
                      <a:r>
                        <a:rPr lang="zh-CN" altLang="en-US" sz="1100" b="0" i="0" u="none" strike="noStrike">
                          <a:solidFill>
                            <a:srgbClr val="000000"/>
                          </a:solidFill>
                          <a:latin typeface="微软雅黑" charset="0"/>
                          <a:ea typeface="微软雅黑" charset="0"/>
                          <a:cs typeface="微软雅黑"/>
                          <a:sym typeface="微软雅黑"/>
                        </a:rPr>
                        <a:t>舆情监控：企微会话存档、敏感词预警、自动生成客诉工单</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indent="0" algn="l">
                        <a:lnSpc>
                          <a:spcPct val="100000"/>
                        </a:lnSpc>
                        <a:buNone/>
                        <a:defRPr/>
                      </a:pPr>
                      <a:r>
                        <a:rPr lang="zh-CN" altLang="en-US" sz="1100" b="0" i="0" u="none" strike="noStrike">
                          <a:solidFill>
                            <a:srgbClr val="000000"/>
                          </a:solidFill>
                          <a:latin typeface="微软雅黑" charset="0"/>
                          <a:ea typeface="微软雅黑" charset="0"/>
                          <a:cs typeface="微软雅黑"/>
                          <a:sym typeface="微软雅黑"/>
                        </a:rPr>
                        <a:t>市场租赁运营事业部</a:t>
                      </a:r>
                      <a:r>
                        <a:rPr lang="en-US" altLang="zh-CN" sz="1100" b="0" i="0" u="none" strike="noStrike">
                          <a:solidFill>
                            <a:srgbClr val="000000"/>
                          </a:solidFill>
                          <a:latin typeface="微软雅黑" charset="0"/>
                          <a:ea typeface="微软雅黑" charset="0"/>
                          <a:cs typeface="微软雅黑"/>
                          <a:sym typeface="微软雅黑"/>
                        </a:rPr>
                        <a:t>-</a:t>
                      </a:r>
                      <a:r>
                        <a:rPr lang="zh-CN" altLang="en-US" sz="1100" b="0" i="0" u="none" strike="noStrike">
                          <a:solidFill>
                            <a:srgbClr val="000000"/>
                          </a:solidFill>
                          <a:latin typeface="微软雅黑" charset="0"/>
                          <a:ea typeface="微软雅黑" charset="0"/>
                          <a:cs typeface="微软雅黑"/>
                          <a:sym typeface="微软雅黑"/>
                        </a:rPr>
                        <a:t>营销</a:t>
                      </a:r>
                      <a:endParaRPr lang="zh-CN" altLang="en-US" sz="1100" b="0" i="0" u="none" strike="noStrike">
                        <a:solidFill>
                          <a:srgbClr val="000000"/>
                        </a:solidFill>
                        <a:latin typeface="微软雅黑" charset="0"/>
                        <a:ea typeface="微软雅黑" charset="0"/>
                        <a:cs typeface="微软雅黑"/>
                        <a:sym typeface="微软雅黑"/>
                      </a:endParaRPr>
                    </a:p>
                  </a:txBody>
                  <a:tcPr marL="6350" marR="6350" marT="6350" marB="0"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p>
                      <a:pPr marL="0" indent="0" algn="l">
                        <a:lnSpc>
                          <a:spcPct val="100000"/>
                        </a:lnSpc>
                        <a:spcAft>
                          <a:spcPts val="600"/>
                        </a:spcAft>
                        <a:buClr>
                          <a:srgbClr val="000000"/>
                        </a:buClr>
                        <a:buNone/>
                        <a:defRPr/>
                      </a:pPr>
                      <a:r>
                        <a:rPr lang="zh-CN" altLang="en-US" sz="1100">
                          <a:solidFill>
                            <a:srgbClr val="000000"/>
                          </a:solidFill>
                          <a:latin typeface="微软雅黑" charset="0"/>
                          <a:ea typeface="微软雅黑" charset="0"/>
                          <a:cs typeface="微软雅黑"/>
                          <a:sym typeface="微软雅黑"/>
                        </a:rPr>
                        <a:t>新需求点</a:t>
                      </a:r>
                      <a:endParaRPr lang="zh-CN" altLang="en-US" sz="1100" b="0" i="0" u="none" strike="noStrike">
                        <a:solidFill>
                          <a:srgbClr val="000000"/>
                        </a:solidFill>
                        <a:latin typeface="微软雅黑" charset="0"/>
                        <a:ea typeface="微软雅黑" charset="0"/>
                        <a:cs typeface="微软雅黑"/>
                        <a:sym typeface="微软雅黑"/>
                      </a:endParaRPr>
                    </a:p>
                  </a:txBody>
                  <a:tcPr anchor="ctr" anchorCtr="0">
                    <a:lnL w="12700" cap="flat" cmpd="sng" algn="ctr">
                      <a:prstDash val="solid"/>
                      <a:round/>
                      <a:headEnd type="none" w="med" len="med"/>
                      <a:tailEnd type="none" w="med" len="med"/>
                    </a:lnL>
                    <a:lnR w="12700" cap="flat" cmpd="sng" algn="ctr">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案例：龙湖冠寓</a:t>
            </a:r>
            <a:r>
              <a:rPr lang="en-US" altLang="zh-CN"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a:t>
            </a: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会员体系</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rcRect t="11167" b="12405"/>
          <a:stretch>
            <a:fillRect/>
          </a:stretch>
        </p:blipFill>
        <p:spPr>
          <a:xfrm>
            <a:off x="691541" y="1155489"/>
            <a:ext cx="3168981" cy="5241503"/>
          </a:xfrm>
          <a:prstGeom prst="rect">
            <a:avLst/>
          </a:prstGeom>
        </p:spPr>
      </p:pic>
      <p:sp>
        <p:nvSpPr>
          <p:cNvPr id="15" name="Rectangle: Rounded Corners 865"/>
          <p:cNvSpPr/>
          <p:nvPr/>
        </p:nvSpPr>
        <p:spPr bwMode="ltGray">
          <a:xfrm>
            <a:off x="4667649"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V1</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6" name="Rectangle: Rounded Corners 865"/>
          <p:cNvSpPr/>
          <p:nvPr/>
        </p:nvSpPr>
        <p:spPr bwMode="ltGray">
          <a:xfrm>
            <a:off x="5955584"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V2</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7" name="Rectangle: Rounded Corners 865"/>
          <p:cNvSpPr/>
          <p:nvPr/>
        </p:nvSpPr>
        <p:spPr bwMode="ltGray">
          <a:xfrm>
            <a:off x="7243519"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V3</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Rectangle: Rounded Corners 865"/>
          <p:cNvSpPr/>
          <p:nvPr/>
        </p:nvSpPr>
        <p:spPr bwMode="ltGray">
          <a:xfrm>
            <a:off x="8531454"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V4</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23" name="Rectangle: Rounded Corners 865"/>
          <p:cNvSpPr/>
          <p:nvPr/>
        </p:nvSpPr>
        <p:spPr bwMode="ltGray">
          <a:xfrm>
            <a:off x="9819388" y="1155489"/>
            <a:ext cx="884036" cy="521970"/>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V5</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Rectangle: Rounded Corners 865"/>
          <p:cNvSpPr/>
          <p:nvPr/>
        </p:nvSpPr>
        <p:spPr bwMode="ltGray">
          <a:xfrm>
            <a:off x="4667649"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V1</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Rectangle: Rounded Corners 865"/>
          <p:cNvSpPr/>
          <p:nvPr/>
        </p:nvSpPr>
        <p:spPr bwMode="ltGray">
          <a:xfrm>
            <a:off x="5955584"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kern="0">
                <a:latin typeface="微软雅黑" panose="020B0503020204020204" pitchFamily="34" charset="-122"/>
                <a:ea typeface="微软雅黑" panose="020B0503020204020204" pitchFamily="34" charset="-122"/>
                <a:cs typeface="Arial" panose="020B0604020202090204" pitchFamily="34" charset="0"/>
              </a:rPr>
              <a:t>1,000元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Rectangle: Rounded Corners 865"/>
          <p:cNvSpPr/>
          <p:nvPr/>
        </p:nvSpPr>
        <p:spPr bwMode="ltGray">
          <a:xfrm>
            <a:off x="7243519"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2</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Rounded Corners 865"/>
          <p:cNvSpPr/>
          <p:nvPr/>
        </p:nvSpPr>
        <p:spPr bwMode="ltGray">
          <a:xfrm>
            <a:off x="8531454"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algn="ctr">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4</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Rounded Corners 865"/>
          <p:cNvSpPr/>
          <p:nvPr/>
        </p:nvSpPr>
        <p:spPr bwMode="ltGray">
          <a:xfrm>
            <a:off x="9819388" y="1898198"/>
            <a:ext cx="884036" cy="521970"/>
          </a:xfrm>
          <a:prstGeom prst="roundRect">
            <a:avLst/>
          </a:prstGeom>
          <a:solidFill>
            <a:schemeClr val="bg1">
              <a:lumMod val="9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10</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万元</a:t>
            </a:r>
            <a:endParaRPr kumimoji="0" lang="en-GB" sz="1400"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pic>
        <p:nvPicPr>
          <p:cNvPr id="42" name="Picture 41"/>
          <p:cNvPicPr>
            <a:picLocks noChangeAspect="1"/>
          </p:cNvPicPr>
          <p:nvPr/>
        </p:nvPicPr>
        <p:blipFill>
          <a:blip r:embed="rId2" cstate="print">
            <a:extLst>
              <a:ext uri="{28A0092B-C50C-407E-A947-70E740481C1C}">
                <a14:useLocalDpi xmlns:a14="http://schemas.microsoft.com/office/drawing/2010/main" val="0"/>
              </a:ext>
            </a:extLst>
          </a:blip>
          <a:srcRect t="40169" b="10211"/>
          <a:stretch>
            <a:fillRect/>
          </a:stretch>
        </p:blipFill>
        <p:spPr>
          <a:xfrm>
            <a:off x="4511509" y="2876309"/>
            <a:ext cx="3168981" cy="3402957"/>
          </a:xfrm>
          <a:prstGeom prst="rect">
            <a:avLst/>
          </a:prstGeom>
        </p:spPr>
      </p:pic>
      <p:sp>
        <p:nvSpPr>
          <p:cNvPr id="45" name="Rectangle: Rounded Corners 865"/>
          <p:cNvSpPr/>
          <p:nvPr/>
        </p:nvSpPr>
        <p:spPr bwMode="ltGray">
          <a:xfrm>
            <a:off x="8202274" y="3044092"/>
            <a:ext cx="2643203" cy="521970"/>
          </a:xfrm>
          <a:prstGeom prst="roundRect">
            <a:avLst/>
          </a:prstGeom>
          <a:solidFill>
            <a:srgbClr val="00338D"/>
          </a:solidFill>
          <a:ln w="3175" cap="flat" cmpd="sng" algn="ctr">
            <a:no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成长值有效期</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Rounded Corners 865"/>
          <p:cNvSpPr/>
          <p:nvPr/>
        </p:nvSpPr>
        <p:spPr bwMode="ltGray">
          <a:xfrm>
            <a:off x="8202274" y="3668016"/>
            <a:ext cx="2643203" cy="603042"/>
          </a:xfrm>
          <a:prstGeom prst="roundRect">
            <a:avLst/>
          </a:prstGeom>
          <a:solidFill>
            <a:schemeClr val="bg1">
              <a:lumMod val="95000"/>
            </a:schemeClr>
          </a:solidFill>
          <a:ln w="3175" cap="flat" cmpd="sng" algn="ctr">
            <a:noFill/>
            <a:prstDash val="solid"/>
            <a:miter lim="800000"/>
          </a:ln>
          <a:effectLst/>
        </p:spPr>
        <p:txBody>
          <a:bodyPr rtlCol="0" anchor="ctr"/>
          <a:lstStyle/>
          <a:p>
            <a:pPr>
              <a:defRPr/>
            </a:pP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滚动失效原则（非定时失效），</a:t>
            </a:r>
            <a:r>
              <a:rPr kumimoji="0" lang="en-US" altLang="zh-CN"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T+2</a:t>
            </a:r>
            <a:r>
              <a:rPr kumimoji="0" lang="zh-CN" altLang="en-US"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年</a:t>
            </a:r>
            <a:endParaRPr kumimoji="0" lang="en-GB" sz="1400"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案例：龙湖冠寓</a:t>
            </a:r>
            <a:r>
              <a:rPr lang="en-US" altLang="zh-CN"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a:t>
            </a:r>
            <a:r>
              <a:rPr lang="zh-CN" altLang="en-US" sz="2800" b="1">
                <a:solidFill>
                  <a:srgbClr val="000000">
                    <a:lumMod val="75000"/>
                    <a:lumOff val="25000"/>
                  </a:srgbClr>
                </a:solidFill>
                <a:latin typeface="微软雅黑" panose="020B0503020204020204" pitchFamily="34" charset="-122"/>
                <a:ea typeface="微软雅黑" panose="020B0503020204020204" pitchFamily="34" charset="-122"/>
                <a:cs typeface="Segoe UI Black" panose="020B0A02040204020203" pitchFamily="34" charset="0"/>
              </a:rPr>
              <a:t>会员权益</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10" name="Picture 9"/>
          <p:cNvPicPr>
            <a:picLocks noChangeAspect="1"/>
          </p:cNvPicPr>
          <p:nvPr/>
        </p:nvPicPr>
        <p:blipFill>
          <a:blip r:embed="rId1" cstate="print">
            <a:extLst>
              <a:ext uri="{28A0092B-C50C-407E-A947-70E740481C1C}">
                <a14:useLocalDpi xmlns:a14="http://schemas.microsoft.com/office/drawing/2010/main" val="0"/>
              </a:ext>
            </a:extLst>
          </a:blip>
          <a:srcRect t="6245"/>
          <a:stretch>
            <a:fillRect/>
          </a:stretch>
        </p:blipFill>
        <p:spPr>
          <a:xfrm>
            <a:off x="1070292" y="1206661"/>
            <a:ext cx="2529434" cy="5132122"/>
          </a:xfrm>
          <a:prstGeom prst="rect">
            <a:avLst/>
          </a:prstGeom>
        </p:spPr>
      </p:pic>
      <p:sp>
        <p:nvSpPr>
          <p:cNvPr id="2" name="Rectangle: Rounded Corners 865"/>
          <p:cNvSpPr/>
          <p:nvPr/>
        </p:nvSpPr>
        <p:spPr bwMode="ltGray">
          <a:xfrm>
            <a:off x="4112060" y="197352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新能源车充电</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3" name="Rectangle: Rounded Corners 865"/>
          <p:cNvSpPr/>
          <p:nvPr/>
        </p:nvSpPr>
        <p:spPr bwMode="ltGray">
          <a:xfrm>
            <a:off x="4112060" y="2515705"/>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快餐/茶饮类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Rectangle: Rounded Corners 865"/>
          <p:cNvSpPr/>
          <p:nvPr/>
        </p:nvSpPr>
        <p:spPr bwMode="ltGray">
          <a:xfrm>
            <a:off x="4112060" y="3057881"/>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话费类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Rectangle: Rounded Corners 865"/>
          <p:cNvSpPr/>
          <p:nvPr/>
        </p:nvSpPr>
        <p:spPr bwMode="ltGray">
          <a:xfrm>
            <a:off x="4112060" y="360005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影音娱乐类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Rectangle: Rounded Corners 865"/>
          <p:cNvSpPr/>
          <p:nvPr/>
        </p:nvSpPr>
        <p:spPr bwMode="ltGray">
          <a:xfrm>
            <a:off x="4112060" y="4142234"/>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超市类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Rectangle: Rounded Corners 865"/>
          <p:cNvSpPr/>
          <p:nvPr/>
        </p:nvSpPr>
        <p:spPr bwMode="ltGray">
          <a:xfrm>
            <a:off x="4112060" y="4684411"/>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健身类</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7" name="Rectangle: Rounded Corners 865"/>
          <p:cNvSpPr/>
          <p:nvPr/>
        </p:nvSpPr>
        <p:spPr bwMode="ltGray">
          <a:xfrm>
            <a:off x="4112060" y="1431352"/>
            <a:ext cx="2288740" cy="410284"/>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现金券</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4" name="Rectangle: Rounded Corners 865"/>
          <p:cNvSpPr/>
          <p:nvPr/>
        </p:nvSpPr>
        <p:spPr bwMode="ltGray">
          <a:xfrm>
            <a:off x="6913134" y="1431352"/>
            <a:ext cx="2288740" cy="410284"/>
          </a:xfrm>
          <a:prstGeom prst="roundRect">
            <a:avLst/>
          </a:prstGeom>
          <a:solidFill>
            <a:srgbClr val="00338D"/>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b="1" kern="0">
                <a:solidFill>
                  <a:prstClr val="white"/>
                </a:solidFill>
                <a:latin typeface="微软雅黑" panose="020B0503020204020204" pitchFamily="34" charset="-122"/>
                <a:ea typeface="微软雅黑" panose="020B0503020204020204" pitchFamily="34" charset="-122"/>
                <a:cs typeface="Arial" panose="020B0604020202090204" pitchFamily="34" charset="0"/>
              </a:rPr>
              <a:t>折扣</a:t>
            </a:r>
            <a:r>
              <a:rPr kumimoji="0" lang="en-US" sz="14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rPr>
              <a:t>券</a:t>
            </a:r>
            <a:endParaRPr kumimoji="0" lang="en-GB" sz="1400" b="1" i="0" u="none" strike="noStrike" kern="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Rectangle: Rounded Corners 865"/>
          <p:cNvSpPr/>
          <p:nvPr/>
        </p:nvSpPr>
        <p:spPr bwMode="ltGray">
          <a:xfrm>
            <a:off x="6913134" y="197352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线下门店</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Rectangle: Rounded Corners 865"/>
          <p:cNvSpPr/>
          <p:nvPr/>
        </p:nvSpPr>
        <p:spPr bwMode="ltGray">
          <a:xfrm>
            <a:off x="4112059" y="5226588"/>
            <a:ext cx="1524807" cy="410284"/>
          </a:xfrm>
          <a:prstGeom prst="roundRect">
            <a:avLst/>
          </a:prstGeom>
          <a:solidFill>
            <a:schemeClr val="bg1">
              <a:lumMod val="85000"/>
            </a:schemeClr>
          </a:solidFill>
          <a:ln w="3175"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Arial" panose="020B0604020202090204" pitchFamily="34" charset="0"/>
              </a:rPr>
              <a:t>线下门店</a:t>
            </a:r>
            <a:endParaRPr kumimoji="0" lang="en-GB" sz="1400" b="1" i="0" u="none" strike="noStrike" kern="0" cap="none" spc="0" normalizeH="0" baseline="0" noProof="0" dirty="0" err="1">
              <a:ln>
                <a:noFill/>
              </a:ln>
              <a:effectLst/>
              <a:uLnTx/>
              <a:uFillTx/>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项目整体计划</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 </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甘特图</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3" name="AutoShape 3"/>
          <p:cNvSpPr/>
          <p:nvPr>
            <p:custDataLst>
              <p:tags r:id="rId1"/>
            </p:custDataLst>
          </p:nvPr>
        </p:nvSpPr>
        <p:spPr>
          <a:xfrm>
            <a:off x="603250" y="1397000"/>
            <a:ext cx="1090422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4" name="AutoShape 4"/>
          <p:cNvSpPr/>
          <p:nvPr>
            <p:custDataLst>
              <p:tags r:id="rId2"/>
            </p:custDataLst>
          </p:nvPr>
        </p:nvSpPr>
        <p:spPr>
          <a:xfrm>
            <a:off x="2794000" y="1651000"/>
            <a:ext cx="8522970" cy="508000"/>
          </a:xfrm>
          <a:prstGeom prst="roundRect">
            <a:avLst>
              <a:gd name="adj" fmla="val 0"/>
            </a:avLst>
          </a:prstGeom>
          <a:solidFill>
            <a:srgbClr val="003366">
              <a:alpha val="5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 name="AutoShape 5"/>
          <p:cNvSpPr/>
          <p:nvPr>
            <p:custDataLst>
              <p:tags r:id="rId3"/>
            </p:custDataLst>
          </p:nvPr>
        </p:nvSpPr>
        <p:spPr>
          <a:xfrm>
            <a:off x="27940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2026/03</a:t>
            </a:r>
            <a:endParaRPr lang="en-US" sz="1200" b="0" i="0" u="none" strike="noStrike">
              <a:solidFill>
                <a:srgbClr val="64748B"/>
              </a:solidFill>
              <a:latin typeface="微软雅黑" charset="0"/>
              <a:ea typeface="微软雅黑" charset="0"/>
              <a:cs typeface="Noto Sans SC"/>
              <a:sym typeface="Noto Sans SC"/>
            </a:endParaRPr>
          </a:p>
        </p:txBody>
      </p:sp>
      <p:sp>
        <p:nvSpPr>
          <p:cNvPr id="6" name="AutoShape 6"/>
          <p:cNvSpPr/>
          <p:nvPr>
            <p:custDataLst>
              <p:tags r:id="rId4"/>
            </p:custDataLst>
          </p:nvPr>
        </p:nvSpPr>
        <p:spPr>
          <a:xfrm>
            <a:off x="40640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2026/05</a:t>
            </a:r>
            <a:endParaRPr lang="en-US" sz="1200" b="0" i="0" u="none" strike="noStrike">
              <a:solidFill>
                <a:srgbClr val="64748B"/>
              </a:solidFill>
              <a:latin typeface="微软雅黑" charset="0"/>
              <a:ea typeface="微软雅黑" charset="0"/>
              <a:cs typeface="Noto Sans SC"/>
              <a:sym typeface="Noto Sans SC"/>
            </a:endParaRPr>
          </a:p>
        </p:txBody>
      </p:sp>
      <p:sp>
        <p:nvSpPr>
          <p:cNvPr id="7" name="AutoShape 7"/>
          <p:cNvSpPr/>
          <p:nvPr>
            <p:custDataLst>
              <p:tags r:id="rId5"/>
            </p:custDataLst>
          </p:nvPr>
        </p:nvSpPr>
        <p:spPr>
          <a:xfrm>
            <a:off x="5263444"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2026/07</a:t>
            </a:r>
            <a:endParaRPr lang="en-US" sz="1200" b="0" i="0" u="none" strike="noStrike">
              <a:solidFill>
                <a:srgbClr val="64748B"/>
              </a:solidFill>
              <a:latin typeface="微软雅黑" charset="0"/>
              <a:ea typeface="微软雅黑" charset="0"/>
              <a:cs typeface="Noto Sans SC"/>
              <a:sym typeface="Noto Sans SC"/>
            </a:endParaRPr>
          </a:p>
        </p:txBody>
      </p:sp>
      <p:sp>
        <p:nvSpPr>
          <p:cNvPr id="8" name="AutoShape 8"/>
          <p:cNvSpPr/>
          <p:nvPr>
            <p:custDataLst>
              <p:tags r:id="rId6"/>
            </p:custDataLst>
          </p:nvPr>
        </p:nvSpPr>
        <p:spPr>
          <a:xfrm>
            <a:off x="66040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2026/09</a:t>
            </a:r>
            <a:endParaRPr lang="en-US" sz="1200" b="0" i="0" u="none" strike="noStrike">
              <a:solidFill>
                <a:srgbClr val="64748B"/>
              </a:solidFill>
              <a:latin typeface="微软雅黑" charset="0"/>
              <a:ea typeface="微软雅黑" charset="0"/>
              <a:cs typeface="Noto Sans SC"/>
              <a:sym typeface="Noto Sans SC"/>
            </a:endParaRPr>
          </a:p>
        </p:txBody>
      </p:sp>
      <p:sp>
        <p:nvSpPr>
          <p:cNvPr id="9" name="AutoShape 9"/>
          <p:cNvSpPr/>
          <p:nvPr>
            <p:custDataLst>
              <p:tags r:id="rId7"/>
            </p:custDataLst>
          </p:nvPr>
        </p:nvSpPr>
        <p:spPr>
          <a:xfrm>
            <a:off x="78740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2026/11</a:t>
            </a:r>
            <a:endParaRPr lang="en-US" sz="1200" b="0" i="0" u="none" strike="noStrike">
              <a:solidFill>
                <a:srgbClr val="64748B"/>
              </a:solidFill>
              <a:latin typeface="微软雅黑" charset="0"/>
              <a:ea typeface="微软雅黑" charset="0"/>
              <a:cs typeface="Noto Sans SC"/>
              <a:sym typeface="Noto Sans SC"/>
            </a:endParaRPr>
          </a:p>
        </p:txBody>
      </p:sp>
      <p:cxnSp>
        <p:nvCxnSpPr>
          <p:cNvPr id="10" name="Connector 10"/>
          <p:cNvCxnSpPr/>
          <p:nvPr>
            <p:custDataLst>
              <p:tags r:id="rId8"/>
            </p:custDataLst>
          </p:nvPr>
        </p:nvCxnSpPr>
        <p:spPr>
          <a:xfrm rot="5387722">
            <a:off x="152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1" name="Connector 11"/>
          <p:cNvCxnSpPr/>
          <p:nvPr>
            <p:custDataLst>
              <p:tags r:id="rId9"/>
            </p:custDataLst>
          </p:nvPr>
        </p:nvCxnSpPr>
        <p:spPr>
          <a:xfrm rot="5387722">
            <a:off x="279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2" name="Connector 12"/>
          <p:cNvCxnSpPr/>
          <p:nvPr>
            <p:custDataLst>
              <p:tags r:id="rId10"/>
            </p:custDataLst>
          </p:nvPr>
        </p:nvCxnSpPr>
        <p:spPr>
          <a:xfrm rot="5387722">
            <a:off x="406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3" name="Connector 13"/>
          <p:cNvCxnSpPr/>
          <p:nvPr>
            <p:custDataLst>
              <p:tags r:id="rId11"/>
            </p:custDataLst>
          </p:nvPr>
        </p:nvCxnSpPr>
        <p:spPr>
          <a:xfrm rot="5387722">
            <a:off x="533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4" name="Connector 14"/>
          <p:cNvCxnSpPr/>
          <p:nvPr>
            <p:custDataLst>
              <p:tags r:id="rId12"/>
            </p:custDataLst>
          </p:nvPr>
        </p:nvCxnSpPr>
        <p:spPr>
          <a:xfrm rot="5387722">
            <a:off x="660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cxnSp>
        <p:nvCxnSpPr>
          <p:cNvPr id="15" name="Connector 15"/>
          <p:cNvCxnSpPr/>
          <p:nvPr>
            <p:custDataLst>
              <p:tags r:id="rId13"/>
            </p:custDataLst>
          </p:nvPr>
        </p:nvCxnSpPr>
        <p:spPr>
          <a:xfrm rot="5387722">
            <a:off x="78740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8" name="AutoShape 17"/>
          <p:cNvSpPr/>
          <p:nvPr>
            <p:custDataLst>
              <p:tags r:id="rId14"/>
            </p:custDataLst>
          </p:nvPr>
        </p:nvSpPr>
        <p:spPr>
          <a:xfrm>
            <a:off x="1206500" y="2311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1. 项目启动准备</a:t>
            </a:r>
            <a:endParaRPr lang="en-US" sz="1400" b="0" i="0" u="none" strike="noStrike">
              <a:solidFill>
                <a:srgbClr val="334155"/>
              </a:solidFill>
              <a:latin typeface="微软雅黑" charset="0"/>
              <a:ea typeface="微软雅黑" charset="0"/>
              <a:cs typeface="Noto Sans SC"/>
              <a:sym typeface="Noto Sans SC"/>
            </a:endParaRPr>
          </a:p>
        </p:txBody>
      </p:sp>
      <p:sp>
        <p:nvSpPr>
          <p:cNvPr id="34" name="AutoShape 19"/>
          <p:cNvSpPr/>
          <p:nvPr>
            <p:custDataLst>
              <p:tags r:id="rId15"/>
            </p:custDataLst>
          </p:nvPr>
        </p:nvSpPr>
        <p:spPr>
          <a:xfrm>
            <a:off x="1206500" y="2692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2. 调研需求分析</a:t>
            </a:r>
            <a:endParaRPr lang="en-US" sz="1400" b="0" i="0" u="none" strike="noStrike">
              <a:solidFill>
                <a:srgbClr val="334155"/>
              </a:solidFill>
              <a:latin typeface="微软雅黑" charset="0"/>
              <a:ea typeface="微软雅黑" charset="0"/>
              <a:cs typeface="Noto Sans SC"/>
              <a:sym typeface="Noto Sans SC"/>
            </a:endParaRPr>
          </a:p>
        </p:txBody>
      </p:sp>
      <p:sp>
        <p:nvSpPr>
          <p:cNvPr id="36" name="AutoShape 21"/>
          <p:cNvSpPr/>
          <p:nvPr>
            <p:custDataLst>
              <p:tags r:id="rId16"/>
            </p:custDataLst>
          </p:nvPr>
        </p:nvSpPr>
        <p:spPr>
          <a:xfrm>
            <a:off x="1206500" y="3073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3. 初稿蓝图设计</a:t>
            </a:r>
            <a:endParaRPr lang="en-US" sz="1400" b="0" i="0" u="none" strike="noStrike">
              <a:solidFill>
                <a:srgbClr val="334155"/>
              </a:solidFill>
              <a:latin typeface="微软雅黑" charset="0"/>
              <a:ea typeface="微软雅黑" charset="0"/>
              <a:cs typeface="Noto Sans SC"/>
              <a:sym typeface="Noto Sans SC"/>
            </a:endParaRPr>
          </a:p>
        </p:txBody>
      </p:sp>
      <p:sp>
        <p:nvSpPr>
          <p:cNvPr id="38" name="AutoShape 23"/>
          <p:cNvSpPr/>
          <p:nvPr>
            <p:custDataLst>
              <p:tags r:id="rId17"/>
            </p:custDataLst>
          </p:nvPr>
        </p:nvSpPr>
        <p:spPr>
          <a:xfrm>
            <a:off x="1206500" y="3454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4. 定稿蓝图设计</a:t>
            </a:r>
            <a:endParaRPr lang="en-US" sz="1400" b="0" i="0" u="none" strike="noStrike">
              <a:solidFill>
                <a:srgbClr val="334155"/>
              </a:solidFill>
              <a:latin typeface="微软雅黑" charset="0"/>
              <a:ea typeface="微软雅黑" charset="0"/>
              <a:cs typeface="Noto Sans SC"/>
              <a:sym typeface="Noto Sans SC"/>
            </a:endParaRPr>
          </a:p>
        </p:txBody>
      </p:sp>
      <p:sp>
        <p:nvSpPr>
          <p:cNvPr id="40" name="AutoShape 25"/>
          <p:cNvSpPr/>
          <p:nvPr>
            <p:custDataLst>
              <p:tags r:id="rId18"/>
            </p:custDataLst>
          </p:nvPr>
        </p:nvSpPr>
        <p:spPr>
          <a:xfrm>
            <a:off x="1206500" y="3835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5. 一阶段开发实施</a:t>
            </a:r>
            <a:endParaRPr lang="en-US" sz="1400" b="0" i="0" u="none" strike="noStrike">
              <a:solidFill>
                <a:srgbClr val="334155"/>
              </a:solidFill>
              <a:latin typeface="微软雅黑" charset="0"/>
              <a:ea typeface="微软雅黑" charset="0"/>
              <a:cs typeface="Noto Sans SC"/>
              <a:sym typeface="Noto Sans SC"/>
            </a:endParaRPr>
          </a:p>
        </p:txBody>
      </p:sp>
      <p:sp>
        <p:nvSpPr>
          <p:cNvPr id="43" name="AutoShape 27"/>
          <p:cNvSpPr/>
          <p:nvPr>
            <p:custDataLst>
              <p:tags r:id="rId19"/>
            </p:custDataLst>
          </p:nvPr>
        </p:nvSpPr>
        <p:spPr>
          <a:xfrm>
            <a:off x="1206500" y="4216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6. </a:t>
            </a:r>
            <a:r>
              <a:rPr lang="zh-CN" altLang="en-US" sz="1400" b="0" i="0" u="none" strike="noStrike">
                <a:solidFill>
                  <a:srgbClr val="334155"/>
                </a:solidFill>
                <a:latin typeface="微软雅黑" charset="0"/>
                <a:ea typeface="微软雅黑" charset="0"/>
                <a:cs typeface="Noto Sans SC"/>
                <a:sym typeface="Noto Sans SC"/>
              </a:rPr>
              <a:t>二阶段开发实施</a:t>
            </a:r>
            <a:endParaRPr lang="zh-CN" altLang="en-US" sz="1400" b="0" i="0" u="none" strike="noStrike">
              <a:solidFill>
                <a:srgbClr val="334155"/>
              </a:solidFill>
              <a:latin typeface="微软雅黑" charset="0"/>
              <a:ea typeface="微软雅黑" charset="0"/>
              <a:cs typeface="Noto Sans SC"/>
              <a:sym typeface="Noto Sans SC"/>
            </a:endParaRPr>
          </a:p>
        </p:txBody>
      </p:sp>
      <p:sp>
        <p:nvSpPr>
          <p:cNvPr id="45" name="AutoShape 29"/>
          <p:cNvSpPr/>
          <p:nvPr>
            <p:custDataLst>
              <p:tags r:id="rId20"/>
            </p:custDataLst>
          </p:nvPr>
        </p:nvSpPr>
        <p:spPr>
          <a:xfrm>
            <a:off x="1206500" y="4597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7. 项目交付阶段</a:t>
            </a:r>
            <a:endParaRPr lang="en-US" sz="1400" b="0" i="0" u="none" strike="noStrike">
              <a:solidFill>
                <a:srgbClr val="334155"/>
              </a:solidFill>
              <a:latin typeface="微软雅黑" charset="0"/>
              <a:ea typeface="微软雅黑" charset="0"/>
              <a:cs typeface="Noto Sans SC"/>
              <a:sym typeface="Noto Sans SC"/>
            </a:endParaRPr>
          </a:p>
        </p:txBody>
      </p:sp>
      <p:sp>
        <p:nvSpPr>
          <p:cNvPr id="47" name="AutoShape 31"/>
          <p:cNvSpPr/>
          <p:nvPr>
            <p:custDataLst>
              <p:tags r:id="rId21"/>
            </p:custDataLst>
          </p:nvPr>
        </p:nvSpPr>
        <p:spPr>
          <a:xfrm>
            <a:off x="1206500" y="4978400"/>
            <a:ext cx="190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4155"/>
                </a:solidFill>
                <a:latin typeface="微软雅黑" charset="0"/>
                <a:ea typeface="微软雅黑" charset="0"/>
                <a:cs typeface="Noto Sans SC"/>
                <a:sym typeface="Noto Sans SC"/>
              </a:rPr>
              <a:t>8. 项目检视总结</a:t>
            </a:r>
            <a:endParaRPr lang="en-US" sz="1400" b="0" i="0" u="none" strike="noStrike">
              <a:solidFill>
                <a:srgbClr val="334155"/>
              </a:solidFill>
              <a:latin typeface="微软雅黑" charset="0"/>
              <a:ea typeface="微软雅黑" charset="0"/>
              <a:cs typeface="Noto Sans SC"/>
              <a:sym typeface="Noto Sans SC"/>
            </a:endParaRPr>
          </a:p>
        </p:txBody>
      </p:sp>
      <p:sp>
        <p:nvSpPr>
          <p:cNvPr id="48" name="AutoShape 32"/>
          <p:cNvSpPr/>
          <p:nvPr>
            <p:custDataLst>
              <p:tags r:id="rId22"/>
            </p:custDataLst>
          </p:nvPr>
        </p:nvSpPr>
        <p:spPr>
          <a:xfrm>
            <a:off x="9144000" y="17145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2027/01</a:t>
            </a:r>
            <a:endParaRPr lang="en-US" sz="1200" b="0" i="0" u="none" strike="noStrike">
              <a:solidFill>
                <a:srgbClr val="64748B"/>
              </a:solidFill>
              <a:latin typeface="微软雅黑" charset="0"/>
              <a:ea typeface="微软雅黑" charset="0"/>
              <a:cs typeface="Noto Sans SC"/>
              <a:sym typeface="Noto Sans SC"/>
            </a:endParaRPr>
          </a:p>
        </p:txBody>
      </p:sp>
      <p:sp>
        <p:nvSpPr>
          <p:cNvPr id="49" name="AutoShape 33"/>
          <p:cNvSpPr/>
          <p:nvPr>
            <p:custDataLst>
              <p:tags r:id="rId23"/>
            </p:custDataLst>
          </p:nvPr>
        </p:nvSpPr>
        <p:spPr>
          <a:xfrm>
            <a:off x="762000" y="6096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64748B"/>
                </a:solidFill>
                <a:latin typeface="微软雅黑" charset="0"/>
                <a:ea typeface="微软雅黑" charset="0"/>
                <a:cs typeface="微软雅黑" charset="0"/>
                <a:sym typeface="Noto Sans SC"/>
              </a:rPr>
              <a:t>注：项目周期约12个月，部分阶段存在并行工作以确保高效推进</a:t>
            </a:r>
            <a:r>
              <a:rPr lang="en-US" sz="1200" b="0" i="0" u="none" strike="noStrike">
                <a:solidFill>
                  <a:srgbClr val="64748B"/>
                </a:solidFill>
                <a:latin typeface="微软雅黑" charset="0"/>
                <a:ea typeface="微软雅黑" charset="0"/>
                <a:cs typeface="微软雅黑" charset="0"/>
                <a:sym typeface="Noto Sans SC"/>
              </a:rPr>
              <a:t>。</a:t>
            </a:r>
            <a:endParaRPr lang="en-US" sz="1100">
              <a:latin typeface="微软雅黑" charset="0"/>
              <a:ea typeface="微软雅黑" charset="0"/>
              <a:cs typeface="微软雅黑" charset="0"/>
            </a:endParaRPr>
          </a:p>
        </p:txBody>
      </p:sp>
      <p:cxnSp>
        <p:nvCxnSpPr>
          <p:cNvPr id="50" name="Connector 34"/>
          <p:cNvCxnSpPr/>
          <p:nvPr>
            <p:custDataLst>
              <p:tags r:id="rId24"/>
            </p:custDataLst>
          </p:nvPr>
        </p:nvCxnSpPr>
        <p:spPr>
          <a:xfrm rot="5387722">
            <a:off x="9080500" y="3930661"/>
            <a:ext cx="355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1" name="AutoShape 35"/>
          <p:cNvSpPr/>
          <p:nvPr>
            <p:custDataLst>
              <p:tags r:id="rId25"/>
            </p:custDataLst>
          </p:nvPr>
        </p:nvSpPr>
        <p:spPr>
          <a:xfrm>
            <a:off x="10299700" y="17272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4748B"/>
                </a:solidFill>
                <a:latin typeface="微软雅黑" charset="0"/>
                <a:ea typeface="微软雅黑" charset="0"/>
                <a:cs typeface="Noto Sans SC"/>
                <a:sym typeface="Noto Sans SC"/>
              </a:rPr>
              <a:t>2027/03</a:t>
            </a:r>
            <a:endParaRPr lang="en-US" sz="1200" b="0" i="0" u="none" strike="noStrike">
              <a:solidFill>
                <a:srgbClr val="64748B"/>
              </a:solidFill>
              <a:latin typeface="微软雅黑" charset="0"/>
              <a:ea typeface="微软雅黑" charset="0"/>
              <a:cs typeface="Noto Sans SC"/>
              <a:sym typeface="Noto Sans SC"/>
            </a:endParaRPr>
          </a:p>
        </p:txBody>
      </p:sp>
      <p:cxnSp>
        <p:nvCxnSpPr>
          <p:cNvPr id="52" name="Connector 36"/>
          <p:cNvCxnSpPr/>
          <p:nvPr>
            <p:custDataLst>
              <p:tags r:id="rId26"/>
            </p:custDataLst>
          </p:nvPr>
        </p:nvCxnSpPr>
        <p:spPr>
          <a:xfrm rot="5387722">
            <a:off x="2184389" y="393067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3" name="Connector 37"/>
          <p:cNvCxnSpPr/>
          <p:nvPr>
            <p:custDataLst>
              <p:tags r:id="rId27"/>
            </p:custDataLst>
          </p:nvPr>
        </p:nvCxnSpPr>
        <p:spPr>
          <a:xfrm rot="5387722">
            <a:off x="3460033"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4" name="Connector 38"/>
          <p:cNvCxnSpPr/>
          <p:nvPr>
            <p:custDataLst>
              <p:tags r:id="rId28"/>
            </p:custDataLst>
          </p:nvPr>
        </p:nvCxnSpPr>
        <p:spPr>
          <a:xfrm rot="5387722">
            <a:off x="4730033"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5" name="Connector 39"/>
          <p:cNvCxnSpPr/>
          <p:nvPr>
            <p:custDataLst>
              <p:tags r:id="rId29"/>
            </p:custDataLst>
          </p:nvPr>
        </p:nvCxnSpPr>
        <p:spPr>
          <a:xfrm rot="5387722">
            <a:off x="5994389" y="392432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6" name="Connector 40"/>
          <p:cNvCxnSpPr/>
          <p:nvPr>
            <p:custDataLst>
              <p:tags r:id="rId30"/>
            </p:custDataLst>
          </p:nvPr>
        </p:nvCxnSpPr>
        <p:spPr>
          <a:xfrm rot="5387722">
            <a:off x="7259770" y="3930650"/>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cxnSp>
        <p:nvCxnSpPr>
          <p:cNvPr id="57" name="Connector 41"/>
          <p:cNvCxnSpPr/>
          <p:nvPr>
            <p:custDataLst>
              <p:tags r:id="rId31"/>
            </p:custDataLst>
          </p:nvPr>
        </p:nvCxnSpPr>
        <p:spPr>
          <a:xfrm rot="5387722">
            <a:off x="8508989" y="3924323"/>
            <a:ext cx="3556023" cy="12700"/>
          </a:xfrm>
          <a:prstGeom prst="straightConnector1">
            <a:avLst/>
          </a:prstGeom>
          <a:solidFill>
            <a:srgbClr val="DEE0E3">
              <a:alpha val="100000"/>
            </a:srgbClr>
          </a:solidFill>
          <a:ln w="12700" cap="flat" cmpd="sng">
            <a:solidFill>
              <a:srgbClr val="E2E8F0">
                <a:alpha val="100000"/>
              </a:srgbClr>
            </a:solidFill>
            <a:prstDash val="dash"/>
            <a:round/>
            <a:headEnd type="none" w="med" len="med"/>
            <a:tailEnd type="none" w="med" len="med"/>
          </a:ln>
        </p:spPr>
      </p:cxnSp>
      <p:sp>
        <p:nvSpPr>
          <p:cNvPr id="58" name="AutoShape 42"/>
          <p:cNvSpPr/>
          <p:nvPr>
            <p:custDataLst>
              <p:tags r:id="rId32"/>
            </p:custDataLst>
          </p:nvPr>
        </p:nvSpPr>
        <p:spPr>
          <a:xfrm>
            <a:off x="3302000" y="2311400"/>
            <a:ext cx="38100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2</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59" name="AutoShape 43"/>
          <p:cNvSpPr/>
          <p:nvPr>
            <p:custDataLst>
              <p:tags r:id="rId33"/>
            </p:custDataLst>
          </p:nvPr>
        </p:nvSpPr>
        <p:spPr>
          <a:xfrm>
            <a:off x="3683000" y="2692400"/>
            <a:ext cx="111633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altLang="zh-CN" sz="1000">
                <a:solidFill>
                  <a:schemeClr val="bg1"/>
                </a:solidFill>
                <a:latin typeface="微软雅黑" charset="0"/>
                <a:ea typeface="微软雅黑" charset="0"/>
              </a:rPr>
              <a:t>8</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0" name="AutoShape 44"/>
          <p:cNvSpPr/>
          <p:nvPr>
            <p:custDataLst>
              <p:tags r:id="rId34"/>
            </p:custDataLst>
          </p:nvPr>
        </p:nvSpPr>
        <p:spPr>
          <a:xfrm>
            <a:off x="4511040" y="3073400"/>
            <a:ext cx="513715"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3</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1" name="AutoShape 45"/>
          <p:cNvSpPr/>
          <p:nvPr>
            <p:custDataLst>
              <p:tags r:id="rId35"/>
            </p:custDataLst>
          </p:nvPr>
        </p:nvSpPr>
        <p:spPr>
          <a:xfrm>
            <a:off x="4674870" y="3454400"/>
            <a:ext cx="91567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altLang="zh-CN" sz="1000">
                <a:solidFill>
                  <a:schemeClr val="bg1"/>
                </a:solidFill>
                <a:latin typeface="微软雅黑" charset="0"/>
                <a:ea typeface="微软雅黑" charset="0"/>
              </a:rPr>
              <a:t>7</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2" name="AutoShape 46"/>
          <p:cNvSpPr/>
          <p:nvPr>
            <p:custDataLst>
              <p:tags r:id="rId36"/>
            </p:custDataLst>
          </p:nvPr>
        </p:nvSpPr>
        <p:spPr>
          <a:xfrm>
            <a:off x="4675505" y="3835400"/>
            <a:ext cx="2817495"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200">
                <a:solidFill>
                  <a:schemeClr val="bg1"/>
                </a:solidFill>
                <a:latin typeface="微软雅黑" charset="0"/>
                <a:ea typeface="微软雅黑" charset="0"/>
              </a:rPr>
              <a:t>20</a:t>
            </a:r>
            <a:r>
              <a:rPr lang="zh-CN" altLang="en-US" sz="1200">
                <a:solidFill>
                  <a:schemeClr val="bg1"/>
                </a:solidFill>
                <a:latin typeface="微软雅黑" charset="0"/>
                <a:ea typeface="微软雅黑" charset="0"/>
              </a:rPr>
              <a:t>周</a:t>
            </a:r>
            <a:endParaRPr lang="zh-CN" altLang="en-US" sz="1200">
              <a:solidFill>
                <a:schemeClr val="bg1"/>
              </a:solidFill>
              <a:latin typeface="微软雅黑" charset="0"/>
              <a:ea typeface="微软雅黑" charset="0"/>
            </a:endParaRPr>
          </a:p>
        </p:txBody>
      </p:sp>
      <p:sp>
        <p:nvSpPr>
          <p:cNvPr id="63" name="AutoShape 47"/>
          <p:cNvSpPr/>
          <p:nvPr>
            <p:custDataLst>
              <p:tags r:id="rId37"/>
            </p:custDataLst>
          </p:nvPr>
        </p:nvSpPr>
        <p:spPr>
          <a:xfrm>
            <a:off x="7520940" y="4216400"/>
            <a:ext cx="251206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200">
                <a:solidFill>
                  <a:schemeClr val="bg1"/>
                </a:solidFill>
                <a:latin typeface="微软雅黑" charset="0"/>
                <a:ea typeface="微软雅黑" charset="0"/>
              </a:rPr>
              <a:t>20</a:t>
            </a:r>
            <a:r>
              <a:rPr lang="zh-CN" altLang="en-US" sz="1200">
                <a:solidFill>
                  <a:schemeClr val="bg1"/>
                </a:solidFill>
                <a:latin typeface="微软雅黑" charset="0"/>
                <a:ea typeface="微软雅黑" charset="0"/>
              </a:rPr>
              <a:t>周</a:t>
            </a:r>
            <a:endParaRPr lang="zh-CN" altLang="en-US" sz="1200">
              <a:solidFill>
                <a:schemeClr val="bg1"/>
              </a:solidFill>
              <a:latin typeface="微软雅黑" charset="0"/>
              <a:ea typeface="微软雅黑" charset="0"/>
            </a:endParaRPr>
          </a:p>
        </p:txBody>
      </p:sp>
      <p:sp>
        <p:nvSpPr>
          <p:cNvPr id="64" name="AutoShape 48"/>
          <p:cNvSpPr/>
          <p:nvPr>
            <p:custDataLst>
              <p:tags r:id="rId38"/>
            </p:custDataLst>
          </p:nvPr>
        </p:nvSpPr>
        <p:spPr>
          <a:xfrm>
            <a:off x="9931400" y="4597400"/>
            <a:ext cx="92710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7</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sp>
        <p:nvSpPr>
          <p:cNvPr id="65" name="AutoShape 49"/>
          <p:cNvSpPr/>
          <p:nvPr>
            <p:custDataLst>
              <p:tags r:id="rId39"/>
            </p:custDataLst>
          </p:nvPr>
        </p:nvSpPr>
        <p:spPr>
          <a:xfrm>
            <a:off x="10858500" y="4978400"/>
            <a:ext cx="444500" cy="330200"/>
          </a:xfrm>
          <a:prstGeom prst="homePlate">
            <a:avLst/>
          </a:prstGeom>
          <a:solidFill>
            <a:srgbClr val="00659B"/>
          </a:solidFill>
          <a:ln w="25400" cap="flat" cmpd="sng">
            <a:noFill/>
            <a:prstDash val="solid"/>
            <a:round/>
          </a:ln>
          <a:effectLst/>
        </p:spPr>
        <p:txBody>
          <a:bodyPr vert="horz" wrap="square" lIns="0" tIns="0" rIns="0" bIns="0" rtlCol="0" anchor="ctr" anchorCtr="0"/>
          <a:lstStyle/>
          <a:p>
            <a:pPr algn="ctr">
              <a:defRPr/>
            </a:pPr>
            <a:r>
              <a:rPr lang="en-US" sz="1000">
                <a:solidFill>
                  <a:schemeClr val="bg1"/>
                </a:solidFill>
                <a:latin typeface="微软雅黑" charset="0"/>
                <a:ea typeface="微软雅黑" charset="0"/>
              </a:rPr>
              <a:t>2</a:t>
            </a:r>
            <a:r>
              <a:rPr lang="zh-CN" altLang="en-US" sz="1000">
                <a:solidFill>
                  <a:schemeClr val="bg1"/>
                </a:solidFill>
                <a:latin typeface="微软雅黑" charset="0"/>
                <a:ea typeface="微软雅黑" charset="0"/>
              </a:rPr>
              <a:t>周</a:t>
            </a:r>
            <a:endParaRPr lang="zh-CN" altLang="en-US" sz="1000">
              <a:solidFill>
                <a:schemeClr val="bg1"/>
              </a:solidFill>
              <a:latin typeface="微软雅黑" charset="0"/>
              <a:ea typeface="微软雅黑" charset="0"/>
            </a:endParaRPr>
          </a:p>
        </p:txBody>
      </p:sp>
      <p:cxnSp>
        <p:nvCxnSpPr>
          <p:cNvPr id="2" name="直接连接符 1"/>
          <p:cNvCxnSpPr/>
          <p:nvPr/>
        </p:nvCxnSpPr>
        <p:spPr>
          <a:xfrm flipV="1">
            <a:off x="1113155" y="2641600"/>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17" name="直接连接符 16"/>
          <p:cNvCxnSpPr/>
          <p:nvPr>
            <p:custDataLst>
              <p:tags r:id="rId40"/>
            </p:custDataLst>
          </p:nvPr>
        </p:nvCxnSpPr>
        <p:spPr>
          <a:xfrm flipV="1">
            <a:off x="1113155" y="3054985"/>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19" name="直接连接符 18"/>
          <p:cNvCxnSpPr/>
          <p:nvPr>
            <p:custDataLst>
              <p:tags r:id="rId41"/>
            </p:custDataLst>
          </p:nvPr>
        </p:nvCxnSpPr>
        <p:spPr>
          <a:xfrm flipV="1">
            <a:off x="1113155" y="3403600"/>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42"/>
            </p:custDataLst>
          </p:nvPr>
        </p:nvCxnSpPr>
        <p:spPr>
          <a:xfrm flipV="1">
            <a:off x="1113155" y="3789045"/>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43"/>
            </p:custDataLst>
          </p:nvPr>
        </p:nvCxnSpPr>
        <p:spPr>
          <a:xfrm flipV="1">
            <a:off x="1113155" y="4165600"/>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44"/>
            </p:custDataLst>
          </p:nvPr>
        </p:nvCxnSpPr>
        <p:spPr>
          <a:xfrm flipV="1">
            <a:off x="1113155" y="4578985"/>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3" name="直接连接符 22"/>
          <p:cNvCxnSpPr/>
          <p:nvPr>
            <p:custDataLst>
              <p:tags r:id="rId45"/>
            </p:custDataLst>
          </p:nvPr>
        </p:nvCxnSpPr>
        <p:spPr>
          <a:xfrm flipV="1">
            <a:off x="1113155" y="4927600"/>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4" name="直接连接符 23"/>
          <p:cNvCxnSpPr/>
          <p:nvPr>
            <p:custDataLst>
              <p:tags r:id="rId46"/>
            </p:custDataLst>
          </p:nvPr>
        </p:nvCxnSpPr>
        <p:spPr>
          <a:xfrm flipV="1">
            <a:off x="1113155" y="5313045"/>
            <a:ext cx="10278110" cy="18415"/>
          </a:xfrm>
          <a:prstGeom prst="line">
            <a:avLst/>
          </a:prstGeom>
          <a:ln w="12700" cap="flat" cmpd="sng">
            <a:solidFill>
              <a:srgbClr val="00659B">
                <a:alpha val="5000"/>
              </a:srgbClr>
            </a:solidFill>
            <a:prstDash val="solid"/>
            <a:headEnd type="none" w="med" len="med"/>
            <a:tailEnd type="none" w="med" len="med"/>
          </a:ln>
          <a:effectLst/>
        </p:spPr>
        <p:style>
          <a:lnRef idx="2">
            <a:schemeClr val="accent1"/>
          </a:lnRef>
          <a:fillRef idx="0">
            <a:srgbClr val="FFFFFF"/>
          </a:fillRef>
          <a:effectRef idx="0">
            <a:srgbClr val="FFFFFF"/>
          </a:effectRef>
          <a:fontRef idx="minor">
            <a:schemeClr val="tx1"/>
          </a:fontRef>
        </p:style>
      </p:cxnSp>
      <p:cxnSp>
        <p:nvCxnSpPr>
          <p:cNvPr id="25" name="Straight Connector 5"/>
          <p:cNvCxnSpPr/>
          <p:nvPr>
            <p:custDataLst>
              <p:tags r:id="rId47"/>
            </p:custDataLst>
          </p:nvPr>
        </p:nvCxnSpPr>
        <p:spPr>
          <a:xfrm>
            <a:off x="4798837"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26" name="Star: 5 Points 16"/>
          <p:cNvSpPr/>
          <p:nvPr>
            <p:custDataLst>
              <p:tags r:id="rId48"/>
            </p:custDataLst>
          </p:nvPr>
        </p:nvSpPr>
        <p:spPr>
          <a:xfrm>
            <a:off x="4782945" y="2662342"/>
            <a:ext cx="250735"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27" name="TextBox 35"/>
          <p:cNvSpPr txBox="1"/>
          <p:nvPr>
            <p:custDataLst>
              <p:tags r:id="rId49"/>
            </p:custDataLst>
          </p:nvPr>
        </p:nvSpPr>
        <p:spPr>
          <a:xfrm>
            <a:off x="4494406" y="2838582"/>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5.09</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28" name="Straight Connector 5"/>
          <p:cNvCxnSpPr/>
          <p:nvPr>
            <p:custDataLst>
              <p:tags r:id="rId50"/>
            </p:custDataLst>
          </p:nvPr>
        </p:nvCxnSpPr>
        <p:spPr>
          <a:xfrm>
            <a:off x="5608462"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29" name="Star: 5 Points 16"/>
          <p:cNvSpPr/>
          <p:nvPr>
            <p:custDataLst>
              <p:tags r:id="rId51"/>
            </p:custDataLst>
          </p:nvPr>
        </p:nvSpPr>
        <p:spPr>
          <a:xfrm>
            <a:off x="5591175" y="3468370"/>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30" name="TextBox 35"/>
          <p:cNvSpPr txBox="1"/>
          <p:nvPr>
            <p:custDataLst>
              <p:tags r:id="rId52"/>
            </p:custDataLst>
          </p:nvPr>
        </p:nvSpPr>
        <p:spPr>
          <a:xfrm>
            <a:off x="5302761" y="3644397"/>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6.18</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31" name="Straight Connector 5"/>
          <p:cNvCxnSpPr/>
          <p:nvPr>
            <p:custDataLst>
              <p:tags r:id="rId53"/>
            </p:custDataLst>
          </p:nvPr>
        </p:nvCxnSpPr>
        <p:spPr>
          <a:xfrm>
            <a:off x="7493142"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32" name="Star: 5 Points 16"/>
          <p:cNvSpPr/>
          <p:nvPr>
            <p:custDataLst>
              <p:tags r:id="rId54"/>
            </p:custDataLst>
          </p:nvPr>
        </p:nvSpPr>
        <p:spPr>
          <a:xfrm>
            <a:off x="7464425" y="3860800"/>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66" name="TextBox 35"/>
          <p:cNvSpPr txBox="1"/>
          <p:nvPr>
            <p:custDataLst>
              <p:tags r:id="rId55"/>
            </p:custDataLst>
          </p:nvPr>
        </p:nvSpPr>
        <p:spPr>
          <a:xfrm>
            <a:off x="7176011" y="4036827"/>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9.18</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67" name="Straight Connector 5"/>
          <p:cNvCxnSpPr/>
          <p:nvPr>
            <p:custDataLst>
              <p:tags r:id="rId56"/>
            </p:custDataLst>
          </p:nvPr>
        </p:nvCxnSpPr>
        <p:spPr>
          <a:xfrm>
            <a:off x="10033142" y="2159095"/>
            <a:ext cx="0" cy="3718560"/>
          </a:xfrm>
          <a:prstGeom prst="line">
            <a:avLst/>
          </a:prstGeom>
          <a:ln w="19050">
            <a:solidFill>
              <a:srgbClr val="BC204B"/>
            </a:solidFill>
            <a:prstDash val="dash"/>
          </a:ln>
        </p:spPr>
        <p:style>
          <a:lnRef idx="1">
            <a:schemeClr val="accent1"/>
          </a:lnRef>
          <a:fillRef idx="0">
            <a:schemeClr val="accent1"/>
          </a:fillRef>
          <a:effectRef idx="0">
            <a:schemeClr val="accent1"/>
          </a:effectRef>
          <a:fontRef idx="minor">
            <a:schemeClr val="tx1"/>
          </a:fontRef>
        </p:style>
      </p:cxnSp>
      <p:sp>
        <p:nvSpPr>
          <p:cNvPr id="68" name="Star: 5 Points 16"/>
          <p:cNvSpPr/>
          <p:nvPr>
            <p:custDataLst>
              <p:tags r:id="rId57"/>
            </p:custDataLst>
          </p:nvPr>
        </p:nvSpPr>
        <p:spPr>
          <a:xfrm>
            <a:off x="10056495" y="4239895"/>
            <a:ext cx="251460" cy="223520"/>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000" b="1" i="0" u="none" strike="noStrike" kern="1200" cap="none" spc="0" normalizeH="0" baseline="0" noProof="0" dirty="0" err="1">
              <a:ln>
                <a:noFill/>
              </a:ln>
              <a:solidFill>
                <a:prstClr val="white"/>
              </a:solidFill>
              <a:effectLst/>
              <a:uLnTx/>
              <a:uFillTx/>
              <a:latin typeface="Arial" panose="020B0604020202090204"/>
              <a:ea typeface="微软雅黑" panose="020B0503020204020204" pitchFamily="34" charset="-122"/>
              <a:cs typeface="+mn-cs"/>
            </a:endParaRPr>
          </a:p>
        </p:txBody>
      </p:sp>
      <p:sp>
        <p:nvSpPr>
          <p:cNvPr id="69" name="TextBox 35"/>
          <p:cNvSpPr txBox="1"/>
          <p:nvPr>
            <p:custDataLst>
              <p:tags r:id="rId58"/>
            </p:custDataLst>
          </p:nvPr>
        </p:nvSpPr>
        <p:spPr>
          <a:xfrm>
            <a:off x="9768081" y="4415922"/>
            <a:ext cx="866163" cy="234807"/>
          </a:xfrm>
          <a:prstGeom prst="rect">
            <a:avLst/>
          </a:prstGeom>
          <a:noFill/>
        </p:spPr>
        <p:txBody>
          <a:bodyPr wrap="square" rtlCol="0" anchor="ctr">
            <a:noAutofit/>
          </a:bodyPr>
          <a:lstStyle/>
          <a:p>
            <a:pPr marL="0" marR="0" lvl="0" indent="0" algn="ctr" defTabSz="914400" rtl="0" eaLnBrk="0" fontAlgn="base" latinLnBrk="0" hangingPunct="0">
              <a:lnSpc>
                <a:spcPct val="100000"/>
              </a:lnSpc>
              <a:spcBef>
                <a:spcPct val="20000"/>
              </a:spcBef>
              <a:spcAft>
                <a:spcPct val="0"/>
              </a:spcAft>
              <a:buClrTx/>
              <a:buSzTx/>
              <a:buFontTx/>
              <a:buNone/>
              <a:defRPr/>
            </a:pPr>
            <a:r>
              <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rPr>
              <a:t>1.15</a:t>
            </a:r>
            <a:endParaRPr kumimoji="1" lang="en-US" sz="1200" b="1" i="0" u="none" strike="noStrike" kern="1200" cap="none" spc="0" normalizeH="0" baseline="0" noProof="0" dirty="0">
              <a:ln>
                <a:noFill/>
              </a:ln>
              <a:solidFill>
                <a:prstClr val="black"/>
              </a:solidFill>
              <a:effectLst/>
              <a:uLnTx/>
              <a:uFillTx/>
              <a:latin typeface="Arial" panose="020B0604020202090204"/>
              <a:ea typeface="微软雅黑" panose="020B0503020204020204" pitchFamily="34" charset="-122"/>
              <a:cs typeface="微软雅黑" panose="020B0503020204020204" pitchFamily="34" charset="-122"/>
              <a:sym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400" y="347960"/>
            <a:ext cx="6480720" cy="521970"/>
          </a:xfrm>
          <a:prstGeom prst="rect">
            <a:avLst/>
          </a:prstGeom>
          <a:noFill/>
        </p:spPr>
        <p:txBody>
          <a:bodyPr wrap="square" rtlCol="0">
            <a:sp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rPr>
              <a:t>项目详细计划</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16" name="Rectangle 6"/>
          <p:cNvSpPr/>
          <p:nvPr>
            <p:custDataLst>
              <p:tags r:id="rId1"/>
            </p:custDataLst>
          </p:nvPr>
        </p:nvSpPr>
        <p:spPr bwMode="auto">
          <a:xfrm>
            <a:off x="205970" y="2045919"/>
            <a:ext cx="890023" cy="3120707"/>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关键节点</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Rectangle 6"/>
          <p:cNvSpPr/>
          <p:nvPr>
            <p:custDataLst>
              <p:tags r:id="rId2"/>
            </p:custDataLst>
          </p:nvPr>
        </p:nvSpPr>
        <p:spPr bwMode="auto">
          <a:xfrm>
            <a:off x="207344" y="1225470"/>
            <a:ext cx="888651" cy="49032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时间轴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5" name="Rectangle 6"/>
          <p:cNvSpPr/>
          <p:nvPr>
            <p:custDataLst>
              <p:tags r:id="rId3"/>
            </p:custDataLst>
          </p:nvPr>
        </p:nvSpPr>
        <p:spPr bwMode="auto">
          <a:xfrm>
            <a:off x="209696" y="1755510"/>
            <a:ext cx="895910" cy="248705"/>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项目阶段</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37" name="组合 36"/>
          <p:cNvGrpSpPr/>
          <p:nvPr/>
        </p:nvGrpSpPr>
        <p:grpSpPr>
          <a:xfrm>
            <a:off x="1145836" y="1208602"/>
            <a:ext cx="10779126" cy="795792"/>
            <a:chOff x="1302852" y="964503"/>
            <a:chExt cx="11102843" cy="795792"/>
          </a:xfrm>
        </p:grpSpPr>
        <p:sp>
          <p:nvSpPr>
            <p:cNvPr id="39" name="Rectangle 6"/>
            <p:cNvSpPr/>
            <p:nvPr>
              <p:custDataLst>
                <p:tags r:id="rId4"/>
              </p:custDataLst>
            </p:nvPr>
          </p:nvSpPr>
          <p:spPr bwMode="auto">
            <a:xfrm>
              <a:off x="1302852" y="964503"/>
              <a:ext cx="8534308" cy="241300"/>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2026</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2" name="矩形 41"/>
            <p:cNvSpPr/>
            <p:nvPr>
              <p:custDataLst>
                <p:tags r:id="rId5"/>
              </p:custDataLst>
            </p:nvPr>
          </p:nvSpPr>
          <p:spPr>
            <a:xfrm>
              <a:off x="130285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44" name="组合 43"/>
            <p:cNvGrpSpPr/>
            <p:nvPr/>
          </p:nvGrpSpPr>
          <p:grpSpPr>
            <a:xfrm>
              <a:off x="1302854" y="1518995"/>
              <a:ext cx="5896443" cy="241300"/>
              <a:chOff x="1355511" y="1518995"/>
              <a:chExt cx="5896443" cy="241300"/>
            </a:xfrm>
          </p:grpSpPr>
          <p:sp>
            <p:nvSpPr>
              <p:cNvPr id="46" name="五边形 31"/>
              <p:cNvSpPr/>
              <p:nvPr>
                <p:custDataLst>
                  <p:tags r:id="rId6"/>
                </p:custDataLst>
              </p:nvPr>
            </p:nvSpPr>
            <p:spPr>
              <a:xfrm>
                <a:off x="1355511" y="1518995"/>
                <a:ext cx="604272" cy="241128"/>
              </a:xfrm>
              <a:prstGeom prst="homePlate">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Bold" panose="020B0604020202090204" charset="0"/>
                  </a:rPr>
                  <a:t>项目启动</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Bold" panose="020B0604020202090204" charset="0"/>
                </a:endParaRPr>
              </a:p>
            </p:txBody>
          </p:sp>
          <p:sp>
            <p:nvSpPr>
              <p:cNvPr id="70" name="燕尾形 33"/>
              <p:cNvSpPr/>
              <p:nvPr>
                <p:custDataLst>
                  <p:tags r:id="rId7"/>
                </p:custDataLst>
              </p:nvPr>
            </p:nvSpPr>
            <p:spPr>
              <a:xfrm>
                <a:off x="1893157" y="1518995"/>
                <a:ext cx="1089681"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调研需求分析</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1" name="燕尾形 33"/>
              <p:cNvSpPr/>
              <p:nvPr>
                <p:custDataLst>
                  <p:tags r:id="rId8"/>
                </p:custDataLst>
              </p:nvPr>
            </p:nvSpPr>
            <p:spPr>
              <a:xfrm>
                <a:off x="2895192" y="1518995"/>
                <a:ext cx="899347"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初稿蓝图</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2" name="燕尾形 174"/>
              <p:cNvSpPr/>
              <p:nvPr>
                <p:custDataLst>
                  <p:tags r:id="rId9"/>
                </p:custDataLst>
              </p:nvPr>
            </p:nvSpPr>
            <p:spPr>
              <a:xfrm>
                <a:off x="3701661" y="1518995"/>
                <a:ext cx="824783"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定稿蓝图</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3" name="燕尾形 33"/>
              <p:cNvSpPr/>
              <p:nvPr>
                <p:custDataLst>
                  <p:tags r:id="rId10"/>
                </p:custDataLst>
              </p:nvPr>
            </p:nvSpPr>
            <p:spPr>
              <a:xfrm>
                <a:off x="4444685" y="1518995"/>
                <a:ext cx="2807269"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一阶段项目开发</a:t>
                </a:r>
                <a:r>
                  <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（5.6-9.18）</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74" name="Rectangle 6"/>
            <p:cNvSpPr/>
            <p:nvPr>
              <p:custDataLst>
                <p:tags r:id="rId11"/>
              </p:custDataLst>
            </p:nvPr>
          </p:nvSpPr>
          <p:spPr bwMode="auto">
            <a:xfrm>
              <a:off x="9867248" y="964503"/>
              <a:ext cx="2538447" cy="241300"/>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2027</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5" name="矩形 74"/>
            <p:cNvSpPr/>
            <p:nvPr>
              <p:custDataLst>
                <p:tags r:id="rId12"/>
              </p:custDataLst>
            </p:nvPr>
          </p:nvSpPr>
          <p:spPr>
            <a:xfrm>
              <a:off x="2159128"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4</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6" name="矩形 75"/>
            <p:cNvSpPr/>
            <p:nvPr>
              <p:custDataLst>
                <p:tags r:id="rId13"/>
              </p:custDataLst>
            </p:nvPr>
          </p:nvSpPr>
          <p:spPr>
            <a:xfrm>
              <a:off x="301540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5</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7" name="矩形 76"/>
            <p:cNvSpPr/>
            <p:nvPr>
              <p:custDataLst>
                <p:tags r:id="rId14"/>
              </p:custDataLst>
            </p:nvPr>
          </p:nvSpPr>
          <p:spPr>
            <a:xfrm>
              <a:off x="3871678"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6</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8" name="矩形 77"/>
            <p:cNvSpPr/>
            <p:nvPr>
              <p:custDataLst>
                <p:tags r:id="rId15"/>
              </p:custDataLst>
            </p:nvPr>
          </p:nvSpPr>
          <p:spPr>
            <a:xfrm>
              <a:off x="4727953"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7</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9" name="矩形 78"/>
            <p:cNvSpPr/>
            <p:nvPr>
              <p:custDataLst>
                <p:tags r:id="rId16"/>
              </p:custDataLst>
            </p:nvPr>
          </p:nvSpPr>
          <p:spPr>
            <a:xfrm>
              <a:off x="5584226" y="124843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8</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0" name="矩形 79"/>
            <p:cNvSpPr/>
            <p:nvPr>
              <p:custDataLst>
                <p:tags r:id="rId17"/>
              </p:custDataLst>
            </p:nvPr>
          </p:nvSpPr>
          <p:spPr>
            <a:xfrm>
              <a:off x="644249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9</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1" name="矩形 80"/>
            <p:cNvSpPr/>
            <p:nvPr>
              <p:custDataLst>
                <p:tags r:id="rId18"/>
              </p:custDataLst>
            </p:nvPr>
          </p:nvSpPr>
          <p:spPr>
            <a:xfrm>
              <a:off x="7298770"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10</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2" name="矩形 81"/>
            <p:cNvSpPr/>
            <p:nvPr>
              <p:custDataLst>
                <p:tags r:id="rId19"/>
              </p:custDataLst>
            </p:nvPr>
          </p:nvSpPr>
          <p:spPr>
            <a:xfrm>
              <a:off x="815504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11</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3" name="矩形 82"/>
            <p:cNvSpPr/>
            <p:nvPr>
              <p:custDataLst>
                <p:tags r:id="rId20"/>
              </p:custDataLst>
            </p:nvPr>
          </p:nvSpPr>
          <p:spPr>
            <a:xfrm>
              <a:off x="9011320"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12</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矩形 83"/>
            <p:cNvSpPr/>
            <p:nvPr>
              <p:custDataLst>
                <p:tags r:id="rId21"/>
              </p:custDataLst>
            </p:nvPr>
          </p:nvSpPr>
          <p:spPr>
            <a:xfrm>
              <a:off x="9867595"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1</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5" name="矩形 84"/>
            <p:cNvSpPr/>
            <p:nvPr>
              <p:custDataLst>
                <p:tags r:id="rId22"/>
              </p:custDataLst>
            </p:nvPr>
          </p:nvSpPr>
          <p:spPr>
            <a:xfrm>
              <a:off x="10723868"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6" name="矩形 85"/>
            <p:cNvSpPr/>
            <p:nvPr>
              <p:custDataLst>
                <p:tags r:id="rId23"/>
              </p:custDataLst>
            </p:nvPr>
          </p:nvSpPr>
          <p:spPr>
            <a:xfrm>
              <a:off x="11580141" y="1244942"/>
              <a:ext cx="825273" cy="214336"/>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3</a:t>
              </a: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cxnSp>
        <p:nvCxnSpPr>
          <p:cNvPr id="87" name="直接箭头连接符 86"/>
          <p:cNvCxnSpPr>
            <a:stCxn id="88" idx="0"/>
          </p:cNvCxnSpPr>
          <p:nvPr>
            <p:custDataLst>
              <p:tags r:id="rId24"/>
            </p:custDataLst>
          </p:nvPr>
        </p:nvCxnSpPr>
        <p:spPr>
          <a:xfrm flipV="1">
            <a:off x="3267538" y="2008981"/>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custDataLst>
              <p:tags r:id="rId25"/>
            </p:custDataLst>
          </p:nvPr>
        </p:nvSpPr>
        <p:spPr>
          <a:xfrm>
            <a:off x="2853657" y="2840326"/>
            <a:ext cx="827762" cy="6477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4</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初稿蓝图方案设计</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91" name="直接箭头连接符 90"/>
          <p:cNvCxnSpPr>
            <a:stCxn id="92" idx="0"/>
          </p:cNvCxnSpPr>
          <p:nvPr>
            <p:custDataLst>
              <p:tags r:id="rId26"/>
            </p:custDataLst>
          </p:nvPr>
        </p:nvCxnSpPr>
        <p:spPr>
          <a:xfrm flipV="1">
            <a:off x="2412144" y="2010621"/>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94" idx="0"/>
          </p:cNvCxnSpPr>
          <p:nvPr>
            <p:custDataLst>
              <p:tags r:id="rId27"/>
            </p:custDataLst>
          </p:nvPr>
        </p:nvCxnSpPr>
        <p:spPr>
          <a:xfrm flipV="1">
            <a:off x="4117201" y="2012856"/>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custDataLst>
              <p:tags r:id="rId28"/>
            </p:custDataLst>
          </p:nvPr>
        </p:nvSpPr>
        <p:spPr>
          <a:xfrm>
            <a:off x="3703320" y="2844201"/>
            <a:ext cx="827762" cy="953599"/>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终版蓝图方案确认（分阶段建设蓝图确认）</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3" name="直接箭头连接符 132"/>
          <p:cNvCxnSpPr/>
          <p:nvPr>
            <p:custDataLst>
              <p:tags r:id="rId29"/>
            </p:custDataLst>
          </p:nvPr>
        </p:nvCxnSpPr>
        <p:spPr>
          <a:xfrm flipV="1">
            <a:off x="4295715" y="2010695"/>
            <a:ext cx="0" cy="1994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矩形 133"/>
          <p:cNvSpPr/>
          <p:nvPr>
            <p:custDataLst>
              <p:tags r:id="rId30"/>
            </p:custDataLst>
          </p:nvPr>
        </p:nvSpPr>
        <p:spPr>
          <a:xfrm>
            <a:off x="3863975" y="3908425"/>
            <a:ext cx="828040" cy="8820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26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一阶段需求说明业务部门签字确认书</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5" name="直接箭头连接符 134"/>
          <p:cNvCxnSpPr>
            <a:stCxn id="136" idx="0"/>
          </p:cNvCxnSpPr>
          <p:nvPr>
            <p:custDataLst>
              <p:tags r:id="rId31"/>
            </p:custDataLst>
          </p:nvPr>
        </p:nvCxnSpPr>
        <p:spPr>
          <a:xfrm flipV="1">
            <a:off x="2877621" y="1998556"/>
            <a:ext cx="0" cy="1897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矩形 135"/>
          <p:cNvSpPr/>
          <p:nvPr>
            <p:custDataLst>
              <p:tags r:id="rId32"/>
            </p:custDataLst>
          </p:nvPr>
        </p:nvSpPr>
        <p:spPr>
          <a:xfrm>
            <a:off x="2385060" y="3895725"/>
            <a:ext cx="984885" cy="894080"/>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5</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一阶段开发，前期搭建环境、技术方案</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7" name="直接箭头连接符 136"/>
          <p:cNvCxnSpPr>
            <a:stCxn id="138" idx="0"/>
          </p:cNvCxnSpPr>
          <p:nvPr>
            <p:custDataLst>
              <p:tags r:id="rId33"/>
            </p:custDataLst>
          </p:nvPr>
        </p:nvCxnSpPr>
        <p:spPr>
          <a:xfrm flipV="1">
            <a:off x="8885890" y="204676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矩形 137"/>
          <p:cNvSpPr/>
          <p:nvPr>
            <p:custDataLst>
              <p:tags r:id="rId34"/>
            </p:custDataLst>
          </p:nvPr>
        </p:nvSpPr>
        <p:spPr>
          <a:xfrm>
            <a:off x="8472009" y="2878105"/>
            <a:ext cx="827762" cy="6524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12</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开始二阶段整体联调测试</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39" name="直接箭头连接符 138"/>
          <p:cNvCxnSpPr>
            <a:stCxn id="140" idx="0"/>
          </p:cNvCxnSpPr>
          <p:nvPr>
            <p:custDataLst>
              <p:tags r:id="rId35"/>
            </p:custDataLst>
          </p:nvPr>
        </p:nvCxnSpPr>
        <p:spPr>
          <a:xfrm flipV="1">
            <a:off x="5502314" y="201120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矩形 139"/>
          <p:cNvSpPr/>
          <p:nvPr>
            <p:custDataLst>
              <p:tags r:id="rId36"/>
            </p:custDataLst>
          </p:nvPr>
        </p:nvSpPr>
        <p:spPr>
          <a:xfrm>
            <a:off x="5088433" y="2842545"/>
            <a:ext cx="827762" cy="652481"/>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10</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开始一阶段整体联调测试</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1" name="直接箭头连接符 140"/>
          <p:cNvCxnSpPr>
            <a:stCxn id="142" idx="0"/>
          </p:cNvCxnSpPr>
          <p:nvPr>
            <p:custDataLst>
              <p:tags r:id="rId37"/>
            </p:custDataLst>
          </p:nvPr>
        </p:nvCxnSpPr>
        <p:spPr>
          <a:xfrm flipV="1">
            <a:off x="6294102" y="2036021"/>
            <a:ext cx="0" cy="1897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矩形 141"/>
          <p:cNvSpPr/>
          <p:nvPr>
            <p:custDataLst>
              <p:tags r:id="rId38"/>
            </p:custDataLst>
          </p:nvPr>
        </p:nvSpPr>
        <p:spPr>
          <a:xfrm>
            <a:off x="5880100" y="3933190"/>
            <a:ext cx="828040" cy="856615"/>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9</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数据准备、确认与初始化配置</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3" name="直接箭头连接符 142"/>
          <p:cNvCxnSpPr>
            <a:stCxn id="144" idx="0"/>
          </p:cNvCxnSpPr>
          <p:nvPr>
            <p:custDataLst>
              <p:tags r:id="rId39"/>
            </p:custDataLst>
          </p:nvPr>
        </p:nvCxnSpPr>
        <p:spPr>
          <a:xfrm flipV="1">
            <a:off x="6797945" y="2046181"/>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4" name="矩形 143"/>
          <p:cNvSpPr/>
          <p:nvPr>
            <p:custDataLst>
              <p:tags r:id="rId40"/>
            </p:custDataLst>
          </p:nvPr>
        </p:nvSpPr>
        <p:spPr>
          <a:xfrm>
            <a:off x="6384064" y="2877526"/>
            <a:ext cx="827762" cy="652481"/>
          </a:xfrm>
          <a:prstGeom prst="rect">
            <a:avLst/>
          </a:prstGeom>
          <a:solidFill>
            <a:srgbClr val="ECF6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9</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~9</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18</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一阶段系统上线</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cxnSp>
        <p:nvCxnSpPr>
          <p:cNvPr id="145" name="直接箭头连接符 144"/>
          <p:cNvCxnSpPr>
            <a:stCxn id="146" idx="0"/>
          </p:cNvCxnSpPr>
          <p:nvPr>
            <p:custDataLst>
              <p:tags r:id="rId41"/>
            </p:custDataLst>
          </p:nvPr>
        </p:nvCxnSpPr>
        <p:spPr>
          <a:xfrm flipV="1">
            <a:off x="1697131" y="1998322"/>
            <a:ext cx="0" cy="1909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6" name="矩形 145"/>
          <p:cNvSpPr/>
          <p:nvPr>
            <p:custDataLst>
              <p:tags r:id="rId42"/>
            </p:custDataLst>
          </p:nvPr>
        </p:nvSpPr>
        <p:spPr>
          <a:xfrm>
            <a:off x="1260778" y="3908019"/>
            <a:ext cx="872706" cy="882289"/>
          </a:xfrm>
          <a:prstGeom prst="rect">
            <a:avLst/>
          </a:prstGeom>
          <a:solidFill>
            <a:srgbClr val="92D05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03</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16</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完成前期准备，开始需求调研</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grpSp>
        <p:nvGrpSpPr>
          <p:cNvPr id="147" name="组合 146"/>
          <p:cNvGrpSpPr/>
          <p:nvPr/>
        </p:nvGrpSpPr>
        <p:grpSpPr>
          <a:xfrm>
            <a:off x="2116123" y="1937563"/>
            <a:ext cx="244808" cy="3555541"/>
            <a:chOff x="1651764" y="1802001"/>
            <a:chExt cx="244808" cy="3555541"/>
          </a:xfrm>
        </p:grpSpPr>
        <p:cxnSp>
          <p:nvCxnSpPr>
            <p:cNvPr id="148" name="直接连接符 171"/>
            <p:cNvCxnSpPr/>
            <p:nvPr>
              <p:custDataLst>
                <p:tags r:id="rId43"/>
              </p:custDataLst>
            </p:nvPr>
          </p:nvCxnSpPr>
          <p:spPr>
            <a:xfrm>
              <a:off x="1774168" y="1996526"/>
              <a:ext cx="0" cy="3361016"/>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49" name="五角星 128"/>
            <p:cNvSpPr/>
            <p:nvPr>
              <p:custDataLst>
                <p:tags r:id="rId44"/>
              </p:custDataLst>
            </p:nvPr>
          </p:nvSpPr>
          <p:spPr>
            <a:xfrm>
              <a:off x="1651764" y="1802001"/>
              <a:ext cx="244808" cy="212732"/>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仿宋" panose="02010609060101010101" pitchFamily="49" charset="-122"/>
                <a:ea typeface="仿宋" panose="02010609060101010101" pitchFamily="49" charset="-122"/>
                <a:cs typeface="+mn-cs"/>
              </a:endParaRPr>
            </a:p>
          </p:txBody>
        </p:sp>
      </p:grpSp>
      <p:sp>
        <p:nvSpPr>
          <p:cNvPr id="150" name="矩形 149"/>
          <p:cNvSpPr/>
          <p:nvPr>
            <p:custDataLst>
              <p:tags r:id="rId45"/>
            </p:custDataLst>
          </p:nvPr>
        </p:nvSpPr>
        <p:spPr>
          <a:xfrm>
            <a:off x="1583349" y="5444914"/>
            <a:ext cx="1546178" cy="1019241"/>
          </a:xfrm>
          <a:prstGeom prst="rect">
            <a:avLst/>
          </a:prstGeom>
          <a:solidFill>
            <a:srgbClr val="92D050">
              <a:alpha val="30000"/>
            </a:srgbClr>
          </a:solid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black"/>
                </a:solidFill>
                <a:effectLst/>
                <a:uLnTx/>
                <a:uFillTx/>
                <a:latin typeface="Arial" panose="020B0604020202090204"/>
                <a:ea typeface="+mn-ea"/>
                <a:cs typeface="+mn-cs"/>
              </a:rPr>
              <a:t>当前进度：</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目前按计划调研中</a:t>
            </a:r>
            <a:r>
              <a:rPr kumimoji="0" lang="en-US" altLang="zh-CN" sz="1100" b="0" i="0" u="none" strike="noStrike" kern="1200" cap="none" spc="0" normalizeH="0" baseline="0" noProof="0" dirty="0">
                <a:ln>
                  <a:noFill/>
                </a:ln>
                <a:solidFill>
                  <a:prstClr val="black"/>
                </a:solidFill>
                <a:effectLst/>
                <a:uLnTx/>
                <a:uFillTx/>
                <a:latin typeface="Arial" panose="020B0604020202090204"/>
                <a:ea typeface="+mn-ea"/>
                <a:cs typeface="+mn-cs"/>
              </a:rPr>
              <a:t>，</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进度</a:t>
            </a:r>
            <a:r>
              <a:rPr kumimoji="0" lang="en-US" altLang="zh-CN" sz="1100" b="0" i="0" u="none" strike="noStrike" kern="1200" cap="none" spc="0" normalizeH="0" baseline="0" noProof="0" dirty="0">
                <a:ln>
                  <a:noFill/>
                </a:ln>
                <a:solidFill>
                  <a:prstClr val="black"/>
                </a:solidFill>
                <a:effectLst/>
                <a:uLnTx/>
                <a:uFillTx/>
                <a:latin typeface="Arial" panose="020B0604020202090204"/>
                <a:ea typeface="+mn-ea"/>
                <a:cs typeface="+mn-cs"/>
              </a:rPr>
              <a:t>67%</a:t>
            </a:r>
            <a:r>
              <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rPr>
              <a:t>。</a:t>
            </a:r>
            <a:endParaRPr kumimoji="0" lang="zh-CN" altLang="en-US" sz="11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52" name="Rectangle 6"/>
          <p:cNvSpPr/>
          <p:nvPr>
            <p:custDataLst>
              <p:tags r:id="rId46"/>
            </p:custDataLst>
          </p:nvPr>
        </p:nvSpPr>
        <p:spPr bwMode="auto">
          <a:xfrm>
            <a:off x="205971" y="5346544"/>
            <a:ext cx="890022" cy="1233377"/>
          </a:xfrm>
          <a:prstGeom prst="rect">
            <a:avLst/>
          </a:prstGeom>
          <a:solidFill>
            <a:srgbClr val="007E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当前进度</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53" name="直接连接符 152"/>
          <p:cNvCxnSpPr/>
          <p:nvPr>
            <p:custDataLst>
              <p:tags r:id="rId47"/>
            </p:custDataLst>
          </p:nvPr>
        </p:nvCxnSpPr>
        <p:spPr>
          <a:xfrm>
            <a:off x="205971" y="5249371"/>
            <a:ext cx="1171871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55" idx="0"/>
          </p:cNvCxnSpPr>
          <p:nvPr>
            <p:custDataLst>
              <p:tags r:id="rId48"/>
            </p:custDataLst>
          </p:nvPr>
        </p:nvCxnSpPr>
        <p:spPr>
          <a:xfrm flipV="1">
            <a:off x="4925810" y="2009128"/>
            <a:ext cx="0" cy="2702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5" name="矩形 154"/>
          <p:cNvSpPr/>
          <p:nvPr>
            <p:custDataLst>
              <p:tags r:id="rId49"/>
            </p:custDataLst>
          </p:nvPr>
        </p:nvSpPr>
        <p:spPr>
          <a:xfrm>
            <a:off x="4511929" y="4711468"/>
            <a:ext cx="827762" cy="8822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月</a:t>
            </a:r>
            <a:r>
              <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rPr>
              <a:t>17</a:t>
            </a: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rPr>
              <a:t>二阶段需求说明书业务部门签字确认</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57" name="文本框 156"/>
          <p:cNvSpPr txBox="1"/>
          <p:nvPr>
            <p:custDataLst>
              <p:tags r:id="rId50"/>
            </p:custDataLst>
          </p:nvPr>
        </p:nvSpPr>
        <p:spPr>
          <a:xfrm>
            <a:off x="6052326" y="3682800"/>
            <a:ext cx="38404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E7E6E6">
                    <a:lumMod val="75000"/>
                  </a:srgbClr>
                </a:solidFill>
                <a:effectLst/>
                <a:uLnTx/>
                <a:uFillTx/>
                <a:latin typeface="Arial" panose="020B0604020202090204"/>
                <a:ea typeface="+mn-ea"/>
                <a:cs typeface="+mn-cs"/>
              </a:rPr>
              <a:t>蓝图确认后进一步细化开发阶段关键节点</a:t>
            </a:r>
            <a:endParaRPr kumimoji="0" lang="zh-CN" altLang="en-US" sz="1600" b="0" i="0" u="none" strike="noStrike" kern="1200" cap="none" spc="0" normalizeH="0" baseline="0" noProof="0" dirty="0">
              <a:ln>
                <a:noFill/>
              </a:ln>
              <a:solidFill>
                <a:srgbClr val="E7E6E6">
                  <a:lumMod val="75000"/>
                </a:srgbClr>
              </a:solidFill>
              <a:effectLst/>
              <a:uLnTx/>
              <a:uFillTx/>
              <a:latin typeface="Arial" panose="020B0604020202090204"/>
              <a:ea typeface="+mn-ea"/>
              <a:cs typeface="+mn-cs"/>
            </a:endParaRPr>
          </a:p>
        </p:txBody>
      </p:sp>
      <p:sp>
        <p:nvSpPr>
          <p:cNvPr id="95" name="矩形 94"/>
          <p:cNvSpPr/>
          <p:nvPr>
            <p:custDataLst>
              <p:tags r:id="rId51"/>
            </p:custDataLst>
          </p:nvPr>
        </p:nvSpPr>
        <p:spPr>
          <a:xfrm>
            <a:off x="2027555" y="2853055"/>
            <a:ext cx="828040" cy="831850"/>
          </a:xfrm>
          <a:prstGeom prst="rect">
            <a:avLst/>
          </a:prstGeom>
          <a:solidFill>
            <a:srgbClr val="92D05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914400" eaLnBrk="1" fontAlgn="auto" hangingPunct="1">
              <a:spcBef>
                <a:spcPts val="0"/>
              </a:spcBef>
              <a:spcAft>
                <a:spcPts val="0"/>
              </a:spcAft>
              <a:buClrTx/>
              <a:buSzTx/>
              <a:buFontTx/>
              <a:defRPr/>
            </a:pPr>
            <a:r>
              <a:rPr lang="en-US" altLang="zh-CN" sz="1000" noProof="0" dirty="0">
                <a:ln>
                  <a:noFill/>
                </a:ln>
                <a:solidFill>
                  <a:prstClr val="black"/>
                </a:solidFill>
                <a:effectLst/>
                <a:uLnTx/>
                <a:uFillTx/>
                <a:latin typeface="Arial" panose="020B0604020202090204"/>
                <a:sym typeface="+mn-ea"/>
              </a:rPr>
              <a:t>3月17日~5月9日</a:t>
            </a:r>
            <a:endParaRPr lang="en-US" altLang="zh-CN" sz="1000" noProof="0" dirty="0">
              <a:ln>
                <a:noFill/>
              </a:ln>
              <a:solidFill>
                <a:prstClr val="black"/>
              </a:solidFill>
              <a:effectLst/>
              <a:uLnTx/>
              <a:uFillTx/>
              <a:latin typeface="Arial" panose="020B0604020202090204"/>
              <a:sym typeface="+mn-ea"/>
            </a:endParaRPr>
          </a:p>
          <a:p>
            <a:pPr lvl="0" algn="ctr" defTabSz="914400" eaLnBrk="1" fontAlgn="auto" hangingPunct="1">
              <a:spcBef>
                <a:spcPts val="0"/>
              </a:spcBef>
              <a:spcAft>
                <a:spcPts val="0"/>
              </a:spcAft>
              <a:buClrTx/>
              <a:buSzTx/>
              <a:buFontTx/>
              <a:defRPr/>
            </a:pPr>
            <a:r>
              <a:rPr lang="en-US" altLang="zh-CN" sz="1000" noProof="0" dirty="0">
                <a:ln>
                  <a:noFill/>
                </a:ln>
                <a:solidFill>
                  <a:prstClr val="black"/>
                </a:solidFill>
                <a:effectLst/>
                <a:uLnTx/>
                <a:uFillTx/>
                <a:latin typeface="Arial" panose="020B0604020202090204"/>
                <a:sym typeface="+mn-ea"/>
              </a:rPr>
              <a:t>输出调研结果、确认流程图</a:t>
            </a:r>
            <a:endParaRPr lang="en-US" altLang="zh-CN" sz="1000" noProof="0" dirty="0">
              <a:ln>
                <a:noFill/>
              </a:ln>
              <a:solidFill>
                <a:prstClr val="black"/>
              </a:solidFill>
              <a:effectLst/>
              <a:uLnTx/>
              <a:uFillTx/>
              <a:latin typeface="Arial" panose="020B0604020202090204"/>
              <a:sym typeface="+mn-ea"/>
            </a:endParaRPr>
          </a:p>
        </p:txBody>
      </p:sp>
      <p:sp>
        <p:nvSpPr>
          <p:cNvPr id="100" name="燕尾形 33"/>
          <p:cNvSpPr/>
          <p:nvPr>
            <p:custDataLst>
              <p:tags r:id="rId52"/>
            </p:custDataLst>
          </p:nvPr>
        </p:nvSpPr>
        <p:spPr>
          <a:xfrm>
            <a:off x="6816090" y="1762760"/>
            <a:ext cx="3173730"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二阶段项目开发</a:t>
            </a:r>
            <a:r>
              <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（2026.8.24-2027.1.15）</a:t>
            </a:r>
            <a:endParaRPr kumimoji="0" lang="en-US" altLang="zh-CN"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01" name="直接箭头连接符 100"/>
          <p:cNvCxnSpPr>
            <a:stCxn id="102" idx="0"/>
          </p:cNvCxnSpPr>
          <p:nvPr>
            <p:custDataLst>
              <p:tags r:id="rId53"/>
            </p:custDataLst>
          </p:nvPr>
        </p:nvCxnSpPr>
        <p:spPr>
          <a:xfrm flipV="1">
            <a:off x="9912050" y="206073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custDataLst>
              <p:tags r:id="rId54"/>
            </p:custDataLst>
          </p:nvPr>
        </p:nvSpPr>
        <p:spPr>
          <a:xfrm>
            <a:off x="9498169" y="2892075"/>
            <a:ext cx="827762" cy="6524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noProof="0" dirty="0">
                <a:ln>
                  <a:noFill/>
                </a:ln>
                <a:solidFill>
                  <a:prstClr val="black"/>
                </a:solidFill>
                <a:effectLst/>
                <a:uLnTx/>
                <a:uFillTx/>
                <a:latin typeface="Arial" panose="020B0604020202090204"/>
                <a:sym typeface="+mn-ea"/>
              </a:rPr>
              <a:t>1</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4</a:t>
            </a:r>
            <a:r>
              <a:rPr lang="zh-CN" altLang="en-US" sz="1000" noProof="0" dirty="0">
                <a:ln>
                  <a:noFill/>
                </a:ln>
                <a:solidFill>
                  <a:prstClr val="black"/>
                </a:solidFill>
                <a:effectLst/>
                <a:uLnTx/>
                <a:uFillTx/>
                <a:latin typeface="Arial" panose="020B0604020202090204"/>
                <a:sym typeface="+mn-ea"/>
              </a:rPr>
              <a:t>日</a:t>
            </a:r>
            <a:r>
              <a:rPr lang="en-US" altLang="zh-CN" sz="1000" noProof="0" dirty="0">
                <a:ln>
                  <a:noFill/>
                </a:ln>
                <a:solidFill>
                  <a:prstClr val="black"/>
                </a:solidFill>
                <a:effectLst/>
                <a:uLnTx/>
                <a:uFillTx/>
                <a:latin typeface="Arial" panose="020B0604020202090204"/>
                <a:sym typeface="+mn-ea"/>
              </a:rPr>
              <a:t>~1</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15</a:t>
            </a:r>
            <a:r>
              <a:rPr lang="zh-CN" altLang="en-US" sz="1000" noProof="0" dirty="0">
                <a:ln>
                  <a:noFill/>
                </a:ln>
                <a:solidFill>
                  <a:prstClr val="black"/>
                </a:solidFill>
                <a:effectLst/>
                <a:uLnTx/>
                <a:uFillTx/>
                <a:latin typeface="Arial" panose="020B0604020202090204"/>
                <a:sym typeface="+mn-ea"/>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二阶段系统上线</a:t>
            </a:r>
            <a:endParaRPr kumimoji="0" lang="zh-CN" altLang="en-US" sz="1000" b="0" i="0" u="none" strike="noStrike" kern="1200" cap="none" spc="0" normalizeH="0" baseline="0" noProof="0" dirty="0">
              <a:ln>
                <a:noFill/>
              </a:ln>
              <a:solidFill>
                <a:prstClr val="black"/>
              </a:solidFill>
              <a:effectLst/>
              <a:uLnTx/>
              <a:uFillTx/>
              <a:latin typeface="Arial" panose="020B0604020202090204"/>
              <a:ea typeface="+mn-ea"/>
              <a:cs typeface="+mn-cs"/>
            </a:endParaRPr>
          </a:p>
        </p:txBody>
      </p:sp>
      <p:sp>
        <p:nvSpPr>
          <p:cNvPr id="103" name="燕尾形 33"/>
          <p:cNvSpPr/>
          <p:nvPr>
            <p:custDataLst>
              <p:tags r:id="rId55"/>
            </p:custDataLst>
          </p:nvPr>
        </p:nvSpPr>
        <p:spPr>
          <a:xfrm>
            <a:off x="9912350" y="1762760"/>
            <a:ext cx="2012315" cy="241300"/>
          </a:xfrm>
          <a:prstGeom prst="chevron">
            <a:avLst/>
          </a:prstGeom>
          <a:solidFill>
            <a:srgbClr val="00A6C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项目试运行交付</a:t>
            </a:r>
            <a:endPar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104" name="直接箭头连接符 103"/>
          <p:cNvCxnSpPr>
            <a:stCxn id="105" idx="0"/>
          </p:cNvCxnSpPr>
          <p:nvPr>
            <p:custDataLst>
              <p:tags r:id="rId56"/>
            </p:custDataLst>
          </p:nvPr>
        </p:nvCxnSpPr>
        <p:spPr>
          <a:xfrm flipV="1">
            <a:off x="11118550" y="2060730"/>
            <a:ext cx="0" cy="831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矩形 104"/>
          <p:cNvSpPr/>
          <p:nvPr>
            <p:custDataLst>
              <p:tags r:id="rId57"/>
            </p:custDataLst>
          </p:nvPr>
        </p:nvSpPr>
        <p:spPr>
          <a:xfrm>
            <a:off x="10704830" y="2891790"/>
            <a:ext cx="828040" cy="90678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noProof="0" dirty="0">
                <a:ln>
                  <a:noFill/>
                </a:ln>
                <a:solidFill>
                  <a:prstClr val="black"/>
                </a:solidFill>
                <a:effectLst/>
                <a:uLnTx/>
                <a:uFillTx/>
                <a:latin typeface="Arial" panose="020B0604020202090204"/>
                <a:sym typeface="+mn-ea"/>
              </a:rPr>
              <a:t>1</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15</a:t>
            </a:r>
            <a:r>
              <a:rPr lang="zh-CN" altLang="en-US" sz="1000" noProof="0" dirty="0">
                <a:ln>
                  <a:noFill/>
                </a:ln>
                <a:solidFill>
                  <a:prstClr val="black"/>
                </a:solidFill>
                <a:effectLst/>
                <a:uLnTx/>
                <a:uFillTx/>
                <a:latin typeface="Arial" panose="020B0604020202090204"/>
                <a:sym typeface="+mn-ea"/>
              </a:rPr>
              <a:t>日</a:t>
            </a:r>
            <a:r>
              <a:rPr lang="en-US" altLang="zh-CN" sz="1000" noProof="0" dirty="0">
                <a:ln>
                  <a:noFill/>
                </a:ln>
                <a:solidFill>
                  <a:prstClr val="black"/>
                </a:solidFill>
                <a:effectLst/>
                <a:uLnTx/>
                <a:uFillTx/>
                <a:latin typeface="Arial" panose="020B0604020202090204"/>
                <a:sym typeface="+mn-ea"/>
              </a:rPr>
              <a:t>~3</a:t>
            </a:r>
            <a:r>
              <a:rPr lang="zh-CN" altLang="en-US" sz="1000" noProof="0" dirty="0">
                <a:ln>
                  <a:noFill/>
                </a:ln>
                <a:solidFill>
                  <a:prstClr val="black"/>
                </a:solidFill>
                <a:effectLst/>
                <a:uLnTx/>
                <a:uFillTx/>
                <a:latin typeface="Arial" panose="020B0604020202090204"/>
                <a:sym typeface="+mn-ea"/>
              </a:rPr>
              <a:t>月</a:t>
            </a:r>
            <a:r>
              <a:rPr lang="en-US" altLang="zh-CN" sz="1000" noProof="0" dirty="0">
                <a:ln>
                  <a:noFill/>
                </a:ln>
                <a:solidFill>
                  <a:prstClr val="black"/>
                </a:solidFill>
                <a:effectLst/>
                <a:uLnTx/>
                <a:uFillTx/>
                <a:latin typeface="Arial" panose="020B0604020202090204"/>
                <a:sym typeface="+mn-ea"/>
              </a:rPr>
              <a:t>12</a:t>
            </a:r>
            <a:r>
              <a:rPr lang="zh-CN" altLang="en-US" sz="1000" noProof="0" dirty="0">
                <a:ln>
                  <a:noFill/>
                </a:ln>
                <a:solidFill>
                  <a:prstClr val="black"/>
                </a:solidFill>
                <a:effectLst/>
                <a:uLnTx/>
                <a:uFillTx/>
                <a:latin typeface="Arial" panose="020B0604020202090204"/>
                <a:sym typeface="+mn-ea"/>
              </a:rPr>
              <a:t>日</a:t>
            </a:r>
            <a:endParaRPr kumimoji="0" lang="en-US" altLang="zh-CN" sz="1000" b="0" i="0" u="none" strike="noStrike" kern="1200" cap="none" spc="0" normalizeH="0" baseline="0" noProof="0" dirty="0">
              <a:ln>
                <a:noFill/>
              </a:ln>
              <a:solidFill>
                <a:prstClr val="black"/>
              </a:solidFill>
              <a:effectLst/>
              <a:uLnTx/>
              <a:uFillTx/>
              <a:latin typeface="Arial" panose="020B060402020209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Arial" panose="020B0604020202090204"/>
                <a:sym typeface="+mn-ea"/>
              </a:rPr>
              <a:t>项目试运行，查漏补缺，整体交付</a:t>
            </a:r>
            <a:endParaRPr lang="zh-CN" altLang="en-US" sz="1000" noProof="0" dirty="0">
              <a:ln>
                <a:noFill/>
              </a:ln>
              <a:solidFill>
                <a:prstClr val="black"/>
              </a:solidFill>
              <a:effectLst/>
              <a:uLnTx/>
              <a:uFillTx/>
              <a:latin typeface="Arial" panose="020B0604020202090204"/>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3" name="Arrow: Pentagon 2"/>
          <p:cNvSpPr/>
          <p:nvPr/>
        </p:nvSpPr>
        <p:spPr>
          <a:xfrm>
            <a:off x="334963" y="1233171"/>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Arrow: Chevron 3"/>
          <p:cNvSpPr/>
          <p:nvPr/>
        </p:nvSpPr>
        <p:spPr>
          <a:xfrm>
            <a:off x="3815715" y="1233170"/>
            <a:ext cx="2715895" cy="27686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Arrow: Chevron 5"/>
          <p:cNvSpPr/>
          <p:nvPr/>
        </p:nvSpPr>
        <p:spPr>
          <a:xfrm>
            <a:off x="6698615" y="1233170"/>
            <a:ext cx="4995545" cy="27559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Rectangle 7"/>
          <p:cNvSpPr/>
          <p:nvPr/>
        </p:nvSpPr>
        <p:spPr>
          <a:xfrm>
            <a:off x="191135" y="1988820"/>
            <a:ext cx="847090" cy="137795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系统割裂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功能不完善</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0" name="Rectangle 8"/>
          <p:cNvSpPr/>
          <p:nvPr/>
        </p:nvSpPr>
        <p:spPr>
          <a:xfrm>
            <a:off x="1151255" y="1988820"/>
            <a:ext cx="2422525"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话务、工单、舆情等多系统独立，无统一平台，频繁切换效率低，跨渠道数据不通，无历史服务记录</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lang="zh-CN" altLang="en-US" sz="1050" kern="0" noProof="0" dirty="0">
                <a:ln>
                  <a:noFill/>
                </a:ln>
                <a:effectLst/>
                <a:uLnTx/>
                <a:uFillTx/>
                <a:latin typeface="微软雅黑" panose="020B0503020204020204" pitchFamily="34" charset="-122"/>
                <a:ea typeface="微软雅黑" panose="020B0503020204020204" pitchFamily="34" charset="-122"/>
                <a:sym typeface="+mn-ea"/>
              </a:rPr>
              <a:t>话务无客户弹屏、知识库联动；工单无超时预警、智能填单；舆情仅简单关键词匹配，无效预警多；无统一知识库，人工查寻耗时。</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1" name="Rectangle 11"/>
          <p:cNvSpPr/>
          <p:nvPr/>
        </p:nvSpPr>
        <p:spPr>
          <a:xfrm>
            <a:off x="3688080" y="1988820"/>
            <a:ext cx="2767330" cy="137795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搭建一体化智能呼叫中心平台，打通全流程系统</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【400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号码申请与数字中继线部署</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整合工单、租赁系统、企微、数据中台等完成双向实时数据对接</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5" name="Rectangle 16"/>
          <p:cNvSpPr/>
          <p:nvPr/>
        </p:nvSpPr>
        <p:spPr>
          <a:xfrm>
            <a:off x="191135" y="3597910"/>
            <a:ext cx="847090" cy="120586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人工依赖高</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26" name="Rectangle 17"/>
          <p:cNvSpPr/>
          <p:nvPr/>
        </p:nvSpPr>
        <p:spPr>
          <a:xfrm>
            <a:off x="1151255" y="3597910"/>
            <a:ext cx="242252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坐席无技能组划分，工单填写、数据统计、舆情筛选均靠人工，易出错、效率低，客户标签不统一，画像不精准。</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27" name="Rectangle 18"/>
          <p:cNvSpPr/>
          <p:nvPr/>
        </p:nvSpPr>
        <p:spPr>
          <a:xfrm>
            <a:off x="3688080" y="3597910"/>
            <a:ext cx="2767965" cy="120586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实现服务全流程智能化，降低人工依赖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智能话务接待、智能工单管理、智能知识库建设、智能舆情与风险管控</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1" name="Rectangle 22"/>
          <p:cNvSpPr/>
          <p:nvPr/>
        </p:nvSpPr>
        <p:spPr>
          <a:xfrm>
            <a:off x="190818" y="4954511"/>
            <a:ext cx="846905" cy="8056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效率提升</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32" name="Rectangle 23"/>
          <p:cNvSpPr/>
          <p:nvPr/>
        </p:nvSpPr>
        <p:spPr>
          <a:xfrm>
            <a:off x="1151455" y="4954511"/>
            <a:ext cx="2422643" cy="8056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响应效率低；风险管控机制不完善，难以有效预防和处理客户投诉升级</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3" name="Rectangle 24"/>
          <p:cNvSpPr/>
          <p:nvPr/>
        </p:nvSpPr>
        <p:spPr>
          <a:xfrm>
            <a:off x="3688080" y="4954270"/>
            <a:ext cx="2716530" cy="80581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标准化运营体系建设，提升服务质量与管理效率</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【坐席与路由标准化、客户标签与画像标准化、数据统计与分析标准化】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16" name="表格 15"/>
          <p:cNvGraphicFramePr/>
          <p:nvPr/>
        </p:nvGraphicFramePr>
        <p:xfrm>
          <a:off x="6619875" y="1601343"/>
          <a:ext cx="1491615" cy="4648200"/>
        </p:xfrm>
        <a:graphic>
          <a:graphicData uri="http://schemas.openxmlformats.org/drawingml/2006/table">
            <a:tbl>
              <a:tblPr/>
              <a:tblGrid>
                <a:gridCol w="179705"/>
                <a:gridCol w="851535"/>
                <a:gridCol w="460375"/>
              </a:tblGrid>
              <a:tr h="194945">
                <a:tc rowSpan="9">
                  <a:txBody>
                    <a:bodyPr/>
                    <a:lstStyle/>
                    <a:p>
                      <a:pPr indent="0" algn="ctr" fontAlgn="t">
                        <a:lnSpc>
                          <a:spcPct val="100000"/>
                        </a:lnSpc>
                      </a:pPr>
                      <a:r>
                        <a:rPr lang="zh-CN" altLang="en-US" sz="800" b="0" i="0">
                          <a:solidFill>
                            <a:schemeClr val="bg1"/>
                          </a:solidFill>
                          <a:latin typeface="微软雅黑"/>
                          <a:ea typeface="微软雅黑"/>
                        </a:rPr>
                        <a:t>呼叫中心</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运营商线路集成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a:txBody>
                    <a:bodyPr/>
                    <a:lstStyle/>
                    <a:p>
                      <a:pPr algn="ctr" fontAlgn="t"/>
                      <a:r>
                        <a:rPr lang="zh-CN" altLang="en-US" sz="800" b="0" i="0">
                          <a:solidFill>
                            <a:srgbClr val="000000"/>
                          </a:solidFill>
                          <a:latin typeface="微软雅黑"/>
                          <a:ea typeface="微软雅黑"/>
                        </a:rPr>
                        <a:t>线路集成</a:t>
                      </a: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坐席队列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p>
                      <a:pPr algn="ctr" fontAlgn="t">
                        <a:buNone/>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全渠道接入平台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en-US" altLang="zh-CN" sz="800" b="0" i="0">
                          <a:solidFill>
                            <a:srgbClr val="000000"/>
                          </a:solidFill>
                          <a:latin typeface="微软雅黑"/>
                          <a:ea typeface="微软雅黑"/>
                        </a:rPr>
                        <a:t>IVR</a:t>
                      </a:r>
                      <a:r>
                        <a:rPr lang="zh-CN" altLang="en-US" sz="800" b="0" i="0">
                          <a:solidFill>
                            <a:srgbClr val="000000"/>
                          </a:solidFill>
                          <a:latin typeface="微软雅黑"/>
                          <a:ea typeface="微软雅黑"/>
                        </a:rPr>
                        <a:t>语音导航</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在线客服</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通信管理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520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可视化现场监控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05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可视化统计报表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7">
                  <a:txBody>
                    <a:bodyPr/>
                    <a:lstStyle/>
                    <a:p>
                      <a:pPr indent="0" algn="ctr" fontAlgn="t">
                        <a:lnSpc>
                          <a:spcPct val="100000"/>
                        </a:lnSpc>
                      </a:pPr>
                      <a:r>
                        <a:rPr lang="zh-CN" altLang="en-US" sz="800" b="0" i="0">
                          <a:solidFill>
                            <a:schemeClr val="bg1"/>
                          </a:solidFill>
                          <a:latin typeface="微软雅黑"/>
                          <a:ea typeface="微软雅黑"/>
                        </a:rPr>
                        <a:t>全自动工单</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工单受理平台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基础诉求受理功能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跨渠道预受理能力</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工单管理与优化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内部运营支持</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智能辅助填单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85000"/>
                        <a:alpha val="34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大数据分析研判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rowSpan="11">
                  <a:txBody>
                    <a:bodyPr/>
                    <a:lstStyle/>
                    <a:p>
                      <a:pPr indent="0" algn="ctr" fontAlgn="t">
                        <a:lnSpc>
                          <a:spcPct val="100000"/>
                        </a:lnSpc>
                      </a:pPr>
                      <a:r>
                        <a:rPr lang="zh-CN" altLang="en-US" sz="800" b="0" i="0">
                          <a:solidFill>
                            <a:schemeClr val="bg1"/>
                          </a:solidFill>
                          <a:latin typeface="微软雅黑"/>
                          <a:ea typeface="微软雅黑"/>
                        </a:rPr>
                        <a:t>智能知识库</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知识梳理服务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6">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知识提醒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知识审核</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系统管理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549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版本管理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知识抽取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统计分析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知识运营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76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智能优化策略</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17" name="表格 16"/>
          <p:cNvGraphicFramePr/>
          <p:nvPr/>
        </p:nvGraphicFramePr>
        <p:xfrm>
          <a:off x="8184515" y="1623695"/>
          <a:ext cx="1687195" cy="4470400"/>
        </p:xfrm>
        <a:graphic>
          <a:graphicData uri="http://schemas.openxmlformats.org/drawingml/2006/table">
            <a:tbl>
              <a:tblPr/>
              <a:tblGrid>
                <a:gridCol w="182245"/>
                <a:gridCol w="1071880"/>
                <a:gridCol w="433070"/>
              </a:tblGrid>
              <a:tr h="170815">
                <a:tc rowSpan="13">
                  <a:txBody>
                    <a:bodyPr/>
                    <a:lstStyle/>
                    <a:p>
                      <a:pPr algn="ctr" fontAlgn="t">
                        <a:buClrTx/>
                        <a:buSzTx/>
                        <a:buFontTx/>
                      </a:pPr>
                      <a:r>
                        <a:rPr lang="zh-CN" altLang="en-US" sz="800" b="0" i="0">
                          <a:solidFill>
                            <a:schemeClr val="bg1"/>
                          </a:solidFill>
                          <a:latin typeface="微软雅黑"/>
                          <a:ea typeface="微软雅黑"/>
                        </a:rPr>
                        <a:t>AI智能语音交互平台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ASR/TTS引擎</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2">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AI智能语音识别与交互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AI智能语义理解</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AI智能打断与澄清</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AI智能识别容错处理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371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自定义AI语音交互场景</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会话记录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AI转人工设置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人机对话内容透传工单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智能呼入AI机器人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智能呼出AI机器人</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11">
                  <a:txBody>
                    <a:bodyPr/>
                    <a:lstStyle/>
                    <a:p>
                      <a:pPr algn="ctr" fontAlgn="t">
                        <a:buClrTx/>
                        <a:buSzTx/>
                        <a:buFontTx/>
                      </a:pPr>
                      <a:r>
                        <a:rPr lang="zh-CN" altLang="en-US" sz="800" b="0" i="0">
                          <a:solidFill>
                            <a:schemeClr val="bg1"/>
                          </a:solidFill>
                          <a:latin typeface="微软雅黑"/>
                          <a:ea typeface="微软雅黑"/>
                        </a:rPr>
                        <a:t>AI智能对话平台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多轮会话</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多渠道服务</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多租户和账号管理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会话AI机器人BOT配置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会话测试</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发布管理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内部员工辅助使用功能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词库管理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buClrTx/>
                        <a:buSzTx/>
                        <a:buFontTx/>
                      </a:pPr>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语义理解分析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扩展问题推荐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业务系统数据对接问答</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rowSpan="7">
                  <a:txBody>
                    <a:bodyPr/>
                    <a:lstStyle/>
                    <a:p>
                      <a:pPr algn="ctr" fontAlgn="t">
                        <a:buClrTx/>
                        <a:buSzTx/>
                        <a:buFontTx/>
                      </a:pPr>
                      <a:r>
                        <a:rPr lang="zh-CN" altLang="en-US" sz="800" b="0" i="0">
                          <a:solidFill>
                            <a:schemeClr val="bg1"/>
                          </a:solidFill>
                          <a:latin typeface="微软雅黑"/>
                          <a:ea typeface="微软雅黑"/>
                        </a:rPr>
                        <a:t>坐席助手</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buClrTx/>
                        <a:buSzTx/>
                        <a:buFontTx/>
                      </a:pPr>
                      <a:r>
                        <a:rPr lang="zh-CN" altLang="en-US" sz="800" b="0" i="0">
                          <a:solidFill>
                            <a:srgbClr val="000000"/>
                          </a:solidFill>
                          <a:latin typeface="微软雅黑"/>
                          <a:ea typeface="微软雅黑"/>
                        </a:rPr>
                        <a:t>语音识别ASR</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7">
                  <a:txBody>
                    <a:bodyPr/>
                    <a:lstStyle/>
                    <a:p>
                      <a:pPr algn="ctr" fontAlgn="t">
                        <a:buClrTx/>
                        <a:buSzTx/>
                        <a:buFontTx/>
                      </a:pPr>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通话助理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287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知识助理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监控助理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41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实时服务质检</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buClrTx/>
                        <a:buSzTx/>
                        <a:buFontTx/>
                      </a:pPr>
                      <a:r>
                        <a:rPr lang="zh-CN" altLang="en-US" sz="800" b="0" i="0">
                          <a:solidFill>
                            <a:srgbClr val="000000"/>
                          </a:solidFill>
                          <a:latin typeface="微软雅黑"/>
                          <a:ea typeface="微软雅黑"/>
                        </a:rPr>
                        <a:t>统计报表</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43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buClrTx/>
                        <a:buSzTx/>
                        <a:buFontTx/>
                      </a:pPr>
                      <a:r>
                        <a:rPr lang="zh-CN" altLang="en-US" sz="800" b="0" i="0">
                          <a:solidFill>
                            <a:srgbClr val="000000"/>
                          </a:solidFill>
                          <a:latin typeface="微软雅黑"/>
                          <a:ea typeface="微软雅黑"/>
                        </a:rPr>
                        <a:t>扩展功能要求</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37" name="表格 36"/>
          <p:cNvGraphicFramePr/>
          <p:nvPr/>
        </p:nvGraphicFramePr>
        <p:xfrm>
          <a:off x="9912985" y="1627505"/>
          <a:ext cx="1839595" cy="4471670"/>
        </p:xfrm>
        <a:graphic>
          <a:graphicData uri="http://schemas.openxmlformats.org/drawingml/2006/table">
            <a:tbl>
              <a:tblPr/>
              <a:tblGrid>
                <a:gridCol w="311785"/>
                <a:gridCol w="1062355"/>
                <a:gridCol w="465455"/>
              </a:tblGrid>
              <a:tr h="171450">
                <a:tc rowSpan="4">
                  <a:txBody>
                    <a:bodyPr/>
                    <a:lstStyle/>
                    <a:p>
                      <a:pPr algn="ctr" fontAlgn="t"/>
                      <a:r>
                        <a:rPr lang="zh-CN" altLang="en-US" sz="800" b="0" i="0">
                          <a:solidFill>
                            <a:schemeClr val="bg1"/>
                          </a:solidFill>
                          <a:latin typeface="微软雅黑"/>
                          <a:ea typeface="微软雅黑"/>
                        </a:rPr>
                        <a:t>政策智慧问答</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问题分析与处理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模型匹配与答案生成</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答案展示与交互</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模型优化与更新</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10">
                  <a:txBody>
                    <a:bodyPr/>
                    <a:lstStyle/>
                    <a:p>
                      <a:pPr algn="ctr" fontAlgn="t"/>
                      <a:r>
                        <a:rPr lang="zh-CN" altLang="en-US" sz="800" b="0" i="0">
                          <a:solidFill>
                            <a:schemeClr val="bg1"/>
                          </a:solidFill>
                          <a:latin typeface="微软雅黑"/>
                          <a:ea typeface="微软雅黑"/>
                        </a:rPr>
                        <a:t>智能质检</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检索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10">
                  <a:txBody>
                    <a:bodyPr/>
                    <a:lstStyle/>
                    <a:p>
                      <a:pPr algn="ctr" fontAlgn="t"/>
                      <a:r>
                        <a:rPr lang="zh-CN" altLang="en-US" sz="800" b="0" i="0">
                          <a:solidFill>
                            <a:srgbClr val="000000"/>
                          </a:solidFill>
                          <a:latin typeface="微软雅黑"/>
                          <a:ea typeface="微软雅黑"/>
                        </a:rPr>
                        <a:t>一阶段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评分模板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模型</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配置</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录音获取</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用户</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日志</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业务趋势</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业务探索</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2560">
                <a:tc rowSpan="3">
                  <a:txBody>
                    <a:bodyPr/>
                    <a:lstStyle/>
                    <a:p>
                      <a:pPr algn="ctr" fontAlgn="t"/>
                      <a:r>
                        <a:rPr lang="zh-CN" altLang="en-US" sz="800" b="0" i="0">
                          <a:solidFill>
                            <a:schemeClr val="bg1"/>
                          </a:solidFill>
                          <a:latin typeface="微软雅黑"/>
                          <a:ea typeface="微软雅黑"/>
                        </a:rPr>
                        <a:t>投诉风险识别</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投诉风险预警与识别</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8224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投诉风险跟踪与管控</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0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投诉风险数据分析与报告</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rowSpan="3">
                  <a:txBody>
                    <a:bodyPr/>
                    <a:lstStyle/>
                    <a:p>
                      <a:pPr algn="ctr" fontAlgn="t"/>
                      <a:r>
                        <a:rPr lang="en-US" altLang="zh-CN" sz="800" b="0" i="0">
                          <a:solidFill>
                            <a:schemeClr val="bg1"/>
                          </a:solidFill>
                          <a:latin typeface="微软雅黑"/>
                          <a:ea typeface="微软雅黑"/>
                        </a:rPr>
                        <a:t>AI</a:t>
                      </a:r>
                      <a:r>
                        <a:rPr lang="zh-CN" altLang="en-US" sz="800" b="0" i="0">
                          <a:solidFill>
                            <a:schemeClr val="bg1"/>
                          </a:solidFill>
                          <a:latin typeface="微软雅黑"/>
                          <a:ea typeface="微软雅黑"/>
                        </a:rPr>
                        <a:t>核心功能</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客户咨询意图预测系统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612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客服人员智能调度系统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客户投诉风险预警系统</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rowSpan="5">
                  <a:txBody>
                    <a:bodyPr/>
                    <a:lstStyle/>
                    <a:p>
                      <a:pPr algn="ctr" fontAlgn="t"/>
                      <a:r>
                        <a:rPr lang="zh-CN" altLang="en-US" sz="800" b="0" i="0">
                          <a:solidFill>
                            <a:schemeClr val="bg1"/>
                          </a:solidFill>
                          <a:latin typeface="微软雅黑"/>
                          <a:ea typeface="微软雅黑"/>
                        </a:rPr>
                        <a:t>企业微信客户运营管理平台</a:t>
                      </a:r>
                      <a:endParaRPr lang="zh-CN" altLang="en-US" sz="8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800" b="0" i="0">
                          <a:solidFill>
                            <a:srgbClr val="000000"/>
                          </a:solidFill>
                          <a:latin typeface="微软雅黑"/>
                          <a:ea typeface="微软雅黑"/>
                        </a:rPr>
                        <a:t>综合通讯与互动管理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800" b="0" i="0">
                          <a:solidFill>
                            <a:srgbClr val="000000"/>
                          </a:solidFill>
                          <a:latin typeface="微软雅黑"/>
                          <a:ea typeface="微软雅黑"/>
                        </a:rPr>
                        <a:t>二阶段</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81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客户与数据精细化管理</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14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权限控制与安全防护</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7018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800" b="0" i="0">
                          <a:solidFill>
                            <a:srgbClr val="000000"/>
                          </a:solidFill>
                          <a:latin typeface="微软雅黑"/>
                          <a:ea typeface="微软雅黑"/>
                        </a:rPr>
                        <a:t>舆情监控与危机预警</a:t>
                      </a:r>
                      <a:endParaRPr lang="en-US" altLang="zh-CN"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68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800" b="0" i="0">
                          <a:solidFill>
                            <a:srgbClr val="000000"/>
                          </a:solidFill>
                          <a:latin typeface="微软雅黑"/>
                          <a:ea typeface="微软雅黑"/>
                        </a:rPr>
                        <a:t>营销拓展功能</a:t>
                      </a:r>
                      <a:endParaRPr lang="zh-CN" altLang="en-US" sz="8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会员和积分管理：关键发现及解决思路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Arrow: Pentagon 24"/>
          <p:cNvSpPr/>
          <p:nvPr/>
        </p:nvSpPr>
        <p:spPr>
          <a:xfrm>
            <a:off x="636588" y="156654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Arrow: Chevron 25"/>
          <p:cNvSpPr/>
          <p:nvPr/>
        </p:nvSpPr>
        <p:spPr>
          <a:xfrm>
            <a:off x="4045585" y="1569085"/>
            <a:ext cx="3136265" cy="28829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Arrow: Chevron 26"/>
          <p:cNvSpPr/>
          <p:nvPr/>
        </p:nvSpPr>
        <p:spPr>
          <a:xfrm>
            <a:off x="7362825" y="1557655"/>
            <a:ext cx="3963670" cy="29972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Rectangle 27"/>
          <p:cNvSpPr/>
          <p:nvPr/>
        </p:nvSpPr>
        <p:spPr>
          <a:xfrm>
            <a:off x="636905" y="2173605"/>
            <a:ext cx="847090" cy="92900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数据割裂</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8" name="Rectangle 28"/>
          <p:cNvSpPr/>
          <p:nvPr/>
        </p:nvSpPr>
        <p:spPr>
          <a:xfrm>
            <a:off x="1597025" y="2173605"/>
            <a:ext cx="2251075"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各业务系统会员数据独立存储，无统一客户唯一标识，跨板块数据无法共享；</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各个业务板块对于会员的等级定义不一致</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Rectangle 29"/>
          <p:cNvSpPr/>
          <p:nvPr/>
        </p:nvSpPr>
        <p:spPr>
          <a:xfrm>
            <a:off x="4062095" y="2173605"/>
            <a:ext cx="3070860" cy="92900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统一基础架构</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统一基础架构：建立集团级统一会员中台，生成唯一客户标识（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OneID</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），整合各板块会员基础信息、积分数据及历史记</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Rectangle 33"/>
          <p:cNvSpPr/>
          <p:nvPr/>
        </p:nvSpPr>
        <p:spPr>
          <a:xfrm>
            <a:off x="636905" y="3194050"/>
            <a:ext cx="847090" cy="1200785"/>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积分运营薄弱</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4" name="Rectangle 34"/>
          <p:cNvSpPr/>
          <p:nvPr/>
        </p:nvSpPr>
        <p:spPr>
          <a:xfrm>
            <a:off x="1597025" y="3194050"/>
            <a:ext cx="2251075"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获取场景有限、消耗渠道单一，积分价值感不足，难以有效激励用户活跃。</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现有会员系统针对积分的使用多数还未落地实施</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 name="Rectangle 35"/>
          <p:cNvSpPr/>
          <p:nvPr/>
        </p:nvSpPr>
        <p:spPr>
          <a:xfrm>
            <a:off x="4062095" y="3194050"/>
            <a:ext cx="3056890" cy="1200785"/>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优化积分运营</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支持各业务线自定义积分获取</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消耗规则，拓展积分使用场景（如抵扣停车费、充电费、实物兑换）；建立跨业务积分通兑机制，统一核算标准。</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定义积分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优惠清结算规则和标准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实现成本管控</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0" name="Rectangle 39"/>
          <p:cNvSpPr/>
          <p:nvPr/>
        </p:nvSpPr>
        <p:spPr>
          <a:xfrm>
            <a:off x="636905" y="4505960"/>
            <a:ext cx="847090" cy="95377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会员体系暂不健全</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6" name="Rectangle 40"/>
          <p:cNvSpPr/>
          <p:nvPr/>
        </p:nvSpPr>
        <p:spPr>
          <a:xfrm>
            <a:off x="1597025" y="4505960"/>
            <a:ext cx="2251075"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会员等级与权益匹配度低，缺乏差异化服务，且相关激励机制未能有效落地实施。</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2" name="Rectangle 41"/>
          <p:cNvSpPr/>
          <p:nvPr/>
        </p:nvSpPr>
        <p:spPr>
          <a:xfrm>
            <a:off x="4062095" y="4505960"/>
            <a:ext cx="3056890" cy="95377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完善会员体系</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标准化会员注册、身份认证流程，支持多身份标识（业主</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租户）配置；分级设置会员等级与权益，新增白名单管理功能（适配充电桩补偿、企业</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 VIP </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服务等场景）。</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17" name="表格 16"/>
          <p:cNvGraphicFramePr/>
          <p:nvPr/>
        </p:nvGraphicFramePr>
        <p:xfrm>
          <a:off x="7392987" y="1988820"/>
          <a:ext cx="1985645" cy="4140200"/>
        </p:xfrm>
        <a:graphic>
          <a:graphicData uri="http://schemas.openxmlformats.org/drawingml/2006/table">
            <a:tbl>
              <a:tblPr/>
              <a:tblGrid>
                <a:gridCol w="245110"/>
                <a:gridCol w="1148080"/>
                <a:gridCol w="592455"/>
              </a:tblGrid>
              <a:tr h="228600">
                <a:tc rowSpan="6">
                  <a:txBody>
                    <a:bodyPr/>
                    <a:lstStyle/>
                    <a:p>
                      <a:pPr algn="ctr" fontAlgn="t"/>
                      <a:r>
                        <a:rPr lang="zh-CN" altLang="en-US" sz="1000" b="0" i="0">
                          <a:solidFill>
                            <a:schemeClr val="bg1"/>
                          </a:solidFill>
                          <a:latin typeface="微软雅黑"/>
                          <a:ea typeface="微软雅黑"/>
                        </a:rPr>
                        <a:t>会员中心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会员注册与登录</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5">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身份认证</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等级与成长值体系</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会员信息管理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会员注销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buNone/>
                      </a:pP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8600">
                <a:tc rowSpan="6">
                  <a:txBody>
                    <a:bodyPr/>
                    <a:lstStyle/>
                    <a:p>
                      <a:pPr algn="ctr" fontAlgn="t"/>
                      <a:r>
                        <a:rPr lang="zh-CN" altLang="en-US" sz="1000" b="0" i="0">
                          <a:solidFill>
                            <a:schemeClr val="bg1"/>
                          </a:solidFill>
                          <a:latin typeface="微软雅黑"/>
                          <a:ea typeface="微软雅黑"/>
                        </a:rPr>
                        <a:t>积分中心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积分账户基础管理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4">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积分明细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积分提醒</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积分调整与冻结</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积分互换</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2">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系统深度对接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权益中心</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权益展示与领取</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权益管理配置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权益履约跟踪</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86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优惠券管理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优惠券创建配置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优惠券发放核销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优惠券查询管理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graphicFrame>
        <p:nvGraphicFramePr>
          <p:cNvPr id="46" name="表格 45"/>
          <p:cNvGraphicFramePr/>
          <p:nvPr/>
        </p:nvGraphicFramePr>
        <p:xfrm>
          <a:off x="9553892" y="1989455"/>
          <a:ext cx="1766570" cy="4102100"/>
        </p:xfrm>
        <a:graphic>
          <a:graphicData uri="http://schemas.openxmlformats.org/drawingml/2006/table">
            <a:tbl>
              <a:tblPr/>
              <a:tblGrid>
                <a:gridCol w="210185"/>
                <a:gridCol w="940435"/>
                <a:gridCol w="615950"/>
              </a:tblGrid>
              <a:tr h="203200">
                <a:tc rowSpan="4">
                  <a:txBody>
                    <a:bodyPr/>
                    <a:lstStyle/>
                    <a:p>
                      <a:pPr algn="ctr" fontAlgn="t"/>
                      <a:r>
                        <a:rPr lang="zh-CN" altLang="en-US" sz="1000" b="0" i="0">
                          <a:solidFill>
                            <a:schemeClr val="bg1"/>
                          </a:solidFill>
                          <a:latin typeface="微软雅黑"/>
                          <a:ea typeface="微软雅黑"/>
                        </a:rPr>
                        <a:t>运营活动管理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活动创建配置</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活动推送与参与</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374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活动数据统计</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清结算管理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积分清结算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积分有效期管理</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优惠券结算</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风控管理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发分主体风控</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风控规则与预警</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4">
                  <a:txBody>
                    <a:bodyPr/>
                    <a:lstStyle/>
                    <a:p>
                      <a:pPr algn="ctr" fontAlgn="t"/>
                      <a:r>
                        <a:rPr lang="zh-CN" altLang="en-US" sz="1000" b="0" i="0">
                          <a:solidFill>
                            <a:schemeClr val="bg1"/>
                          </a:solidFill>
                          <a:latin typeface="微软雅黑"/>
                          <a:ea typeface="微软雅黑"/>
                        </a:rPr>
                        <a:t>会员报表管理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会员报表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积分报表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优惠券报表</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营销管理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a:ea typeface="微软雅黑"/>
                        </a:rPr>
                        <a:t>手动营销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a:ea typeface="微软雅黑"/>
                        </a:rPr>
                        <a:t>一阶段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a:ea typeface="微软雅黑"/>
                        </a:rPr>
                        <a:t>自动化营销</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a:ea typeface="微软雅黑"/>
                        </a:rPr>
                        <a:t>系统对接</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a:ea typeface="微软雅黑"/>
                        </a:rPr>
                        <a:t>二阶段</a:t>
                      </a:r>
                      <a:endParaRPr lang="zh-CN" altLang="en-US" sz="1000" b="0" i="0">
                        <a:solidFill>
                          <a:srgbClr val="000000"/>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客户数据管理：关键发现及解决思路</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4" name="Arrow: Pentagon 2"/>
          <p:cNvSpPr/>
          <p:nvPr/>
        </p:nvSpPr>
        <p:spPr>
          <a:xfrm>
            <a:off x="564833" y="1423036"/>
            <a:ext cx="3383280" cy="290566"/>
          </a:xfrm>
          <a:prstGeom prst="homePlate">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问题发现</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Arrow: Chevron 3"/>
          <p:cNvSpPr/>
          <p:nvPr/>
        </p:nvSpPr>
        <p:spPr>
          <a:xfrm>
            <a:off x="4045585" y="1423035"/>
            <a:ext cx="2900680" cy="290830"/>
          </a:xfrm>
          <a:prstGeom prst="chevron">
            <a:avLst/>
          </a:prstGeom>
          <a:solidFill>
            <a:srgbClr val="005EB8"/>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lang="zh-CN" altLang="en-US" sz="1100" b="1" kern="0">
                <a:solidFill>
                  <a:prstClr val="white"/>
                </a:solidFill>
                <a:latin typeface="微软雅黑" panose="020B0503020204020204" pitchFamily="34" charset="-122"/>
                <a:ea typeface="微软雅黑" panose="020B0503020204020204" pitchFamily="34" charset="-122"/>
              </a:rPr>
              <a:t>解决思路</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Arrow: Chevron 5"/>
          <p:cNvSpPr/>
          <p:nvPr/>
        </p:nvSpPr>
        <p:spPr>
          <a:xfrm>
            <a:off x="7080250" y="1423035"/>
            <a:ext cx="4366260" cy="290830"/>
          </a:xfrm>
          <a:prstGeom prst="chevron">
            <a:avLst/>
          </a:prstGeom>
          <a:solidFill>
            <a:srgbClr val="00B0F0"/>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ts val="1400"/>
              </a:lnSpc>
              <a:spcBef>
                <a:spcPts val="0"/>
              </a:spcBef>
              <a:spcAft>
                <a:spcPts val="0"/>
              </a:spcAft>
              <a:buClrTx/>
              <a:buSzTx/>
              <a:buFontTx/>
              <a:buNone/>
              <a:defRPr/>
            </a:pPr>
            <a:r>
              <a:rPr kumimoji="0" lang="zh-CN" altLang="en-US" sz="11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计划上线</a:t>
            </a:r>
            <a:endParaRPr kumimoji="0" lang="en-US" altLang="zh-CN" sz="11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Rectangle 6"/>
          <p:cNvSpPr/>
          <p:nvPr/>
        </p:nvSpPr>
        <p:spPr>
          <a:xfrm>
            <a:off x="636905" y="2245360"/>
            <a:ext cx="847090" cy="92202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数据采集与整合</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8" name="Rectangle 7"/>
          <p:cNvSpPr/>
          <p:nvPr/>
        </p:nvSpPr>
        <p:spPr>
          <a:xfrm>
            <a:off x="1597025" y="2245360"/>
            <a:ext cx="2255520"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客户信息采集分散，多依赖人工录入，行为与偏好数据未有效沉淀。</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跨系统数据无法互通，存在大量数据冗余。</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Rectangle 8"/>
          <p:cNvSpPr/>
          <p:nvPr/>
        </p:nvSpPr>
        <p:spPr>
          <a:xfrm>
            <a:off x="3990340" y="2245360"/>
            <a:ext cx="2901315" cy="92202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规范数据采集与整合</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搭建统一数据采集入口，自动同步各业务系统客户数据（基础信息、交易数据、行为数据）；建立数据清洗机制，确保数据准确性与完整性。</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3" name="Rectangle 12"/>
          <p:cNvSpPr/>
          <p:nvPr/>
        </p:nvSpPr>
        <p:spPr>
          <a:xfrm>
            <a:off x="636905" y="3265805"/>
            <a:ext cx="847090" cy="98806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标签与画像不统一</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14" name="Rectangle 13"/>
          <p:cNvSpPr/>
          <p:nvPr/>
        </p:nvSpPr>
        <p:spPr>
          <a:xfrm>
            <a:off x="1597025" y="3265805"/>
            <a:ext cx="2255520"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缺乏标准化客户标签体系，无法精准识别高价值与风险客户。</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缺乏深度客户画像，难以支撑精准营销与服务优化。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5" name="Rectangle 14"/>
          <p:cNvSpPr/>
          <p:nvPr/>
        </p:nvSpPr>
        <p:spPr>
          <a:xfrm>
            <a:off x="3990340" y="3265805"/>
            <a:ext cx="2901315" cy="98806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构建标签与画像体系</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建立多层级客户标签，支持自动</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手动打标；生成客户</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360</a:t>
            </a:r>
            <a:r>
              <a:rPr kumimoji="0" lang="en-US"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画像，展示消费能力、行为偏好等核心信息。</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支持用户标签圈选人群</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进行自动化运营管理</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提升用户归属感</a:t>
            </a:r>
            <a:r>
              <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a:t>
            </a:r>
            <a:endParaRPr kumimoji="0" lang="en-US" altLang="zh-CN"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38" name="Rectangle 18"/>
          <p:cNvSpPr/>
          <p:nvPr/>
        </p:nvSpPr>
        <p:spPr>
          <a:xfrm>
            <a:off x="636905" y="4382770"/>
            <a:ext cx="847090" cy="1050290"/>
          </a:xfrm>
          <a:prstGeom prst="rect">
            <a:avLst/>
          </a:prstGeom>
          <a:solidFill>
            <a:srgbClr val="00338D"/>
          </a:solidFill>
          <a:ln w="12700" cap="flat" cmpd="sng" algn="ctr">
            <a:noFill/>
            <a:prstDash val="solid"/>
            <a:miter lim="800000"/>
          </a:ln>
          <a:effectLst/>
        </p:spPr>
        <p:txBody>
          <a:bodyPr lIns="54000" tIns="54000" rIns="54000" bIns="54000" rtlCol="0" anchor="ctr"/>
          <a:lstStyle/>
          <a:p>
            <a:pPr algn="ctr">
              <a:lnSpc>
                <a:spcPts val="1400"/>
              </a:lnSpc>
            </a:pPr>
            <a:r>
              <a:rPr lang="zh-CN" altLang="en-US" sz="1100" b="1" kern="0" dirty="0">
                <a:solidFill>
                  <a:prstClr val="white"/>
                </a:solidFill>
                <a:latin typeface="微软雅黑" panose="020B0503020204020204" pitchFamily="34" charset="-122"/>
                <a:ea typeface="微软雅黑" panose="020B0503020204020204" pitchFamily="34" charset="-122"/>
              </a:rPr>
              <a:t>数据应用能力不足</a:t>
            </a:r>
            <a:endParaRPr lang="zh-CN" altLang="en-US" sz="1100" b="1" kern="0" dirty="0">
              <a:solidFill>
                <a:prstClr val="white"/>
              </a:solidFill>
              <a:latin typeface="微软雅黑" panose="020B0503020204020204" pitchFamily="34" charset="-122"/>
              <a:ea typeface="微软雅黑" panose="020B0503020204020204" pitchFamily="34" charset="-122"/>
            </a:endParaRPr>
          </a:p>
        </p:txBody>
      </p:sp>
      <p:sp>
        <p:nvSpPr>
          <p:cNvPr id="39" name="Rectangle 19"/>
          <p:cNvSpPr/>
          <p:nvPr/>
        </p:nvSpPr>
        <p:spPr>
          <a:xfrm>
            <a:off x="1597025" y="4382770"/>
            <a:ext cx="2255520"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数据统计依赖人工表单，缺乏自动化报表工具。</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缺乏行为分析与趋势预测功能，无法为运营决策提供有效数据支撑。</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40" name="Rectangle 20"/>
          <p:cNvSpPr/>
          <p:nvPr/>
        </p:nvSpPr>
        <p:spPr>
          <a:xfrm>
            <a:off x="3990340" y="4382770"/>
            <a:ext cx="2901315" cy="1050290"/>
          </a:xfrm>
          <a:prstGeom prst="rect">
            <a:avLst/>
          </a:prstGeom>
          <a:solidFill>
            <a:schemeClr val="bg1">
              <a:lumMod val="95000"/>
            </a:schemeClr>
          </a:solidFill>
          <a:ln w="12700" cap="flat" cmpd="sng" algn="ctr">
            <a:noFill/>
            <a:prstDash val="solid"/>
            <a:miter lim="800000"/>
          </a:ln>
          <a:effectLst/>
        </p:spPr>
        <p:txBody>
          <a:bodyPr lIns="0" tIns="54000" rIns="0" bIns="54000" rtlCol="0" anchor="ctr"/>
          <a:lstStyle/>
          <a:p>
            <a:pPr marR="0" lvl="0" indent="0" defTabSz="91440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强化数据应用</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自动生成多维度数据报表（会员活跃度、积分流转、活动转化）；新增客户行为分析与趋势预测功能，支撑精准营销与运营决策优化。</a:t>
            </a:r>
            <a:endParaRPr kumimoji="0" lang="zh-CN" altLang="en-US" sz="105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aphicFrame>
        <p:nvGraphicFramePr>
          <p:cNvPr id="45" name="表格 44"/>
          <p:cNvGraphicFramePr/>
          <p:nvPr/>
        </p:nvGraphicFramePr>
        <p:xfrm>
          <a:off x="7029767" y="1844675"/>
          <a:ext cx="1951990" cy="4180840"/>
        </p:xfrm>
        <a:graphic>
          <a:graphicData uri="http://schemas.openxmlformats.org/drawingml/2006/table">
            <a:tbl>
              <a:tblPr/>
              <a:tblGrid>
                <a:gridCol w="337185"/>
                <a:gridCol w="1056005"/>
                <a:gridCol w="558800"/>
              </a:tblGrid>
              <a:tr h="249555">
                <a:tc rowSpan="3">
                  <a:txBody>
                    <a:bodyPr/>
                    <a:lstStyle/>
                    <a:p>
                      <a:pPr algn="ctr" fontAlgn="t"/>
                      <a:r>
                        <a:rPr lang="zh-CN" altLang="en-US" sz="1000" b="0" i="0">
                          <a:solidFill>
                            <a:schemeClr val="bg1"/>
                          </a:solidFill>
                          <a:latin typeface="微软雅黑"/>
                          <a:ea typeface="微软雅黑"/>
                        </a:rPr>
                        <a:t>客户信息采集与整合</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数据信息采集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基础数据清洗</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基础信息存储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4">
                  <a:txBody>
                    <a:bodyPr/>
                    <a:lstStyle/>
                    <a:p>
                      <a:pPr algn="ctr" fontAlgn="t"/>
                      <a:r>
                        <a:rPr lang="zh-CN" altLang="en-US" sz="1000" b="0" i="0">
                          <a:solidFill>
                            <a:schemeClr val="bg1"/>
                          </a:solidFill>
                          <a:latin typeface="微软雅黑"/>
                          <a:ea typeface="微软雅黑"/>
                        </a:rPr>
                        <a:t>客户标签管理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标签创建与分类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en-US" altLang="zh-CN"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自动 </a:t>
                      </a:r>
                      <a:r>
                        <a:rPr lang="en-US" altLang="zh-CN" sz="1000" b="0" i="0">
                          <a:solidFill>
                            <a:srgbClr val="000000"/>
                          </a:solidFill>
                          <a:latin typeface="微软雅黑" charset="0"/>
                          <a:ea typeface="微软雅黑" charset="0"/>
                          <a:cs typeface="微软雅黑" charset="0"/>
                        </a:rPr>
                        <a:t>/ </a:t>
                      </a:r>
                      <a:r>
                        <a:rPr lang="zh-CN" altLang="en-US" sz="1000" b="0" i="0">
                          <a:solidFill>
                            <a:srgbClr val="000000"/>
                          </a:solidFill>
                          <a:latin typeface="微软雅黑" charset="0"/>
                          <a:ea typeface="微软雅黑" charset="0"/>
                          <a:cs typeface="微软雅黑" charset="0"/>
                        </a:rPr>
                        <a:t>手动打标签</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标签查询与维护</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193040">
                <a:tc rowSpan="4">
                  <a:txBody>
                    <a:bodyPr/>
                    <a:lstStyle/>
                    <a:p>
                      <a:pPr algn="ctr" fontAlgn="t"/>
                      <a:r>
                        <a:rPr lang="zh-CN" altLang="en-US" sz="1000" b="0" i="0">
                          <a:solidFill>
                            <a:schemeClr val="bg1"/>
                          </a:solidFill>
                          <a:latin typeface="微软雅黑"/>
                          <a:ea typeface="微软雅黑"/>
                        </a:rPr>
                        <a:t>客户画像构建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基础画像构建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深度画像分析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画像展示与应用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rowSpan="5">
                  <a:txBody>
                    <a:bodyPr/>
                    <a:lstStyle/>
                    <a:p>
                      <a:pPr algn="ctr" fontAlgn="t"/>
                      <a:r>
                        <a:rPr lang="zh-CN" altLang="en-US" sz="1000" b="0" i="0">
                          <a:solidFill>
                            <a:schemeClr val="bg1"/>
                          </a:solidFill>
                          <a:latin typeface="微软雅黑"/>
                          <a:ea typeface="微软雅黑"/>
                        </a:rPr>
                        <a:t>客户行为分析</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行为数据整合</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多维度行为分析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客户模型应用</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行为趋势预测</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48920">
                <a:tc rowSpan="3">
                  <a:txBody>
                    <a:bodyPr/>
                    <a:lstStyle/>
                    <a:p>
                      <a:pPr algn="ctr" fontAlgn="t"/>
                      <a:r>
                        <a:rPr lang="zh-CN" altLang="en-US" sz="1000" b="0" i="0">
                          <a:solidFill>
                            <a:schemeClr val="bg1"/>
                          </a:solidFill>
                          <a:latin typeface="微软雅黑"/>
                          <a:ea typeface="微软雅黑"/>
                        </a:rPr>
                        <a:t>客户数据查询与导出</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多类型客户查询</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3067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数据合规导出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graphicFrame>
        <p:nvGraphicFramePr>
          <p:cNvPr id="47" name="表格 46"/>
          <p:cNvGraphicFramePr/>
          <p:nvPr/>
        </p:nvGraphicFramePr>
        <p:xfrm>
          <a:off x="9192577" y="1916430"/>
          <a:ext cx="2343785" cy="4010025"/>
        </p:xfrm>
        <a:graphic>
          <a:graphicData uri="http://schemas.openxmlformats.org/drawingml/2006/table">
            <a:tbl>
              <a:tblPr/>
              <a:tblGrid>
                <a:gridCol w="348615"/>
                <a:gridCol w="1367790"/>
                <a:gridCol w="627380"/>
              </a:tblGrid>
              <a:tr h="203200">
                <a:tc rowSpan="4">
                  <a:txBody>
                    <a:bodyPr/>
                    <a:lstStyle/>
                    <a:p>
                      <a:pPr algn="ctr" fontAlgn="t"/>
                      <a:r>
                        <a:rPr lang="zh-CN" altLang="en-US" sz="1000" b="0" i="0">
                          <a:solidFill>
                            <a:schemeClr val="bg1"/>
                          </a:solidFill>
                          <a:latin typeface="微软雅黑"/>
                          <a:ea typeface="微软雅黑"/>
                        </a:rPr>
                        <a:t>数据安全与权限管理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数据加密与合规管控</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3">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精细化权限控制</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操作日志与数据备份</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系统对接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48920">
                <a:tc rowSpan="4">
                  <a:txBody>
                    <a:bodyPr/>
                    <a:lstStyle/>
                    <a:p>
                      <a:pPr algn="ctr" fontAlgn="t"/>
                      <a:r>
                        <a:rPr lang="zh-CN" altLang="en-US" sz="1000" b="0" i="0">
                          <a:solidFill>
                            <a:schemeClr val="bg1"/>
                          </a:solidFill>
                          <a:latin typeface="微软雅黑"/>
                          <a:ea typeface="微软雅黑"/>
                        </a:rPr>
                        <a:t>客户</a:t>
                      </a:r>
                      <a:r>
                        <a:rPr lang="en-US" altLang="zh-CN" sz="1000" b="0" i="0">
                          <a:solidFill>
                            <a:schemeClr val="bg1"/>
                          </a:solidFill>
                          <a:latin typeface="微软雅黑"/>
                          <a:ea typeface="微软雅黑"/>
                        </a:rPr>
                        <a:t>OneID</a:t>
                      </a:r>
                      <a:r>
                        <a:rPr lang="zh-CN" altLang="en-US" sz="1000" b="0" i="0">
                          <a:solidFill>
                            <a:schemeClr val="bg1"/>
                          </a:solidFill>
                          <a:latin typeface="微软雅黑"/>
                          <a:ea typeface="微软雅黑"/>
                        </a:rPr>
                        <a:t>识别与数据分发</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全系统数据集成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4">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2606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cs typeface="微软雅黑" charset="0"/>
                        </a:rPr>
                        <a:t>客户 </a:t>
                      </a:r>
                      <a:r>
                        <a:rPr lang="en-US" altLang="zh-CN" sz="1000" b="0" i="0">
                          <a:solidFill>
                            <a:srgbClr val="000000"/>
                          </a:solidFill>
                          <a:latin typeface="微软雅黑" charset="0"/>
                          <a:ea typeface="微软雅黑" charset="0"/>
                          <a:cs typeface="微软雅黑" charset="0"/>
                        </a:rPr>
                        <a:t>OneID </a:t>
                      </a:r>
                      <a:r>
                        <a:rPr lang="zh-CN" altLang="en-US" sz="1000" b="0" i="0">
                          <a:solidFill>
                            <a:srgbClr val="000000"/>
                          </a:solidFill>
                          <a:latin typeface="微软雅黑" charset="0"/>
                          <a:ea typeface="微软雅黑" charset="0"/>
                          <a:cs typeface="微软雅黑" charset="0"/>
                        </a:rPr>
                        <a:t>生成</a:t>
                      </a:r>
                      <a:endParaRPr lang="zh-CN" altLang="en-US" sz="1000" b="0" i="0">
                        <a:solidFill>
                          <a:srgbClr val="000000"/>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数据实时同步与更新</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数据精准分发</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人群管理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多方式人群创建</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rowSpan="2">
                  <a:txBody>
                    <a:bodyPr/>
                    <a:lstStyle/>
                    <a:p>
                      <a:pPr algn="ctr" fontAlgn="t"/>
                      <a:r>
                        <a:rPr lang="zh-CN" altLang="en-US" sz="1000" b="0" i="0">
                          <a:solidFill>
                            <a:srgbClr val="000000"/>
                          </a:solidFill>
                          <a:latin typeface="微软雅黑" charset="0"/>
                          <a:ea typeface="微软雅黑" charset="0"/>
                        </a:rPr>
                        <a:t>一阶段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人群属性配置</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8D31C">
                        <a:alpha val="34000"/>
                      </a:srgb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人群画像分析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rowSpan="3">
                  <a:txBody>
                    <a:bodyPr/>
                    <a:lstStyle/>
                    <a:p>
                      <a:pPr algn="ctr" fontAlgn="t"/>
                      <a:r>
                        <a:rPr lang="zh-CN" altLang="en-US" sz="1000" b="0" i="0">
                          <a:solidFill>
                            <a:schemeClr val="bg1"/>
                          </a:solidFill>
                          <a:latin typeface="微软雅黑"/>
                          <a:ea typeface="微软雅黑"/>
                        </a:rPr>
                        <a:t>客户满意度管理</a:t>
                      </a:r>
                      <a:endParaRPr lang="zh-CN" altLang="en-US" sz="1000" b="0" i="0">
                        <a:solidFill>
                          <a:schemeClr val="bg1"/>
                        </a:solidFill>
                        <a:latin typeface="微软雅黑"/>
                        <a:ea typeface="微软雅黑"/>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评价与投诉数据采集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3">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满意度分析体系</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投诉闭环管理</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13360">
                <a:tc rowSpan="5">
                  <a:txBody>
                    <a:bodyPr/>
                    <a:lstStyle/>
                    <a:p>
                      <a:pPr algn="ctr" fontAlgn="t"/>
                      <a:r>
                        <a:rPr lang="zh-CN" altLang="en-US" sz="1100" b="0" i="0">
                          <a:solidFill>
                            <a:schemeClr val="bg1"/>
                          </a:solidFill>
                          <a:latin typeface="宋体"/>
                          <a:ea typeface="宋体"/>
                        </a:rPr>
                        <a:t>系统集成</a:t>
                      </a:r>
                      <a:endParaRPr lang="zh-CN" altLang="en-US" sz="1100" b="0" i="0">
                        <a:solidFill>
                          <a:schemeClr val="bg1"/>
                        </a:solidFill>
                        <a:latin typeface="宋体"/>
                        <a:ea typeface="宋体"/>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00B0F0"/>
                    </a:solidFill>
                  </a:tcPr>
                </a:tc>
                <a:tc>
                  <a:txBody>
                    <a:bodyPr/>
                    <a:lstStyle/>
                    <a:p>
                      <a:pPr algn="ctr" fontAlgn="t"/>
                      <a:r>
                        <a:rPr lang="zh-CN" altLang="en-US" sz="1000" b="0" i="0">
                          <a:solidFill>
                            <a:srgbClr val="000000"/>
                          </a:solidFill>
                          <a:latin typeface="微软雅黑" charset="0"/>
                          <a:ea typeface="微软雅黑" charset="0"/>
                        </a:rPr>
                        <a:t>手机多端集成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rowSpan="5">
                  <a:txBody>
                    <a:bodyPr/>
                    <a:lstStyle/>
                    <a:p>
                      <a:pPr algn="ctr" fontAlgn="t"/>
                      <a:r>
                        <a:rPr lang="zh-CN" altLang="en-US" sz="1000" b="0" i="0">
                          <a:solidFill>
                            <a:srgbClr val="000000"/>
                          </a:solidFill>
                          <a:latin typeface="微软雅黑" charset="0"/>
                          <a:ea typeface="微软雅黑" charset="0"/>
                        </a:rPr>
                        <a:t>二阶段</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运营一体化平台集成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客户数据信息同步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ctr" fontAlgn="t"/>
                      <a:r>
                        <a:rPr lang="zh-CN" altLang="en-US" sz="1000" b="0" i="0">
                          <a:solidFill>
                            <a:srgbClr val="000000"/>
                          </a:solidFill>
                          <a:latin typeface="微软雅黑" charset="0"/>
                          <a:ea typeface="微软雅黑" charset="0"/>
                        </a:rPr>
                        <a:t>会员与积分信息同步</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r h="2032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t"/>
                      <a:r>
                        <a:rPr lang="zh-CN" altLang="en-US" sz="1000" b="0" i="0">
                          <a:solidFill>
                            <a:srgbClr val="000000"/>
                          </a:solidFill>
                          <a:latin typeface="微软雅黑" charset="0"/>
                          <a:ea typeface="微软雅黑" charset="0"/>
                        </a:rPr>
                        <a:t>拓展板块系统集成</a:t>
                      </a:r>
                      <a:endParaRPr lang="zh-CN" altLang="en-US" sz="1000" b="0" i="0">
                        <a:solidFill>
                          <a:srgbClr val="000000"/>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c vMerge="1">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lumMod val="95000"/>
                      </a:schemeClr>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智能客服整体设计</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grpSp>
        <p:nvGrpSpPr>
          <p:cNvPr id="54" name="组合 53"/>
          <p:cNvGrpSpPr/>
          <p:nvPr/>
        </p:nvGrpSpPr>
        <p:grpSpPr>
          <a:xfrm>
            <a:off x="935990" y="2173605"/>
            <a:ext cx="3314700" cy="2970530"/>
            <a:chOff x="1307" y="3005"/>
            <a:chExt cx="5553" cy="5435"/>
          </a:xfrm>
        </p:grpSpPr>
        <p:grpSp>
          <p:nvGrpSpPr>
            <p:cNvPr id="55" name="组合 54"/>
            <p:cNvGrpSpPr/>
            <p:nvPr/>
          </p:nvGrpSpPr>
          <p:grpSpPr>
            <a:xfrm>
              <a:off x="1307" y="3005"/>
              <a:ext cx="5553" cy="5435"/>
              <a:chOff x="7890" y="3389"/>
              <a:chExt cx="3762" cy="3682"/>
            </a:xfrm>
          </p:grpSpPr>
          <p:sp>
            <p:nvSpPr>
              <p:cNvPr id="56" name="椭圆 55"/>
              <p:cNvSpPr/>
              <p:nvPr>
                <p:custDataLst>
                  <p:tags r:id="rId1"/>
                </p:custDataLst>
              </p:nvPr>
            </p:nvSpPr>
            <p:spPr>
              <a:xfrm>
                <a:off x="7890" y="3389"/>
                <a:ext cx="3621" cy="3682"/>
              </a:xfrm>
              <a:prstGeom prst="ellipse">
                <a:avLst/>
              </a:prstGeom>
              <a:noFill/>
              <a:ln w="79375" cmpd="thickThin">
                <a:gradFill>
                  <a:gsLst>
                    <a:gs pos="0">
                      <a:srgbClr val="E4ECFF"/>
                    </a:gs>
                    <a:gs pos="52000">
                      <a:srgbClr val="0070C0"/>
                    </a:gs>
                    <a:gs pos="100000">
                      <a:srgbClr val="E4EC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1600">
                  <a:latin typeface="思源黑体 CN Regular" panose="020B0500000000000000" charset="-122"/>
                  <a:ea typeface="思源黑体 CN Regular" panose="020B0500000000000000" charset="-122"/>
                  <a:sym typeface="微软雅黑" panose="020B0503020204020204" pitchFamily="34" charset="-122"/>
                </a:endParaRPr>
              </a:p>
            </p:txBody>
          </p:sp>
          <p:sp>
            <p:nvSpPr>
              <p:cNvPr id="57" name="矩形 56"/>
              <p:cNvSpPr/>
              <p:nvPr>
                <p:custDataLst>
                  <p:tags r:id="rId2"/>
                </p:custDataLst>
              </p:nvPr>
            </p:nvSpPr>
            <p:spPr>
              <a:xfrm>
                <a:off x="8983" y="3690"/>
                <a:ext cx="2669" cy="1314"/>
              </a:xfrm>
              <a:prstGeom prst="rect">
                <a:avLst/>
              </a:prstGeom>
            </p:spPr>
            <p:txBody>
              <a:bodyPr wrap="square">
                <a:spAutoFit/>
              </a:bodyPr>
              <a:lstStyle/>
              <a:p>
                <a:pPr algn="ctr">
                  <a:lnSpc>
                    <a:spcPct val="150000"/>
                  </a:lnSpc>
                </a:pPr>
                <a:r>
                  <a:rPr lang="en-US" altLang="zh-CN"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150******46</a:t>
                </a:r>
                <a:endParaRPr lang="en-US" altLang="zh-CN"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a:p>
                <a:pPr algn="ctr">
                  <a:lnSpc>
                    <a:spcPct val="150000"/>
                  </a:lnSpc>
                </a:pP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用户身份</a:t>
                </a:r>
                <a:endPar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a:p>
                <a:pPr algn="ctr">
                  <a:lnSpc>
                    <a:spcPct val="150000"/>
                  </a:lnSpc>
                </a:pPr>
                <a:r>
                  <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rPr>
                  <a:t>用户标签</a:t>
                </a:r>
                <a:endParaRPr lang="zh-CN" altLang="en-US" sz="1400" b="1" dirty="0">
                  <a:solidFill>
                    <a:srgbClr val="0070C0"/>
                  </a:solidFill>
                  <a:latin typeface="思源黑体 CN Regular" panose="020B0500000000000000" charset="-122"/>
                  <a:ea typeface="思源黑体 CN Regular" panose="020B0500000000000000" charset="-122"/>
                  <a:cs typeface="思源黑体 CN Regular" panose="020B0500000000000000" charset="-122"/>
                  <a:sym typeface="微软雅黑" panose="020B0503020204020204" pitchFamily="34" charset="-122"/>
                </a:endParaRPr>
              </a:p>
            </p:txBody>
          </p:sp>
          <p:pic>
            <p:nvPicPr>
              <p:cNvPr id="58" name="图片 57" descr="343439383331383b343531393032363bd3c3bba7d0d0ceaa"/>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327" y="3839"/>
                <a:ext cx="1199" cy="1199"/>
              </a:xfrm>
              <a:prstGeom prst="rect">
                <a:avLst/>
              </a:prstGeom>
            </p:spPr>
          </p:pic>
        </p:grpSp>
        <p:sp>
          <p:nvSpPr>
            <p:cNvPr id="59" name="矩形 58"/>
            <p:cNvSpPr/>
            <p:nvPr>
              <p:custDataLst>
                <p:tags r:id="rId6"/>
              </p:custDataLst>
            </p:nvPr>
          </p:nvSpPr>
          <p:spPr>
            <a:xfrm>
              <a:off x="1959" y="5740"/>
              <a:ext cx="4120" cy="645"/>
            </a:xfrm>
            <a:prstGeom prst="rect">
              <a:avLst/>
            </a:prstGeom>
          </p:spPr>
          <p:txBody>
            <a:bodyPr wrap="square">
              <a:spAutoFit/>
            </a:bodyPr>
            <a:lstStyle/>
            <a:p>
              <a:pPr algn="ctr">
                <a:lnSpc>
                  <a:spcPct val="130000"/>
                </a:lnSpc>
                <a:spcBef>
                  <a:spcPts val="0"/>
                </a:spcBef>
                <a:spcAft>
                  <a:spcPts val="0"/>
                </a:spcAft>
              </a:pPr>
              <a:endParaRPr lang="zh-CN" altLang="en-US" sz="12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61" name="文本框 60"/>
          <p:cNvSpPr txBox="1"/>
          <p:nvPr>
            <p:custDataLst>
              <p:tags r:id="rId7"/>
            </p:custDataLst>
          </p:nvPr>
        </p:nvSpPr>
        <p:spPr>
          <a:xfrm>
            <a:off x="494030" y="1230630"/>
            <a:ext cx="11421110" cy="829945"/>
          </a:xfrm>
          <a:prstGeom prst="rect">
            <a:avLst/>
          </a:prstGeom>
          <a:noFill/>
        </p:spPr>
        <p:txBody>
          <a:bodyPr wrap="square" rtlCol="0">
            <a:no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整体业务设计：通过数据通</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会员通、积分通、权益通的</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sym typeface="+mn-ea"/>
              </a:rPr>
              <a:t>四通</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策略，将用户全域业务场景</a:t>
            </a:r>
            <a:r>
              <a:rPr lang="zh-CN" altLang="en-US" sz="1600" dirty="0">
                <a:latin typeface="微软雅黑" panose="020B0503020204020204" pitchFamily="34" charset="-122"/>
                <a:ea typeface="微软雅黑" panose="020B0503020204020204" pitchFamily="34" charset="-122"/>
                <a:sym typeface="+mn-ea"/>
              </a:rPr>
              <a:t>进行连通，整合用户数据</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进行用户画像和行为分析</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应用于线上客服</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营销管理</a:t>
            </a:r>
            <a:r>
              <a:rPr lang="en-US" altLang="zh-CN" sz="1600" dirty="0">
                <a:latin typeface="微软雅黑" panose="020B0503020204020204" pitchFamily="34" charset="-122"/>
                <a:ea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sym typeface="+mn-ea"/>
              </a:rPr>
              <a:t>对外开拓异业联盟生态。</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3" name="椭圆 62"/>
          <p:cNvSpPr/>
          <p:nvPr/>
        </p:nvSpPr>
        <p:spPr>
          <a:xfrm>
            <a:off x="5866130" y="213169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会员通</a:t>
            </a:r>
            <a:endParaRPr lang="zh-CN" altLang="en-US" b="1"/>
          </a:p>
        </p:txBody>
      </p:sp>
      <p:sp>
        <p:nvSpPr>
          <p:cNvPr id="64" name="椭圆 63"/>
          <p:cNvSpPr/>
          <p:nvPr>
            <p:custDataLst>
              <p:tags r:id="rId8"/>
            </p:custDataLst>
          </p:nvPr>
        </p:nvSpPr>
        <p:spPr>
          <a:xfrm>
            <a:off x="5866130" y="293179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积分通</a:t>
            </a:r>
            <a:endParaRPr lang="zh-CN" altLang="en-US" b="1"/>
          </a:p>
        </p:txBody>
      </p:sp>
      <p:sp>
        <p:nvSpPr>
          <p:cNvPr id="65" name="椭圆 64"/>
          <p:cNvSpPr/>
          <p:nvPr>
            <p:custDataLst>
              <p:tags r:id="rId9"/>
            </p:custDataLst>
          </p:nvPr>
        </p:nvSpPr>
        <p:spPr>
          <a:xfrm>
            <a:off x="5875655" y="3764280"/>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权益通</a:t>
            </a:r>
            <a:endParaRPr lang="zh-CN" altLang="en-US" b="1"/>
          </a:p>
        </p:txBody>
      </p:sp>
      <p:sp>
        <p:nvSpPr>
          <p:cNvPr id="66" name="椭圆 65"/>
          <p:cNvSpPr/>
          <p:nvPr>
            <p:custDataLst>
              <p:tags r:id="rId10"/>
            </p:custDataLst>
          </p:nvPr>
        </p:nvSpPr>
        <p:spPr>
          <a:xfrm>
            <a:off x="5866130" y="4600575"/>
            <a:ext cx="1395095" cy="562610"/>
          </a:xfrm>
          <a:prstGeom prst="ellipse">
            <a:avLst/>
          </a:prstGeom>
          <a:solidFill>
            <a:srgbClr val="0074B8"/>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b="1"/>
              <a:t>数据通</a:t>
            </a:r>
            <a:endParaRPr lang="zh-CN" altLang="en-US" b="1"/>
          </a:p>
        </p:txBody>
      </p:sp>
      <p:sp>
        <p:nvSpPr>
          <p:cNvPr id="67" name="文本框 66"/>
          <p:cNvSpPr txBox="1"/>
          <p:nvPr/>
        </p:nvSpPr>
        <p:spPr>
          <a:xfrm>
            <a:off x="7404735" y="2108835"/>
            <a:ext cx="4159885" cy="533400"/>
          </a:xfrm>
          <a:prstGeom prst="rect">
            <a:avLst/>
          </a:prstGeom>
          <a:noFill/>
        </p:spPr>
        <p:txBody>
          <a:bodyPr wrap="square" rtlCol="0" anchor="t">
            <a:spAutoFit/>
          </a:bodyPr>
          <a:lstStyle/>
          <a:p>
            <a:pPr algn="just">
              <a:lnSpc>
                <a:spcPct val="120000"/>
              </a:lnSpc>
            </a:pPr>
            <a:r>
              <a:rPr lang="zh-CN" altLang="en-US" sz="1200" dirty="0">
                <a:solidFill>
                  <a:schemeClr val="tx1"/>
                </a:solidFill>
                <a:latin typeface="微软雅黑" panose="020B0503020204020204" pitchFamily="34" charset="-122"/>
                <a:ea typeface="微软雅黑" panose="020B0503020204020204" pitchFamily="34" charset="-122"/>
                <a:sym typeface="+mn-ea"/>
              </a:rPr>
              <a:t>整合各业务会员信息，在集团全域内实现会员的基础信息打通，会员唯一识别。统一会员身份、统一会员账户。</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68" name="文本框 67"/>
          <p:cNvSpPr txBox="1"/>
          <p:nvPr>
            <p:custDataLst>
              <p:tags r:id="rId11"/>
            </p:custDataLst>
          </p:nvPr>
        </p:nvSpPr>
        <p:spPr>
          <a:xfrm>
            <a:off x="7404735" y="2875280"/>
            <a:ext cx="4159885" cy="755015"/>
          </a:xfrm>
          <a:prstGeom prst="rect">
            <a:avLst/>
          </a:prstGeom>
          <a:noFill/>
        </p:spPr>
        <p:txBody>
          <a:bodyPr wrap="square" rtlCol="0">
            <a:spAutoFit/>
          </a:bodyPr>
          <a:lstStyle/>
          <a:p>
            <a:pPr algn="just">
              <a:lnSpc>
                <a:spcPct val="120000"/>
              </a:lnSpc>
            </a:pPr>
            <a:r>
              <a:rPr lang="zh-CN" altLang="en-US" sz="1200" dirty="0">
                <a:solidFill>
                  <a:schemeClr val="tx1"/>
                </a:solidFill>
                <a:latin typeface="微软雅黑" panose="020B0503020204020204" pitchFamily="34" charset="-122"/>
                <a:ea typeface="微软雅黑" panose="020B0503020204020204" pitchFamily="34" charset="-122"/>
                <a:sym typeface="+mn-ea"/>
              </a:rPr>
              <a:t>统一积分价值，整合积分查询明细、消费场景，增加会员对积分的感知，增加跨场景的触点，积分作为运营抓手，积分的通积通兑实现客户跨场引流。</a:t>
            </a:r>
            <a:endParaRPr lang="zh-CN" altLang="en-US" sz="1200" dirty="0">
              <a:solidFill>
                <a:schemeClr val="tx1"/>
              </a:solidFill>
              <a:latin typeface="微软雅黑" panose="020B0503020204020204" pitchFamily="34" charset="-122"/>
              <a:ea typeface="微软雅黑" panose="020B0503020204020204" pitchFamily="34" charset="-122"/>
              <a:sym typeface="+mn-ea"/>
            </a:endParaRPr>
          </a:p>
        </p:txBody>
      </p:sp>
      <p:sp>
        <p:nvSpPr>
          <p:cNvPr id="69" name="文本框 68"/>
          <p:cNvSpPr txBox="1"/>
          <p:nvPr>
            <p:custDataLst>
              <p:tags r:id="rId12"/>
            </p:custDataLst>
          </p:nvPr>
        </p:nvSpPr>
        <p:spPr>
          <a:xfrm>
            <a:off x="7404735" y="4534535"/>
            <a:ext cx="4159885" cy="755015"/>
          </a:xfrm>
          <a:prstGeom prst="rect">
            <a:avLst/>
          </a:prstGeom>
          <a:noFill/>
        </p:spPr>
        <p:txBody>
          <a:bodyPr wrap="square" rtlCol="0">
            <a:spAutoFit/>
          </a:bodyPr>
          <a:lstStyle/>
          <a:p>
            <a:pPr>
              <a:lnSpc>
                <a:spcPct val="120000"/>
              </a:lnSpc>
            </a:pP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连通各业务线的与用户相关数据，定义用户唯一标识，统一数据沉淀方式，数据质量提升，以便开展全方位评价分析与数据应用。</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0" name="文本框 69"/>
          <p:cNvSpPr txBox="1"/>
          <p:nvPr>
            <p:custDataLst>
              <p:tags r:id="rId13"/>
            </p:custDataLst>
          </p:nvPr>
        </p:nvSpPr>
        <p:spPr>
          <a:xfrm>
            <a:off x="7404735" y="3710305"/>
            <a:ext cx="4159885" cy="755015"/>
          </a:xfrm>
          <a:prstGeom prst="rect">
            <a:avLst/>
          </a:prstGeom>
          <a:noFill/>
        </p:spPr>
        <p:txBody>
          <a:bodyPr wrap="square" rtlCol="0">
            <a:spAutoFit/>
          </a:bodyPr>
          <a:lstStyle/>
          <a:p>
            <a:pPr algn="l">
              <a:lnSpc>
                <a:spcPct val="120000"/>
              </a:lnSpc>
            </a:pP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业务跨业态的触点，提供会员的联动的场景，如</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物业服务</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停车优惠</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充电优惠</a:t>
            </a:r>
            <a:r>
              <a:rPr lang="en-US" altLang="zh-CN"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0C0C0C"/>
                </a:solidFill>
                <a:latin typeface="微软雅黑" panose="020B0503020204020204" pitchFamily="34" charset="-122"/>
                <a:ea typeface="微软雅黑" panose="020B0503020204020204" pitchFamily="34" charset="-122"/>
                <a:cs typeface="微软雅黑" panose="020B0503020204020204" pitchFamily="34" charset="-122"/>
                <a:sym typeface="+mn-ea"/>
              </a:rPr>
              <a:t>外部合作场景，提升品牌感知与客户满意度。</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文本框 70"/>
          <p:cNvSpPr txBox="1"/>
          <p:nvPr>
            <p:custDataLst>
              <p:tags r:id="rId14"/>
            </p:custDataLst>
          </p:nvPr>
        </p:nvSpPr>
        <p:spPr>
          <a:xfrm>
            <a:off x="4664163" y="2806512"/>
            <a:ext cx="629920" cy="2608580"/>
          </a:xfrm>
          <a:prstGeom prst="rect">
            <a:avLst/>
          </a:prstGeom>
          <a:noFill/>
        </p:spPr>
        <p:txBody>
          <a:bodyPr wrap="square" rtlCol="0" anchor="t">
            <a:noAutofit/>
          </a:bodyPr>
          <a:lstStyle/>
          <a:p>
            <a:pPr algn="l">
              <a:lnSpc>
                <a:spcPct val="120000"/>
              </a:lnSpc>
            </a:pPr>
            <a:r>
              <a:rPr lang="zh-CN" altLang="en-US" sz="3600" b="1" dirty="0">
                <a:solidFill>
                  <a:srgbClr val="0074B8"/>
                </a:solidFill>
                <a:latin typeface="微软雅黑" panose="020B0503020204020204" pitchFamily="34" charset="-122"/>
                <a:ea typeface="微软雅黑" panose="020B0503020204020204" pitchFamily="34" charset="-122"/>
                <a:sym typeface="+mn-ea"/>
              </a:rPr>
              <a:t>四通</a:t>
            </a:r>
            <a:endParaRPr lang="zh-CN" altLang="en-US" sz="3600" b="1" dirty="0">
              <a:solidFill>
                <a:srgbClr val="0074B8"/>
              </a:solidFill>
              <a:latin typeface="微软雅黑" panose="020B0503020204020204" pitchFamily="34" charset="-122"/>
              <a:ea typeface="微软雅黑" panose="020B0503020204020204" pitchFamily="34" charset="-122"/>
              <a:sym typeface="+mn-ea"/>
            </a:endParaRPr>
          </a:p>
        </p:txBody>
      </p:sp>
      <p:grpSp>
        <p:nvGrpSpPr>
          <p:cNvPr id="72" name="组合 71"/>
          <p:cNvGrpSpPr/>
          <p:nvPr/>
        </p:nvGrpSpPr>
        <p:grpSpPr>
          <a:xfrm>
            <a:off x="206194" y="5543550"/>
            <a:ext cx="11612426" cy="981880"/>
            <a:chOff x="324" y="8098"/>
            <a:chExt cx="17888" cy="2206"/>
          </a:xfrm>
        </p:grpSpPr>
        <p:sp>
          <p:nvSpPr>
            <p:cNvPr id="73" name="圆角矩形 72"/>
            <p:cNvSpPr/>
            <p:nvPr>
              <p:custDataLst>
                <p:tags r:id="rId15"/>
              </p:custDataLst>
            </p:nvPr>
          </p:nvSpPr>
          <p:spPr>
            <a:xfrm>
              <a:off x="324" y="8098"/>
              <a:ext cx="17888" cy="2200"/>
            </a:xfrm>
            <a:prstGeom prst="roundRect">
              <a:avLst>
                <a:gd name="adj" fmla="val 3792"/>
              </a:avLst>
            </a:prstGeom>
            <a:solidFill>
              <a:schemeClr val="accent1">
                <a:lumMod val="40000"/>
                <a:lumOff val="60000"/>
              </a:schemeClr>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100" name="圆角矩形 99"/>
            <p:cNvSpPr/>
            <p:nvPr>
              <p:custDataLst>
                <p:tags r:id="rId16"/>
              </p:custDataLst>
            </p:nvPr>
          </p:nvSpPr>
          <p:spPr>
            <a:xfrm>
              <a:off x="1610" y="8373"/>
              <a:ext cx="3829"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公共型住房租赁</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102" name="圆角矩形 101"/>
            <p:cNvSpPr/>
            <p:nvPr>
              <p:custDataLst>
                <p:tags r:id="rId17"/>
              </p:custDataLst>
            </p:nvPr>
          </p:nvSpPr>
          <p:spPr>
            <a:xfrm>
              <a:off x="9861"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咨询服务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131" name="圆角矩形 130"/>
            <p:cNvSpPr/>
            <p:nvPr>
              <p:custDataLst>
                <p:tags r:id="rId18"/>
              </p:custDataLst>
            </p:nvPr>
          </p:nvSpPr>
          <p:spPr>
            <a:xfrm>
              <a:off x="9860" y="8373"/>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商业服务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74" name="圆角矩形 73"/>
            <p:cNvSpPr/>
            <p:nvPr>
              <p:custDataLst>
                <p:tags r:id="rId19"/>
              </p:custDataLst>
            </p:nvPr>
          </p:nvSpPr>
          <p:spPr>
            <a:xfrm>
              <a:off x="13984" y="8353"/>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物业服务</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75" name="圆角矩形 74"/>
            <p:cNvSpPr/>
            <p:nvPr>
              <p:custDataLst>
                <p:tags r:id="rId20"/>
              </p:custDataLst>
            </p:nvPr>
          </p:nvSpPr>
          <p:spPr>
            <a:xfrm>
              <a:off x="5736" y="8392"/>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市场化住房租赁</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6" name="圆角矩形 75"/>
            <p:cNvSpPr/>
            <p:nvPr>
              <p:custDataLst>
                <p:tags r:id="rId21"/>
              </p:custDataLst>
            </p:nvPr>
          </p:nvSpPr>
          <p:spPr>
            <a:xfrm>
              <a:off x="1611"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社群服务</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7" name="圆角矩形 76"/>
            <p:cNvSpPr/>
            <p:nvPr>
              <p:custDataLst>
                <p:tags r:id="rId22"/>
              </p:custDataLst>
            </p:nvPr>
          </p:nvSpPr>
          <p:spPr>
            <a:xfrm>
              <a:off x="5736" y="924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sym typeface="+mn-ea"/>
                </a:rPr>
                <a:t>增值服务</a:t>
              </a:r>
              <a:endParaRPr lang="zh-CN" altLang="en-US" sz="1500" b="1" dirty="0">
                <a:solidFill>
                  <a:schemeClr val="bg1"/>
                </a:solidFill>
                <a:latin typeface="微软雅黑" panose="020B0503020204020204" pitchFamily="34" charset="-122"/>
                <a:ea typeface="微软雅黑" panose="020B0503020204020204" pitchFamily="34" charset="-122"/>
                <a:sym typeface="+mn-ea"/>
              </a:endParaRPr>
            </a:p>
          </p:txBody>
        </p:sp>
        <p:sp>
          <p:nvSpPr>
            <p:cNvPr id="78" name="圆角矩形 77"/>
            <p:cNvSpPr/>
            <p:nvPr>
              <p:custDataLst>
                <p:tags r:id="rId23"/>
              </p:custDataLst>
            </p:nvPr>
          </p:nvSpPr>
          <p:spPr>
            <a:xfrm>
              <a:off x="13986" y="9214"/>
              <a:ext cx="3827" cy="758"/>
            </a:xfrm>
            <a:prstGeom prst="roundRect">
              <a:avLst/>
            </a:prstGeom>
            <a:solidFill>
              <a:srgbClr val="0074B8"/>
            </a:solidFill>
          </p:spPr>
          <p:style>
            <a:lnRef idx="0">
              <a:srgbClr val="FFFFFF"/>
            </a:lnRef>
            <a:fillRef idx="1">
              <a:schemeClr val="accent1"/>
            </a:fillRef>
            <a:effectRef idx="0">
              <a:srgbClr val="FFFFFF"/>
            </a:effectRef>
            <a:fontRef idx="minor">
              <a:schemeClr val="lt1"/>
            </a:fontRef>
          </p:style>
          <p:txBody>
            <a:bodyPr wrap="square" rtlCol="0" anchor="ctr">
              <a:no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外部合作场景</a:t>
              </a:r>
              <a:endParaRPr lang="zh-CN" altLang="en-US" sz="1500" b="1"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346" y="8516"/>
              <a:ext cx="1305" cy="1788"/>
            </a:xfrm>
            <a:prstGeom prst="rect">
              <a:avLst/>
            </a:prstGeom>
          </p:spPr>
          <p:txBody>
            <a:bodyPr wrap="square">
              <a:noAutofit/>
            </a:bodyPr>
            <a:lstStyle/>
            <a:p>
              <a:pPr algn="ctr"/>
              <a:r>
                <a:rPr lang="zh-CN" altLang="en-US" b="1" dirty="0">
                  <a:solidFill>
                    <a:schemeClr val="bg1"/>
                  </a:solidFill>
                  <a:latin typeface="微软雅黑" panose="020B0503020204020204" pitchFamily="34" charset="-122"/>
                  <a:ea typeface="微软雅黑" panose="020B0503020204020204" pitchFamily="34" charset="-122"/>
                  <a:sym typeface="+mn-ea"/>
                </a:rPr>
                <a:t>业务场景</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grpSp>
      <p:sp>
        <p:nvSpPr>
          <p:cNvPr id="82" name="虚尾箭头 81"/>
          <p:cNvSpPr/>
          <p:nvPr/>
        </p:nvSpPr>
        <p:spPr>
          <a:xfrm rot="5400000">
            <a:off x="2414112" y="5120384"/>
            <a:ext cx="276506" cy="675711"/>
          </a:xfrm>
          <a:prstGeom prst="stripedRightArrow">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1263015" y="3500755"/>
            <a:ext cx="2685415" cy="1296035"/>
          </a:xfrm>
          <a:prstGeom prst="rect">
            <a:avLst/>
          </a:prstGeom>
          <a:noFill/>
        </p:spPr>
        <p:txBody>
          <a:bodyPr wrap="square" rtlCol="0">
            <a:noAutofit/>
          </a:bodyPr>
          <a:lstStyle/>
          <a:p>
            <a:r>
              <a:rPr lang="zh-CN" altLang="en-US" sz="1200">
                <a:latin typeface="微软雅黑" charset="0"/>
                <a:ea typeface="微软雅黑" charset="0"/>
              </a:rPr>
              <a:t>个人基本信息</a:t>
            </a:r>
            <a:r>
              <a:rPr lang="en-US" altLang="zh-CN" sz="1200">
                <a:latin typeface="微软雅黑" charset="0"/>
                <a:ea typeface="微软雅黑" charset="0"/>
              </a:rPr>
              <a:t>：</a:t>
            </a:r>
            <a:r>
              <a:rPr lang="zh-CN" altLang="en-US" sz="1200">
                <a:latin typeface="微软雅黑" charset="0"/>
                <a:ea typeface="微软雅黑" charset="0"/>
              </a:rPr>
              <a:t>姓名</a:t>
            </a:r>
            <a:r>
              <a:rPr lang="en-US" altLang="zh-CN" sz="1200">
                <a:latin typeface="微软雅黑" charset="0"/>
                <a:ea typeface="微软雅黑" charset="0"/>
              </a:rPr>
              <a:t>、</a:t>
            </a:r>
            <a:r>
              <a:rPr lang="zh-CN" altLang="en-US" sz="1200">
                <a:latin typeface="微软雅黑" charset="0"/>
                <a:ea typeface="微软雅黑" charset="0"/>
              </a:rPr>
              <a:t>性别</a:t>
            </a:r>
            <a:r>
              <a:rPr lang="en-US" altLang="zh-CN" sz="1200">
                <a:latin typeface="微软雅黑" charset="0"/>
                <a:ea typeface="微软雅黑" charset="0"/>
              </a:rPr>
              <a:t>、</a:t>
            </a:r>
            <a:r>
              <a:rPr lang="zh-CN" altLang="en-US" sz="1200">
                <a:latin typeface="微软雅黑" charset="0"/>
                <a:ea typeface="微软雅黑" charset="0"/>
              </a:rPr>
              <a:t>身份证号</a:t>
            </a:r>
            <a:r>
              <a:rPr lang="en-US" altLang="zh-CN" sz="1200">
                <a:latin typeface="微软雅黑" charset="0"/>
                <a:ea typeface="微软雅黑" charset="0"/>
              </a:rPr>
              <a:t>、</a:t>
            </a:r>
            <a:r>
              <a:rPr lang="zh-CN" altLang="en-US" sz="1200">
                <a:latin typeface="微软雅黑" charset="0"/>
                <a:ea typeface="微软雅黑" charset="0"/>
              </a:rPr>
              <a:t>年龄</a:t>
            </a:r>
            <a:r>
              <a:rPr lang="en-US" altLang="zh-CN" sz="1200">
                <a:latin typeface="微软雅黑" charset="0"/>
                <a:ea typeface="微软雅黑" charset="0"/>
              </a:rPr>
              <a:t>、</a:t>
            </a:r>
            <a:r>
              <a:rPr lang="zh-CN" altLang="en-US" sz="1200">
                <a:latin typeface="微软雅黑" charset="0"/>
                <a:ea typeface="微软雅黑" charset="0"/>
              </a:rPr>
              <a:t>职业</a:t>
            </a:r>
            <a:r>
              <a:rPr lang="en-US" altLang="zh-CN" sz="1200">
                <a:latin typeface="微软雅黑" charset="0"/>
                <a:ea typeface="微软雅黑" charset="0"/>
              </a:rPr>
              <a:t>、</a:t>
            </a:r>
            <a:r>
              <a:rPr lang="zh-CN" altLang="en-US" sz="1200">
                <a:latin typeface="微软雅黑" charset="0"/>
                <a:ea typeface="微软雅黑" charset="0"/>
              </a:rPr>
              <a:t>车辆</a:t>
            </a:r>
            <a:r>
              <a:rPr lang="en-US" altLang="zh-CN" sz="1200">
                <a:latin typeface="微软雅黑" charset="0"/>
                <a:ea typeface="微软雅黑" charset="0"/>
              </a:rPr>
              <a:t>、</a:t>
            </a:r>
            <a:r>
              <a:rPr lang="zh-CN" altLang="en-US" sz="1200">
                <a:latin typeface="微软雅黑" charset="0"/>
                <a:ea typeface="微软雅黑" charset="0"/>
              </a:rPr>
              <a:t>兴趣爱好等</a:t>
            </a:r>
            <a:endParaRPr lang="zh-CN" altLang="en-US" sz="1200">
              <a:latin typeface="微软雅黑" charset="0"/>
              <a:ea typeface="微软雅黑" charset="0"/>
            </a:endParaRPr>
          </a:p>
          <a:p>
            <a:r>
              <a:rPr lang="zh-CN" altLang="en-US" sz="1200">
                <a:latin typeface="微软雅黑" charset="0"/>
                <a:ea typeface="微软雅黑" charset="0"/>
              </a:rPr>
              <a:t>租赁信息</a:t>
            </a:r>
            <a:r>
              <a:rPr lang="en-US" altLang="zh-CN" sz="1200">
                <a:latin typeface="微软雅黑" charset="0"/>
                <a:ea typeface="微软雅黑" charset="0"/>
              </a:rPr>
              <a:t>：</a:t>
            </a:r>
            <a:r>
              <a:rPr lang="zh-CN" altLang="en-US" sz="1200">
                <a:latin typeface="微软雅黑" charset="0"/>
                <a:ea typeface="微软雅黑" charset="0"/>
              </a:rPr>
              <a:t>地址</a:t>
            </a:r>
            <a:r>
              <a:rPr lang="en-US" altLang="zh-CN" sz="1200">
                <a:latin typeface="微软雅黑" charset="0"/>
                <a:ea typeface="微软雅黑" charset="0"/>
              </a:rPr>
              <a:t>、</a:t>
            </a:r>
            <a:r>
              <a:rPr lang="zh-CN" altLang="en-US" sz="1200">
                <a:latin typeface="微软雅黑" charset="0"/>
                <a:ea typeface="微软雅黑" charset="0"/>
              </a:rPr>
              <a:t>合同</a:t>
            </a:r>
            <a:r>
              <a:rPr lang="en-US" altLang="zh-CN" sz="1200">
                <a:latin typeface="微软雅黑" charset="0"/>
                <a:ea typeface="微软雅黑" charset="0"/>
              </a:rPr>
              <a:t>、</a:t>
            </a:r>
            <a:r>
              <a:rPr lang="zh-CN" altLang="en-US" sz="1200">
                <a:latin typeface="微软雅黑" charset="0"/>
                <a:ea typeface="微软雅黑" charset="0"/>
              </a:rPr>
              <a:t>缴费信息等</a:t>
            </a:r>
            <a:endParaRPr lang="zh-CN" altLang="en-US" sz="1200">
              <a:latin typeface="微软雅黑" charset="0"/>
              <a:ea typeface="微软雅黑" charset="0"/>
            </a:endParaRPr>
          </a:p>
          <a:p>
            <a:r>
              <a:rPr lang="zh-CN" altLang="en-US" sz="1200">
                <a:latin typeface="微软雅黑" charset="0"/>
                <a:ea typeface="微软雅黑" charset="0"/>
              </a:rPr>
              <a:t>工单信息</a:t>
            </a:r>
            <a:r>
              <a:rPr lang="en-US" altLang="zh-CN" sz="1200">
                <a:latin typeface="微软雅黑" charset="0"/>
                <a:ea typeface="微软雅黑" charset="0"/>
              </a:rPr>
              <a:t>：</a:t>
            </a:r>
            <a:r>
              <a:rPr lang="zh-CN" altLang="en-US" sz="1200">
                <a:latin typeface="微软雅黑" charset="0"/>
                <a:ea typeface="微软雅黑" charset="0"/>
              </a:rPr>
              <a:t>维修</a:t>
            </a:r>
            <a:r>
              <a:rPr lang="en-US" altLang="zh-CN" sz="1200">
                <a:latin typeface="微软雅黑" charset="0"/>
                <a:ea typeface="微软雅黑" charset="0"/>
              </a:rPr>
              <a:t>、</a:t>
            </a:r>
            <a:r>
              <a:rPr lang="zh-CN" altLang="en-US" sz="1200">
                <a:latin typeface="微软雅黑" charset="0"/>
                <a:ea typeface="微软雅黑" charset="0"/>
              </a:rPr>
              <a:t>品质</a:t>
            </a:r>
            <a:r>
              <a:rPr lang="en-US" altLang="zh-CN" sz="1200">
                <a:latin typeface="微软雅黑" charset="0"/>
                <a:ea typeface="微软雅黑" charset="0"/>
              </a:rPr>
              <a:t>、</a:t>
            </a:r>
            <a:r>
              <a:rPr lang="zh-CN" altLang="en-US" sz="1200">
                <a:latin typeface="微软雅黑" charset="0"/>
                <a:ea typeface="微软雅黑" charset="0"/>
              </a:rPr>
              <a:t>咨询</a:t>
            </a:r>
            <a:r>
              <a:rPr lang="en-US" altLang="zh-CN" sz="1200">
                <a:latin typeface="微软雅黑" charset="0"/>
                <a:ea typeface="微软雅黑" charset="0"/>
              </a:rPr>
              <a:t>、</a:t>
            </a:r>
            <a:r>
              <a:rPr lang="zh-CN" altLang="en-US" sz="1200">
                <a:latin typeface="微软雅黑" charset="0"/>
                <a:ea typeface="微软雅黑" charset="0"/>
              </a:rPr>
              <a:t>客诉</a:t>
            </a:r>
            <a:endParaRPr lang="zh-CN" altLang="en-US" sz="1200">
              <a:latin typeface="微软雅黑" charset="0"/>
              <a:ea typeface="微软雅黑" charset="0"/>
            </a:endParaRPr>
          </a:p>
          <a:p>
            <a:r>
              <a:rPr lang="zh-CN" altLang="en-US" sz="1200">
                <a:latin typeface="微软雅黑" charset="0"/>
                <a:ea typeface="微软雅黑" charset="0"/>
              </a:rPr>
              <a:t>满意度</a:t>
            </a:r>
            <a:endParaRPr lang="zh-CN" altLang="en-US" sz="1200">
              <a:latin typeface="微软雅黑" charset="0"/>
              <a:ea typeface="微软雅黑" charset="0"/>
            </a:endParaRPr>
          </a:p>
          <a:p>
            <a:r>
              <a:rPr lang="zh-CN" altLang="en-US" sz="1200">
                <a:latin typeface="微软雅黑" charset="0"/>
                <a:ea typeface="微软雅黑" charset="0"/>
              </a:rPr>
              <a:t>会员积分</a:t>
            </a:r>
            <a:r>
              <a:rPr lang="en-US" altLang="zh-CN" sz="1200">
                <a:latin typeface="微软雅黑" charset="0"/>
                <a:ea typeface="微软雅黑" charset="0"/>
              </a:rPr>
              <a:t>：</a:t>
            </a:r>
            <a:r>
              <a:rPr lang="zh-CN" altLang="en-US" sz="1200">
                <a:latin typeface="微软雅黑" charset="0"/>
                <a:ea typeface="微软雅黑" charset="0"/>
              </a:rPr>
              <a:t>会员等级</a:t>
            </a:r>
            <a:r>
              <a:rPr lang="en-US" altLang="zh-CN" sz="1200">
                <a:latin typeface="微软雅黑" charset="0"/>
                <a:ea typeface="微软雅黑" charset="0"/>
              </a:rPr>
              <a:t>、</a:t>
            </a:r>
            <a:r>
              <a:rPr lang="zh-CN" altLang="en-US" sz="1200">
                <a:latin typeface="微软雅黑" charset="0"/>
                <a:ea typeface="微软雅黑" charset="0"/>
              </a:rPr>
              <a:t>积分明细</a:t>
            </a:r>
            <a:endParaRPr lang="zh-CN" altLang="en-US" sz="1200">
              <a:latin typeface="微软雅黑" charset="0"/>
              <a:ea typeface="微软雅黑"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6480810"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charset="0"/>
                <a:ea typeface="微软雅黑" charset="0"/>
                <a:cs typeface="微软雅黑" charset="0"/>
                <a:sym typeface="+mn-ea"/>
              </a:rPr>
              <a:t>智能客服集成设计</a:t>
            </a:r>
            <a:endParaRPr kumimoji="0" lang="en-GB" sz="2800" b="1" i="0" u="none" strike="noStrike" kern="1200" cap="none" spc="0" normalizeH="0" baseline="0" noProof="0" dirty="0">
              <a:ln>
                <a:noFill/>
              </a:ln>
              <a:solidFill>
                <a:srgbClr val="00338D"/>
              </a:solidFill>
              <a:effectLst/>
              <a:uLnTx/>
              <a:uFillTx/>
              <a:latin typeface="微软雅黑" charset="0"/>
              <a:ea typeface="微软雅黑" charset="0"/>
              <a:cs typeface="微软雅黑" charset="0"/>
            </a:endParaRPr>
          </a:p>
          <a:p>
            <a:endParaRPr lang="zh-CN" altLang="en-US" sz="2800" b="1" dirty="0">
              <a:solidFill>
                <a:schemeClr val="tx1">
                  <a:lumMod val="75000"/>
                  <a:lumOff val="25000"/>
                </a:schemeClr>
              </a:solidFill>
              <a:latin typeface="微软雅黑" charset="0"/>
              <a:ea typeface="微软雅黑" charset="0"/>
              <a:cs typeface="微软雅黑" charset="0"/>
            </a:endParaRPr>
          </a:p>
          <a:p>
            <a:r>
              <a:rPr lang="en-US" altLang="zh-CN" sz="2800" b="1" dirty="0">
                <a:solidFill>
                  <a:schemeClr val="tx1">
                    <a:lumMod val="75000"/>
                    <a:lumOff val="25000"/>
                  </a:schemeClr>
                </a:solidFill>
                <a:latin typeface="微软雅黑" charset="0"/>
                <a:ea typeface="微软雅黑" charset="0"/>
                <a:cs typeface="微软雅黑" charset="0"/>
                <a:sym typeface="+mn-ea"/>
              </a:rPr>
              <a:t> </a:t>
            </a:r>
            <a:endParaRPr lang="zh-CN" altLang="en-US" sz="2800" b="1" dirty="0">
              <a:solidFill>
                <a:schemeClr val="tx1">
                  <a:lumMod val="75000"/>
                  <a:lumOff val="25000"/>
                </a:schemeClr>
              </a:solidFill>
              <a:latin typeface="微软雅黑" charset="0"/>
              <a:ea typeface="微软雅黑" charset="0"/>
              <a:cs typeface="微软雅黑" charset="0"/>
            </a:endParaRPr>
          </a:p>
        </p:txBody>
      </p:sp>
      <p:sp>
        <p:nvSpPr>
          <p:cNvPr id="106" name="标题 1"/>
          <p:cNvSpPr/>
          <p:nvPr>
            <p:custDataLst>
              <p:tags r:id="rId1"/>
            </p:custDataLst>
          </p:nvPr>
        </p:nvSpPr>
        <p:spPr>
          <a:xfrm>
            <a:off x="530860" y="1053465"/>
            <a:ext cx="11079480" cy="681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chemeClr val="tx1">
                    <a:lumMod val="85000"/>
                    <a:lumOff val="15000"/>
                  </a:schemeClr>
                </a:solidFill>
                <a:latin typeface="微软雅黑" panose="020B0503020204020204" pitchFamily="34" charset="-122"/>
                <a:ea typeface="微软雅黑" panose="020B0503020204020204" pitchFamily="34" charset="-122"/>
                <a:cs typeface="+mj-cs"/>
              </a:defRPr>
            </a:lvl1pPr>
          </a:lstStyle>
          <a:p>
            <a:r>
              <a:rPr lang="zh-CN" altLang="en-US" sz="1800" dirty="0">
                <a:latin typeface="微软雅黑" charset="0"/>
                <a:ea typeface="微软雅黑" charset="0"/>
              </a:rPr>
              <a:t>集成关系总览图：智能客服平台与各内部应用集成对接，与外部三方系统集成对接</a:t>
            </a:r>
            <a:r>
              <a:rPr lang="en-US" altLang="zh-CN" sz="1800" dirty="0">
                <a:latin typeface="微软雅黑" charset="0"/>
                <a:ea typeface="微软雅黑" charset="0"/>
              </a:rPr>
              <a:t>。</a:t>
            </a:r>
            <a:r>
              <a:rPr lang="zh-CN" altLang="en-US" sz="1800" dirty="0">
                <a:latin typeface="微软雅黑" charset="0"/>
                <a:ea typeface="微软雅黑" charset="0"/>
              </a:rPr>
              <a:t>具备标准接口。</a:t>
            </a:r>
            <a:endParaRPr lang="zh-CN" altLang="en-US" sz="1800" dirty="0">
              <a:latin typeface="微软雅黑" charset="0"/>
              <a:ea typeface="微软雅黑" charset="0"/>
            </a:endParaRPr>
          </a:p>
        </p:txBody>
      </p:sp>
      <p:sp>
        <p:nvSpPr>
          <p:cNvPr id="108" name="矩形 107"/>
          <p:cNvSpPr/>
          <p:nvPr>
            <p:custDataLst>
              <p:tags r:id="rId2"/>
            </p:custDataLst>
          </p:nvPr>
        </p:nvSpPr>
        <p:spPr>
          <a:xfrm>
            <a:off x="10040620" y="3002280"/>
            <a:ext cx="1457960" cy="2030730"/>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sp>
        <p:nvSpPr>
          <p:cNvPr id="109" name="矩形 108"/>
          <p:cNvSpPr/>
          <p:nvPr>
            <p:custDataLst>
              <p:tags r:id="rId3"/>
            </p:custDataLst>
          </p:nvPr>
        </p:nvSpPr>
        <p:spPr>
          <a:xfrm>
            <a:off x="913765" y="2411730"/>
            <a:ext cx="1412875" cy="3547745"/>
          </a:xfrm>
          <a:prstGeom prst="rect">
            <a:avLst/>
          </a:prstGeom>
          <a:solidFill>
            <a:srgbClr val="F0F8F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charset="0"/>
              <a:ea typeface="微软雅黑" charset="0"/>
            </a:endParaRPr>
          </a:p>
        </p:txBody>
      </p:sp>
      <p:grpSp>
        <p:nvGrpSpPr>
          <p:cNvPr id="110" name="组合 109"/>
          <p:cNvGrpSpPr/>
          <p:nvPr/>
        </p:nvGrpSpPr>
        <p:grpSpPr>
          <a:xfrm>
            <a:off x="3416935" y="1735455"/>
            <a:ext cx="5556250" cy="400050"/>
            <a:chOff x="584" y="1930"/>
            <a:chExt cx="8900" cy="680"/>
          </a:xfrm>
        </p:grpSpPr>
        <p:sp>
          <p:nvSpPr>
            <p:cNvPr id="190" name="矩形 189"/>
            <p:cNvSpPr/>
            <p:nvPr>
              <p:custDataLst>
                <p:tags r:id="rId4"/>
              </p:custDataLst>
            </p:nvPr>
          </p:nvSpPr>
          <p:spPr>
            <a:xfrm>
              <a:off x="584" y="1930"/>
              <a:ext cx="8901" cy="680"/>
            </a:xfrm>
            <a:prstGeom prst="rect">
              <a:avLst/>
            </a:prstGeom>
            <a:ln>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a:latin typeface="微软雅黑" charset="0"/>
                <a:ea typeface="微软雅黑" charset="0"/>
              </a:endParaRPr>
            </a:p>
          </p:txBody>
        </p:sp>
        <p:sp>
          <p:nvSpPr>
            <p:cNvPr id="191" name="文本框 190"/>
            <p:cNvSpPr txBox="1"/>
            <p:nvPr>
              <p:custDataLst>
                <p:tags r:id="rId5"/>
              </p:custDataLst>
            </p:nvPr>
          </p:nvSpPr>
          <p:spPr>
            <a:xfrm>
              <a:off x="764" y="2053"/>
              <a:ext cx="1425" cy="434"/>
            </a:xfrm>
            <a:prstGeom prst="rect">
              <a:avLst/>
            </a:prstGeom>
            <a:noFill/>
            <a:ln>
              <a:solidFill>
                <a:srgbClr val="00B0F0">
                  <a:alpha val="0"/>
                </a:srgbClr>
              </a:solidFill>
            </a:ln>
          </p:spPr>
          <p:txBody>
            <a:bodyPr vert="horz" wrap="square" rtlCol="0">
              <a:spAutoFit/>
            </a:bodyPr>
            <a:lstStyle/>
            <a:p>
              <a:pPr algn="ctr"/>
              <a:r>
                <a:rPr lang="zh-CN" altLang="en-US" sz="1200">
                  <a:solidFill>
                    <a:srgbClr val="00449C"/>
                  </a:solidFill>
                  <a:latin typeface="微软雅黑" charset="0"/>
                  <a:ea typeface="微软雅黑" charset="0"/>
                </a:rPr>
                <a:t>面客渠道</a:t>
              </a:r>
              <a:endParaRPr lang="zh-CN" altLang="en-US" sz="1200">
                <a:solidFill>
                  <a:srgbClr val="00449C"/>
                </a:solidFill>
                <a:latin typeface="微软雅黑" charset="0"/>
                <a:ea typeface="微软雅黑" charset="0"/>
              </a:endParaRPr>
            </a:p>
          </p:txBody>
        </p:sp>
        <p:sp>
          <p:nvSpPr>
            <p:cNvPr id="192" name="圆角矩形 191"/>
            <p:cNvSpPr/>
            <p:nvPr>
              <p:custDataLst>
                <p:tags r:id="rId6"/>
              </p:custDataLst>
            </p:nvPr>
          </p:nvSpPr>
          <p:spPr>
            <a:xfrm>
              <a:off x="419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sym typeface="+mn-ea"/>
                </a:rPr>
                <a:t>微信小程序</a:t>
              </a:r>
              <a:endParaRPr lang="zh-CN" altLang="en-US" sz="900">
                <a:solidFill>
                  <a:schemeClr val="tx1"/>
                </a:solidFill>
                <a:latin typeface="微软雅黑" charset="0"/>
                <a:ea typeface="微软雅黑" charset="0"/>
                <a:sym typeface="+mn-ea"/>
              </a:endParaRPr>
            </a:p>
          </p:txBody>
        </p:sp>
        <p:sp>
          <p:nvSpPr>
            <p:cNvPr id="193" name="圆角矩形 192"/>
            <p:cNvSpPr/>
            <p:nvPr>
              <p:custDataLst>
                <p:tags r:id="rId7"/>
              </p:custDataLst>
            </p:nvPr>
          </p:nvSpPr>
          <p:spPr>
            <a:xfrm>
              <a:off x="775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线上商城</a:t>
              </a:r>
              <a:endParaRPr lang="zh-CN" altLang="en-US" sz="900">
                <a:solidFill>
                  <a:schemeClr val="tx1"/>
                </a:solidFill>
                <a:latin typeface="微软雅黑" charset="0"/>
                <a:ea typeface="微软雅黑" charset="0"/>
              </a:endParaRPr>
            </a:p>
          </p:txBody>
        </p:sp>
        <p:sp>
          <p:nvSpPr>
            <p:cNvPr id="194" name="圆角矩形 193"/>
            <p:cNvSpPr/>
            <p:nvPr>
              <p:custDataLst>
                <p:tags r:id="rId8"/>
              </p:custDataLst>
            </p:nvPr>
          </p:nvSpPr>
          <p:spPr>
            <a:xfrm>
              <a:off x="241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cs typeface="微软雅黑" charset="0"/>
                </a:rPr>
                <a:t>手机</a:t>
              </a:r>
              <a:r>
                <a:rPr lang="en-US" altLang="zh-CN" sz="900">
                  <a:solidFill>
                    <a:schemeClr val="tx1"/>
                  </a:solidFill>
                  <a:latin typeface="微软雅黑" charset="0"/>
                  <a:ea typeface="微软雅黑" charset="0"/>
                  <a:cs typeface="微软雅黑" charset="0"/>
                </a:rPr>
                <a:t>APP</a:t>
              </a:r>
              <a:endParaRPr lang="en-US" altLang="zh-CN" sz="900">
                <a:solidFill>
                  <a:schemeClr val="tx1"/>
                </a:solidFill>
                <a:latin typeface="微软雅黑" charset="0"/>
                <a:ea typeface="微软雅黑" charset="0"/>
                <a:cs typeface="微软雅黑" charset="0"/>
              </a:endParaRPr>
            </a:p>
          </p:txBody>
        </p:sp>
        <p:sp>
          <p:nvSpPr>
            <p:cNvPr id="195" name="圆角矩形 194"/>
            <p:cNvSpPr/>
            <p:nvPr>
              <p:custDataLst>
                <p:tags r:id="rId9"/>
              </p:custDataLst>
            </p:nvPr>
          </p:nvSpPr>
          <p:spPr>
            <a:xfrm>
              <a:off x="5976" y="2072"/>
              <a:ext cx="1553" cy="397"/>
            </a:xfrm>
            <a:prstGeom prst="roundRect">
              <a:avLst>
                <a:gd name="adj" fmla="val 0"/>
              </a:avLst>
            </a:prstGeom>
            <a:solidFill>
              <a:schemeClr val="bg1"/>
            </a:solidFill>
            <a:ln w="6350">
              <a:solidFill>
                <a:srgbClr val="00B0F0"/>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charset="0"/>
                  <a:ea typeface="微软雅黑" charset="0"/>
                </a:rPr>
                <a:t>微信公众号</a:t>
              </a:r>
              <a:endParaRPr lang="zh-CN" altLang="en-US" sz="900">
                <a:solidFill>
                  <a:schemeClr val="tx1"/>
                </a:solidFill>
                <a:latin typeface="微软雅黑" charset="0"/>
                <a:ea typeface="微软雅黑" charset="0"/>
              </a:endParaRPr>
            </a:p>
          </p:txBody>
        </p:sp>
      </p:grpSp>
      <p:grpSp>
        <p:nvGrpSpPr>
          <p:cNvPr id="114" name="组合 113"/>
          <p:cNvGrpSpPr/>
          <p:nvPr/>
        </p:nvGrpSpPr>
        <p:grpSpPr>
          <a:xfrm>
            <a:off x="995045" y="3658870"/>
            <a:ext cx="2876550" cy="561340"/>
            <a:chOff x="1323" y="4867"/>
            <a:chExt cx="4608" cy="954"/>
          </a:xfrm>
        </p:grpSpPr>
        <p:sp>
          <p:nvSpPr>
            <p:cNvPr id="177" name="圆角矩形 176"/>
            <p:cNvSpPr/>
            <p:nvPr>
              <p:custDataLst>
                <p:tags r:id="rId10"/>
              </p:custDataLst>
            </p:nvPr>
          </p:nvSpPr>
          <p:spPr>
            <a:xfrm>
              <a:off x="1323" y="5018"/>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充电桩智能管理系统</a:t>
              </a:r>
              <a:endParaRPr kumimoji="1" lang="zh-CN" altLang="en-US" sz="1000" b="1" dirty="0">
                <a:solidFill>
                  <a:schemeClr val="bg1"/>
                </a:solidFill>
                <a:latin typeface="微软雅黑" charset="0"/>
                <a:ea typeface="微软雅黑" charset="0"/>
                <a:sym typeface="+mn-ea"/>
              </a:endParaRPr>
            </a:p>
          </p:txBody>
        </p:sp>
        <p:cxnSp>
          <p:nvCxnSpPr>
            <p:cNvPr id="178" name="直接箭头连接符 189"/>
            <p:cNvCxnSpPr/>
            <p:nvPr>
              <p:custDataLst>
                <p:tags r:id="rId11"/>
              </p:custDataLst>
            </p:nvPr>
          </p:nvCxnSpPr>
          <p:spPr>
            <a:xfrm flipH="1">
              <a:off x="3323" y="5153"/>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9" name="文本框 178"/>
            <p:cNvSpPr txBox="1"/>
            <p:nvPr>
              <p:custDataLst>
                <p:tags r:id="rId12"/>
              </p:custDataLst>
            </p:nvPr>
          </p:nvSpPr>
          <p:spPr>
            <a:xfrm>
              <a:off x="3835" y="4867"/>
              <a:ext cx="1583" cy="503"/>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用户数据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充电记录</a:t>
              </a:r>
              <a:endParaRPr lang="zh-CN" altLang="en-US" sz="800" dirty="0">
                <a:solidFill>
                  <a:schemeClr val="tx1"/>
                </a:solidFill>
                <a:latin typeface="微软雅黑" charset="0"/>
                <a:ea typeface="微软雅黑" charset="0"/>
                <a:sym typeface="+mn-ea"/>
              </a:endParaRPr>
            </a:p>
          </p:txBody>
        </p:sp>
        <p:cxnSp>
          <p:nvCxnSpPr>
            <p:cNvPr id="180" name="直接箭头连接符 189"/>
            <p:cNvCxnSpPr/>
            <p:nvPr>
              <p:custDataLst>
                <p:tags r:id="rId13"/>
              </p:custDataLst>
            </p:nvPr>
          </p:nvCxnSpPr>
          <p:spPr>
            <a:xfrm flipH="1">
              <a:off x="3323" y="5617"/>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81" name="文本框 180"/>
            <p:cNvSpPr txBox="1"/>
            <p:nvPr>
              <p:custDataLst>
                <p:tags r:id="rId14"/>
              </p:custDataLst>
            </p:nvPr>
          </p:nvSpPr>
          <p:spPr>
            <a:xfrm>
              <a:off x="3835" y="5484"/>
              <a:ext cx="1583" cy="337"/>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积分兑换</a:t>
              </a:r>
              <a:endParaRPr lang="zh-CN" altLang="en-US" sz="800">
                <a:solidFill>
                  <a:schemeClr val="tx1"/>
                </a:solidFill>
                <a:latin typeface="微软雅黑" charset="0"/>
                <a:ea typeface="微软雅黑" charset="0"/>
              </a:endParaRPr>
            </a:p>
          </p:txBody>
        </p:sp>
      </p:grpSp>
      <p:grpSp>
        <p:nvGrpSpPr>
          <p:cNvPr id="115" name="组合 114"/>
          <p:cNvGrpSpPr/>
          <p:nvPr/>
        </p:nvGrpSpPr>
        <p:grpSpPr>
          <a:xfrm>
            <a:off x="995045" y="4420235"/>
            <a:ext cx="2876550" cy="472440"/>
            <a:chOff x="1323" y="6046"/>
            <a:chExt cx="4608" cy="803"/>
          </a:xfrm>
        </p:grpSpPr>
        <p:sp>
          <p:nvSpPr>
            <p:cNvPr id="172" name="圆角矩形 171"/>
            <p:cNvSpPr/>
            <p:nvPr>
              <p:custDataLst>
                <p:tags r:id="rId15"/>
              </p:custDataLst>
            </p:nvPr>
          </p:nvSpPr>
          <p:spPr>
            <a:xfrm>
              <a:off x="1323" y="6055"/>
              <a:ext cx="2000" cy="7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停车场统一管理系统</a:t>
              </a:r>
              <a:endParaRPr kumimoji="1" lang="zh-CN" altLang="en-US" sz="1000" b="1" dirty="0">
                <a:solidFill>
                  <a:schemeClr val="bg1"/>
                </a:solidFill>
                <a:latin typeface="微软雅黑" charset="0"/>
                <a:ea typeface="微软雅黑" charset="0"/>
                <a:sym typeface="+mn-ea"/>
              </a:endParaRPr>
            </a:p>
          </p:txBody>
        </p:sp>
        <p:cxnSp>
          <p:nvCxnSpPr>
            <p:cNvPr id="173" name="直接箭头连接符 189"/>
            <p:cNvCxnSpPr/>
            <p:nvPr>
              <p:custDataLst>
                <p:tags r:id="rId16"/>
              </p:custDataLst>
            </p:nvPr>
          </p:nvCxnSpPr>
          <p:spPr>
            <a:xfrm flipH="1">
              <a:off x="3323" y="6232"/>
              <a:ext cx="2608" cy="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4" name="文本框 173"/>
            <p:cNvSpPr txBox="1"/>
            <p:nvPr>
              <p:custDataLst>
                <p:tags r:id="rId17"/>
              </p:custDataLst>
            </p:nvPr>
          </p:nvSpPr>
          <p:spPr>
            <a:xfrm>
              <a:off x="3835" y="6046"/>
              <a:ext cx="1583" cy="364"/>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用户数据、车辆</a:t>
              </a:r>
              <a:endParaRPr lang="zh-CN" altLang="en-US" sz="800" dirty="0">
                <a:solidFill>
                  <a:schemeClr val="tx1"/>
                </a:solidFill>
                <a:latin typeface="微软雅黑" charset="0"/>
                <a:ea typeface="微软雅黑" charset="0"/>
                <a:sym typeface="+mn-ea"/>
              </a:endParaRPr>
            </a:p>
          </p:txBody>
        </p:sp>
        <p:cxnSp>
          <p:nvCxnSpPr>
            <p:cNvPr id="175" name="直接箭头连接符 189"/>
            <p:cNvCxnSpPr/>
            <p:nvPr>
              <p:custDataLst>
                <p:tags r:id="rId18"/>
              </p:custDataLst>
            </p:nvPr>
          </p:nvCxnSpPr>
          <p:spPr>
            <a:xfrm flipH="1">
              <a:off x="3323" y="6623"/>
              <a:ext cx="2608"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76" name="文本框 175"/>
            <p:cNvSpPr txBox="1"/>
            <p:nvPr>
              <p:custDataLst>
                <p:tags r:id="rId19"/>
              </p:custDataLst>
            </p:nvPr>
          </p:nvSpPr>
          <p:spPr>
            <a:xfrm>
              <a:off x="3835" y="6485"/>
              <a:ext cx="1583" cy="364"/>
            </a:xfrm>
            <a:prstGeom prst="rect">
              <a:avLst/>
            </a:prstGeom>
            <a:solidFill>
              <a:schemeClr val="bg1"/>
            </a:solidFill>
            <a:ln>
              <a:solidFill>
                <a:srgbClr val="0070C0"/>
              </a:solidFill>
              <a:prstDash val="dash"/>
            </a:ln>
          </p:spPr>
          <p:txBody>
            <a:bodyPr wrap="square" rtlCol="0">
              <a:noAutofit/>
            </a:bodyPr>
            <a:lstStyle/>
            <a:p>
              <a:pPr algn="ctr"/>
              <a:r>
                <a:rPr lang="zh-CN" altLang="en-US" sz="800">
                  <a:solidFill>
                    <a:schemeClr val="tx1"/>
                  </a:solidFill>
                  <a:latin typeface="微软雅黑" charset="0"/>
                  <a:ea typeface="微软雅黑" charset="0"/>
                </a:rPr>
                <a:t>积分兑换</a:t>
              </a:r>
              <a:endParaRPr lang="zh-CN" altLang="en-US" sz="800">
                <a:solidFill>
                  <a:schemeClr val="tx1"/>
                </a:solidFill>
                <a:latin typeface="微软雅黑" charset="0"/>
                <a:ea typeface="微软雅黑" charset="0"/>
              </a:endParaRPr>
            </a:p>
          </p:txBody>
        </p:sp>
      </p:grpSp>
      <p:grpSp>
        <p:nvGrpSpPr>
          <p:cNvPr id="116" name="组合 115"/>
          <p:cNvGrpSpPr/>
          <p:nvPr/>
        </p:nvGrpSpPr>
        <p:grpSpPr>
          <a:xfrm>
            <a:off x="995045" y="2929255"/>
            <a:ext cx="2876550" cy="643255"/>
            <a:chOff x="1323" y="7005"/>
            <a:chExt cx="4608" cy="1094"/>
          </a:xfrm>
        </p:grpSpPr>
        <p:sp>
          <p:nvSpPr>
            <p:cNvPr id="169" name="圆角矩形 168"/>
            <p:cNvSpPr/>
            <p:nvPr>
              <p:custDataLst>
                <p:tags r:id="rId20"/>
              </p:custDataLst>
            </p:nvPr>
          </p:nvSpPr>
          <p:spPr>
            <a:xfrm>
              <a:off x="1323" y="7005"/>
              <a:ext cx="2000" cy="1094"/>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运营一体化系统</a:t>
              </a:r>
              <a:endParaRPr kumimoji="1" lang="zh-CN" altLang="en-US" sz="1000" b="1" dirty="0">
                <a:solidFill>
                  <a:schemeClr val="bg1"/>
                </a:solidFill>
                <a:latin typeface="微软雅黑" charset="0"/>
                <a:ea typeface="微软雅黑" charset="0"/>
                <a:sym typeface="+mn-ea"/>
              </a:endParaRPr>
            </a:p>
          </p:txBody>
        </p:sp>
        <p:cxnSp>
          <p:nvCxnSpPr>
            <p:cNvPr id="170" name="直接箭头连接符 189"/>
            <p:cNvCxnSpPr/>
            <p:nvPr>
              <p:custDataLst>
                <p:tags r:id="rId21"/>
              </p:custDataLst>
            </p:nvPr>
          </p:nvCxnSpPr>
          <p:spPr>
            <a:xfrm flipH="1">
              <a:off x="3323" y="7475"/>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71" name="文本框 170"/>
            <p:cNvSpPr txBox="1"/>
            <p:nvPr>
              <p:custDataLst>
                <p:tags r:id="rId22"/>
              </p:custDataLst>
            </p:nvPr>
          </p:nvSpPr>
          <p:spPr>
            <a:xfrm>
              <a:off x="3835" y="7089"/>
              <a:ext cx="1583" cy="992"/>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基础主数据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标签、工单</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满意度</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积分</a:t>
              </a:r>
              <a:endParaRPr lang="zh-CN" altLang="en-US" sz="800" dirty="0">
                <a:solidFill>
                  <a:schemeClr val="tx1"/>
                </a:solidFill>
                <a:latin typeface="微软雅黑" charset="0"/>
                <a:ea typeface="微软雅黑" charset="0"/>
                <a:sym typeface="+mn-ea"/>
              </a:endParaRPr>
            </a:p>
          </p:txBody>
        </p:sp>
      </p:grpSp>
      <p:cxnSp>
        <p:nvCxnSpPr>
          <p:cNvPr id="117" name="直接箭头连接符 189"/>
          <p:cNvCxnSpPr/>
          <p:nvPr>
            <p:custDataLst>
              <p:tags r:id="rId23"/>
            </p:custDataLst>
          </p:nvPr>
        </p:nvCxnSpPr>
        <p:spPr>
          <a:xfrm flipH="1">
            <a:off x="8494395" y="3620770"/>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18" name="文本框 117"/>
          <p:cNvSpPr txBox="1"/>
          <p:nvPr>
            <p:custDataLst>
              <p:tags r:id="rId24"/>
            </p:custDataLst>
          </p:nvPr>
        </p:nvSpPr>
        <p:spPr>
          <a:xfrm>
            <a:off x="1177925" y="2513330"/>
            <a:ext cx="1035050" cy="259080"/>
          </a:xfrm>
          <a:prstGeom prst="rect">
            <a:avLst/>
          </a:prstGeom>
          <a:noFill/>
        </p:spPr>
        <p:txBody>
          <a:bodyPr wrap="square" rtlCol="0">
            <a:noAutofit/>
          </a:bodyPr>
          <a:lstStyle/>
          <a:p>
            <a:r>
              <a:rPr lang="zh-CN" altLang="en-US" sz="1400" dirty="0">
                <a:latin typeface="微软雅黑" charset="0"/>
                <a:ea typeface="微软雅黑" charset="0"/>
              </a:rPr>
              <a:t>内部系统</a:t>
            </a:r>
            <a:endParaRPr lang="zh-CN" altLang="en-US" sz="1400" dirty="0">
              <a:latin typeface="微软雅黑" charset="0"/>
              <a:ea typeface="微软雅黑" charset="0"/>
            </a:endParaRPr>
          </a:p>
        </p:txBody>
      </p:sp>
      <p:sp>
        <p:nvSpPr>
          <p:cNvPr id="119" name="圆角矩形 118"/>
          <p:cNvSpPr/>
          <p:nvPr>
            <p:custDataLst>
              <p:tags r:id="rId25"/>
            </p:custDataLst>
          </p:nvPr>
        </p:nvSpPr>
        <p:spPr>
          <a:xfrm>
            <a:off x="10122535" y="3343910"/>
            <a:ext cx="1458595" cy="57150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200" b="1" dirty="0">
                <a:solidFill>
                  <a:schemeClr val="bg1"/>
                </a:solidFill>
                <a:latin typeface="微软雅黑" charset="0"/>
                <a:ea typeface="微软雅黑" charset="0"/>
                <a:sym typeface="+mn-ea"/>
              </a:rPr>
              <a:t>埋点系统</a:t>
            </a:r>
            <a:r>
              <a:rPr kumimoji="1" lang="en-US" altLang="zh-CN" sz="1200" b="1" dirty="0">
                <a:solidFill>
                  <a:schemeClr val="bg1"/>
                </a:solidFill>
                <a:latin typeface="微软雅黑" charset="0"/>
                <a:ea typeface="微软雅黑" charset="0"/>
                <a:sym typeface="+mn-ea"/>
              </a:rPr>
              <a:t>（</a:t>
            </a:r>
            <a:r>
              <a:rPr kumimoji="1" lang="zh-CN" altLang="en-US" sz="1200" b="1" dirty="0">
                <a:solidFill>
                  <a:schemeClr val="bg1"/>
                </a:solidFill>
                <a:latin typeface="微软雅黑" charset="0"/>
                <a:ea typeface="微软雅黑" charset="0"/>
                <a:sym typeface="+mn-ea"/>
              </a:rPr>
              <a:t>友盟</a:t>
            </a:r>
            <a:r>
              <a:rPr kumimoji="1" lang="en-US" altLang="zh-CN" sz="1200" b="1" dirty="0">
                <a:solidFill>
                  <a:schemeClr val="bg1"/>
                </a:solidFill>
                <a:latin typeface="微软雅黑" charset="0"/>
                <a:ea typeface="微软雅黑" charset="0"/>
                <a:sym typeface="+mn-ea"/>
              </a:rPr>
              <a:t>）</a:t>
            </a:r>
            <a:endParaRPr kumimoji="1" lang="en-US" altLang="zh-CN" sz="1200" b="1" dirty="0">
              <a:solidFill>
                <a:schemeClr val="bg1"/>
              </a:solidFill>
              <a:latin typeface="微软雅黑" charset="0"/>
              <a:ea typeface="微软雅黑" charset="0"/>
              <a:sym typeface="+mn-ea"/>
            </a:endParaRPr>
          </a:p>
        </p:txBody>
      </p:sp>
      <p:sp>
        <p:nvSpPr>
          <p:cNvPr id="120" name="圆角矩形 119"/>
          <p:cNvSpPr/>
          <p:nvPr>
            <p:custDataLst>
              <p:tags r:id="rId26"/>
            </p:custDataLst>
          </p:nvPr>
        </p:nvSpPr>
        <p:spPr>
          <a:xfrm>
            <a:off x="10122535" y="4067175"/>
            <a:ext cx="1447165"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200" b="1" dirty="0">
                <a:solidFill>
                  <a:schemeClr val="bg1"/>
                </a:solidFill>
                <a:latin typeface="微软雅黑" charset="0"/>
                <a:ea typeface="微软雅黑" charset="0"/>
                <a:sym typeface="+mn-ea"/>
              </a:rPr>
              <a:t>短信运营服务</a:t>
            </a:r>
            <a:endParaRPr kumimoji="1" lang="zh-CN" altLang="en-US" sz="1200" b="1" dirty="0">
              <a:solidFill>
                <a:schemeClr val="bg1"/>
              </a:solidFill>
              <a:latin typeface="微软雅黑" charset="0"/>
              <a:ea typeface="微软雅黑" charset="0"/>
              <a:sym typeface="+mn-ea"/>
            </a:endParaRPr>
          </a:p>
        </p:txBody>
      </p:sp>
      <p:sp>
        <p:nvSpPr>
          <p:cNvPr id="121" name="文本框 120"/>
          <p:cNvSpPr txBox="1"/>
          <p:nvPr>
            <p:custDataLst>
              <p:tags r:id="rId27"/>
            </p:custDataLst>
          </p:nvPr>
        </p:nvSpPr>
        <p:spPr>
          <a:xfrm>
            <a:off x="10203180" y="3011805"/>
            <a:ext cx="1458595" cy="182245"/>
          </a:xfrm>
          <a:prstGeom prst="rect">
            <a:avLst/>
          </a:prstGeom>
          <a:noFill/>
        </p:spPr>
        <p:txBody>
          <a:bodyPr wrap="square" rtlCol="0">
            <a:noAutofit/>
          </a:bodyPr>
          <a:lstStyle/>
          <a:p>
            <a:endParaRPr lang="zh-CN" altLang="en-US" sz="1400" dirty="0">
              <a:latin typeface="微软雅黑" charset="0"/>
              <a:ea typeface="微软雅黑" charset="0"/>
            </a:endParaRPr>
          </a:p>
        </p:txBody>
      </p:sp>
      <p:sp>
        <p:nvSpPr>
          <p:cNvPr id="122" name="文本框 121"/>
          <p:cNvSpPr txBox="1"/>
          <p:nvPr>
            <p:custDataLst>
              <p:tags r:id="rId28"/>
            </p:custDataLst>
          </p:nvPr>
        </p:nvSpPr>
        <p:spPr>
          <a:xfrm>
            <a:off x="8775700" y="3521075"/>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埋点行为数据</a:t>
            </a:r>
            <a:endParaRPr lang="zh-CN" altLang="en-US" sz="800" dirty="0">
              <a:solidFill>
                <a:schemeClr val="tx1"/>
              </a:solidFill>
              <a:latin typeface="微软雅黑" charset="0"/>
              <a:ea typeface="微软雅黑" charset="0"/>
              <a:sym typeface="+mn-ea"/>
            </a:endParaRPr>
          </a:p>
        </p:txBody>
      </p:sp>
      <p:cxnSp>
        <p:nvCxnSpPr>
          <p:cNvPr id="123" name="直接箭头连接符 189"/>
          <p:cNvCxnSpPr/>
          <p:nvPr>
            <p:custDataLst>
              <p:tags r:id="rId29"/>
            </p:custDataLst>
          </p:nvPr>
        </p:nvCxnSpPr>
        <p:spPr>
          <a:xfrm flipH="1">
            <a:off x="8973820" y="1936115"/>
            <a:ext cx="405765" cy="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cxnSp>
        <p:nvCxnSpPr>
          <p:cNvPr id="124" name="直接箭头连接符 189"/>
          <p:cNvCxnSpPr/>
          <p:nvPr>
            <p:custDataLst>
              <p:tags r:id="rId30"/>
            </p:custDataLst>
          </p:nvPr>
        </p:nvCxnSpPr>
        <p:spPr>
          <a:xfrm flipV="1">
            <a:off x="9378315" y="1930400"/>
            <a:ext cx="8890" cy="1527810"/>
          </a:xfrm>
          <a:prstGeom prst="straightConnector1">
            <a:avLst/>
          </a:prstGeom>
          <a:ln w="12700" cap="flat" cmpd="sng" algn="ctr">
            <a:solidFill>
              <a:srgbClr val="0070C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125" name="文本框 124"/>
          <p:cNvSpPr txBox="1"/>
          <p:nvPr>
            <p:custDataLst>
              <p:tags r:id="rId31"/>
            </p:custDataLst>
          </p:nvPr>
        </p:nvSpPr>
        <p:spPr>
          <a:xfrm>
            <a:off x="8863965" y="265938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埋点行为数据</a:t>
            </a:r>
            <a:endParaRPr lang="zh-CN" altLang="en-US" sz="800" dirty="0">
              <a:solidFill>
                <a:schemeClr val="tx1"/>
              </a:solidFill>
              <a:latin typeface="微软雅黑" charset="0"/>
              <a:ea typeface="微软雅黑" charset="0"/>
              <a:sym typeface="+mn-ea"/>
            </a:endParaRPr>
          </a:p>
        </p:txBody>
      </p:sp>
      <p:cxnSp>
        <p:nvCxnSpPr>
          <p:cNvPr id="126" name="直接箭头连接符 189"/>
          <p:cNvCxnSpPr/>
          <p:nvPr>
            <p:custDataLst>
              <p:tags r:id="rId32"/>
            </p:custDataLst>
          </p:nvPr>
        </p:nvCxnSpPr>
        <p:spPr>
          <a:xfrm flipH="1">
            <a:off x="9379585" y="3444875"/>
            <a:ext cx="757555"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cxnSp>
        <p:nvCxnSpPr>
          <p:cNvPr id="127" name="直接箭头连接符 189"/>
          <p:cNvCxnSpPr/>
          <p:nvPr>
            <p:custDataLst>
              <p:tags r:id="rId33"/>
            </p:custDataLst>
          </p:nvPr>
        </p:nvCxnSpPr>
        <p:spPr>
          <a:xfrm flipH="1">
            <a:off x="8495665" y="3886200"/>
            <a:ext cx="1628140"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28" name="文本框 127"/>
          <p:cNvSpPr txBox="1"/>
          <p:nvPr>
            <p:custDataLst>
              <p:tags r:id="rId34"/>
            </p:custDataLst>
          </p:nvPr>
        </p:nvSpPr>
        <p:spPr>
          <a:xfrm>
            <a:off x="8776970" y="3787140"/>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埋点数据</a:t>
            </a:r>
            <a:endParaRPr lang="zh-CN" altLang="en-US" sz="800" dirty="0">
              <a:solidFill>
                <a:schemeClr val="tx1"/>
              </a:solidFill>
              <a:latin typeface="微软雅黑" charset="0"/>
              <a:ea typeface="微软雅黑" charset="0"/>
              <a:sym typeface="+mn-ea"/>
            </a:endParaRPr>
          </a:p>
        </p:txBody>
      </p:sp>
      <p:cxnSp>
        <p:nvCxnSpPr>
          <p:cNvPr id="129" name="直接箭头连接符 189"/>
          <p:cNvCxnSpPr/>
          <p:nvPr>
            <p:custDataLst>
              <p:tags r:id="rId35"/>
            </p:custDataLst>
          </p:nvPr>
        </p:nvCxnSpPr>
        <p:spPr>
          <a:xfrm flipH="1">
            <a:off x="8512810" y="4302125"/>
            <a:ext cx="1628140" cy="0"/>
          </a:xfrm>
          <a:prstGeom prst="straightConnector1">
            <a:avLst/>
          </a:prstGeom>
          <a:ln w="12700" cap="flat" cmpd="sng" algn="ctr">
            <a:solidFill>
              <a:srgbClr val="0070C0"/>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30" name="文本框 129"/>
          <p:cNvSpPr txBox="1"/>
          <p:nvPr>
            <p:custDataLst>
              <p:tags r:id="rId36"/>
            </p:custDataLst>
          </p:nvPr>
        </p:nvSpPr>
        <p:spPr>
          <a:xfrm>
            <a:off x="8794115" y="4203065"/>
            <a:ext cx="988060" cy="198120"/>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短信</a:t>
            </a:r>
            <a:endParaRPr lang="zh-CN" altLang="en-US" sz="800" dirty="0">
              <a:solidFill>
                <a:schemeClr val="tx1"/>
              </a:solidFill>
              <a:latin typeface="微软雅黑" charset="0"/>
              <a:ea typeface="微软雅黑" charset="0"/>
              <a:sym typeface="+mn-ea"/>
            </a:endParaRPr>
          </a:p>
        </p:txBody>
      </p:sp>
      <p:sp>
        <p:nvSpPr>
          <p:cNvPr id="2" name="矩形 1"/>
          <p:cNvSpPr/>
          <p:nvPr>
            <p:custDataLst>
              <p:tags r:id="rId37"/>
            </p:custDataLst>
          </p:nvPr>
        </p:nvSpPr>
        <p:spPr>
          <a:xfrm>
            <a:off x="4419600" y="3258185"/>
            <a:ext cx="3580765" cy="1927860"/>
          </a:xfrm>
          <a:prstGeom prst="rect">
            <a:avLst/>
          </a:prstGeom>
          <a:solidFill>
            <a:srgbClr val="F2F2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2000" b="1" dirty="0">
              <a:solidFill>
                <a:srgbClr val="00B0F0"/>
              </a:solidFill>
              <a:latin typeface="微软雅黑" charset="0"/>
              <a:ea typeface="微软雅黑" charset="0"/>
              <a:sym typeface="Calibri" panose="020F0502020204030204" pitchFamily="34" charset="0"/>
            </a:endParaRPr>
          </a:p>
        </p:txBody>
      </p:sp>
      <p:sp>
        <p:nvSpPr>
          <p:cNvPr id="132" name="矩形 131"/>
          <p:cNvSpPr/>
          <p:nvPr>
            <p:custDataLst>
              <p:tags r:id="rId38"/>
            </p:custDataLst>
          </p:nvPr>
        </p:nvSpPr>
        <p:spPr>
          <a:xfrm>
            <a:off x="7999730" y="2790190"/>
            <a:ext cx="495935" cy="285686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algn="ctr"/>
            <a:r>
              <a:rPr lang="zh-CN" sz="1400" dirty="0">
                <a:solidFill>
                  <a:schemeClr val="tx1"/>
                </a:solidFill>
                <a:latin typeface="微软雅黑" charset="0"/>
                <a:ea typeface="微软雅黑" charset="0"/>
                <a:sym typeface="Calibri" panose="020F0502020204030204" pitchFamily="34" charset="0"/>
              </a:rPr>
              <a:t>外部接口服务</a:t>
            </a:r>
            <a:endParaRPr lang="zh-CN" sz="1400" dirty="0">
              <a:solidFill>
                <a:schemeClr val="tx1"/>
              </a:solidFill>
              <a:latin typeface="微软雅黑" charset="0"/>
              <a:ea typeface="微软雅黑" charset="0"/>
              <a:sym typeface="Calibri" panose="020F0502020204030204" pitchFamily="34" charset="0"/>
            </a:endParaRPr>
          </a:p>
        </p:txBody>
      </p:sp>
      <p:sp>
        <p:nvSpPr>
          <p:cNvPr id="133" name="文本框 132"/>
          <p:cNvSpPr txBox="1"/>
          <p:nvPr>
            <p:custDataLst>
              <p:tags r:id="rId39"/>
            </p:custDataLst>
          </p:nvPr>
        </p:nvSpPr>
        <p:spPr>
          <a:xfrm>
            <a:off x="4413885" y="4211320"/>
            <a:ext cx="351790" cy="883285"/>
          </a:xfrm>
          <a:prstGeom prst="rect">
            <a:avLst/>
          </a:prstGeom>
          <a:noFill/>
        </p:spPr>
        <p:txBody>
          <a:bodyPr vert="eaVert" wrap="square" rtlCol="0">
            <a:spAutoFit/>
          </a:bodyPr>
          <a:lstStyle/>
          <a:p>
            <a:r>
              <a:rPr lang="en-US" altLang="zh-CN" sz="1100" b="1" dirty="0">
                <a:latin typeface="微软雅黑" charset="0"/>
                <a:ea typeface="微软雅黑" charset="0"/>
                <a:cs typeface="微软雅黑" charset="0"/>
              </a:rPr>
              <a:t>API</a:t>
            </a:r>
            <a:r>
              <a:rPr lang="zh-CN" altLang="en-US" sz="1100" b="1" dirty="0">
                <a:latin typeface="微软雅黑" charset="0"/>
                <a:ea typeface="微软雅黑" charset="0"/>
                <a:cs typeface="微软雅黑" charset="0"/>
              </a:rPr>
              <a:t>集成对接</a:t>
            </a:r>
            <a:endParaRPr lang="zh-CN" altLang="en-US" sz="1100" b="1" dirty="0">
              <a:latin typeface="微软雅黑" charset="0"/>
              <a:ea typeface="微软雅黑" charset="0"/>
              <a:cs typeface="微软雅黑" charset="0"/>
            </a:endParaRPr>
          </a:p>
        </p:txBody>
      </p:sp>
      <p:sp>
        <p:nvSpPr>
          <p:cNvPr id="134" name="矩形 133"/>
          <p:cNvSpPr/>
          <p:nvPr>
            <p:custDataLst>
              <p:tags r:id="rId40"/>
            </p:custDataLst>
          </p:nvPr>
        </p:nvSpPr>
        <p:spPr>
          <a:xfrm>
            <a:off x="3898900" y="2790190"/>
            <a:ext cx="495935" cy="2856230"/>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内</a:t>
            </a:r>
            <a:r>
              <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部接口服务</a:t>
            </a:r>
            <a:endParaRPr kumimoji="0" lang="zh-CN"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5" name="矩形 134"/>
          <p:cNvSpPr/>
          <p:nvPr>
            <p:custDataLst>
              <p:tags r:id="rId41"/>
            </p:custDataLst>
          </p:nvPr>
        </p:nvSpPr>
        <p:spPr>
          <a:xfrm>
            <a:off x="3898900" y="2790190"/>
            <a:ext cx="4595495" cy="466725"/>
          </a:xfrm>
          <a:prstGeom prst="rect">
            <a:avLst/>
          </a:prstGeom>
          <a:noFill/>
          <a:extLst>
            <a:ext uri="{909E8E84-426E-40DD-AFC4-6F175D3DCCD1}">
              <a14:hiddenFill xmlns:a14="http://schemas.microsoft.com/office/drawing/2010/main">
                <a:solidFill>
                  <a:schemeClr val="accent1"/>
                </a:solidFill>
              </a14:hiddenFill>
            </a:ext>
          </a:extLst>
        </p:spPr>
        <p:style>
          <a:lnRef idx="2">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rPr>
              <a:t>前端入口</a:t>
            </a:r>
            <a:endParaRPr kumimoji="0" lang="zh-CN" altLang="en-US" sz="1400" i="0" u="none" strike="noStrike" kern="1200" cap="none" spc="0" normalizeH="0" baseline="0" noProof="0" dirty="0">
              <a:ln>
                <a:noFill/>
              </a:ln>
              <a:solidFill>
                <a:schemeClr val="tx1"/>
              </a:solidFill>
              <a:effectLst/>
              <a:uLnTx/>
              <a:uFillTx/>
              <a:latin typeface="微软雅黑" charset="0"/>
              <a:ea typeface="微软雅黑" charset="0"/>
              <a:sym typeface="Calibri" panose="020F0502020204030204" pitchFamily="34" charset="0"/>
            </a:endParaRPr>
          </a:p>
        </p:txBody>
      </p:sp>
      <p:sp>
        <p:nvSpPr>
          <p:cNvPr id="136" name="矩形 135"/>
          <p:cNvSpPr/>
          <p:nvPr>
            <p:custDataLst>
              <p:tags r:id="rId42"/>
            </p:custDataLst>
          </p:nvPr>
        </p:nvSpPr>
        <p:spPr>
          <a:xfrm>
            <a:off x="4292600" y="5321935"/>
            <a:ext cx="3931920" cy="466725"/>
          </a:xfrm>
          <a:prstGeom prst="rect">
            <a:avLst/>
          </a:prstGeom>
          <a:solidFill>
            <a:schemeClr val="accent1">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sz="1100" b="1" dirty="0">
                <a:solidFill>
                  <a:schemeClr val="tx1">
                    <a:lumMod val="95000"/>
                    <a:lumOff val="5000"/>
                  </a:schemeClr>
                </a:solidFill>
                <a:latin typeface="微软雅黑" charset="0"/>
                <a:ea typeface="微软雅黑" charset="0"/>
                <a:sym typeface="Calibri" panose="020F0502020204030204" pitchFamily="34" charset="0"/>
              </a:rPr>
              <a:t>储存层：用户数据、积分数据、权益数据、清结算数据</a:t>
            </a:r>
            <a:endParaRPr lang="zh-CN" altLang="en-US" sz="1100" b="1" dirty="0">
              <a:solidFill>
                <a:schemeClr val="tx1">
                  <a:lumMod val="95000"/>
                  <a:lumOff val="5000"/>
                </a:schemeClr>
              </a:solidFill>
              <a:latin typeface="微软雅黑" charset="0"/>
              <a:ea typeface="微软雅黑" charset="0"/>
              <a:sym typeface="Calibri" panose="020F0502020204030204" pitchFamily="34" charset="0"/>
            </a:endParaRPr>
          </a:p>
        </p:txBody>
      </p:sp>
      <p:sp>
        <p:nvSpPr>
          <p:cNvPr id="137" name="圆角矩形 136"/>
          <p:cNvSpPr/>
          <p:nvPr>
            <p:custDataLst>
              <p:tags r:id="rId43"/>
            </p:custDataLst>
          </p:nvPr>
        </p:nvSpPr>
        <p:spPr>
          <a:xfrm>
            <a:off x="4775200" y="4353560"/>
            <a:ext cx="1369060" cy="789305"/>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a:solidFill>
                  <a:schemeClr val="tx1"/>
                </a:solidFill>
                <a:latin typeface="微软雅黑" charset="0"/>
                <a:ea typeface="微软雅黑" charset="0"/>
              </a:rPr>
              <a:t>客户数据管理</a:t>
            </a:r>
            <a:endParaRPr lang="zh-CN" altLang="en-US" sz="1000" b="1">
              <a:solidFill>
                <a:schemeClr val="tx1"/>
              </a:solidFill>
              <a:latin typeface="微软雅黑" charset="0"/>
              <a:ea typeface="微软雅黑" charset="0"/>
            </a:endParaRPr>
          </a:p>
        </p:txBody>
      </p:sp>
      <p:sp>
        <p:nvSpPr>
          <p:cNvPr id="138" name="圆角矩形 137"/>
          <p:cNvSpPr/>
          <p:nvPr>
            <p:custDataLst>
              <p:tags r:id="rId44"/>
            </p:custDataLst>
          </p:nvPr>
        </p:nvSpPr>
        <p:spPr>
          <a:xfrm>
            <a:off x="6300470" y="4347210"/>
            <a:ext cx="1577975" cy="796290"/>
          </a:xfrm>
          <a:prstGeom prst="roundRect">
            <a:avLst>
              <a:gd name="adj" fmla="val 0"/>
            </a:avLst>
          </a:prstGeom>
          <a:solidFill>
            <a:schemeClr val="bg1"/>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a:solidFill>
                  <a:schemeClr val="tx1"/>
                </a:solidFill>
                <a:latin typeface="微软雅黑" charset="0"/>
                <a:ea typeface="微软雅黑" charset="0"/>
              </a:rPr>
              <a:t>会员和积分管理</a:t>
            </a:r>
            <a:endParaRPr lang="zh-CN" altLang="en-US" sz="1000" b="1">
              <a:solidFill>
                <a:schemeClr val="tx1"/>
              </a:solidFill>
              <a:latin typeface="微软雅黑" charset="0"/>
              <a:ea typeface="微软雅黑" charset="0"/>
            </a:endParaRPr>
          </a:p>
        </p:txBody>
      </p:sp>
      <p:sp>
        <p:nvSpPr>
          <p:cNvPr id="142" name="圆角矩形 141"/>
          <p:cNvSpPr/>
          <p:nvPr>
            <p:custDataLst>
              <p:tags r:id="rId45"/>
            </p:custDataLst>
          </p:nvPr>
        </p:nvSpPr>
        <p:spPr>
          <a:xfrm>
            <a:off x="4500880" y="3715385"/>
            <a:ext cx="3393440" cy="280670"/>
          </a:xfrm>
          <a:prstGeom prst="roundRect">
            <a:avLst>
              <a:gd name="adj" fmla="val 0"/>
            </a:avLst>
          </a:prstGeom>
          <a:solidFill>
            <a:schemeClr val="tx2">
              <a:lumMod val="40000"/>
              <a:lumOff val="60000"/>
            </a:schemeClr>
          </a:solidFill>
          <a:ln>
            <a:solidFill>
              <a:schemeClr val="bg1">
                <a:lumMod val="85000"/>
              </a:schemeClr>
            </a:solid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latin typeface="微软雅黑" charset="0"/>
                <a:ea typeface="微软雅黑" charset="0"/>
                <a:cs typeface="微软雅黑" charset="0"/>
              </a:rPr>
              <a:t>面客</a:t>
            </a:r>
            <a:r>
              <a:rPr lang="en-US" altLang="zh-CN" sz="1000" b="1">
                <a:solidFill>
                  <a:schemeClr val="bg1"/>
                </a:solidFill>
                <a:latin typeface="微软雅黑" charset="0"/>
                <a:ea typeface="微软雅黑" charset="0"/>
                <a:cs typeface="微软雅黑" charset="0"/>
              </a:rPr>
              <a:t>：</a:t>
            </a:r>
            <a:r>
              <a:rPr lang="zh-CN" altLang="en-US" sz="1000" b="1">
                <a:solidFill>
                  <a:schemeClr val="bg1"/>
                </a:solidFill>
                <a:latin typeface="微软雅黑" charset="0"/>
                <a:ea typeface="微软雅黑" charset="0"/>
                <a:cs typeface="微软雅黑" charset="0"/>
              </a:rPr>
              <a:t>智能客服服务</a:t>
            </a:r>
            <a:r>
              <a:rPr lang="en-US" altLang="zh-CN" sz="1000" b="1">
                <a:solidFill>
                  <a:schemeClr val="bg1"/>
                </a:solidFill>
                <a:latin typeface="微软雅黑" charset="0"/>
                <a:ea typeface="微软雅黑" charset="0"/>
                <a:cs typeface="微软雅黑" charset="0"/>
              </a:rPr>
              <a:t>（400、</a:t>
            </a:r>
            <a:r>
              <a:rPr lang="zh-CN" altLang="en-US" sz="1000" b="1">
                <a:solidFill>
                  <a:schemeClr val="bg1"/>
                </a:solidFill>
                <a:latin typeface="微软雅黑" charset="0"/>
                <a:ea typeface="微软雅黑" charset="0"/>
                <a:cs typeface="微软雅黑" charset="0"/>
              </a:rPr>
              <a:t>线上咨询</a:t>
            </a:r>
            <a:r>
              <a:rPr lang="en-US" altLang="zh-CN" sz="1000" b="1">
                <a:solidFill>
                  <a:schemeClr val="bg1"/>
                </a:solidFill>
                <a:latin typeface="微软雅黑" charset="0"/>
                <a:ea typeface="微软雅黑" charset="0"/>
                <a:cs typeface="微软雅黑" charset="0"/>
              </a:rPr>
              <a:t>）</a:t>
            </a:r>
            <a:endParaRPr lang="en-US" altLang="zh-CN" sz="1000" b="1">
              <a:solidFill>
                <a:schemeClr val="bg1"/>
              </a:solidFill>
              <a:latin typeface="微软雅黑" charset="0"/>
              <a:ea typeface="微软雅黑" charset="0"/>
              <a:cs typeface="微软雅黑" charset="0"/>
            </a:endParaRPr>
          </a:p>
        </p:txBody>
      </p:sp>
      <p:sp>
        <p:nvSpPr>
          <p:cNvPr id="145" name="文本框 144"/>
          <p:cNvSpPr txBox="1"/>
          <p:nvPr>
            <p:custDataLst>
              <p:tags r:id="rId46"/>
            </p:custDataLst>
          </p:nvPr>
        </p:nvSpPr>
        <p:spPr>
          <a:xfrm>
            <a:off x="479425" y="6080760"/>
            <a:ext cx="5210810" cy="506730"/>
          </a:xfrm>
          <a:prstGeom prst="rect">
            <a:avLst/>
          </a:prstGeom>
          <a:noFill/>
        </p:spPr>
        <p:txBody>
          <a:bodyPr wrap="square" rtlCol="0">
            <a:spAutoFit/>
          </a:bodyPr>
          <a:lstStyle/>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用户数据包含：用户</a:t>
            </a:r>
            <a:r>
              <a:rPr lang="en-US" altLang="zh-CN" sz="900" dirty="0">
                <a:solidFill>
                  <a:schemeClr val="tx1">
                    <a:lumMod val="95000"/>
                    <a:lumOff val="5000"/>
                  </a:schemeClr>
                </a:solidFill>
                <a:latin typeface="微软雅黑" charset="0"/>
                <a:ea typeface="微软雅黑" charset="0"/>
                <a:cs typeface="微软雅黑" charset="0"/>
              </a:rPr>
              <a:t>ID</a:t>
            </a:r>
            <a:r>
              <a:rPr lang="zh-CN" altLang="en-US" sz="900" dirty="0">
                <a:solidFill>
                  <a:schemeClr val="tx1">
                    <a:lumMod val="95000"/>
                    <a:lumOff val="5000"/>
                  </a:schemeClr>
                </a:solidFill>
                <a:latin typeface="微软雅黑" charset="0"/>
                <a:ea typeface="微软雅黑" charset="0"/>
                <a:cs typeface="微软雅黑" charset="0"/>
              </a:rPr>
              <a:t>、姓名、手机号、生日、标签等</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会员信息包含：会员</a:t>
            </a:r>
            <a:r>
              <a:rPr lang="en-US" altLang="zh-CN" sz="900" dirty="0">
                <a:solidFill>
                  <a:schemeClr val="tx1">
                    <a:lumMod val="95000"/>
                    <a:lumOff val="5000"/>
                  </a:schemeClr>
                </a:solidFill>
                <a:latin typeface="微软雅黑" charset="0"/>
                <a:ea typeface="微软雅黑" charset="0"/>
                <a:cs typeface="微软雅黑" charset="0"/>
              </a:rPr>
              <a:t>ID</a:t>
            </a:r>
            <a:r>
              <a:rPr lang="zh-CN" altLang="en-US" sz="900" dirty="0">
                <a:solidFill>
                  <a:schemeClr val="tx1">
                    <a:lumMod val="95000"/>
                    <a:lumOff val="5000"/>
                  </a:schemeClr>
                </a:solidFill>
                <a:latin typeface="微软雅黑" charset="0"/>
                <a:ea typeface="微软雅黑" charset="0"/>
                <a:cs typeface="微软雅黑" charset="0"/>
              </a:rPr>
              <a:t>、等级、成长值、及其他基础信息</a:t>
            </a:r>
            <a:endParaRPr lang="zh-CN" altLang="en-US" sz="900" dirty="0">
              <a:solidFill>
                <a:schemeClr val="tx1">
                  <a:lumMod val="95000"/>
                  <a:lumOff val="5000"/>
                </a:schemeClr>
              </a:solidFill>
              <a:latin typeface="微软雅黑" charset="0"/>
              <a:ea typeface="微软雅黑" charset="0"/>
              <a:cs typeface="微软雅黑" charset="0"/>
            </a:endParaRPr>
          </a:p>
          <a:p>
            <a:pPr marL="228600" indent="-228600">
              <a:buFont typeface="+mj-lt"/>
              <a:buAutoNum type="arabicPeriod"/>
            </a:pPr>
            <a:r>
              <a:rPr lang="zh-CN" altLang="en-US" sz="900" dirty="0">
                <a:solidFill>
                  <a:schemeClr val="tx1">
                    <a:lumMod val="95000"/>
                    <a:lumOff val="5000"/>
                  </a:schemeClr>
                </a:solidFill>
                <a:latin typeface="微软雅黑" charset="0"/>
                <a:ea typeface="微软雅黑" charset="0"/>
                <a:cs typeface="微软雅黑" charset="0"/>
              </a:rPr>
              <a:t>会员行为包含：前端业务行为、积分兑换、参与活动等</a:t>
            </a:r>
            <a:endParaRPr lang="zh-CN" altLang="en-US" sz="900" dirty="0">
              <a:solidFill>
                <a:schemeClr val="tx1">
                  <a:lumMod val="95000"/>
                  <a:lumOff val="5000"/>
                </a:schemeClr>
              </a:solidFill>
              <a:latin typeface="微软雅黑" charset="0"/>
              <a:ea typeface="微软雅黑" charset="0"/>
              <a:cs typeface="微软雅黑" charset="0"/>
            </a:endParaRPr>
          </a:p>
        </p:txBody>
      </p:sp>
      <p:sp>
        <p:nvSpPr>
          <p:cNvPr id="146" name="圆角矩形 145"/>
          <p:cNvSpPr/>
          <p:nvPr>
            <p:custDataLst>
              <p:tags r:id="rId47"/>
            </p:custDataLst>
          </p:nvPr>
        </p:nvSpPr>
        <p:spPr>
          <a:xfrm>
            <a:off x="10106025" y="5198745"/>
            <a:ext cx="1446530" cy="475615"/>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b="1" dirty="0">
                <a:solidFill>
                  <a:schemeClr val="bg1"/>
                </a:solidFill>
                <a:latin typeface="微软雅黑" charset="0"/>
                <a:ea typeface="微软雅黑" charset="0"/>
                <a:sym typeface="+mn-ea"/>
              </a:rPr>
              <a:t>异业合作平台</a:t>
            </a:r>
            <a:endParaRPr lang="zh-CN" altLang="en-US" sz="1200" b="1" dirty="0">
              <a:solidFill>
                <a:schemeClr val="bg1"/>
              </a:solidFill>
              <a:latin typeface="微软雅黑" charset="0"/>
              <a:ea typeface="微软雅黑" charset="0"/>
              <a:sym typeface="+mn-ea"/>
            </a:endParaRPr>
          </a:p>
        </p:txBody>
      </p:sp>
      <p:cxnSp>
        <p:nvCxnSpPr>
          <p:cNvPr id="147" name="直接箭头连接符 189"/>
          <p:cNvCxnSpPr/>
          <p:nvPr>
            <p:custDataLst>
              <p:tags r:id="rId48"/>
            </p:custDataLst>
          </p:nvPr>
        </p:nvCxnSpPr>
        <p:spPr>
          <a:xfrm flipH="1">
            <a:off x="8412480" y="5412740"/>
            <a:ext cx="1628140" cy="0"/>
          </a:xfrm>
          <a:prstGeom prst="straightConnector1">
            <a:avLst/>
          </a:prstGeom>
          <a:solidFill>
            <a:srgbClr val="D9D9D9"/>
          </a:solidFill>
          <a:ln w="12700" cap="flat" cmpd="sng" algn="ctr">
            <a:solidFill>
              <a:srgbClr val="FBCC9A"/>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48" name="文本框 147"/>
          <p:cNvSpPr txBox="1"/>
          <p:nvPr>
            <p:custDataLst>
              <p:tags r:id="rId49"/>
            </p:custDataLst>
          </p:nvPr>
        </p:nvSpPr>
        <p:spPr>
          <a:xfrm>
            <a:off x="8794115" y="5313045"/>
            <a:ext cx="988060" cy="338455"/>
          </a:xfrm>
          <a:prstGeom prst="rect">
            <a:avLst/>
          </a:prstGeom>
          <a:solidFill>
            <a:schemeClr val="bg1"/>
          </a:solidFill>
          <a:ln>
            <a:solidFill>
              <a:srgbClr val="FBCC9A"/>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会员、积分、</a:t>
            </a:r>
            <a:endParaRPr lang="en-US" altLang="zh-CN" sz="800" dirty="0">
              <a:solidFill>
                <a:schemeClr val="tx1"/>
              </a:solidFill>
              <a:latin typeface="微软雅黑" charset="0"/>
              <a:ea typeface="微软雅黑" charset="0"/>
              <a:sym typeface="+mn-ea"/>
            </a:endParaRPr>
          </a:p>
          <a:p>
            <a:pPr algn="ctr"/>
            <a:r>
              <a:rPr lang="zh-CN" altLang="en-US" sz="800" dirty="0">
                <a:solidFill>
                  <a:schemeClr val="tx1"/>
                </a:solidFill>
                <a:latin typeface="微软雅黑" charset="0"/>
                <a:ea typeface="微软雅黑" charset="0"/>
                <a:sym typeface="+mn-ea"/>
              </a:rPr>
              <a:t>权益</a:t>
            </a:r>
            <a:endParaRPr lang="zh-CN" altLang="en-US" sz="800" dirty="0">
              <a:solidFill>
                <a:schemeClr val="tx1"/>
              </a:solidFill>
              <a:latin typeface="微软雅黑" charset="0"/>
              <a:ea typeface="微软雅黑" charset="0"/>
              <a:sym typeface="+mn-ea"/>
            </a:endParaRPr>
          </a:p>
        </p:txBody>
      </p:sp>
      <p:grpSp>
        <p:nvGrpSpPr>
          <p:cNvPr id="149" name="组合 148"/>
          <p:cNvGrpSpPr/>
          <p:nvPr/>
        </p:nvGrpSpPr>
        <p:grpSpPr>
          <a:xfrm>
            <a:off x="995045" y="5090160"/>
            <a:ext cx="2876550" cy="583815"/>
            <a:chOff x="1323" y="7333"/>
            <a:chExt cx="4608" cy="993"/>
          </a:xfrm>
        </p:grpSpPr>
        <p:sp>
          <p:nvSpPr>
            <p:cNvPr id="166" name="圆角矩形 165"/>
            <p:cNvSpPr/>
            <p:nvPr>
              <p:custDataLst>
                <p:tags r:id="rId50"/>
              </p:custDataLst>
            </p:nvPr>
          </p:nvSpPr>
          <p:spPr>
            <a:xfrm>
              <a:off x="1323" y="7362"/>
              <a:ext cx="2000" cy="917"/>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000" b="1" dirty="0">
                  <a:solidFill>
                    <a:schemeClr val="bg1"/>
                  </a:solidFill>
                  <a:latin typeface="微软雅黑" charset="0"/>
                  <a:ea typeface="微软雅黑" charset="0"/>
                  <a:sym typeface="+mn-ea"/>
                </a:rPr>
                <a:t>安荟邻</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安馨汇</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乐寓</a:t>
              </a:r>
              <a:r>
                <a:rPr kumimoji="1" lang="en-US" altLang="zh-CN" sz="1000" b="1" dirty="0">
                  <a:solidFill>
                    <a:schemeClr val="bg1"/>
                  </a:solidFill>
                  <a:latin typeface="微软雅黑" charset="0"/>
                  <a:ea typeface="微软雅黑" charset="0"/>
                  <a:sym typeface="+mn-ea"/>
                </a:rPr>
                <a:t>、</a:t>
              </a:r>
              <a:r>
                <a:rPr kumimoji="1" lang="zh-CN" altLang="en-US" sz="1000" b="1" dirty="0">
                  <a:solidFill>
                    <a:schemeClr val="bg1"/>
                  </a:solidFill>
                  <a:latin typeface="微软雅黑" charset="0"/>
                  <a:ea typeface="微软雅黑" charset="0"/>
                  <a:sym typeface="+mn-ea"/>
                </a:rPr>
                <a:t>友邻社区</a:t>
              </a:r>
              <a:endParaRPr kumimoji="1" lang="zh-CN" altLang="en-US" sz="1000" b="1" dirty="0">
                <a:solidFill>
                  <a:schemeClr val="bg1"/>
                </a:solidFill>
                <a:latin typeface="微软雅黑" charset="0"/>
                <a:ea typeface="微软雅黑" charset="0"/>
                <a:sym typeface="+mn-ea"/>
              </a:endParaRPr>
            </a:p>
          </p:txBody>
        </p:sp>
        <p:cxnSp>
          <p:nvCxnSpPr>
            <p:cNvPr id="167" name="直接箭头连接符 189"/>
            <p:cNvCxnSpPr/>
            <p:nvPr>
              <p:custDataLst>
                <p:tags r:id="rId51"/>
              </p:custDataLst>
            </p:nvPr>
          </p:nvCxnSpPr>
          <p:spPr>
            <a:xfrm flipH="1">
              <a:off x="3323" y="7841"/>
              <a:ext cx="2608" cy="0"/>
            </a:xfrm>
            <a:prstGeom prst="straightConnector1">
              <a:avLst/>
            </a:prstGeom>
            <a:ln w="12700" cap="flat" cmpd="sng" algn="ctr">
              <a:solidFill>
                <a:srgbClr val="0070C0"/>
              </a:solidFill>
              <a:prstDash val="dash"/>
              <a:miter lim="800000"/>
              <a:headEnd type="triangle" w="med" len="med"/>
              <a:tailEnd type="triangle" w="med" len="med"/>
            </a:ln>
          </p:spPr>
          <p:style>
            <a:lnRef idx="0">
              <a:schemeClr val="accent1"/>
            </a:lnRef>
            <a:fillRef idx="0">
              <a:srgbClr val="FFFFFF"/>
            </a:fillRef>
            <a:effectRef idx="0">
              <a:srgbClr val="FFFFFF"/>
            </a:effectRef>
            <a:fontRef idx="minor">
              <a:schemeClr val="tx1"/>
            </a:fontRef>
          </p:style>
        </p:cxnSp>
        <p:sp>
          <p:nvSpPr>
            <p:cNvPr id="168" name="文本框 167"/>
            <p:cNvSpPr txBox="1"/>
            <p:nvPr>
              <p:custDataLst>
                <p:tags r:id="rId52"/>
              </p:custDataLst>
            </p:nvPr>
          </p:nvSpPr>
          <p:spPr>
            <a:xfrm>
              <a:off x="3835" y="7333"/>
              <a:ext cx="1583" cy="993"/>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sym typeface="+mn-ea"/>
                </a:rPr>
                <a:t>用户基础数据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用户标签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会员数据、积分明细；订单数据</a:t>
              </a:r>
              <a:endParaRPr lang="zh-CN" altLang="en-US" sz="800" dirty="0">
                <a:solidFill>
                  <a:schemeClr val="tx1"/>
                </a:solidFill>
                <a:latin typeface="微软雅黑" charset="0"/>
                <a:ea typeface="微软雅黑" charset="0"/>
                <a:sym typeface="+mn-ea"/>
              </a:endParaRPr>
            </a:p>
          </p:txBody>
        </p:sp>
      </p:grpSp>
      <p:sp>
        <p:nvSpPr>
          <p:cNvPr id="150" name="圆角矩形 149"/>
          <p:cNvSpPr/>
          <p:nvPr>
            <p:custDataLst>
              <p:tags r:id="rId53"/>
            </p:custDataLst>
          </p:nvPr>
        </p:nvSpPr>
        <p:spPr>
          <a:xfrm>
            <a:off x="3906520" y="2855595"/>
            <a:ext cx="4589145" cy="2934970"/>
          </a:xfrm>
          <a:prstGeom prst="roundRect">
            <a:avLst>
              <a:gd name="adj" fmla="val 1771"/>
            </a:avLst>
          </a:prstGeom>
          <a:noFill/>
          <a:ln w="25400">
            <a:solidFill>
              <a:srgbClr val="99B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1" name="圆角矩形 150"/>
          <p:cNvSpPr/>
          <p:nvPr>
            <p:custDataLst>
              <p:tags r:id="rId54"/>
            </p:custDataLst>
          </p:nvPr>
        </p:nvSpPr>
        <p:spPr>
          <a:xfrm>
            <a:off x="4404995" y="3209925"/>
            <a:ext cx="3595370" cy="2024380"/>
          </a:xfrm>
          <a:prstGeom prst="roundRect">
            <a:avLst>
              <a:gd name="adj" fmla="val 1771"/>
            </a:avLst>
          </a:prstGeom>
          <a:no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0"/>
              <a:ea typeface="微软雅黑" charset="0"/>
            </a:endParaRPr>
          </a:p>
        </p:txBody>
      </p:sp>
      <p:sp>
        <p:nvSpPr>
          <p:cNvPr id="152" name="圆角矩形 151"/>
          <p:cNvSpPr/>
          <p:nvPr>
            <p:custDataLst>
              <p:tags r:id="rId55"/>
            </p:custDataLst>
          </p:nvPr>
        </p:nvSpPr>
        <p:spPr>
          <a:xfrm>
            <a:off x="4510405" y="3273425"/>
            <a:ext cx="3383915" cy="3695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400" b="1" dirty="0">
                <a:solidFill>
                  <a:schemeClr val="bg1"/>
                </a:solidFill>
                <a:latin typeface="微软雅黑" charset="0"/>
                <a:ea typeface="微软雅黑" charset="0"/>
                <a:sym typeface="+mn-ea"/>
              </a:rPr>
              <a:t>智能客服平台</a:t>
            </a:r>
            <a:endParaRPr kumimoji="1" lang="zh-CN" altLang="en-US" sz="1400" b="1" dirty="0">
              <a:solidFill>
                <a:schemeClr val="bg1"/>
              </a:solidFill>
              <a:latin typeface="微软雅黑" charset="0"/>
              <a:ea typeface="微软雅黑" charset="0"/>
              <a:sym typeface="+mn-ea"/>
            </a:endParaRPr>
          </a:p>
        </p:txBody>
      </p:sp>
      <p:grpSp>
        <p:nvGrpSpPr>
          <p:cNvPr id="153" name="组合 152"/>
          <p:cNvGrpSpPr/>
          <p:nvPr/>
        </p:nvGrpSpPr>
        <p:grpSpPr>
          <a:xfrm>
            <a:off x="4023995" y="2223770"/>
            <a:ext cx="4343400" cy="582295"/>
            <a:chOff x="6174" y="2493"/>
            <a:chExt cx="6957" cy="1474"/>
          </a:xfrm>
        </p:grpSpPr>
        <p:grpSp>
          <p:nvGrpSpPr>
            <p:cNvPr id="157" name="组合 156"/>
            <p:cNvGrpSpPr/>
            <p:nvPr/>
          </p:nvGrpSpPr>
          <p:grpSpPr>
            <a:xfrm>
              <a:off x="6174" y="2493"/>
              <a:ext cx="1304" cy="1474"/>
              <a:chOff x="5894" y="1690"/>
              <a:chExt cx="1304" cy="1474"/>
            </a:xfrm>
          </p:grpSpPr>
          <p:cxnSp>
            <p:nvCxnSpPr>
              <p:cNvPr id="164" name="直接箭头连接符 189"/>
              <p:cNvCxnSpPr/>
              <p:nvPr>
                <p:custDataLst>
                  <p:tags r:id="rId56"/>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5" name="文本框 164"/>
              <p:cNvSpPr txBox="1"/>
              <p:nvPr>
                <p:custDataLst>
                  <p:tags r:id="rId57"/>
                </p:custDataLst>
              </p:nvPr>
            </p:nvSpPr>
            <p:spPr>
              <a:xfrm>
                <a:off x="5894" y="2259"/>
                <a:ext cx="1304" cy="502"/>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嵌入前端应用</a:t>
                </a:r>
                <a:endParaRPr lang="zh-CN" altLang="en-US" sz="800">
                  <a:solidFill>
                    <a:schemeClr val="tx1"/>
                  </a:solidFill>
                  <a:latin typeface="微软雅黑" charset="0"/>
                  <a:ea typeface="微软雅黑" charset="0"/>
                </a:endParaRPr>
              </a:p>
            </p:txBody>
          </p:sp>
        </p:grpSp>
        <p:grpSp>
          <p:nvGrpSpPr>
            <p:cNvPr id="158" name="组合 157"/>
            <p:cNvGrpSpPr/>
            <p:nvPr/>
          </p:nvGrpSpPr>
          <p:grpSpPr>
            <a:xfrm>
              <a:off x="8292" y="2493"/>
              <a:ext cx="2721" cy="1474"/>
              <a:chOff x="9747" y="1891"/>
              <a:chExt cx="2721" cy="1474"/>
            </a:xfrm>
          </p:grpSpPr>
          <p:cxnSp>
            <p:nvCxnSpPr>
              <p:cNvPr id="162" name="直接箭头连接符 189"/>
              <p:cNvCxnSpPr/>
              <p:nvPr>
                <p:custDataLst>
                  <p:tags r:id="rId58"/>
                </p:custDataLst>
              </p:nvPr>
            </p:nvCxnSpPr>
            <p:spPr>
              <a:xfrm flipV="1">
                <a:off x="11108" y="1891"/>
                <a:ext cx="0" cy="1474"/>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63" name="文本框 162"/>
              <p:cNvSpPr txBox="1"/>
              <p:nvPr>
                <p:custDataLst>
                  <p:tags r:id="rId59"/>
                </p:custDataLst>
              </p:nvPr>
            </p:nvSpPr>
            <p:spPr>
              <a:xfrm>
                <a:off x="9747" y="2211"/>
                <a:ext cx="2721" cy="712"/>
              </a:xfrm>
              <a:prstGeom prst="rect">
                <a:avLst/>
              </a:prstGeom>
              <a:solidFill>
                <a:schemeClr val="bg1"/>
              </a:solidFill>
              <a:ln>
                <a:solidFill>
                  <a:srgbClr val="0070C0"/>
                </a:solidFill>
                <a:prstDash val="dash"/>
              </a:ln>
            </p:spPr>
            <p:txBody>
              <a:bodyPr wrap="square" rtlCol="0">
                <a:spAutoFit/>
              </a:bodyPr>
              <a:lstStyle/>
              <a:p>
                <a:pPr algn="l"/>
                <a:r>
                  <a:rPr lang="zh-CN" altLang="en-US" sz="800" dirty="0">
                    <a:solidFill>
                      <a:schemeClr val="tx1"/>
                    </a:solidFill>
                    <a:latin typeface="微软雅黑" charset="0"/>
                    <a:ea typeface="微软雅黑" charset="0"/>
                    <a:sym typeface="+mn-ea"/>
                  </a:rPr>
                  <a:t>同步用户信息、会员等级、成长值、权益，积分</a:t>
                </a:r>
                <a:endParaRPr lang="zh-CN" altLang="en-US" sz="800" dirty="0">
                  <a:solidFill>
                    <a:schemeClr val="tx1"/>
                  </a:solidFill>
                  <a:latin typeface="微软雅黑" charset="0"/>
                  <a:ea typeface="微软雅黑" charset="0"/>
                  <a:sym typeface="+mn-ea"/>
                </a:endParaRPr>
              </a:p>
            </p:txBody>
          </p:sp>
        </p:grpSp>
        <p:grpSp>
          <p:nvGrpSpPr>
            <p:cNvPr id="159" name="组合 158"/>
            <p:cNvGrpSpPr/>
            <p:nvPr/>
          </p:nvGrpSpPr>
          <p:grpSpPr>
            <a:xfrm>
              <a:off x="11827" y="2493"/>
              <a:ext cx="1304" cy="1474"/>
              <a:chOff x="5894" y="1690"/>
              <a:chExt cx="1304" cy="1474"/>
            </a:xfrm>
          </p:grpSpPr>
          <p:cxnSp>
            <p:nvCxnSpPr>
              <p:cNvPr id="160" name="直接箭头连接符 189"/>
              <p:cNvCxnSpPr/>
              <p:nvPr>
                <p:custDataLst>
                  <p:tags r:id="rId60"/>
                </p:custDataLst>
              </p:nvPr>
            </p:nvCxnSpPr>
            <p:spPr>
              <a:xfrm flipV="1">
                <a:off x="6546" y="1690"/>
                <a:ext cx="0" cy="1474"/>
              </a:xfrm>
              <a:prstGeom prst="straightConnector1">
                <a:avLst/>
              </a:prstGeom>
              <a:ln w="12700" cap="flat" cmpd="sng" algn="ctr">
                <a:solidFill>
                  <a:schemeClr val="accent3">
                    <a:lumMod val="50000"/>
                  </a:schemeClr>
                </a:solidFill>
                <a:prstDash val="dash"/>
                <a:miter lim="800000"/>
                <a:headEnd type="triangle" w="med" len="med"/>
                <a:tailEnd type="none" w="med" len="med"/>
              </a:ln>
            </p:spPr>
            <p:style>
              <a:lnRef idx="0">
                <a:schemeClr val="accent1"/>
              </a:lnRef>
              <a:fillRef idx="0">
                <a:srgbClr val="FFFFFF"/>
              </a:fillRef>
              <a:effectRef idx="0">
                <a:srgbClr val="FFFFFF"/>
              </a:effectRef>
              <a:fontRef idx="minor">
                <a:schemeClr val="tx1"/>
              </a:fontRef>
            </p:style>
          </p:cxnSp>
          <p:sp>
            <p:nvSpPr>
              <p:cNvPr id="161" name="文本框 160"/>
              <p:cNvSpPr txBox="1"/>
              <p:nvPr>
                <p:custDataLst>
                  <p:tags r:id="rId61"/>
                </p:custDataLst>
              </p:nvPr>
            </p:nvSpPr>
            <p:spPr>
              <a:xfrm>
                <a:off x="5894" y="1980"/>
                <a:ext cx="1304" cy="854"/>
              </a:xfrm>
              <a:prstGeom prst="rect">
                <a:avLst/>
              </a:prstGeom>
              <a:solidFill>
                <a:schemeClr val="bg1"/>
              </a:solidFill>
              <a:ln>
                <a:solidFill>
                  <a:schemeClr val="accent3">
                    <a:lumMod val="50000"/>
                  </a:schemeClr>
                </a:solidFill>
                <a:prstDash val="dash"/>
              </a:ln>
            </p:spPr>
            <p:txBody>
              <a:bodyPr wrap="square" rtlCol="0">
                <a:spAutoFit/>
              </a:bodyPr>
              <a:lstStyle/>
              <a:p>
                <a:pPr algn="ctr"/>
                <a:r>
                  <a:rPr lang="zh-CN" altLang="en-US" sz="800">
                    <a:solidFill>
                      <a:schemeClr val="tx1"/>
                    </a:solidFill>
                    <a:latin typeface="微软雅黑" charset="0"/>
                    <a:ea typeface="微软雅黑" charset="0"/>
                  </a:rPr>
                  <a:t>同步用户行为信息</a:t>
                </a:r>
                <a:endParaRPr lang="zh-CN" altLang="en-US" sz="800">
                  <a:solidFill>
                    <a:schemeClr val="tx1"/>
                  </a:solidFill>
                  <a:latin typeface="微软雅黑" charset="0"/>
                  <a:ea typeface="微软雅黑" charset="0"/>
                </a:endParaRPr>
              </a:p>
            </p:txBody>
          </p:sp>
        </p:grpSp>
      </p:grpSp>
      <p:sp>
        <p:nvSpPr>
          <p:cNvPr id="155" name="矩形 154"/>
          <p:cNvSpPr/>
          <p:nvPr/>
        </p:nvSpPr>
        <p:spPr>
          <a:xfrm>
            <a:off x="3938270" y="6252845"/>
            <a:ext cx="4540250" cy="280035"/>
          </a:xfrm>
          <a:prstGeom prst="rect">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000" b="1" dirty="0">
                <a:solidFill>
                  <a:schemeClr val="bg1"/>
                </a:solidFill>
                <a:latin typeface="微软雅黑" charset="0"/>
                <a:ea typeface="微软雅黑" charset="0"/>
              </a:rPr>
              <a:t>企业微信客户运营管理平台</a:t>
            </a:r>
            <a:endParaRPr lang="zh-CN" altLang="en-US" sz="1000" b="1" dirty="0">
              <a:solidFill>
                <a:schemeClr val="bg1"/>
              </a:solidFill>
              <a:latin typeface="微软雅黑" charset="0"/>
              <a:ea typeface="微软雅黑" charset="0"/>
            </a:endParaRPr>
          </a:p>
        </p:txBody>
      </p:sp>
      <p:cxnSp>
        <p:nvCxnSpPr>
          <p:cNvPr id="156" name="直接箭头连接符 189"/>
          <p:cNvCxnSpPr/>
          <p:nvPr>
            <p:custDataLst>
              <p:tags r:id="rId62"/>
            </p:custDataLst>
          </p:nvPr>
        </p:nvCxnSpPr>
        <p:spPr>
          <a:xfrm>
            <a:off x="5448300" y="5805170"/>
            <a:ext cx="12065" cy="435610"/>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3" name="文本框 12"/>
          <p:cNvSpPr txBox="1"/>
          <p:nvPr>
            <p:custDataLst>
              <p:tags r:id="rId63"/>
            </p:custDataLst>
          </p:nvPr>
        </p:nvSpPr>
        <p:spPr>
          <a:xfrm>
            <a:off x="5266690" y="4095115"/>
            <a:ext cx="1917700" cy="198120"/>
          </a:xfrm>
          <a:prstGeom prst="rect">
            <a:avLst/>
          </a:prstGeom>
          <a:solidFill>
            <a:schemeClr val="bg1"/>
          </a:solidFill>
          <a:ln>
            <a:solidFill>
              <a:srgbClr val="0070C0"/>
            </a:solidFill>
            <a:prstDash val="dash"/>
          </a:ln>
        </p:spPr>
        <p:txBody>
          <a:bodyPr wrap="square" rtlCol="0">
            <a:noAutofit/>
          </a:bodyPr>
          <a:lstStyle/>
          <a:p>
            <a:pPr algn="l"/>
            <a:r>
              <a:rPr lang="zh-CN" altLang="en-US" sz="800" dirty="0">
                <a:solidFill>
                  <a:schemeClr val="tx1"/>
                </a:solidFill>
                <a:latin typeface="微软雅黑" charset="0"/>
                <a:ea typeface="微软雅黑" charset="0"/>
                <a:sym typeface="+mn-ea"/>
              </a:rPr>
              <a:t>基础数据</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工单</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积分</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行为等</a:t>
            </a:r>
            <a:endParaRPr lang="zh-CN" altLang="en-US" sz="800" dirty="0">
              <a:solidFill>
                <a:schemeClr val="tx1"/>
              </a:solidFill>
              <a:latin typeface="微软雅黑" charset="0"/>
              <a:ea typeface="微软雅黑" charset="0"/>
              <a:sym typeface="+mn-ea"/>
            </a:endParaRPr>
          </a:p>
        </p:txBody>
      </p:sp>
      <p:cxnSp>
        <p:nvCxnSpPr>
          <p:cNvPr id="15" name="直接箭头连接符 189"/>
          <p:cNvCxnSpPr/>
          <p:nvPr>
            <p:custDataLst>
              <p:tags r:id="rId64"/>
            </p:custDataLst>
          </p:nvPr>
        </p:nvCxnSpPr>
        <p:spPr>
          <a:xfrm flipV="1">
            <a:off x="7247925" y="3984943"/>
            <a:ext cx="0" cy="38036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cxnSp>
        <p:nvCxnSpPr>
          <p:cNvPr id="16" name="直接箭头连接符 189"/>
          <p:cNvCxnSpPr/>
          <p:nvPr>
            <p:custDataLst>
              <p:tags r:id="rId65"/>
            </p:custDataLst>
          </p:nvPr>
        </p:nvCxnSpPr>
        <p:spPr>
          <a:xfrm flipV="1">
            <a:off x="5231800" y="3984943"/>
            <a:ext cx="0" cy="38036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17" name="圆角矩形 16"/>
          <p:cNvSpPr/>
          <p:nvPr>
            <p:custDataLst>
              <p:tags r:id="rId66"/>
            </p:custDataLst>
          </p:nvPr>
        </p:nvSpPr>
        <p:spPr>
          <a:xfrm>
            <a:off x="10106025" y="4552950"/>
            <a:ext cx="1446530" cy="407670"/>
          </a:xfrm>
          <a:prstGeom prst="roundRect">
            <a:avLst>
              <a:gd name="adj" fmla="val 0"/>
            </a:avLst>
          </a:prstGeom>
          <a:solidFill>
            <a:srgbClr val="007EBA"/>
          </a:solidFill>
        </p:spPr>
        <p:style>
          <a:lnRef idx="0">
            <a:srgbClr val="FFFFFF"/>
          </a:lnRef>
          <a:fillRef idx="1">
            <a:schemeClr val="accent1"/>
          </a:fillRef>
          <a:effectRef idx="0">
            <a:srgbClr val="FFFFFF"/>
          </a:effectRef>
          <a:fontRef idx="minor">
            <a:schemeClr val="lt1"/>
          </a:fontRef>
        </p:style>
        <p:txBody>
          <a:bodyPr rtlCol="0" anchor="ctr"/>
          <a:lstStyle/>
          <a:p>
            <a:pPr algn="ctr"/>
            <a:r>
              <a:rPr kumimoji="1" lang="zh-CN" altLang="en-US" sz="1200" b="1" dirty="0">
                <a:solidFill>
                  <a:schemeClr val="bg1"/>
                </a:solidFill>
                <a:latin typeface="微软雅黑" charset="0"/>
                <a:ea typeface="微软雅黑" charset="0"/>
                <a:sym typeface="+mn-ea"/>
              </a:rPr>
              <a:t>营销</a:t>
            </a:r>
            <a:r>
              <a:rPr kumimoji="1" lang="en-US" altLang="zh-CN" sz="1200" b="1" dirty="0">
                <a:solidFill>
                  <a:schemeClr val="bg1"/>
                </a:solidFill>
                <a:latin typeface="微软雅黑" charset="0"/>
                <a:ea typeface="微软雅黑" charset="0"/>
                <a:sym typeface="+mn-ea"/>
              </a:rPr>
              <a:t>（</a:t>
            </a:r>
            <a:r>
              <a:rPr kumimoji="1" lang="zh-CN" altLang="en-US" sz="1200" b="1" dirty="0">
                <a:solidFill>
                  <a:schemeClr val="bg1"/>
                </a:solidFill>
                <a:latin typeface="微软雅黑" charset="0"/>
                <a:ea typeface="微软雅黑" charset="0"/>
                <a:sym typeface="+mn-ea"/>
              </a:rPr>
              <a:t>尘锋</a:t>
            </a:r>
            <a:r>
              <a:rPr kumimoji="1" lang="en-US" altLang="zh-CN" sz="1200" b="1" dirty="0">
                <a:solidFill>
                  <a:schemeClr val="bg1"/>
                </a:solidFill>
                <a:latin typeface="微软雅黑" charset="0"/>
                <a:ea typeface="微软雅黑" charset="0"/>
                <a:sym typeface="+mn-ea"/>
              </a:rPr>
              <a:t>）</a:t>
            </a:r>
            <a:endParaRPr kumimoji="1" lang="en-US" altLang="zh-CN" sz="1200" b="1" dirty="0">
              <a:solidFill>
                <a:schemeClr val="bg1"/>
              </a:solidFill>
              <a:latin typeface="微软雅黑" charset="0"/>
              <a:ea typeface="微软雅黑" charset="0"/>
              <a:sym typeface="+mn-ea"/>
            </a:endParaRPr>
          </a:p>
        </p:txBody>
      </p:sp>
      <p:cxnSp>
        <p:nvCxnSpPr>
          <p:cNvPr id="20" name="直接箭头连接符 189"/>
          <p:cNvCxnSpPr/>
          <p:nvPr>
            <p:custDataLst>
              <p:tags r:id="rId67"/>
            </p:custDataLst>
          </p:nvPr>
        </p:nvCxnSpPr>
        <p:spPr>
          <a:xfrm flipH="1">
            <a:off x="8479119" y="4802612"/>
            <a:ext cx="1628081" cy="0"/>
          </a:xfrm>
          <a:prstGeom prst="straightConnector1">
            <a:avLst/>
          </a:prstGeom>
          <a:ln w="12700" cap="flat" cmpd="sng" algn="ctr">
            <a:solidFill>
              <a:srgbClr val="0070C0"/>
            </a:solidFill>
            <a:prstDash val="dash"/>
            <a:miter lim="800000"/>
            <a:headEnd type="none" w="med" len="med"/>
            <a:tailEnd type="triangle" w="med" len="med"/>
          </a:ln>
        </p:spPr>
        <p:style>
          <a:lnRef idx="0">
            <a:schemeClr val="accent1"/>
          </a:lnRef>
          <a:fillRef idx="0">
            <a:srgbClr val="FFFFFF"/>
          </a:fillRef>
          <a:effectRef idx="0">
            <a:srgbClr val="FFFFFF"/>
          </a:effectRef>
          <a:fontRef idx="minor">
            <a:schemeClr val="tx1"/>
          </a:fontRef>
        </p:style>
      </p:cxnSp>
      <p:sp>
        <p:nvSpPr>
          <p:cNvPr id="19" name="文本框 18"/>
          <p:cNvSpPr txBox="1"/>
          <p:nvPr>
            <p:custDataLst>
              <p:tags r:id="rId68"/>
            </p:custDataLst>
          </p:nvPr>
        </p:nvSpPr>
        <p:spPr>
          <a:xfrm>
            <a:off x="8777805" y="4617141"/>
            <a:ext cx="988258" cy="337185"/>
          </a:xfrm>
          <a:prstGeom prst="rect">
            <a:avLst/>
          </a:prstGeom>
          <a:solidFill>
            <a:schemeClr val="bg1"/>
          </a:solidFill>
          <a:ln>
            <a:solidFill>
              <a:srgbClr val="0070C0"/>
            </a:solidFill>
            <a:prstDash val="dash"/>
          </a:ln>
        </p:spPr>
        <p:txBody>
          <a:bodyPr wrap="square" rtlCol="0">
            <a:spAutoFit/>
          </a:bodyPr>
          <a:lstStyle/>
          <a:p>
            <a:pPr algn="ctr"/>
            <a:r>
              <a:rPr lang="zh-CN" altLang="en-US" sz="800" dirty="0">
                <a:solidFill>
                  <a:schemeClr val="tx1"/>
                </a:solidFill>
                <a:latin typeface="微软雅黑" charset="0"/>
                <a:ea typeface="微软雅黑" charset="0"/>
                <a:cs typeface="微软雅黑" charset="0"/>
                <a:sym typeface="+mn-ea"/>
              </a:rPr>
              <a:t>商机</a:t>
            </a:r>
            <a:r>
              <a:rPr lang="en-US" altLang="zh-CN" sz="800" dirty="0">
                <a:solidFill>
                  <a:schemeClr val="tx1"/>
                </a:solidFill>
                <a:latin typeface="微软雅黑" charset="0"/>
                <a:ea typeface="微软雅黑" charset="0"/>
                <a:cs typeface="微软雅黑" charset="0"/>
                <a:sym typeface="+mn-ea"/>
              </a:rPr>
              <a:t>/</a:t>
            </a:r>
            <a:r>
              <a:rPr lang="zh-CN" altLang="en-US" sz="800" dirty="0">
                <a:solidFill>
                  <a:schemeClr val="tx1"/>
                </a:solidFill>
                <a:latin typeface="微软雅黑" charset="0"/>
                <a:ea typeface="微软雅黑" charset="0"/>
                <a:cs typeface="微软雅黑" charset="0"/>
                <a:sym typeface="+mn-ea"/>
              </a:rPr>
              <a:t>意向数据</a:t>
            </a:r>
            <a:endParaRPr lang="zh-CN" altLang="en-US" sz="800" dirty="0">
              <a:solidFill>
                <a:schemeClr val="tx1"/>
              </a:solidFill>
              <a:latin typeface="微软雅黑" charset="0"/>
              <a:ea typeface="微软雅黑" charset="0"/>
              <a:cs typeface="微软雅黑" charset="0"/>
              <a:sym typeface="+mn-ea"/>
            </a:endParaRPr>
          </a:p>
          <a:p>
            <a:pPr algn="ctr"/>
            <a:r>
              <a:rPr lang="zh-CN" altLang="en-US" sz="800" dirty="0">
                <a:solidFill>
                  <a:schemeClr val="tx1"/>
                </a:solidFill>
                <a:latin typeface="微软雅黑" charset="0"/>
                <a:ea typeface="微软雅黑" charset="0"/>
                <a:cs typeface="微软雅黑" charset="0"/>
                <a:sym typeface="+mn-ea"/>
              </a:rPr>
              <a:t>客户标签数据</a:t>
            </a:r>
            <a:endParaRPr lang="zh-CN" altLang="en-US" sz="800" dirty="0">
              <a:solidFill>
                <a:schemeClr val="tx1"/>
              </a:solidFill>
              <a:latin typeface="微软雅黑" charset="0"/>
              <a:ea typeface="微软雅黑" charset="0"/>
              <a:cs typeface="微软雅黑" charset="0"/>
              <a:sym typeface="+mn-ea"/>
            </a:endParaRPr>
          </a:p>
        </p:txBody>
      </p:sp>
      <p:sp>
        <p:nvSpPr>
          <p:cNvPr id="3" name="文本框 2"/>
          <p:cNvSpPr txBox="1"/>
          <p:nvPr>
            <p:custDataLst>
              <p:tags r:id="rId69"/>
            </p:custDataLst>
          </p:nvPr>
        </p:nvSpPr>
        <p:spPr>
          <a:xfrm>
            <a:off x="4872355" y="5897880"/>
            <a:ext cx="1064260" cy="18288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客户基础数据同步</a:t>
            </a:r>
            <a:endParaRPr lang="zh-CN" altLang="en-US" sz="800" dirty="0">
              <a:solidFill>
                <a:schemeClr val="tx1"/>
              </a:solidFill>
              <a:latin typeface="微软雅黑" charset="0"/>
              <a:ea typeface="微软雅黑" charset="0"/>
              <a:sym typeface="+mn-ea"/>
            </a:endParaRPr>
          </a:p>
        </p:txBody>
      </p:sp>
      <p:cxnSp>
        <p:nvCxnSpPr>
          <p:cNvPr id="5" name="直接箭头连接符 189"/>
          <p:cNvCxnSpPr/>
          <p:nvPr>
            <p:custDataLst>
              <p:tags r:id="rId70"/>
            </p:custDataLst>
          </p:nvPr>
        </p:nvCxnSpPr>
        <p:spPr>
          <a:xfrm flipV="1">
            <a:off x="6994202" y="5771515"/>
            <a:ext cx="0" cy="582295"/>
          </a:xfrm>
          <a:prstGeom prst="straightConnector1">
            <a:avLst/>
          </a:prstGeom>
          <a:ln w="12700" cap="flat" cmpd="sng" algn="ctr">
            <a:solidFill>
              <a:srgbClr val="0070C0"/>
            </a:solidFill>
            <a:prstDash val="dash"/>
            <a:miter lim="800000"/>
            <a:tailEnd type="triangle" w="med" len="med"/>
          </a:ln>
        </p:spPr>
        <p:style>
          <a:lnRef idx="0">
            <a:schemeClr val="accent1"/>
          </a:lnRef>
          <a:fillRef idx="0">
            <a:srgbClr val="FFFFFF"/>
          </a:fillRef>
          <a:effectRef idx="0">
            <a:srgbClr val="FFFFFF"/>
          </a:effectRef>
          <a:fontRef idx="minor">
            <a:schemeClr val="tx1"/>
          </a:fontRef>
        </p:style>
      </p:cxnSp>
      <p:sp>
        <p:nvSpPr>
          <p:cNvPr id="6" name="文本框 5"/>
          <p:cNvSpPr txBox="1"/>
          <p:nvPr>
            <p:custDataLst>
              <p:tags r:id="rId71"/>
            </p:custDataLst>
          </p:nvPr>
        </p:nvSpPr>
        <p:spPr>
          <a:xfrm>
            <a:off x="6359525" y="5897880"/>
            <a:ext cx="1369060" cy="198120"/>
          </a:xfrm>
          <a:prstGeom prst="rect">
            <a:avLst/>
          </a:prstGeom>
          <a:solidFill>
            <a:schemeClr val="bg1"/>
          </a:solidFill>
          <a:ln>
            <a:solidFill>
              <a:srgbClr val="0070C0"/>
            </a:solidFill>
            <a:prstDash val="dash"/>
          </a:ln>
        </p:spPr>
        <p:txBody>
          <a:bodyPr wrap="square" rtlCol="0">
            <a:noAutofit/>
          </a:bodyPr>
          <a:lstStyle/>
          <a:p>
            <a:pPr algn="ctr"/>
            <a:r>
              <a:rPr lang="zh-CN" altLang="en-US" sz="800" dirty="0">
                <a:solidFill>
                  <a:schemeClr val="tx1"/>
                </a:solidFill>
                <a:latin typeface="微软雅黑" charset="0"/>
                <a:ea typeface="微软雅黑" charset="0"/>
                <a:sym typeface="+mn-ea"/>
              </a:rPr>
              <a:t>客户数据变更</a:t>
            </a:r>
            <a:r>
              <a:rPr lang="en-US" altLang="zh-CN" sz="800" dirty="0">
                <a:solidFill>
                  <a:schemeClr val="tx1"/>
                </a:solidFill>
                <a:latin typeface="微软雅黑" charset="0"/>
                <a:ea typeface="微软雅黑" charset="0"/>
                <a:sym typeface="+mn-ea"/>
              </a:rPr>
              <a:t>，</a:t>
            </a:r>
            <a:r>
              <a:rPr lang="zh-CN" altLang="en-US" sz="800" dirty="0">
                <a:solidFill>
                  <a:schemeClr val="tx1"/>
                </a:solidFill>
                <a:latin typeface="微软雅黑" charset="0"/>
                <a:ea typeface="微软雅黑" charset="0"/>
                <a:sym typeface="+mn-ea"/>
              </a:rPr>
              <a:t>标签信息</a:t>
            </a:r>
            <a:endParaRPr lang="zh-CN" altLang="en-US" sz="800" dirty="0">
              <a:solidFill>
                <a:schemeClr val="tx1"/>
              </a:solidFill>
              <a:latin typeface="微软雅黑" charset="0"/>
              <a:ea typeface="微软雅黑"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会员积分</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客户数据功能架构</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
        <p:nvSpPr>
          <p:cNvPr id="97" name="矩形 96"/>
          <p:cNvSpPr/>
          <p:nvPr>
            <p:custDataLst>
              <p:tags r:id="rId1"/>
            </p:custDataLst>
          </p:nvPr>
        </p:nvSpPr>
        <p:spPr>
          <a:xfrm>
            <a:off x="8468930" y="1401678"/>
            <a:ext cx="3171190" cy="360000"/>
          </a:xfrm>
          <a:prstGeom prst="rect">
            <a:avLst/>
          </a:prstGeom>
          <a:noFill/>
          <a:ln w="6350" cmpd="sng">
            <a:solidFill>
              <a:srgbClr val="C4E1F2"/>
            </a:solidFill>
            <a:prstDash val="lgDash"/>
            <a:round/>
          </a:ln>
          <a:extLst>
            <a:ext uri="{909E8E84-426E-40DD-AFC4-6F175D3DCCD1}">
              <a14:hiddenFill xmlns:a14="http://schemas.microsoft.com/office/drawing/2010/main">
                <a:solidFill>
                  <a:srgbClr val="C4E1F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8" name="矩形 97"/>
          <p:cNvSpPr/>
          <p:nvPr>
            <p:custDataLst>
              <p:tags r:id="rId2"/>
            </p:custDataLst>
          </p:nvPr>
        </p:nvSpPr>
        <p:spPr>
          <a:xfrm>
            <a:off x="495870" y="1809115"/>
            <a:ext cx="11156950" cy="4407535"/>
          </a:xfrm>
          <a:prstGeom prst="rect">
            <a:avLst/>
          </a:prstGeom>
          <a:ln>
            <a:solidFill>
              <a:srgbClr val="C4E1F2"/>
            </a:solidFill>
            <a:prstDash val="dash"/>
          </a:ln>
        </p:spPr>
        <p:style>
          <a:lnRef idx="2">
            <a:schemeClr val="accent1"/>
          </a:lnRef>
          <a:fillRef idx="0">
            <a:srgbClr val="FFFFFF"/>
          </a:fillRef>
          <a:effectRef idx="0">
            <a:srgbClr val="FFFFFF"/>
          </a:effectRef>
          <a:fontRef idx="minor">
            <a:schemeClr val="dk1"/>
          </a:fontRef>
        </p:style>
        <p:txBody>
          <a:bodyPr rtlCol="0" anchor="ctr"/>
          <a:lstStyle/>
          <a:p>
            <a:pPr algn="ctr"/>
            <a:endParaRPr lang="en-US" altLang="zh-CN" sz="1600"/>
          </a:p>
        </p:txBody>
      </p:sp>
      <p:sp>
        <p:nvSpPr>
          <p:cNvPr id="99" name="圆角矩形 98"/>
          <p:cNvSpPr/>
          <p:nvPr>
            <p:custDataLst>
              <p:tags r:id="rId3"/>
            </p:custDataLst>
          </p:nvPr>
        </p:nvSpPr>
        <p:spPr>
          <a:xfrm>
            <a:off x="1014665" y="2841625"/>
            <a:ext cx="10224000" cy="2988310"/>
          </a:xfrm>
          <a:prstGeom prst="roundRect">
            <a:avLst>
              <a:gd name="adj" fmla="val 0"/>
            </a:avLst>
          </a:prstGeom>
          <a:noFill/>
          <a:ln w="6350">
            <a:solidFill>
              <a:srgbClr val="C4E1F2"/>
            </a:solidFill>
            <a:prstDash val="lgDash"/>
          </a:ln>
          <a:extLst>
            <a:ext uri="{909E8E84-426E-40DD-AFC4-6F175D3DCCD1}">
              <a14:hiddenFill xmlns:a14="http://schemas.microsoft.com/office/drawing/2010/main">
                <a:solidFill>
                  <a:srgbClr val="F0F8FD"/>
                </a:solidFill>
              </a14:hiddenFill>
            </a:ext>
          </a:extLst>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0" name="矩形 99"/>
          <p:cNvSpPr/>
          <p:nvPr>
            <p:custDataLst>
              <p:tags r:id="rId4"/>
            </p:custDataLst>
          </p:nvPr>
        </p:nvSpPr>
        <p:spPr>
          <a:xfrm>
            <a:off x="1673795" y="2925445"/>
            <a:ext cx="3564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101" name="矩形 100"/>
          <p:cNvSpPr/>
          <p:nvPr>
            <p:custDataLst>
              <p:tags r:id="rId5"/>
            </p:custDataLst>
          </p:nvPr>
        </p:nvSpPr>
        <p:spPr>
          <a:xfrm>
            <a:off x="1014030" y="5807710"/>
            <a:ext cx="10548620" cy="360000"/>
          </a:xfrm>
          <a:prstGeom prst="rect">
            <a:avLst/>
          </a:prstGeom>
          <a:solidFill>
            <a:srgbClr val="C4E1F2"/>
          </a:solidFill>
          <a:ln w="9525">
            <a:solidFill>
              <a:srgbClr val="000000">
                <a:alpha val="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b="1"/>
          </a:p>
        </p:txBody>
      </p:sp>
      <p:sp>
        <p:nvSpPr>
          <p:cNvPr id="102" name="文本框 101"/>
          <p:cNvSpPr txBox="1"/>
          <p:nvPr>
            <p:custDataLst>
              <p:tags r:id="rId6"/>
            </p:custDataLst>
          </p:nvPr>
        </p:nvSpPr>
        <p:spPr>
          <a:xfrm>
            <a:off x="1091912" y="5849915"/>
            <a:ext cx="504000" cy="275590"/>
          </a:xfrm>
          <a:prstGeom prst="rect">
            <a:avLst/>
          </a:prstGeom>
          <a:noFill/>
          <a:ln>
            <a:solidFill>
              <a:srgbClr val="000000">
                <a:alpha val="0"/>
              </a:srgbClr>
            </a:solidFill>
          </a:ln>
        </p:spPr>
        <p:txBody>
          <a:bodyPr vert="horz" wrap="square" rtlCol="0">
            <a:sp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后台</a:t>
            </a:r>
            <a:endParaRPr lang="zh-CN" altLang="en-US" sz="1200">
              <a:solidFill>
                <a:srgbClr val="00449C"/>
              </a:solidFill>
              <a:latin typeface="微软雅黑" panose="020B0503020204020204" pitchFamily="34" charset="-122"/>
              <a:ea typeface="微软雅黑" panose="020B0503020204020204" pitchFamily="34" charset="-122"/>
            </a:endParaRPr>
          </a:p>
        </p:txBody>
      </p:sp>
      <p:sp>
        <p:nvSpPr>
          <p:cNvPr id="103" name="圆角矩形 102"/>
          <p:cNvSpPr/>
          <p:nvPr>
            <p:custDataLst>
              <p:tags r:id="rId7"/>
            </p:custDataLst>
          </p:nvPr>
        </p:nvSpPr>
        <p:spPr>
          <a:xfrm>
            <a:off x="1722690" y="3150235"/>
            <a:ext cx="2524125" cy="1115695"/>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4" name="文本框 103"/>
          <p:cNvSpPr txBox="1"/>
          <p:nvPr>
            <p:custDataLst>
              <p:tags r:id="rId8"/>
            </p:custDataLst>
          </p:nvPr>
        </p:nvSpPr>
        <p:spPr>
          <a:xfrm>
            <a:off x="2903640" y="2925445"/>
            <a:ext cx="125984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会员中心</a:t>
            </a:r>
            <a:endParaRPr lang="zh-CN" altLang="en-US" sz="1000" b="1">
              <a:latin typeface="微软雅黑" panose="020B0503020204020204" pitchFamily="34" charset="-122"/>
              <a:ea typeface="微软雅黑" panose="020B0503020204020204" pitchFamily="34" charset="-122"/>
              <a:sym typeface="+mn-ea"/>
            </a:endParaRPr>
          </a:p>
        </p:txBody>
      </p:sp>
      <p:sp>
        <p:nvSpPr>
          <p:cNvPr id="105" name="圆角矩形 104"/>
          <p:cNvSpPr/>
          <p:nvPr>
            <p:custDataLst>
              <p:tags r:id="rId9"/>
            </p:custDataLst>
          </p:nvPr>
        </p:nvSpPr>
        <p:spPr>
          <a:xfrm>
            <a:off x="1755955"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 name="圆角矩形 2"/>
          <p:cNvSpPr/>
          <p:nvPr>
            <p:custDataLst>
              <p:tags r:id="rId10"/>
            </p:custDataLst>
          </p:nvPr>
        </p:nvSpPr>
        <p:spPr>
          <a:xfrm>
            <a:off x="1755955"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会员信息</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 name="圆角矩形 3"/>
          <p:cNvSpPr/>
          <p:nvPr>
            <p:custDataLst>
              <p:tags r:id="rId11"/>
            </p:custDataLst>
          </p:nvPr>
        </p:nvSpPr>
        <p:spPr>
          <a:xfrm>
            <a:off x="1755955"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会员认证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custDataLst>
              <p:tags r:id="rId12"/>
            </p:custDataLst>
          </p:nvPr>
        </p:nvSpPr>
        <p:spPr>
          <a:xfrm>
            <a:off x="2613278" y="3150235"/>
            <a:ext cx="742950" cy="216000"/>
          </a:xfrm>
          <a:prstGeom prst="rect">
            <a:avLst/>
          </a:prstGeom>
          <a:noFill/>
          <a:ln>
            <a:noFill/>
          </a:ln>
        </p:spPr>
        <p:txBody>
          <a:bodyPr wrap="square" rtlCol="0" anchor="t">
            <a:noAutofit/>
          </a:bodyPr>
          <a:lstStyle/>
          <a:p>
            <a:pPr algn="ctr"/>
            <a:r>
              <a:rPr lang="zh-CN" altLang="en-US" sz="900" b="1">
                <a:latin typeface="微软雅黑" panose="020B0503020204020204" pitchFamily="34" charset="-122"/>
                <a:ea typeface="微软雅黑" panose="020B0503020204020204" pitchFamily="34" charset="-122"/>
                <a:sym typeface="+mn-ea"/>
              </a:rPr>
              <a:t>会员管理</a:t>
            </a:r>
            <a:endParaRPr lang="zh-CN" altLang="en-US" sz="900" b="1">
              <a:latin typeface="微软雅黑" panose="020B0503020204020204" pitchFamily="34" charset="-122"/>
              <a:ea typeface="微软雅黑" panose="020B0503020204020204" pitchFamily="34" charset="-122"/>
              <a:sym typeface="+mn-ea"/>
            </a:endParaRPr>
          </a:p>
        </p:txBody>
      </p:sp>
      <p:sp>
        <p:nvSpPr>
          <p:cNvPr id="6" name="圆角矩形 5"/>
          <p:cNvSpPr/>
          <p:nvPr>
            <p:custDataLst>
              <p:tags r:id="rId13"/>
            </p:custDataLst>
          </p:nvPr>
        </p:nvSpPr>
        <p:spPr>
          <a:xfrm>
            <a:off x="2583955"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会员注册</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7" name="圆角矩形 6"/>
          <p:cNvSpPr/>
          <p:nvPr>
            <p:custDataLst>
              <p:tags r:id="rId14"/>
            </p:custDataLst>
          </p:nvPr>
        </p:nvSpPr>
        <p:spPr>
          <a:xfrm>
            <a:off x="2583955"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黑名单</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11" name="圆角矩形 110"/>
          <p:cNvSpPr/>
          <p:nvPr>
            <p:custDataLst>
              <p:tags r:id="rId15"/>
            </p:custDataLst>
          </p:nvPr>
        </p:nvSpPr>
        <p:spPr>
          <a:xfrm>
            <a:off x="2583955"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会员冻结</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8" name="圆角矩形 7"/>
          <p:cNvSpPr/>
          <p:nvPr>
            <p:custDataLst>
              <p:tags r:id="rId16"/>
            </p:custDataLst>
          </p:nvPr>
        </p:nvSpPr>
        <p:spPr>
          <a:xfrm>
            <a:off x="4282375"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13" name="圆角矩形 112"/>
          <p:cNvSpPr/>
          <p:nvPr>
            <p:custDataLst>
              <p:tags r:id="rId17"/>
            </p:custDataLst>
          </p:nvPr>
        </p:nvSpPr>
        <p:spPr>
          <a:xfrm>
            <a:off x="4336375"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等级管理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9" name="圆角矩形 8"/>
          <p:cNvSpPr/>
          <p:nvPr>
            <p:custDataLst>
              <p:tags r:id="rId18"/>
            </p:custDataLst>
          </p:nvPr>
        </p:nvSpPr>
        <p:spPr>
          <a:xfrm>
            <a:off x="4336375"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成长值管理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19"/>
            </p:custDataLst>
          </p:nvPr>
        </p:nvSpPr>
        <p:spPr>
          <a:xfrm>
            <a:off x="4363123" y="3150235"/>
            <a:ext cx="738505" cy="216000"/>
          </a:xfrm>
          <a:prstGeom prst="rect">
            <a:avLst/>
          </a:prstGeom>
          <a:noFill/>
          <a:ln>
            <a:noFill/>
          </a:ln>
        </p:spPr>
        <p:txBody>
          <a:bodyPr wrap="square" rtlCol="0" anchor="t">
            <a:noAutofit/>
          </a:bodyPr>
          <a:lstStyle/>
          <a:p>
            <a:pPr algn="ctr"/>
            <a:r>
              <a:rPr lang="zh-CN" altLang="en-US" sz="900" b="1">
                <a:latin typeface="微软雅黑" panose="020B0503020204020204" pitchFamily="34" charset="-122"/>
                <a:ea typeface="微软雅黑" panose="020B0503020204020204" pitchFamily="34" charset="-122"/>
                <a:sym typeface="+mn-ea"/>
              </a:rPr>
              <a:t>等级管理</a:t>
            </a:r>
            <a:endParaRPr lang="zh-CN" altLang="en-US" sz="900" b="1">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20"/>
            </p:custDataLst>
          </p:nvPr>
        </p:nvSpPr>
        <p:spPr>
          <a:xfrm>
            <a:off x="3408820"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2" name="圆角矩形 11"/>
          <p:cNvSpPr/>
          <p:nvPr>
            <p:custDataLst>
              <p:tags r:id="rId21"/>
            </p:custDataLst>
          </p:nvPr>
        </p:nvSpPr>
        <p:spPr>
          <a:xfrm>
            <a:off x="3408820"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白名单</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4" name="圆角矩形 13"/>
          <p:cNvSpPr/>
          <p:nvPr>
            <p:custDataLst>
              <p:tags r:id="rId22"/>
            </p:custDataLst>
          </p:nvPr>
        </p:nvSpPr>
        <p:spPr>
          <a:xfrm>
            <a:off x="3408820"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会员解冻</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custDataLst>
              <p:tags r:id="rId23"/>
            </p:custDataLst>
          </p:nvPr>
        </p:nvSpPr>
        <p:spPr>
          <a:xfrm>
            <a:off x="5280595" y="2924810"/>
            <a:ext cx="1044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18" name="矩形 17"/>
          <p:cNvSpPr/>
          <p:nvPr>
            <p:custDataLst>
              <p:tags r:id="rId24"/>
            </p:custDataLst>
          </p:nvPr>
        </p:nvSpPr>
        <p:spPr>
          <a:xfrm>
            <a:off x="6366445" y="2925445"/>
            <a:ext cx="2772000" cy="1403985"/>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9" name="文本框 18"/>
          <p:cNvSpPr txBox="1"/>
          <p:nvPr>
            <p:custDataLst>
              <p:tags r:id="rId25"/>
            </p:custDataLst>
          </p:nvPr>
        </p:nvSpPr>
        <p:spPr>
          <a:xfrm>
            <a:off x="7122525" y="2925445"/>
            <a:ext cx="125984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积分中心</a:t>
            </a:r>
            <a:endParaRPr lang="zh-CN" altLang="en-US" sz="1000" b="1">
              <a:latin typeface="微软雅黑" panose="020B0503020204020204" pitchFamily="34" charset="-122"/>
              <a:ea typeface="微软雅黑" panose="020B0503020204020204" pitchFamily="34" charset="-122"/>
              <a:sym typeface="+mn-ea"/>
            </a:endParaRPr>
          </a:p>
        </p:txBody>
      </p:sp>
      <p:sp>
        <p:nvSpPr>
          <p:cNvPr id="20" name="圆角矩形 19"/>
          <p:cNvSpPr/>
          <p:nvPr>
            <p:custDataLst>
              <p:tags r:id="rId26"/>
            </p:custDataLst>
          </p:nvPr>
        </p:nvSpPr>
        <p:spPr>
          <a:xfrm>
            <a:off x="6411530" y="3150235"/>
            <a:ext cx="1728000" cy="1115695"/>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custDataLst>
              <p:tags r:id="rId27"/>
            </p:custDataLst>
          </p:nvPr>
        </p:nvSpPr>
        <p:spPr>
          <a:xfrm>
            <a:off x="6471538"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积分账户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2" name="圆角矩形 21"/>
          <p:cNvSpPr/>
          <p:nvPr>
            <p:custDataLst>
              <p:tags r:id="rId28"/>
            </p:custDataLst>
          </p:nvPr>
        </p:nvSpPr>
        <p:spPr>
          <a:xfrm>
            <a:off x="7304023"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积分解冻</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3" name="文本框 22"/>
          <p:cNvSpPr txBox="1"/>
          <p:nvPr>
            <p:custDataLst>
              <p:tags r:id="rId29"/>
            </p:custDataLst>
          </p:nvPr>
        </p:nvSpPr>
        <p:spPr>
          <a:xfrm>
            <a:off x="6788167" y="3150235"/>
            <a:ext cx="974725"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积分管理</a:t>
            </a:r>
            <a:endParaRPr lang="zh-CN" altLang="en-US" sz="900" b="1">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30"/>
            </p:custDataLst>
          </p:nvPr>
        </p:nvSpPr>
        <p:spPr>
          <a:xfrm>
            <a:off x="6471538"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积分明细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 name="圆角矩形 24"/>
          <p:cNvSpPr/>
          <p:nvPr>
            <p:custDataLst>
              <p:tags r:id="rId31"/>
            </p:custDataLst>
          </p:nvPr>
        </p:nvSpPr>
        <p:spPr>
          <a:xfrm>
            <a:off x="7304023"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积分调整</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 name="圆角矩形 25"/>
          <p:cNvSpPr/>
          <p:nvPr>
            <p:custDataLst>
              <p:tags r:id="rId32"/>
            </p:custDataLst>
          </p:nvPr>
        </p:nvSpPr>
        <p:spPr>
          <a:xfrm>
            <a:off x="8182360"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 name="圆角矩形 26"/>
          <p:cNvSpPr/>
          <p:nvPr>
            <p:custDataLst>
              <p:tags r:id="rId33"/>
            </p:custDataLst>
          </p:nvPr>
        </p:nvSpPr>
        <p:spPr>
          <a:xfrm>
            <a:off x="8236360" y="3366135"/>
            <a:ext cx="792000" cy="25200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积分有效期</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 name="圆角矩形 27"/>
          <p:cNvSpPr/>
          <p:nvPr>
            <p:custDataLst>
              <p:tags r:id="rId34"/>
            </p:custDataLst>
          </p:nvPr>
        </p:nvSpPr>
        <p:spPr>
          <a:xfrm>
            <a:off x="8236360" y="3669570"/>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积分获取</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31" name="文本框 130"/>
          <p:cNvSpPr txBox="1"/>
          <p:nvPr>
            <p:custDataLst>
              <p:tags r:id="rId35"/>
            </p:custDataLst>
          </p:nvPr>
        </p:nvSpPr>
        <p:spPr>
          <a:xfrm>
            <a:off x="8270410" y="3150235"/>
            <a:ext cx="72390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积分规则</a:t>
            </a:r>
            <a:endParaRPr lang="zh-CN" altLang="en-US" sz="900" b="1">
              <a:latin typeface="微软雅黑" panose="020B0503020204020204" pitchFamily="34" charset="-122"/>
              <a:ea typeface="微软雅黑" panose="020B0503020204020204" pitchFamily="34" charset="-122"/>
              <a:sym typeface="+mn-ea"/>
            </a:endParaRPr>
          </a:p>
        </p:txBody>
      </p:sp>
      <p:sp>
        <p:nvSpPr>
          <p:cNvPr id="29" name="圆角矩形 28"/>
          <p:cNvSpPr/>
          <p:nvPr>
            <p:custDataLst>
              <p:tags r:id="rId36"/>
            </p:custDataLst>
          </p:nvPr>
        </p:nvSpPr>
        <p:spPr>
          <a:xfrm>
            <a:off x="8236360"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积分支出</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0" name="圆角矩形 29"/>
          <p:cNvSpPr/>
          <p:nvPr>
            <p:custDataLst>
              <p:tags r:id="rId37"/>
            </p:custDataLst>
          </p:nvPr>
        </p:nvSpPr>
        <p:spPr>
          <a:xfrm>
            <a:off x="5352595"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 name="圆角矩形 30"/>
          <p:cNvSpPr/>
          <p:nvPr>
            <p:custDataLst>
              <p:tags r:id="rId38"/>
            </p:custDataLst>
          </p:nvPr>
        </p:nvSpPr>
        <p:spPr>
          <a:xfrm>
            <a:off x="5406595"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等级权益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 name="圆角矩形 31"/>
          <p:cNvSpPr/>
          <p:nvPr>
            <p:custDataLst>
              <p:tags r:id="rId39"/>
            </p:custDataLst>
          </p:nvPr>
        </p:nvSpPr>
        <p:spPr>
          <a:xfrm>
            <a:off x="5406595"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身份权益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 name="文本框 33"/>
          <p:cNvSpPr txBox="1"/>
          <p:nvPr>
            <p:custDataLst>
              <p:tags r:id="rId40"/>
            </p:custDataLst>
          </p:nvPr>
        </p:nvSpPr>
        <p:spPr>
          <a:xfrm>
            <a:off x="5413340" y="3150235"/>
            <a:ext cx="77851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权益管理</a:t>
            </a:r>
            <a:endParaRPr lang="zh-CN" altLang="en-US" sz="900" b="1">
              <a:latin typeface="微软雅黑" panose="020B0503020204020204" pitchFamily="34" charset="-122"/>
              <a:ea typeface="微软雅黑" panose="020B0503020204020204" pitchFamily="34" charset="-122"/>
              <a:sym typeface="+mn-ea"/>
            </a:endParaRPr>
          </a:p>
        </p:txBody>
      </p:sp>
      <p:sp>
        <p:nvSpPr>
          <p:cNvPr id="35" name="矩形 34"/>
          <p:cNvSpPr/>
          <p:nvPr>
            <p:custDataLst>
              <p:tags r:id="rId41"/>
            </p:custDataLst>
          </p:nvPr>
        </p:nvSpPr>
        <p:spPr>
          <a:xfrm>
            <a:off x="1014030" y="1401678"/>
            <a:ext cx="7452000" cy="360000"/>
          </a:xfrm>
          <a:prstGeom prst="rect">
            <a:avLst/>
          </a:prstGeom>
          <a:solidFill>
            <a:srgbClr val="C4E1F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9" name="文本框 138"/>
          <p:cNvSpPr txBox="1"/>
          <p:nvPr>
            <p:custDataLst>
              <p:tags r:id="rId42"/>
            </p:custDataLst>
          </p:nvPr>
        </p:nvSpPr>
        <p:spPr>
          <a:xfrm>
            <a:off x="510316" y="1351490"/>
            <a:ext cx="504000" cy="460375"/>
          </a:xfrm>
          <a:prstGeom prst="rect">
            <a:avLst/>
          </a:prstGeom>
          <a:noFill/>
          <a:ln>
            <a:solidFill>
              <a:srgbClr val="000000">
                <a:alpha val="0"/>
              </a:srgbClr>
            </a:solidFill>
          </a:ln>
        </p:spPr>
        <p:txBody>
          <a:bodyPr vert="horz" wrap="square" rtlCol="0">
            <a:sp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面客渠道</a:t>
            </a:r>
            <a:endParaRPr lang="zh-CN" altLang="en-US" sz="1200">
              <a:solidFill>
                <a:srgbClr val="00449C"/>
              </a:solidFill>
              <a:latin typeface="微软雅黑" panose="020B0503020204020204" pitchFamily="34" charset="-122"/>
              <a:ea typeface="微软雅黑" panose="020B0503020204020204" pitchFamily="34" charset="-122"/>
            </a:endParaRPr>
          </a:p>
        </p:txBody>
      </p:sp>
      <p:pic>
        <p:nvPicPr>
          <p:cNvPr id="140" name="图片 139"/>
          <p:cNvPicPr>
            <a:picLocks noChangeAspect="1"/>
          </p:cNvPicPr>
          <p:nvPr>
            <p:custDataLst>
              <p:tags r:id="rId43"/>
            </p:custDataLst>
          </p:nvPr>
        </p:nvPicPr>
        <p:blipFill>
          <a:blip r:embed="rId44" cstate="print">
            <a:alphaModFix amt="70000"/>
            <a:extLst>
              <a:ext uri="{28A0092B-C50C-407E-A947-70E740481C1C}">
                <a14:useLocalDpi xmlns:a14="http://schemas.microsoft.com/office/drawing/2010/main" val="0"/>
              </a:ext>
            </a:extLst>
          </a:blip>
          <a:stretch>
            <a:fillRect/>
          </a:stretch>
        </p:blipFill>
        <p:spPr>
          <a:xfrm>
            <a:off x="10100245" y="1457298"/>
            <a:ext cx="252000" cy="248760"/>
          </a:xfrm>
          <a:prstGeom prst="rect">
            <a:avLst/>
          </a:prstGeom>
          <a:solidFill>
            <a:sysClr val="window" lastClr="FFFFFF"/>
          </a:solidFill>
          <a:ln>
            <a:noFill/>
          </a:ln>
        </p:spPr>
      </p:pic>
      <p:pic>
        <p:nvPicPr>
          <p:cNvPr id="141" name="图片 140"/>
          <p:cNvPicPr>
            <a:picLocks noChangeAspect="1"/>
          </p:cNvPicPr>
          <p:nvPr>
            <p:custDataLst>
              <p:tags r:id="rId45"/>
            </p:custDataLst>
          </p:nvPr>
        </p:nvPicPr>
        <p:blipFill>
          <a:blip r:embed="rId46"/>
          <a:stretch>
            <a:fillRect/>
          </a:stretch>
        </p:blipFill>
        <p:spPr>
          <a:xfrm>
            <a:off x="11181015" y="1455678"/>
            <a:ext cx="252000" cy="252000"/>
          </a:xfrm>
          <a:prstGeom prst="rect">
            <a:avLst/>
          </a:prstGeom>
        </p:spPr>
      </p:pic>
      <p:pic>
        <p:nvPicPr>
          <p:cNvPr id="36" name="图片 35"/>
          <p:cNvPicPr>
            <a:picLocks noChangeAspect="1"/>
          </p:cNvPicPr>
          <p:nvPr>
            <p:custDataLst>
              <p:tags r:id="rId47"/>
            </p:custDataLst>
          </p:nvPr>
        </p:nvPicPr>
        <p:blipFill>
          <a:blip r:embed="rId48"/>
          <a:stretch>
            <a:fillRect/>
          </a:stretch>
        </p:blipFill>
        <p:spPr>
          <a:xfrm>
            <a:off x="10645075" y="1455678"/>
            <a:ext cx="252000" cy="252000"/>
          </a:xfrm>
          <a:prstGeom prst="rect">
            <a:avLst/>
          </a:prstGeom>
        </p:spPr>
      </p:pic>
      <p:sp>
        <p:nvSpPr>
          <p:cNvPr id="143" name="圆角矩形 142"/>
          <p:cNvSpPr/>
          <p:nvPr>
            <p:custDataLst>
              <p:tags r:id="rId49"/>
            </p:custDataLst>
          </p:nvPr>
        </p:nvSpPr>
        <p:spPr>
          <a:xfrm>
            <a:off x="8641650" y="1455677"/>
            <a:ext cx="1260000" cy="252000"/>
          </a:xfrm>
          <a:prstGeom prst="roundRect">
            <a:avLst>
              <a:gd name="adj" fmla="val 0"/>
            </a:avLst>
          </a:prstGeom>
          <a:solidFill>
            <a:srgbClr val="018FD5"/>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bg1"/>
                </a:solidFill>
                <a:latin typeface="微软雅黑" panose="020B0503020204020204" pitchFamily="34" charset="-122"/>
                <a:ea typeface="微软雅黑" panose="020B0503020204020204" pitchFamily="34" charset="-122"/>
              </a:rPr>
              <a:t>三方应用平台</a:t>
            </a:r>
            <a:endParaRPr lang="zh-CN" altLang="en-US" sz="900">
              <a:solidFill>
                <a:schemeClr val="bg1"/>
              </a:solidFill>
              <a:latin typeface="微软雅黑" panose="020B0503020204020204" pitchFamily="34" charset="-122"/>
              <a:ea typeface="微软雅黑" panose="020B0503020204020204" pitchFamily="34" charset="-122"/>
            </a:endParaRPr>
          </a:p>
        </p:txBody>
      </p:sp>
      <p:sp>
        <p:nvSpPr>
          <p:cNvPr id="144" name="文本框 143"/>
          <p:cNvSpPr txBox="1"/>
          <p:nvPr>
            <p:custDataLst>
              <p:tags r:id="rId50"/>
            </p:custDataLst>
          </p:nvPr>
        </p:nvSpPr>
        <p:spPr>
          <a:xfrm>
            <a:off x="590231" y="3150235"/>
            <a:ext cx="344170" cy="2673985"/>
          </a:xfrm>
          <a:prstGeom prst="rect">
            <a:avLst/>
          </a:prstGeom>
          <a:noFill/>
        </p:spPr>
        <p:txBody>
          <a:bodyPr vert="eaVert" wrap="square" rtlCol="0" anchor="t">
            <a:noAutofit/>
          </a:bodyPr>
          <a:lstStyle/>
          <a:p>
            <a:pPr algn="ctr"/>
            <a:r>
              <a:rPr lang="zh-CN" altLang="en-US" sz="1600" kern="0" spc="90" dirty="0">
                <a:solidFill>
                  <a:srgbClr val="00449C">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智能客服平台</a:t>
            </a:r>
            <a:endParaRPr lang="zh-CN" altLang="en-US" sz="1600" kern="0" spc="90" dirty="0">
              <a:solidFill>
                <a:srgbClr val="00449C">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圆角矩形 36"/>
          <p:cNvSpPr/>
          <p:nvPr>
            <p:custDataLst>
              <p:tags r:id="rId51"/>
            </p:custDataLst>
          </p:nvPr>
        </p:nvSpPr>
        <p:spPr>
          <a:xfrm>
            <a:off x="1014030" y="1848485"/>
            <a:ext cx="10547985" cy="936000"/>
          </a:xfrm>
          <a:prstGeom prst="roundRect">
            <a:avLst>
              <a:gd name="adj" fmla="val 0"/>
            </a:avLst>
          </a:prstGeom>
          <a:solidFill>
            <a:srgbClr val="C4E1F2"/>
          </a:solidFill>
          <a:ln w="6350">
            <a:noFill/>
            <a:prstDash val="dash"/>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ln>
                <a:solidFill>
                  <a:schemeClr val="tx1"/>
                </a:solidFill>
                <a:prstDash val="dash"/>
              </a:ln>
              <a:solidFill>
                <a:srgbClr val="C4E1F2"/>
              </a:solidFill>
              <a:latin typeface="微软雅黑" panose="020B0503020204020204" pitchFamily="34" charset="-122"/>
              <a:ea typeface="微软雅黑" panose="020B0503020204020204" pitchFamily="34" charset="-122"/>
            </a:endParaRPr>
          </a:p>
        </p:txBody>
      </p:sp>
      <p:sp>
        <p:nvSpPr>
          <p:cNvPr id="38" name="圆角矩形 37"/>
          <p:cNvSpPr/>
          <p:nvPr>
            <p:custDataLst>
              <p:tags r:id="rId52"/>
            </p:custDataLst>
          </p:nvPr>
        </p:nvSpPr>
        <p:spPr>
          <a:xfrm>
            <a:off x="1615440" y="1911985"/>
            <a:ext cx="325183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9" name="文本框 38"/>
          <p:cNvSpPr txBox="1"/>
          <p:nvPr>
            <p:custDataLst>
              <p:tags r:id="rId53"/>
            </p:custDataLst>
          </p:nvPr>
        </p:nvSpPr>
        <p:spPr>
          <a:xfrm>
            <a:off x="2695193" y="1901190"/>
            <a:ext cx="1112520" cy="252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会员中心</a:t>
            </a:r>
            <a:endParaRPr lang="zh-CN" altLang="en-US" sz="1000" b="1">
              <a:latin typeface="微软雅黑" panose="020B0503020204020204" pitchFamily="34" charset="-122"/>
              <a:ea typeface="微软雅黑" panose="020B0503020204020204" pitchFamily="34" charset="-122"/>
              <a:sym typeface="+mn-ea"/>
            </a:endParaRPr>
          </a:p>
        </p:txBody>
      </p:sp>
      <p:sp>
        <p:nvSpPr>
          <p:cNvPr id="40" name="圆角矩形 39"/>
          <p:cNvSpPr/>
          <p:nvPr>
            <p:custDataLst>
              <p:tags r:id="rId54"/>
            </p:custDataLst>
          </p:nvPr>
        </p:nvSpPr>
        <p:spPr>
          <a:xfrm>
            <a:off x="276472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a:t>
            </a:r>
            <a:r>
              <a:rPr lang="zh-CN" altLang="en-US" sz="900">
                <a:solidFill>
                  <a:schemeClr val="tx1"/>
                </a:solidFill>
                <a:latin typeface="微软雅黑" panose="020B0503020204020204" pitchFamily="34" charset="-122"/>
                <a:ea typeface="微软雅黑" panose="020B0503020204020204" pitchFamily="34" charset="-122"/>
                <a:sym typeface="+mn-ea"/>
              </a:rPr>
              <a:t>信息</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2" name="圆角矩形 41"/>
          <p:cNvSpPr/>
          <p:nvPr>
            <p:custDataLst>
              <p:tags r:id="rId55"/>
            </p:custDataLst>
          </p:nvPr>
        </p:nvSpPr>
        <p:spPr>
          <a:xfrm>
            <a:off x="173602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会员认证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3" name="圆角矩形 42"/>
          <p:cNvSpPr/>
          <p:nvPr>
            <p:custDataLst>
              <p:tags r:id="rId56"/>
            </p:custDataLst>
          </p:nvPr>
        </p:nvSpPr>
        <p:spPr>
          <a:xfrm>
            <a:off x="379596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4" name="圆角矩形 43"/>
          <p:cNvSpPr/>
          <p:nvPr>
            <p:custDataLst>
              <p:tags r:id="rId57"/>
            </p:custDataLst>
          </p:nvPr>
        </p:nvSpPr>
        <p:spPr>
          <a:xfrm>
            <a:off x="4959985" y="1908810"/>
            <a:ext cx="226377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5" name="圆角矩形 44"/>
          <p:cNvSpPr/>
          <p:nvPr>
            <p:custDataLst>
              <p:tags r:id="rId58"/>
            </p:custDataLst>
          </p:nvPr>
        </p:nvSpPr>
        <p:spPr>
          <a:xfrm>
            <a:off x="5107250"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积分账户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6" name="圆角矩形 45"/>
          <p:cNvSpPr/>
          <p:nvPr>
            <p:custDataLst>
              <p:tags r:id="rId59"/>
            </p:custDataLst>
          </p:nvPr>
        </p:nvSpPr>
        <p:spPr>
          <a:xfrm>
            <a:off x="614039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积分有效期</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154" name="文本框 153"/>
          <p:cNvSpPr txBox="1"/>
          <p:nvPr>
            <p:custDataLst>
              <p:tags r:id="rId60"/>
            </p:custDataLst>
          </p:nvPr>
        </p:nvSpPr>
        <p:spPr>
          <a:xfrm>
            <a:off x="5702198" y="1901190"/>
            <a:ext cx="805815" cy="216000"/>
          </a:xfrm>
          <a:prstGeom prst="rect">
            <a:avLst/>
          </a:prstGeom>
          <a:noFill/>
          <a:ln>
            <a:solidFill>
              <a:srgbClr val="000000">
                <a:alpha val="0"/>
              </a:srgbClr>
            </a:solidFill>
          </a:ln>
          <a:extLst>
            <a:ext uri="{909E8E84-426E-40DD-AFC4-6F175D3DCCD1}">
              <a14:hiddenFill xmlns:a14="http://schemas.microsoft.com/office/drawing/2010/main">
                <a:solidFill>
                  <a:srgbClr val="F0F8FD"/>
                </a:solidFill>
              </a14:hiddenFill>
            </a:ext>
          </a:extLst>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积分中心</a:t>
            </a:r>
            <a:endParaRPr lang="zh-CN" altLang="en-US" sz="1000" b="1">
              <a:latin typeface="微软雅黑" panose="020B0503020204020204" pitchFamily="34" charset="-122"/>
              <a:ea typeface="微软雅黑" panose="020B0503020204020204" pitchFamily="34" charset="-122"/>
              <a:sym typeface="+mn-ea"/>
            </a:endParaRPr>
          </a:p>
        </p:txBody>
      </p:sp>
      <p:sp>
        <p:nvSpPr>
          <p:cNvPr id="47" name="圆角矩形 46"/>
          <p:cNvSpPr/>
          <p:nvPr>
            <p:custDataLst>
              <p:tags r:id="rId61"/>
            </p:custDataLst>
          </p:nvPr>
        </p:nvSpPr>
        <p:spPr>
          <a:xfrm>
            <a:off x="7374890" y="1908810"/>
            <a:ext cx="130238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8" name="圆角矩形 47"/>
          <p:cNvSpPr/>
          <p:nvPr>
            <p:custDataLst>
              <p:tags r:id="rId62"/>
            </p:custDataLst>
          </p:nvPr>
        </p:nvSpPr>
        <p:spPr>
          <a:xfrm>
            <a:off x="5107240"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积分明细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49" name="圆角矩形 48"/>
          <p:cNvSpPr/>
          <p:nvPr>
            <p:custDataLst>
              <p:tags r:id="rId63"/>
            </p:custDataLst>
          </p:nvPr>
        </p:nvSpPr>
        <p:spPr>
          <a:xfrm>
            <a:off x="752596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会员权益</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1" name="文本框 50"/>
          <p:cNvSpPr txBox="1"/>
          <p:nvPr>
            <p:custDataLst>
              <p:tags r:id="rId64"/>
            </p:custDataLst>
          </p:nvPr>
        </p:nvSpPr>
        <p:spPr>
          <a:xfrm>
            <a:off x="7484990" y="1911985"/>
            <a:ext cx="111252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权益中心</a:t>
            </a:r>
            <a:endParaRPr lang="zh-CN" altLang="en-US" sz="1000" b="1">
              <a:latin typeface="微软雅黑" panose="020B0503020204020204" pitchFamily="34" charset="-122"/>
              <a:ea typeface="微软雅黑" panose="020B0503020204020204" pitchFamily="34" charset="-122"/>
              <a:sym typeface="+mn-ea"/>
            </a:endParaRPr>
          </a:p>
        </p:txBody>
      </p:sp>
      <p:sp>
        <p:nvSpPr>
          <p:cNvPr id="52" name="圆角矩形 51"/>
          <p:cNvSpPr/>
          <p:nvPr>
            <p:custDataLst>
              <p:tags r:id="rId65"/>
            </p:custDataLst>
          </p:nvPr>
        </p:nvSpPr>
        <p:spPr>
          <a:xfrm>
            <a:off x="752596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权益兑换</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5" name="圆角矩形 54"/>
          <p:cNvSpPr/>
          <p:nvPr>
            <p:custDataLst>
              <p:tags r:id="rId66"/>
            </p:custDataLst>
          </p:nvPr>
        </p:nvSpPr>
        <p:spPr>
          <a:xfrm>
            <a:off x="10205720" y="1898015"/>
            <a:ext cx="1249045"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rgbClr val="EBF4EA"/>
              </a:solidFill>
              <a:latin typeface="微软雅黑" panose="020B0503020204020204" pitchFamily="34" charset="-122"/>
              <a:ea typeface="微软雅黑" panose="020B0503020204020204" pitchFamily="34" charset="-122"/>
            </a:endParaRPr>
          </a:p>
        </p:txBody>
      </p:sp>
      <p:sp>
        <p:nvSpPr>
          <p:cNvPr id="252" name="圆角矩形 251"/>
          <p:cNvSpPr/>
          <p:nvPr>
            <p:custDataLst>
              <p:tags r:id="rId67"/>
            </p:custDataLst>
          </p:nvPr>
        </p:nvSpPr>
        <p:spPr>
          <a:xfrm>
            <a:off x="10339115" y="212852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券领取</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3" name="文本框 252"/>
          <p:cNvSpPr txBox="1"/>
          <p:nvPr>
            <p:custDataLst>
              <p:tags r:id="rId68"/>
            </p:custDataLst>
          </p:nvPr>
        </p:nvSpPr>
        <p:spPr>
          <a:xfrm>
            <a:off x="10487930" y="1900555"/>
            <a:ext cx="67437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券中心</a:t>
            </a:r>
            <a:endParaRPr lang="zh-CN" altLang="en-US" sz="1000" b="1">
              <a:latin typeface="微软雅黑" panose="020B0503020204020204" pitchFamily="34" charset="-122"/>
              <a:ea typeface="微软雅黑" panose="020B0503020204020204" pitchFamily="34" charset="-122"/>
              <a:sym typeface="+mn-ea"/>
            </a:endParaRPr>
          </a:p>
        </p:txBody>
      </p:sp>
      <p:sp>
        <p:nvSpPr>
          <p:cNvPr id="254" name="圆角矩形 253"/>
          <p:cNvSpPr/>
          <p:nvPr>
            <p:custDataLst>
              <p:tags r:id="rId69"/>
            </p:custDataLst>
          </p:nvPr>
        </p:nvSpPr>
        <p:spPr>
          <a:xfrm>
            <a:off x="10339115" y="242506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券核销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5" name="文本框 254"/>
          <p:cNvSpPr txBox="1"/>
          <p:nvPr>
            <p:custDataLst>
              <p:tags r:id="rId70"/>
            </p:custDataLst>
          </p:nvPr>
        </p:nvSpPr>
        <p:spPr>
          <a:xfrm>
            <a:off x="1014030" y="2104395"/>
            <a:ext cx="659765" cy="424180"/>
          </a:xfrm>
          <a:prstGeom prst="rect">
            <a:avLst/>
          </a:prstGeom>
          <a:noFill/>
          <a:ln>
            <a:solidFill>
              <a:srgbClr val="000000">
                <a:alpha val="0"/>
              </a:srgbClr>
            </a:solidFill>
          </a:ln>
        </p:spPr>
        <p:txBody>
          <a:bodyPr vert="horz" wrap="square" rtlCol="0">
            <a:no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客户</a:t>
            </a:r>
            <a:endParaRPr lang="zh-CN" altLang="en-US" sz="1200">
              <a:solidFill>
                <a:srgbClr val="00449C"/>
              </a:solidFill>
              <a:latin typeface="微软雅黑" panose="020B0503020204020204" pitchFamily="34" charset="-122"/>
              <a:ea typeface="微软雅黑" panose="020B0503020204020204" pitchFamily="34" charset="-122"/>
            </a:endParaRPr>
          </a:p>
          <a:p>
            <a:pPr algn="ctr"/>
            <a:r>
              <a:rPr lang="zh-CN" altLang="en-US" sz="1200">
                <a:solidFill>
                  <a:srgbClr val="00449C"/>
                </a:solidFill>
                <a:latin typeface="微软雅黑" panose="020B0503020204020204" pitchFamily="34" charset="-122"/>
                <a:ea typeface="微软雅黑" panose="020B0503020204020204" pitchFamily="34" charset="-122"/>
              </a:rPr>
              <a:t>端应用</a:t>
            </a:r>
            <a:endParaRPr lang="en-US" altLang="zh-CN" sz="1200">
              <a:solidFill>
                <a:srgbClr val="00449C"/>
              </a:solidFill>
              <a:latin typeface="微软雅黑" panose="020B0503020204020204" pitchFamily="34" charset="-122"/>
              <a:ea typeface="微软雅黑" panose="020B0503020204020204" pitchFamily="34" charset="-122"/>
            </a:endParaRPr>
          </a:p>
        </p:txBody>
      </p:sp>
      <p:sp>
        <p:nvSpPr>
          <p:cNvPr id="256" name="文本框 255"/>
          <p:cNvSpPr txBox="1"/>
          <p:nvPr>
            <p:custDataLst>
              <p:tags r:id="rId71"/>
            </p:custDataLst>
          </p:nvPr>
        </p:nvSpPr>
        <p:spPr>
          <a:xfrm>
            <a:off x="1072133" y="3253740"/>
            <a:ext cx="543560" cy="2466975"/>
          </a:xfrm>
          <a:prstGeom prst="rect">
            <a:avLst/>
          </a:prstGeom>
          <a:noFill/>
          <a:ln>
            <a:solidFill>
              <a:srgbClr val="000000">
                <a:alpha val="0"/>
              </a:srgbClr>
            </a:solidFill>
          </a:ln>
        </p:spPr>
        <p:txBody>
          <a:bodyPr vert="mongolianVert" wrap="square" rtlCol="0">
            <a:noAutofit/>
          </a:bodyPr>
          <a:lstStyle/>
          <a:p>
            <a:pPr algn="ctr"/>
            <a:r>
              <a:rPr lang="zh-CN" altLang="en-US" sz="1200">
                <a:solidFill>
                  <a:srgbClr val="00449C"/>
                </a:solidFill>
                <a:latin typeface="微软雅黑" panose="020B0503020204020204" pitchFamily="34" charset="-122"/>
                <a:ea typeface="微软雅黑" panose="020B0503020204020204" pitchFamily="34" charset="-122"/>
              </a:rPr>
              <a:t>中端应用</a:t>
            </a:r>
            <a:endParaRPr lang="zh-CN" altLang="en-US" sz="1200">
              <a:solidFill>
                <a:srgbClr val="00449C"/>
              </a:solidFill>
              <a:latin typeface="微软雅黑" panose="020B0503020204020204" pitchFamily="34" charset="-122"/>
              <a:ea typeface="微软雅黑" panose="020B0503020204020204" pitchFamily="34" charset="-122"/>
            </a:endParaRPr>
          </a:p>
          <a:p>
            <a:pPr algn="ctr"/>
            <a:r>
              <a:rPr lang="zh-CN" altLang="en-US" sz="1200">
                <a:solidFill>
                  <a:srgbClr val="00449C"/>
                </a:solidFill>
                <a:latin typeface="微软雅黑" panose="020B0503020204020204" pitchFamily="34" charset="-122"/>
                <a:ea typeface="微软雅黑" panose="020B0503020204020204" pitchFamily="34" charset="-122"/>
              </a:rPr>
              <a:t>（内部运营管理端）</a:t>
            </a:r>
            <a:endParaRPr lang="zh-CN" altLang="en-US" sz="1200">
              <a:solidFill>
                <a:srgbClr val="00449C"/>
              </a:solidFill>
              <a:latin typeface="微软雅黑" panose="020B0503020204020204" pitchFamily="34" charset="-122"/>
              <a:ea typeface="微软雅黑" panose="020B0503020204020204" pitchFamily="34" charset="-122"/>
            </a:endParaRPr>
          </a:p>
        </p:txBody>
      </p:sp>
      <p:sp>
        <p:nvSpPr>
          <p:cNvPr id="257" name="文本框 256"/>
          <p:cNvSpPr txBox="1"/>
          <p:nvPr>
            <p:custDataLst>
              <p:tags r:id="rId72"/>
            </p:custDataLst>
          </p:nvPr>
        </p:nvSpPr>
        <p:spPr>
          <a:xfrm>
            <a:off x="5391115" y="2925445"/>
            <a:ext cx="82296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权益中心</a:t>
            </a:r>
            <a:endParaRPr lang="zh-CN" altLang="en-US" sz="1000" b="1">
              <a:latin typeface="微软雅黑" panose="020B0503020204020204" pitchFamily="34" charset="-122"/>
              <a:ea typeface="微软雅黑" panose="020B0503020204020204" pitchFamily="34" charset="-122"/>
              <a:sym typeface="+mn-ea"/>
            </a:endParaRPr>
          </a:p>
        </p:txBody>
      </p:sp>
      <p:sp>
        <p:nvSpPr>
          <p:cNvPr id="258" name="圆角矩形 257"/>
          <p:cNvSpPr/>
          <p:nvPr>
            <p:custDataLst>
              <p:tags r:id="rId73"/>
            </p:custDataLst>
          </p:nvPr>
        </p:nvSpPr>
        <p:spPr>
          <a:xfrm>
            <a:off x="4336375" y="3972465"/>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成长值规则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59" name="圆角矩形 258"/>
          <p:cNvSpPr/>
          <p:nvPr>
            <p:custDataLst>
              <p:tags r:id="rId74"/>
            </p:custDataLst>
          </p:nvPr>
        </p:nvSpPr>
        <p:spPr>
          <a:xfrm>
            <a:off x="7304023"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积分冻结</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0" name="圆角矩形 259"/>
          <p:cNvSpPr/>
          <p:nvPr>
            <p:custDataLst>
              <p:tags r:id="rId75"/>
            </p:custDataLst>
          </p:nvPr>
        </p:nvSpPr>
        <p:spPr>
          <a:xfrm>
            <a:off x="6471538" y="3972465"/>
            <a:ext cx="792000" cy="251460"/>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积分查询</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1" name="圆角矩形 260"/>
          <p:cNvSpPr/>
          <p:nvPr>
            <p:custDataLst>
              <p:tags r:id="rId76"/>
            </p:custDataLst>
          </p:nvPr>
        </p:nvSpPr>
        <p:spPr>
          <a:xfrm>
            <a:off x="11276900" y="2841625"/>
            <a:ext cx="323850" cy="2931160"/>
          </a:xfrm>
          <a:prstGeom prst="roundRect">
            <a:avLst>
              <a:gd name="adj" fmla="val 0"/>
            </a:avLst>
          </a:prstGeom>
          <a:solidFill>
            <a:srgbClr val="018FD5"/>
          </a:solidFill>
          <a:ln w="635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chemeClr val="bg1"/>
                </a:solidFill>
                <a:latin typeface="微软雅黑" panose="020B0503020204020204" pitchFamily="34" charset="-122"/>
                <a:ea typeface="微软雅黑" panose="020B0503020204020204" pitchFamily="34" charset="-122"/>
                <a:sym typeface="+mn-ea"/>
              </a:rPr>
              <a:t>系统集成</a:t>
            </a:r>
            <a:endParaRPr lang="zh-CN" altLang="en-US" sz="1200" b="1">
              <a:solidFill>
                <a:schemeClr val="bg1"/>
              </a:solidFill>
              <a:latin typeface="微软雅黑" panose="020B0503020204020204" pitchFamily="34" charset="-122"/>
              <a:ea typeface="微软雅黑" panose="020B0503020204020204" pitchFamily="34" charset="-122"/>
              <a:sym typeface="+mn-ea"/>
            </a:endParaRPr>
          </a:p>
          <a:p>
            <a:pPr algn="ctr"/>
            <a:endParaRPr lang="zh-CN" altLang="en-US" sz="1200" b="1">
              <a:solidFill>
                <a:schemeClr val="bg1"/>
              </a:solidFill>
              <a:latin typeface="微软雅黑" panose="020B0503020204020204" pitchFamily="34" charset="-122"/>
              <a:ea typeface="微软雅黑" panose="020B0503020204020204" pitchFamily="34" charset="-122"/>
              <a:sym typeface="+mn-ea"/>
            </a:endParaRPr>
          </a:p>
        </p:txBody>
      </p:sp>
      <p:sp>
        <p:nvSpPr>
          <p:cNvPr id="262" name="圆角矩形 261"/>
          <p:cNvSpPr/>
          <p:nvPr>
            <p:custDataLst>
              <p:tags r:id="rId77"/>
            </p:custDataLst>
          </p:nvPr>
        </p:nvSpPr>
        <p:spPr>
          <a:xfrm>
            <a:off x="1673795" y="5861710"/>
            <a:ext cx="115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系统管理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3" name="圆角矩形 262"/>
          <p:cNvSpPr/>
          <p:nvPr>
            <p:custDataLst>
              <p:tags r:id="rId78"/>
            </p:custDataLst>
          </p:nvPr>
        </p:nvSpPr>
        <p:spPr>
          <a:xfrm>
            <a:off x="661420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规则引擎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4" name="圆角矩形 263"/>
          <p:cNvSpPr/>
          <p:nvPr>
            <p:custDataLst>
              <p:tags r:id="rId79"/>
            </p:custDataLst>
          </p:nvPr>
        </p:nvSpPr>
        <p:spPr>
          <a:xfrm>
            <a:off x="784928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数据引擎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5" name="圆角矩形 264"/>
          <p:cNvSpPr/>
          <p:nvPr>
            <p:custDataLst>
              <p:tags r:id="rId80"/>
            </p:custDataLst>
          </p:nvPr>
        </p:nvSpPr>
        <p:spPr>
          <a:xfrm>
            <a:off x="537913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权限管理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6" name="圆角矩形 265"/>
          <p:cNvSpPr/>
          <p:nvPr>
            <p:custDataLst>
              <p:tags r:id="rId81"/>
            </p:custDataLst>
          </p:nvPr>
        </p:nvSpPr>
        <p:spPr>
          <a:xfrm>
            <a:off x="908435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日志管理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7" name="圆角矩形 266"/>
          <p:cNvSpPr/>
          <p:nvPr>
            <p:custDataLst>
              <p:tags r:id="rId82"/>
            </p:custDataLst>
          </p:nvPr>
        </p:nvSpPr>
        <p:spPr>
          <a:xfrm>
            <a:off x="290898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组织管理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68" name="圆角矩形 267"/>
          <p:cNvSpPr/>
          <p:nvPr>
            <p:custDataLst>
              <p:tags r:id="rId83"/>
            </p:custDataLst>
          </p:nvPr>
        </p:nvSpPr>
        <p:spPr>
          <a:xfrm>
            <a:off x="2637725"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微信小程序</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269" name="圆角矩形 268"/>
          <p:cNvSpPr/>
          <p:nvPr>
            <p:custDataLst>
              <p:tags r:id="rId84"/>
            </p:custDataLst>
          </p:nvPr>
        </p:nvSpPr>
        <p:spPr>
          <a:xfrm>
            <a:off x="5582855"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线上商城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0" name="圆角矩形 269"/>
          <p:cNvSpPr/>
          <p:nvPr>
            <p:custDataLst>
              <p:tags r:id="rId85"/>
            </p:custDataLst>
          </p:nvPr>
        </p:nvSpPr>
        <p:spPr>
          <a:xfrm>
            <a:off x="705542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en-US" altLang="zh-CN" sz="900">
                <a:solidFill>
                  <a:schemeClr val="tx1"/>
                </a:solidFill>
                <a:latin typeface="微软雅黑" panose="020B0503020204020204" pitchFamily="34" charset="-122"/>
                <a:ea typeface="微软雅黑" panose="020B0503020204020204" pitchFamily="34" charset="-122"/>
              </a:rPr>
              <a:t>H5</a:t>
            </a:r>
            <a:r>
              <a:rPr lang="zh-CN" altLang="en-US" sz="900">
                <a:solidFill>
                  <a:schemeClr val="tx1"/>
                </a:solidFill>
                <a:latin typeface="微软雅黑" panose="020B0503020204020204" pitchFamily="34" charset="-122"/>
                <a:ea typeface="微软雅黑" panose="020B0503020204020204" pitchFamily="34" charset="-122"/>
              </a:rPr>
              <a:t>应用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1" name="圆角矩形 270"/>
          <p:cNvSpPr/>
          <p:nvPr>
            <p:custDataLst>
              <p:tags r:id="rId86"/>
            </p:custDataLst>
          </p:nvPr>
        </p:nvSpPr>
        <p:spPr>
          <a:xfrm>
            <a:off x="116516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手机</a:t>
            </a:r>
            <a:r>
              <a:rPr lang="en-US" altLang="zh-CN" sz="900">
                <a:solidFill>
                  <a:schemeClr val="tx1"/>
                </a:solidFill>
                <a:latin typeface="微软雅黑" panose="020B0503020204020204" pitchFamily="34" charset="-122"/>
                <a:ea typeface="微软雅黑" panose="020B0503020204020204" pitchFamily="34" charset="-122"/>
              </a:rPr>
              <a:t>APP</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2" name="圆角矩形 271"/>
          <p:cNvSpPr/>
          <p:nvPr>
            <p:custDataLst>
              <p:tags r:id="rId87"/>
            </p:custDataLst>
          </p:nvPr>
        </p:nvSpPr>
        <p:spPr>
          <a:xfrm>
            <a:off x="4110290" y="1455677"/>
            <a:ext cx="1259840" cy="252000"/>
          </a:xfrm>
          <a:prstGeom prst="roundRect">
            <a:avLst>
              <a:gd name="adj" fmla="val 0"/>
            </a:avLst>
          </a:prstGeom>
          <a:solidFill>
            <a:schemeClr val="bg1"/>
          </a:solidFill>
          <a:ln w="6350">
            <a:solidFill>
              <a:schemeClr val="tx1">
                <a:lumMod val="50000"/>
                <a:lumOff val="50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微信公众号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3" name="圆角矩形 272"/>
          <p:cNvSpPr/>
          <p:nvPr>
            <p:custDataLst>
              <p:tags r:id="rId88"/>
            </p:custDataLst>
          </p:nvPr>
        </p:nvSpPr>
        <p:spPr>
          <a:xfrm>
            <a:off x="6140385" y="2435860"/>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积分规则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4" name="矩形 273"/>
          <p:cNvSpPr/>
          <p:nvPr>
            <p:custDataLst>
              <p:tags r:id="rId89"/>
            </p:custDataLst>
          </p:nvPr>
        </p:nvSpPr>
        <p:spPr>
          <a:xfrm>
            <a:off x="9161040" y="2924810"/>
            <a:ext cx="1008000" cy="1404000"/>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75" name="圆角矩形 274"/>
          <p:cNvSpPr/>
          <p:nvPr>
            <p:custDataLst>
              <p:tags r:id="rId90"/>
            </p:custDataLst>
          </p:nvPr>
        </p:nvSpPr>
        <p:spPr>
          <a:xfrm>
            <a:off x="9215040" y="3150235"/>
            <a:ext cx="900000" cy="1116000"/>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6" name="圆角矩形 275"/>
          <p:cNvSpPr/>
          <p:nvPr>
            <p:custDataLst>
              <p:tags r:id="rId91"/>
            </p:custDataLst>
          </p:nvPr>
        </p:nvSpPr>
        <p:spPr>
          <a:xfrm>
            <a:off x="9269040" y="3366135"/>
            <a:ext cx="79200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活动创建</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7" name="圆角矩形 276"/>
          <p:cNvSpPr/>
          <p:nvPr>
            <p:custDataLst>
              <p:tags r:id="rId92"/>
            </p:custDataLst>
          </p:nvPr>
        </p:nvSpPr>
        <p:spPr>
          <a:xfrm>
            <a:off x="9269040" y="3669570"/>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活动推送</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8" name="圆角矩形 277"/>
          <p:cNvSpPr/>
          <p:nvPr>
            <p:custDataLst>
              <p:tags r:id="rId93"/>
            </p:custDataLst>
          </p:nvPr>
        </p:nvSpPr>
        <p:spPr>
          <a:xfrm>
            <a:off x="9269040" y="3972465"/>
            <a:ext cx="792000" cy="25146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活动数据</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79" name="文本框 278"/>
          <p:cNvSpPr txBox="1"/>
          <p:nvPr>
            <p:custDataLst>
              <p:tags r:id="rId94"/>
            </p:custDataLst>
          </p:nvPr>
        </p:nvSpPr>
        <p:spPr>
          <a:xfrm>
            <a:off x="9275785" y="3150235"/>
            <a:ext cx="778510" cy="229870"/>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活动管理</a:t>
            </a:r>
            <a:endParaRPr lang="zh-CN" altLang="en-US" sz="900" b="1">
              <a:latin typeface="微软雅黑" panose="020B0503020204020204" pitchFamily="34" charset="-122"/>
              <a:ea typeface="微软雅黑" panose="020B0503020204020204" pitchFamily="34" charset="-122"/>
              <a:sym typeface="+mn-ea"/>
            </a:endParaRPr>
          </a:p>
        </p:txBody>
      </p:sp>
      <p:sp>
        <p:nvSpPr>
          <p:cNvPr id="280" name="文本框 279"/>
          <p:cNvSpPr txBox="1"/>
          <p:nvPr>
            <p:custDataLst>
              <p:tags r:id="rId95"/>
            </p:custDataLst>
          </p:nvPr>
        </p:nvSpPr>
        <p:spPr>
          <a:xfrm>
            <a:off x="9305040" y="2925445"/>
            <a:ext cx="72000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活动中心</a:t>
            </a:r>
            <a:endParaRPr lang="zh-CN" altLang="en-US" sz="1000" b="1">
              <a:latin typeface="微软雅黑" panose="020B0503020204020204" pitchFamily="34" charset="-122"/>
              <a:ea typeface="微软雅黑" panose="020B0503020204020204" pitchFamily="34" charset="-122"/>
              <a:sym typeface="+mn-ea"/>
            </a:endParaRPr>
          </a:p>
        </p:txBody>
      </p:sp>
      <p:sp>
        <p:nvSpPr>
          <p:cNvPr id="281" name="圆角矩形 280"/>
          <p:cNvSpPr/>
          <p:nvPr>
            <p:custDataLst>
              <p:tags r:id="rId96"/>
            </p:custDataLst>
          </p:nvPr>
        </p:nvSpPr>
        <p:spPr>
          <a:xfrm>
            <a:off x="173602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会员注册</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2" name="圆角矩形 281"/>
          <p:cNvSpPr/>
          <p:nvPr>
            <p:custDataLst>
              <p:tags r:id="rId97"/>
            </p:custDataLst>
          </p:nvPr>
        </p:nvSpPr>
        <p:spPr>
          <a:xfrm>
            <a:off x="379597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会员等级</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3" name="圆角矩形 282"/>
          <p:cNvSpPr/>
          <p:nvPr>
            <p:custDataLst>
              <p:tags r:id="rId98"/>
            </p:custDataLst>
          </p:nvPr>
        </p:nvSpPr>
        <p:spPr>
          <a:xfrm>
            <a:off x="2764735" y="214058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会员成长值</a:t>
            </a:r>
            <a:endParaRPr lang="zh-CN" altLang="en-US" sz="900">
              <a:solidFill>
                <a:schemeClr val="tx1"/>
              </a:solidFill>
              <a:latin typeface="微软雅黑" panose="020B0503020204020204" pitchFamily="34" charset="-122"/>
              <a:ea typeface="微软雅黑" panose="020B0503020204020204" pitchFamily="34" charset="-122"/>
            </a:endParaRPr>
          </a:p>
        </p:txBody>
      </p:sp>
      <p:grpSp>
        <p:nvGrpSpPr>
          <p:cNvPr id="284" name="组合 283"/>
          <p:cNvGrpSpPr/>
          <p:nvPr/>
        </p:nvGrpSpPr>
        <p:grpSpPr>
          <a:xfrm>
            <a:off x="1673795" y="4369435"/>
            <a:ext cx="1007110" cy="1403350"/>
            <a:chOff x="2742" y="6130"/>
            <a:chExt cx="1586" cy="2210"/>
          </a:xfrm>
        </p:grpSpPr>
        <p:sp>
          <p:nvSpPr>
            <p:cNvPr id="285" name="矩形 284"/>
            <p:cNvSpPr/>
            <p:nvPr>
              <p:custDataLst>
                <p:tags r:id="rId99"/>
              </p:custDataLst>
            </p:nvPr>
          </p:nvSpPr>
          <p:spPr>
            <a:xfrm>
              <a:off x="2742" y="6130"/>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86" name="圆角矩形 285"/>
            <p:cNvSpPr/>
            <p:nvPr>
              <p:custDataLst>
                <p:tags r:id="rId100"/>
              </p:custDataLst>
            </p:nvPr>
          </p:nvSpPr>
          <p:spPr>
            <a:xfrm>
              <a:off x="2820" y="6485"/>
              <a:ext cx="1432"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7" name="圆角矩形 286"/>
            <p:cNvSpPr/>
            <p:nvPr>
              <p:custDataLst>
                <p:tags r:id="rId101"/>
              </p:custDataLst>
            </p:nvPr>
          </p:nvSpPr>
          <p:spPr>
            <a:xfrm>
              <a:off x="2912"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积分清结算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8" name="圆角矩形 287"/>
            <p:cNvSpPr/>
            <p:nvPr>
              <p:custDataLst>
                <p:tags r:id="rId102"/>
              </p:custDataLst>
            </p:nvPr>
          </p:nvSpPr>
          <p:spPr>
            <a:xfrm>
              <a:off x="2912"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券清结算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89" name="圆角矩形 288"/>
            <p:cNvSpPr/>
            <p:nvPr>
              <p:custDataLst>
                <p:tags r:id="rId103"/>
              </p:custDataLst>
            </p:nvPr>
          </p:nvSpPr>
          <p:spPr>
            <a:xfrm>
              <a:off x="2912" y="7780"/>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清结算规则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0" name="文本框 289"/>
            <p:cNvSpPr txBox="1"/>
            <p:nvPr>
              <p:custDataLst>
                <p:tags r:id="rId104"/>
              </p:custDataLst>
            </p:nvPr>
          </p:nvSpPr>
          <p:spPr>
            <a:xfrm>
              <a:off x="2923" y="6485"/>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清结算</a:t>
              </a:r>
              <a:endParaRPr lang="zh-CN" altLang="en-US" sz="900" b="1">
                <a:latin typeface="微软雅黑" panose="020B0503020204020204" pitchFamily="34" charset="-122"/>
                <a:ea typeface="微软雅黑" panose="020B0503020204020204" pitchFamily="34" charset="-122"/>
                <a:sym typeface="+mn-ea"/>
              </a:endParaRPr>
            </a:p>
          </p:txBody>
        </p:sp>
        <p:sp>
          <p:nvSpPr>
            <p:cNvPr id="291" name="文本框 290"/>
            <p:cNvSpPr txBox="1"/>
            <p:nvPr>
              <p:custDataLst>
                <p:tags r:id="rId105"/>
              </p:custDataLst>
            </p:nvPr>
          </p:nvSpPr>
          <p:spPr>
            <a:xfrm>
              <a:off x="2888" y="6131"/>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清结算</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292" name="组合 291"/>
          <p:cNvGrpSpPr/>
          <p:nvPr/>
        </p:nvGrpSpPr>
        <p:grpSpPr>
          <a:xfrm>
            <a:off x="10205655" y="2923540"/>
            <a:ext cx="1007745" cy="1403985"/>
            <a:chOff x="4374" y="6129"/>
            <a:chExt cx="1587" cy="2211"/>
          </a:xfrm>
        </p:grpSpPr>
        <p:sp>
          <p:nvSpPr>
            <p:cNvPr id="293" name="矩形 292"/>
            <p:cNvSpPr/>
            <p:nvPr>
              <p:custDataLst>
                <p:tags r:id="rId106"/>
              </p:custDataLst>
            </p:nvPr>
          </p:nvSpPr>
          <p:spPr>
            <a:xfrm>
              <a:off x="4374" y="6129"/>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294" name="圆角矩形 293"/>
            <p:cNvSpPr/>
            <p:nvPr>
              <p:custDataLst>
                <p:tags r:id="rId107"/>
              </p:custDataLst>
            </p:nvPr>
          </p:nvSpPr>
          <p:spPr>
            <a:xfrm>
              <a:off x="4459" y="6484"/>
              <a:ext cx="141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5" name="圆角矩形 294"/>
            <p:cNvSpPr/>
            <p:nvPr>
              <p:custDataLst>
                <p:tags r:id="rId108"/>
              </p:custDataLst>
            </p:nvPr>
          </p:nvSpPr>
          <p:spPr>
            <a:xfrm>
              <a:off x="4544" y="6824"/>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手动营销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6" name="圆角矩形 295"/>
            <p:cNvSpPr/>
            <p:nvPr>
              <p:custDataLst>
                <p:tags r:id="rId109"/>
              </p:custDataLst>
            </p:nvPr>
          </p:nvSpPr>
          <p:spPr>
            <a:xfrm>
              <a:off x="4544" y="7302"/>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自动化营销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7" name="圆角矩形 296"/>
            <p:cNvSpPr/>
            <p:nvPr>
              <p:custDataLst>
                <p:tags r:id="rId110"/>
              </p:custDataLst>
            </p:nvPr>
          </p:nvSpPr>
          <p:spPr>
            <a:xfrm>
              <a:off x="4544" y="7779"/>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风控规则</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298" name="文本框 297"/>
            <p:cNvSpPr txBox="1"/>
            <p:nvPr>
              <p:custDataLst>
                <p:tags r:id="rId111"/>
              </p:custDataLst>
            </p:nvPr>
          </p:nvSpPr>
          <p:spPr>
            <a:xfrm>
              <a:off x="4555" y="6484"/>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营销管理</a:t>
              </a:r>
              <a:endParaRPr lang="zh-CN" altLang="en-US" sz="900" b="1">
                <a:latin typeface="微软雅黑" panose="020B0503020204020204" pitchFamily="34" charset="-122"/>
                <a:ea typeface="微软雅黑" panose="020B0503020204020204" pitchFamily="34" charset="-122"/>
                <a:sym typeface="+mn-ea"/>
              </a:endParaRPr>
            </a:p>
          </p:txBody>
        </p:sp>
        <p:sp>
          <p:nvSpPr>
            <p:cNvPr id="299" name="文本框 298"/>
            <p:cNvSpPr txBox="1"/>
            <p:nvPr>
              <p:custDataLst>
                <p:tags r:id="rId112"/>
              </p:custDataLst>
            </p:nvPr>
          </p:nvSpPr>
          <p:spPr>
            <a:xfrm>
              <a:off x="4520" y="6130"/>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营销管理</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00" name="组合 299"/>
          <p:cNvGrpSpPr/>
          <p:nvPr/>
        </p:nvGrpSpPr>
        <p:grpSpPr>
          <a:xfrm>
            <a:off x="3740085" y="4369435"/>
            <a:ext cx="935990" cy="1403985"/>
            <a:chOff x="6016" y="6128"/>
            <a:chExt cx="1474" cy="2211"/>
          </a:xfrm>
        </p:grpSpPr>
        <p:sp>
          <p:nvSpPr>
            <p:cNvPr id="301" name="矩形 300"/>
            <p:cNvSpPr/>
            <p:nvPr>
              <p:custDataLst>
                <p:tags r:id="rId113"/>
              </p:custDataLst>
            </p:nvPr>
          </p:nvSpPr>
          <p:spPr>
            <a:xfrm>
              <a:off x="6016" y="6128"/>
              <a:ext cx="1474"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02" name="圆角矩形 301"/>
            <p:cNvSpPr/>
            <p:nvPr>
              <p:custDataLst>
                <p:tags r:id="rId114"/>
              </p:custDataLst>
            </p:nvPr>
          </p:nvSpPr>
          <p:spPr>
            <a:xfrm>
              <a:off x="6073" y="6483"/>
              <a:ext cx="1361"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03" name="圆角矩形 302"/>
            <p:cNvSpPr/>
            <p:nvPr>
              <p:custDataLst>
                <p:tags r:id="rId115"/>
              </p:custDataLst>
            </p:nvPr>
          </p:nvSpPr>
          <p:spPr>
            <a:xfrm>
              <a:off x="6130" y="6823"/>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会员风控</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4" name="圆角矩形 303"/>
            <p:cNvSpPr/>
            <p:nvPr>
              <p:custDataLst>
                <p:tags r:id="rId116"/>
              </p:custDataLst>
            </p:nvPr>
          </p:nvSpPr>
          <p:spPr>
            <a:xfrm>
              <a:off x="6130" y="7301"/>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积分风控</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5" name="圆角矩形 304"/>
            <p:cNvSpPr/>
            <p:nvPr>
              <p:custDataLst>
                <p:tags r:id="rId117"/>
              </p:custDataLst>
            </p:nvPr>
          </p:nvSpPr>
          <p:spPr>
            <a:xfrm>
              <a:off x="6130" y="7778"/>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风控规则</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06" name="文本框 305"/>
            <p:cNvSpPr txBox="1"/>
            <p:nvPr>
              <p:custDataLst>
                <p:tags r:id="rId118"/>
              </p:custDataLst>
            </p:nvPr>
          </p:nvSpPr>
          <p:spPr>
            <a:xfrm>
              <a:off x="6140" y="6483"/>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风控管理</a:t>
              </a:r>
              <a:endParaRPr lang="zh-CN" altLang="en-US" sz="900" b="1">
                <a:latin typeface="微软雅黑" panose="020B0503020204020204" pitchFamily="34" charset="-122"/>
                <a:ea typeface="微软雅黑" panose="020B0503020204020204" pitchFamily="34" charset="-122"/>
                <a:sym typeface="+mn-ea"/>
              </a:endParaRPr>
            </a:p>
          </p:txBody>
        </p:sp>
        <p:sp>
          <p:nvSpPr>
            <p:cNvPr id="307" name="文本框 306"/>
            <p:cNvSpPr txBox="1"/>
            <p:nvPr>
              <p:custDataLst>
                <p:tags r:id="rId119"/>
              </p:custDataLst>
            </p:nvPr>
          </p:nvSpPr>
          <p:spPr>
            <a:xfrm>
              <a:off x="6105" y="6129"/>
              <a:ext cx="1296"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风控管理</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08" name="组合 307"/>
          <p:cNvGrpSpPr/>
          <p:nvPr/>
        </p:nvGrpSpPr>
        <p:grpSpPr>
          <a:xfrm>
            <a:off x="4756085" y="4369435"/>
            <a:ext cx="2686685" cy="1403985"/>
            <a:chOff x="8012" y="6131"/>
            <a:chExt cx="4231" cy="2211"/>
          </a:xfrm>
        </p:grpSpPr>
        <p:sp>
          <p:nvSpPr>
            <p:cNvPr id="309" name="矩形 308"/>
            <p:cNvSpPr/>
            <p:nvPr>
              <p:custDataLst>
                <p:tags r:id="rId120"/>
              </p:custDataLst>
            </p:nvPr>
          </p:nvSpPr>
          <p:spPr>
            <a:xfrm>
              <a:off x="8012" y="6131"/>
              <a:ext cx="4231"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0" name="文本框 309"/>
            <p:cNvSpPr txBox="1"/>
            <p:nvPr>
              <p:custDataLst>
                <p:tags r:id="rId121"/>
              </p:custDataLst>
            </p:nvPr>
          </p:nvSpPr>
          <p:spPr>
            <a:xfrm>
              <a:off x="9136" y="6131"/>
              <a:ext cx="198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客户数据</a:t>
              </a:r>
              <a:endParaRPr lang="zh-CN" altLang="en-US" sz="1000" b="1">
                <a:latin typeface="微软雅黑" panose="020B0503020204020204" pitchFamily="34" charset="-122"/>
                <a:ea typeface="微软雅黑" panose="020B0503020204020204" pitchFamily="34" charset="-122"/>
                <a:sym typeface="+mn-ea"/>
              </a:endParaRPr>
            </a:p>
          </p:txBody>
        </p:sp>
        <p:sp>
          <p:nvSpPr>
            <p:cNvPr id="311" name="圆角矩形 310"/>
            <p:cNvSpPr/>
            <p:nvPr>
              <p:custDataLst>
                <p:tags r:id="rId122"/>
              </p:custDataLst>
            </p:nvPr>
          </p:nvSpPr>
          <p:spPr>
            <a:xfrm>
              <a:off x="8083" y="6485"/>
              <a:ext cx="2659"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2" name="圆角矩形 311"/>
            <p:cNvSpPr/>
            <p:nvPr>
              <p:custDataLst>
                <p:tags r:id="rId123"/>
              </p:custDataLst>
            </p:nvPr>
          </p:nvSpPr>
          <p:spPr>
            <a:xfrm>
              <a:off x="8150"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信息采集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3" name="圆角矩形 312"/>
            <p:cNvSpPr/>
            <p:nvPr>
              <p:custDataLst>
                <p:tags r:id="rId124"/>
              </p:custDataLst>
            </p:nvPr>
          </p:nvSpPr>
          <p:spPr>
            <a:xfrm>
              <a:off x="9445" y="6825"/>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数据清洗</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4" name="文本框 313"/>
            <p:cNvSpPr txBox="1"/>
            <p:nvPr>
              <p:custDataLst>
                <p:tags r:id="rId125"/>
              </p:custDataLst>
            </p:nvPr>
          </p:nvSpPr>
          <p:spPr>
            <a:xfrm>
              <a:off x="8645" y="6485"/>
              <a:ext cx="1535"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客户数据管理</a:t>
              </a:r>
              <a:endParaRPr lang="zh-CN" altLang="en-US" sz="900" b="1">
                <a:latin typeface="微软雅黑" panose="020B0503020204020204" pitchFamily="34" charset="-122"/>
                <a:ea typeface="微软雅黑" panose="020B0503020204020204" pitchFamily="34" charset="-122"/>
                <a:sym typeface="+mn-ea"/>
              </a:endParaRPr>
            </a:p>
          </p:txBody>
        </p:sp>
        <p:sp>
          <p:nvSpPr>
            <p:cNvPr id="315" name="圆角矩形 314"/>
            <p:cNvSpPr/>
            <p:nvPr>
              <p:custDataLst>
                <p:tags r:id="rId126"/>
              </p:custDataLst>
            </p:nvPr>
          </p:nvSpPr>
          <p:spPr>
            <a:xfrm>
              <a:off x="8150"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客户标签</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6" name="圆角矩形 315"/>
            <p:cNvSpPr/>
            <p:nvPr>
              <p:custDataLst>
                <p:tags r:id="rId127"/>
              </p:custDataLst>
            </p:nvPr>
          </p:nvSpPr>
          <p:spPr>
            <a:xfrm>
              <a:off x="9445" y="7303"/>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客户画像</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7" name="圆角矩形 316"/>
            <p:cNvSpPr/>
            <p:nvPr>
              <p:custDataLst>
                <p:tags r:id="rId128"/>
              </p:custDataLst>
            </p:nvPr>
          </p:nvSpPr>
          <p:spPr>
            <a:xfrm>
              <a:off x="10815" y="6485"/>
              <a:ext cx="1361"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8" name="圆角矩形 317"/>
            <p:cNvSpPr/>
            <p:nvPr>
              <p:custDataLst>
                <p:tags r:id="rId129"/>
              </p:custDataLst>
            </p:nvPr>
          </p:nvSpPr>
          <p:spPr>
            <a:xfrm>
              <a:off x="10871" y="6825"/>
              <a:ext cx="124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权限控制</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19" name="圆角矩形 318"/>
            <p:cNvSpPr/>
            <p:nvPr>
              <p:custDataLst>
                <p:tags r:id="rId130"/>
              </p:custDataLst>
            </p:nvPr>
          </p:nvSpPr>
          <p:spPr>
            <a:xfrm>
              <a:off x="10871" y="7303"/>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数据加密</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0" name="文本框 319"/>
            <p:cNvSpPr txBox="1"/>
            <p:nvPr>
              <p:custDataLst>
                <p:tags r:id="rId131"/>
              </p:custDataLst>
            </p:nvPr>
          </p:nvSpPr>
          <p:spPr>
            <a:xfrm>
              <a:off x="10925" y="6485"/>
              <a:ext cx="1140"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安全管理</a:t>
              </a:r>
              <a:endParaRPr lang="zh-CN" altLang="en-US" sz="900" b="1">
                <a:latin typeface="微软雅黑" panose="020B0503020204020204" pitchFamily="34" charset="-122"/>
                <a:ea typeface="微软雅黑" panose="020B0503020204020204" pitchFamily="34" charset="-122"/>
                <a:sym typeface="+mn-ea"/>
              </a:endParaRPr>
            </a:p>
          </p:txBody>
        </p:sp>
        <p:sp>
          <p:nvSpPr>
            <p:cNvPr id="321" name="圆角矩形 320"/>
            <p:cNvSpPr/>
            <p:nvPr>
              <p:custDataLst>
                <p:tags r:id="rId132"/>
              </p:custDataLst>
            </p:nvPr>
          </p:nvSpPr>
          <p:spPr>
            <a:xfrm>
              <a:off x="9445" y="7780"/>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客户满意度</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2" name="圆角矩形 321"/>
            <p:cNvSpPr/>
            <p:nvPr>
              <p:custDataLst>
                <p:tags r:id="rId133"/>
              </p:custDataLst>
            </p:nvPr>
          </p:nvSpPr>
          <p:spPr>
            <a:xfrm>
              <a:off x="8150" y="7780"/>
              <a:ext cx="1247" cy="396"/>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客户行为</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grpSp>
      <p:grpSp>
        <p:nvGrpSpPr>
          <p:cNvPr id="323" name="组合 322"/>
          <p:cNvGrpSpPr/>
          <p:nvPr/>
        </p:nvGrpSpPr>
        <p:grpSpPr>
          <a:xfrm>
            <a:off x="2760915" y="4369435"/>
            <a:ext cx="899160" cy="1403350"/>
            <a:chOff x="14914" y="6144"/>
            <a:chExt cx="1416" cy="2210"/>
          </a:xfrm>
        </p:grpSpPr>
        <p:sp>
          <p:nvSpPr>
            <p:cNvPr id="324" name="矩形 323"/>
            <p:cNvSpPr/>
            <p:nvPr>
              <p:custDataLst>
                <p:tags r:id="rId134"/>
              </p:custDataLst>
            </p:nvPr>
          </p:nvSpPr>
          <p:spPr>
            <a:xfrm>
              <a:off x="14914" y="6144"/>
              <a:ext cx="141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25" name="圆角矩形 324"/>
            <p:cNvSpPr/>
            <p:nvPr>
              <p:custDataLst>
                <p:tags r:id="rId135"/>
              </p:custDataLst>
            </p:nvPr>
          </p:nvSpPr>
          <p:spPr>
            <a:xfrm>
              <a:off x="14999" y="6499"/>
              <a:ext cx="124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6" name="圆角矩形 325"/>
            <p:cNvSpPr/>
            <p:nvPr>
              <p:custDataLst>
                <p:tags r:id="rId136"/>
              </p:custDataLst>
            </p:nvPr>
          </p:nvSpPr>
          <p:spPr>
            <a:xfrm>
              <a:off x="15084" y="6839"/>
              <a:ext cx="107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会员报表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7" name="圆角矩形 326"/>
            <p:cNvSpPr/>
            <p:nvPr>
              <p:custDataLst>
                <p:tags r:id="rId137"/>
              </p:custDataLst>
            </p:nvPr>
          </p:nvSpPr>
          <p:spPr>
            <a:xfrm>
              <a:off x="15084" y="7317"/>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积分报表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8" name="圆角矩形 327"/>
            <p:cNvSpPr/>
            <p:nvPr>
              <p:custDataLst>
                <p:tags r:id="rId138"/>
              </p:custDataLst>
            </p:nvPr>
          </p:nvSpPr>
          <p:spPr>
            <a:xfrm>
              <a:off x="15084" y="7794"/>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券报表</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29" name="文本框 328"/>
            <p:cNvSpPr txBox="1"/>
            <p:nvPr>
              <p:custDataLst>
                <p:tags r:id="rId139"/>
              </p:custDataLst>
            </p:nvPr>
          </p:nvSpPr>
          <p:spPr>
            <a:xfrm>
              <a:off x="15084" y="6499"/>
              <a:ext cx="1077"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报表管理</a:t>
              </a:r>
              <a:endParaRPr lang="zh-CN" altLang="en-US" sz="900" b="1">
                <a:latin typeface="微软雅黑" panose="020B0503020204020204" pitchFamily="34" charset="-122"/>
                <a:ea typeface="微软雅黑" panose="020B0503020204020204" pitchFamily="34" charset="-122"/>
                <a:sym typeface="+mn-ea"/>
              </a:endParaRPr>
            </a:p>
          </p:txBody>
        </p:sp>
        <p:sp>
          <p:nvSpPr>
            <p:cNvPr id="330" name="文本框 329"/>
            <p:cNvSpPr txBox="1"/>
            <p:nvPr>
              <p:custDataLst>
                <p:tags r:id="rId140"/>
              </p:custDataLst>
            </p:nvPr>
          </p:nvSpPr>
          <p:spPr>
            <a:xfrm>
              <a:off x="15056" y="6145"/>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报表</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31" name="组合 330"/>
          <p:cNvGrpSpPr/>
          <p:nvPr/>
        </p:nvGrpSpPr>
        <p:grpSpPr>
          <a:xfrm>
            <a:off x="7522145" y="4369435"/>
            <a:ext cx="1631950" cy="1403350"/>
            <a:chOff x="12296" y="6138"/>
            <a:chExt cx="2570" cy="2210"/>
          </a:xfrm>
        </p:grpSpPr>
        <p:sp>
          <p:nvSpPr>
            <p:cNvPr id="332" name="矩形 331"/>
            <p:cNvSpPr/>
            <p:nvPr>
              <p:custDataLst>
                <p:tags r:id="rId141"/>
              </p:custDataLst>
            </p:nvPr>
          </p:nvSpPr>
          <p:spPr>
            <a:xfrm>
              <a:off x="12296" y="6138"/>
              <a:ext cx="2571"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3" name="文本框 332"/>
            <p:cNvSpPr txBox="1"/>
            <p:nvPr>
              <p:custDataLst>
                <p:tags r:id="rId142"/>
              </p:custDataLst>
            </p:nvPr>
          </p:nvSpPr>
          <p:spPr>
            <a:xfrm>
              <a:off x="12590" y="6138"/>
              <a:ext cx="198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优惠券</a:t>
              </a:r>
              <a:endParaRPr lang="zh-CN" altLang="en-US" sz="1000" b="1">
                <a:latin typeface="微软雅黑" panose="020B0503020204020204" pitchFamily="34" charset="-122"/>
                <a:ea typeface="微软雅黑" panose="020B0503020204020204" pitchFamily="34" charset="-122"/>
                <a:sym typeface="+mn-ea"/>
              </a:endParaRPr>
            </a:p>
          </p:txBody>
        </p:sp>
        <p:sp>
          <p:nvSpPr>
            <p:cNvPr id="334" name="圆角矩形 333"/>
            <p:cNvSpPr/>
            <p:nvPr>
              <p:custDataLst>
                <p:tags r:id="rId143"/>
              </p:custDataLst>
            </p:nvPr>
          </p:nvSpPr>
          <p:spPr>
            <a:xfrm>
              <a:off x="12377" y="6492"/>
              <a:ext cx="2410"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35" name="圆角矩形 334"/>
            <p:cNvSpPr/>
            <p:nvPr>
              <p:custDataLst>
                <p:tags r:id="rId144"/>
              </p:custDataLst>
            </p:nvPr>
          </p:nvSpPr>
          <p:spPr>
            <a:xfrm>
              <a:off x="12462" y="6832"/>
              <a:ext cx="107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券创建</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6" name="圆角矩形 335"/>
            <p:cNvSpPr/>
            <p:nvPr>
              <p:custDataLst>
                <p:tags r:id="rId145"/>
              </p:custDataLst>
            </p:nvPr>
          </p:nvSpPr>
          <p:spPr>
            <a:xfrm>
              <a:off x="13618" y="6832"/>
              <a:ext cx="1077" cy="397"/>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券场景</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7" name="文本框 336"/>
            <p:cNvSpPr txBox="1"/>
            <p:nvPr>
              <p:custDataLst>
                <p:tags r:id="rId146"/>
              </p:custDataLst>
            </p:nvPr>
          </p:nvSpPr>
          <p:spPr>
            <a:xfrm>
              <a:off x="12814" y="6492"/>
              <a:ext cx="1535"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券管理</a:t>
              </a:r>
              <a:endParaRPr lang="zh-CN" altLang="en-US" sz="900" b="1">
                <a:latin typeface="微软雅黑" panose="020B0503020204020204" pitchFamily="34" charset="-122"/>
                <a:ea typeface="微软雅黑" panose="020B0503020204020204" pitchFamily="34" charset="-122"/>
                <a:sym typeface="+mn-ea"/>
              </a:endParaRPr>
            </a:p>
          </p:txBody>
        </p:sp>
        <p:sp>
          <p:nvSpPr>
            <p:cNvPr id="338" name="圆角矩形 337"/>
            <p:cNvSpPr/>
            <p:nvPr>
              <p:custDataLst>
                <p:tags r:id="rId147"/>
              </p:custDataLst>
            </p:nvPr>
          </p:nvSpPr>
          <p:spPr>
            <a:xfrm>
              <a:off x="12462" y="7310"/>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券信息</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39" name="圆角矩形 338"/>
            <p:cNvSpPr/>
            <p:nvPr>
              <p:custDataLst>
                <p:tags r:id="rId148"/>
              </p:custDataLst>
            </p:nvPr>
          </p:nvSpPr>
          <p:spPr>
            <a:xfrm>
              <a:off x="13618" y="7310"/>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券效期</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40" name="圆角矩形 339"/>
            <p:cNvSpPr/>
            <p:nvPr>
              <p:custDataLst>
                <p:tags r:id="rId149"/>
              </p:custDataLst>
            </p:nvPr>
          </p:nvSpPr>
          <p:spPr>
            <a:xfrm>
              <a:off x="13618" y="7787"/>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券规则</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41" name="圆角矩形 340"/>
            <p:cNvSpPr/>
            <p:nvPr>
              <p:custDataLst>
                <p:tags r:id="rId150"/>
              </p:custDataLst>
            </p:nvPr>
          </p:nvSpPr>
          <p:spPr>
            <a:xfrm>
              <a:off x="12462" y="7787"/>
              <a:ext cx="1077" cy="396"/>
            </a:xfrm>
            <a:prstGeom prst="roundRect">
              <a:avLst>
                <a:gd name="adj" fmla="val 0"/>
              </a:avLst>
            </a:prstGeom>
            <a:solidFill>
              <a:srgbClr val="FFFFFF"/>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券核销</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grpSp>
      <p:sp>
        <p:nvSpPr>
          <p:cNvPr id="342" name="圆角矩形 341"/>
          <p:cNvSpPr/>
          <p:nvPr>
            <p:custDataLst>
              <p:tags r:id="rId151"/>
            </p:custDataLst>
          </p:nvPr>
        </p:nvSpPr>
        <p:spPr>
          <a:xfrm>
            <a:off x="4144055"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系统账号</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3" name="矩形 342"/>
          <p:cNvSpPr/>
          <p:nvPr>
            <p:custDataLst>
              <p:tags r:id="rId152"/>
            </p:custDataLst>
          </p:nvPr>
        </p:nvSpPr>
        <p:spPr>
          <a:xfrm>
            <a:off x="495870" y="6268085"/>
            <a:ext cx="5490210" cy="288000"/>
          </a:xfrm>
          <a:prstGeom prst="rect">
            <a:avLst/>
          </a:prstGeom>
          <a:solidFill>
            <a:schemeClr val="accent2">
              <a:lumMod val="20000"/>
              <a:lumOff val="80000"/>
            </a:schemeClr>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n>
                  <a:noFill/>
                </a:ln>
                <a:solidFill>
                  <a:schemeClr val="tx1"/>
                </a:solidFill>
                <a:latin typeface="微软雅黑" panose="020B0503020204020204" pitchFamily="34" charset="-122"/>
                <a:ea typeface="微软雅黑" panose="020B0503020204020204" pitchFamily="34" charset="-122"/>
              </a:rPr>
              <a:t>安居内部系统集成</a:t>
            </a:r>
            <a:endParaRPr lang="zh-CN" altLang="en-US" sz="1400">
              <a:ln>
                <a:noFill/>
              </a:ln>
              <a:solidFill>
                <a:schemeClr val="tx1"/>
              </a:solidFill>
              <a:latin typeface="微软雅黑" panose="020B0503020204020204" pitchFamily="34" charset="-122"/>
              <a:ea typeface="微软雅黑" panose="020B0503020204020204" pitchFamily="34" charset="-122"/>
            </a:endParaRPr>
          </a:p>
        </p:txBody>
      </p:sp>
      <p:sp>
        <p:nvSpPr>
          <p:cNvPr id="344" name="圆角矩形 343"/>
          <p:cNvSpPr/>
          <p:nvPr>
            <p:custDataLst>
              <p:tags r:id="rId153"/>
            </p:custDataLst>
          </p:nvPr>
        </p:nvSpPr>
        <p:spPr>
          <a:xfrm>
            <a:off x="6162610" y="6268085"/>
            <a:ext cx="5490210" cy="288000"/>
          </a:xfrm>
          <a:prstGeom prst="roundRect">
            <a:avLst>
              <a:gd name="adj" fmla="val 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微软雅黑" panose="020B0503020204020204" pitchFamily="34" charset="-122"/>
                <a:ea typeface="微软雅黑" panose="020B0503020204020204" pitchFamily="34" charset="-122"/>
                <a:sym typeface="+mn-ea"/>
              </a:rPr>
              <a:t>异业合作平台</a:t>
            </a:r>
            <a:endParaRPr lang="zh-CN" altLang="en-US" sz="1200">
              <a:solidFill>
                <a:schemeClr val="tx1"/>
              </a:solidFill>
              <a:latin typeface="微软雅黑" panose="020B0503020204020204" pitchFamily="34" charset="-122"/>
              <a:ea typeface="微软雅黑" panose="020B0503020204020204" pitchFamily="34" charset="-122"/>
              <a:sym typeface="+mn-ea"/>
            </a:endParaRPr>
          </a:p>
        </p:txBody>
      </p:sp>
      <p:sp>
        <p:nvSpPr>
          <p:cNvPr id="345" name="圆角矩形 344"/>
          <p:cNvSpPr/>
          <p:nvPr>
            <p:custDataLst>
              <p:tags r:id="rId154"/>
            </p:custDataLst>
          </p:nvPr>
        </p:nvSpPr>
        <p:spPr>
          <a:xfrm>
            <a:off x="10319430" y="5861710"/>
            <a:ext cx="1151890" cy="252000"/>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智能运营</a:t>
            </a:r>
            <a:endParaRPr lang="zh-CN" altLang="en-US" sz="900">
              <a:solidFill>
                <a:schemeClr val="tx1"/>
              </a:solidFill>
              <a:latin typeface="微软雅黑" panose="020B0503020204020204" pitchFamily="34" charset="-122"/>
              <a:ea typeface="微软雅黑" panose="020B0503020204020204" pitchFamily="34" charset="-122"/>
            </a:endParaRPr>
          </a:p>
        </p:txBody>
      </p:sp>
      <p:grpSp>
        <p:nvGrpSpPr>
          <p:cNvPr id="346" name="组合 345"/>
          <p:cNvGrpSpPr/>
          <p:nvPr/>
        </p:nvGrpSpPr>
        <p:grpSpPr>
          <a:xfrm>
            <a:off x="9234105" y="4369435"/>
            <a:ext cx="1007110" cy="1403350"/>
            <a:chOff x="16165" y="3854"/>
            <a:chExt cx="1586" cy="2210"/>
          </a:xfrm>
        </p:grpSpPr>
        <p:sp>
          <p:nvSpPr>
            <p:cNvPr id="347" name="矩形 346"/>
            <p:cNvSpPr/>
            <p:nvPr>
              <p:custDataLst>
                <p:tags r:id="rId155"/>
              </p:custDataLst>
            </p:nvPr>
          </p:nvSpPr>
          <p:spPr>
            <a:xfrm>
              <a:off x="16165" y="3854"/>
              <a:ext cx="158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48" name="圆角矩形 347"/>
            <p:cNvSpPr/>
            <p:nvPr>
              <p:custDataLst>
                <p:tags r:id="rId156"/>
              </p:custDataLst>
            </p:nvPr>
          </p:nvSpPr>
          <p:spPr>
            <a:xfrm>
              <a:off x="16250" y="4209"/>
              <a:ext cx="141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49" name="圆角矩形 348"/>
            <p:cNvSpPr/>
            <p:nvPr>
              <p:custDataLst>
                <p:tags r:id="rId157"/>
              </p:custDataLst>
            </p:nvPr>
          </p:nvSpPr>
          <p:spPr>
            <a:xfrm>
              <a:off x="16335" y="4549"/>
              <a:ext cx="1247" cy="397"/>
            </a:xfrm>
            <a:prstGeom prst="roundRect">
              <a:avLst>
                <a:gd name="adj" fmla="val 0"/>
              </a:avLst>
            </a:prstGeom>
            <a:solidFill>
              <a:schemeClr val="accent2">
                <a:lumMod val="20000"/>
                <a:lumOff val="80000"/>
              </a:schemeClr>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券核销</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0" name="圆角矩形 349"/>
            <p:cNvSpPr/>
            <p:nvPr>
              <p:custDataLst>
                <p:tags r:id="rId158"/>
              </p:custDataLst>
            </p:nvPr>
          </p:nvSpPr>
          <p:spPr>
            <a:xfrm>
              <a:off x="16335" y="5027"/>
              <a:ext cx="124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商户权限</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1" name="文本框 350"/>
            <p:cNvSpPr txBox="1"/>
            <p:nvPr>
              <p:custDataLst>
                <p:tags r:id="rId159"/>
              </p:custDataLst>
            </p:nvPr>
          </p:nvSpPr>
          <p:spPr>
            <a:xfrm>
              <a:off x="16346" y="4209"/>
              <a:ext cx="1226"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商户助手</a:t>
              </a:r>
              <a:endParaRPr lang="zh-CN" altLang="en-US" sz="900" b="1">
                <a:latin typeface="微软雅黑" panose="020B0503020204020204" pitchFamily="34" charset="-122"/>
                <a:ea typeface="微软雅黑" panose="020B0503020204020204" pitchFamily="34" charset="-122"/>
                <a:sym typeface="+mn-ea"/>
              </a:endParaRPr>
            </a:p>
          </p:txBody>
        </p:sp>
        <p:sp>
          <p:nvSpPr>
            <p:cNvPr id="352" name="文本框 351"/>
            <p:cNvSpPr txBox="1"/>
            <p:nvPr>
              <p:custDataLst>
                <p:tags r:id="rId160"/>
              </p:custDataLst>
            </p:nvPr>
          </p:nvSpPr>
          <p:spPr>
            <a:xfrm>
              <a:off x="16392" y="3855"/>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商户助手</a:t>
              </a:r>
              <a:endParaRPr lang="zh-CN" altLang="en-US" sz="1000" b="1">
                <a:latin typeface="微软雅黑" panose="020B0503020204020204" pitchFamily="34" charset="-122"/>
                <a:ea typeface="微软雅黑" panose="020B0503020204020204" pitchFamily="34" charset="-122"/>
                <a:sym typeface="+mn-ea"/>
              </a:endParaRPr>
            </a:p>
          </p:txBody>
        </p:sp>
      </p:grpSp>
      <p:grpSp>
        <p:nvGrpSpPr>
          <p:cNvPr id="353" name="组合 352"/>
          <p:cNvGrpSpPr/>
          <p:nvPr/>
        </p:nvGrpSpPr>
        <p:grpSpPr>
          <a:xfrm>
            <a:off x="10321225" y="4369435"/>
            <a:ext cx="899795" cy="1403985"/>
            <a:chOff x="16359" y="6129"/>
            <a:chExt cx="1417" cy="2211"/>
          </a:xfrm>
        </p:grpSpPr>
        <p:sp>
          <p:nvSpPr>
            <p:cNvPr id="354" name="矩形 353"/>
            <p:cNvSpPr/>
            <p:nvPr>
              <p:custDataLst>
                <p:tags r:id="rId161"/>
              </p:custDataLst>
            </p:nvPr>
          </p:nvSpPr>
          <p:spPr>
            <a:xfrm>
              <a:off x="16359" y="6129"/>
              <a:ext cx="1417" cy="2211"/>
            </a:xfrm>
            <a:prstGeom prst="rect">
              <a:avLst/>
            </a:prstGeom>
            <a:solidFill>
              <a:srgbClr val="C4E1F2"/>
            </a:solidFill>
            <a:ln w="6350">
              <a:solidFill>
                <a:srgbClr val="000000">
                  <a:alpha val="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C4E1F2"/>
                </a:solidFill>
              </a:endParaRPr>
            </a:p>
          </p:txBody>
        </p:sp>
        <p:sp>
          <p:nvSpPr>
            <p:cNvPr id="355" name="圆角矩形 354"/>
            <p:cNvSpPr/>
            <p:nvPr>
              <p:custDataLst>
                <p:tags r:id="rId162"/>
              </p:custDataLst>
            </p:nvPr>
          </p:nvSpPr>
          <p:spPr>
            <a:xfrm>
              <a:off x="16444" y="6484"/>
              <a:ext cx="1247" cy="1757"/>
            </a:xfrm>
            <a:prstGeom prst="roundRect">
              <a:avLst>
                <a:gd name="adj" fmla="val 0"/>
              </a:avLst>
            </a:prstGeom>
            <a:solidFill>
              <a:schemeClr val="bg1"/>
            </a:solidFill>
            <a:ln>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356" name="圆角矩形 355"/>
            <p:cNvSpPr/>
            <p:nvPr>
              <p:custDataLst>
                <p:tags r:id="rId163"/>
              </p:custDataLst>
            </p:nvPr>
          </p:nvSpPr>
          <p:spPr>
            <a:xfrm>
              <a:off x="16529" y="6824"/>
              <a:ext cx="1077" cy="397"/>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700">
                  <a:solidFill>
                    <a:schemeClr val="tx1"/>
                  </a:solidFill>
                  <a:latin typeface="微软雅黑" panose="020B0503020204020204" pitchFamily="34" charset="-122"/>
                  <a:ea typeface="微软雅黑" panose="020B0503020204020204" pitchFamily="34" charset="-122"/>
                  <a:sym typeface="+mn-ea"/>
                </a:rPr>
                <a:t>系统操作日志</a:t>
              </a:r>
              <a:endParaRPr lang="zh-CN" altLang="en-US" sz="700">
                <a:solidFill>
                  <a:schemeClr val="tx1"/>
                </a:solidFill>
                <a:latin typeface="微软雅黑" panose="020B0503020204020204" pitchFamily="34" charset="-122"/>
                <a:ea typeface="微软雅黑" panose="020B0503020204020204" pitchFamily="34" charset="-122"/>
                <a:sym typeface="+mn-ea"/>
              </a:endParaRPr>
            </a:p>
          </p:txBody>
        </p:sp>
        <p:sp>
          <p:nvSpPr>
            <p:cNvPr id="357" name="圆角矩形 356"/>
            <p:cNvSpPr/>
            <p:nvPr>
              <p:custDataLst>
                <p:tags r:id="rId164"/>
              </p:custDataLst>
            </p:nvPr>
          </p:nvSpPr>
          <p:spPr>
            <a:xfrm>
              <a:off x="16529" y="7302"/>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数据溯源</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58" name="圆角矩形 357"/>
            <p:cNvSpPr/>
            <p:nvPr>
              <p:custDataLst>
                <p:tags r:id="rId165"/>
              </p:custDataLst>
            </p:nvPr>
          </p:nvSpPr>
          <p:spPr>
            <a:xfrm>
              <a:off x="16529" y="7779"/>
              <a:ext cx="1077" cy="396"/>
            </a:xfrm>
            <a:prstGeom prst="roundRect">
              <a:avLst>
                <a:gd name="adj" fmla="val 0"/>
              </a:avLst>
            </a:prstGeom>
            <a:solidFill>
              <a:schemeClr val="bg1"/>
            </a:solidFill>
            <a:ln w="6350">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sym typeface="+mn-ea"/>
                </a:rPr>
                <a:t>数据备份</a:t>
              </a:r>
              <a:endParaRPr lang="zh-CN" altLang="en-US" sz="900">
                <a:solidFill>
                  <a:schemeClr val="tx1"/>
                </a:solidFill>
                <a:latin typeface="微软雅黑" panose="020B0503020204020204" pitchFamily="34" charset="-122"/>
                <a:ea typeface="微软雅黑" panose="020B0503020204020204" pitchFamily="34" charset="-122"/>
                <a:sym typeface="+mn-ea"/>
              </a:endParaRPr>
            </a:p>
          </p:txBody>
        </p:sp>
        <p:sp>
          <p:nvSpPr>
            <p:cNvPr id="359" name="文本框 358"/>
            <p:cNvSpPr txBox="1"/>
            <p:nvPr>
              <p:custDataLst>
                <p:tags r:id="rId166"/>
              </p:custDataLst>
            </p:nvPr>
          </p:nvSpPr>
          <p:spPr>
            <a:xfrm>
              <a:off x="16529" y="6484"/>
              <a:ext cx="1077" cy="362"/>
            </a:xfrm>
            <a:prstGeom prst="rect">
              <a:avLst/>
            </a:prstGeom>
            <a:noFill/>
            <a:ln>
              <a:noFill/>
            </a:ln>
          </p:spPr>
          <p:txBody>
            <a:bodyPr wrap="square" rtlCol="0" anchor="t">
              <a:spAutoFit/>
            </a:bodyPr>
            <a:lstStyle/>
            <a:p>
              <a:pPr algn="ctr"/>
              <a:r>
                <a:rPr lang="zh-CN" altLang="en-US" sz="900" b="1">
                  <a:latin typeface="微软雅黑" panose="020B0503020204020204" pitchFamily="34" charset="-122"/>
                  <a:ea typeface="微软雅黑" panose="020B0503020204020204" pitchFamily="34" charset="-122"/>
                  <a:sym typeface="+mn-ea"/>
                </a:rPr>
                <a:t>日志管理</a:t>
              </a:r>
              <a:endParaRPr lang="zh-CN" altLang="en-US" sz="900" b="1">
                <a:latin typeface="微软雅黑" panose="020B0503020204020204" pitchFamily="34" charset="-122"/>
                <a:ea typeface="微软雅黑" panose="020B0503020204020204" pitchFamily="34" charset="-122"/>
                <a:sym typeface="+mn-ea"/>
              </a:endParaRPr>
            </a:p>
          </p:txBody>
        </p:sp>
        <p:sp>
          <p:nvSpPr>
            <p:cNvPr id="360" name="文本框 359"/>
            <p:cNvSpPr txBox="1"/>
            <p:nvPr>
              <p:custDataLst>
                <p:tags r:id="rId167"/>
              </p:custDataLst>
            </p:nvPr>
          </p:nvSpPr>
          <p:spPr>
            <a:xfrm>
              <a:off x="16501" y="6130"/>
              <a:ext cx="1134" cy="34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日志</a:t>
              </a:r>
              <a:endParaRPr lang="zh-CN" altLang="en-US" sz="1000" b="1">
                <a:latin typeface="微软雅黑" panose="020B0503020204020204" pitchFamily="34" charset="-122"/>
                <a:ea typeface="微软雅黑" panose="020B0503020204020204" pitchFamily="34" charset="-122"/>
                <a:sym typeface="+mn-ea"/>
              </a:endParaRPr>
            </a:p>
          </p:txBody>
        </p:sp>
      </p:grpSp>
      <p:sp>
        <p:nvSpPr>
          <p:cNvPr id="57" name="圆角矩形 56"/>
          <p:cNvSpPr/>
          <p:nvPr>
            <p:custDataLst>
              <p:tags r:id="rId168"/>
            </p:custDataLst>
          </p:nvPr>
        </p:nvSpPr>
        <p:spPr>
          <a:xfrm>
            <a:off x="8808720" y="1892300"/>
            <a:ext cx="1249680" cy="828040"/>
          </a:xfrm>
          <a:prstGeom prst="roundRect">
            <a:avLst>
              <a:gd name="adj" fmla="val 0"/>
            </a:avLst>
          </a:prstGeom>
          <a:solidFill>
            <a:schemeClr val="bg1"/>
          </a:solidFill>
          <a:ln w="6350">
            <a:noFill/>
          </a:ln>
        </p:spPr>
        <p:style>
          <a:lnRef idx="2">
            <a:schemeClr val="accent1"/>
          </a:lnRef>
          <a:fillRef idx="0">
            <a:srgbClr val="FFFFFF"/>
          </a:fillRef>
          <a:effectRef idx="0">
            <a:srgbClr val="FFFFFF"/>
          </a:effectRef>
          <a:fontRef idx="minor">
            <a:schemeClr val="dk1"/>
          </a:fontRef>
        </p:style>
        <p:txBody>
          <a:bodyPr rtlCol="0" anchor="ctr"/>
          <a:lstStyle/>
          <a:p>
            <a:pPr algn="ct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8" name="圆角矩形 57"/>
          <p:cNvSpPr/>
          <p:nvPr>
            <p:custDataLst>
              <p:tags r:id="rId169"/>
            </p:custDataLst>
          </p:nvPr>
        </p:nvSpPr>
        <p:spPr>
          <a:xfrm>
            <a:off x="8944555" y="2124075"/>
            <a:ext cx="972000" cy="252000"/>
          </a:xfrm>
          <a:prstGeom prst="roundRect">
            <a:avLst>
              <a:gd name="adj" fmla="val 0"/>
            </a:avLst>
          </a:prstGeom>
          <a:solidFill>
            <a:schemeClr val="bg1"/>
          </a:solidFill>
          <a:ln w="3175">
            <a:solidFill>
              <a:schemeClr val="bg1">
                <a:lumMod val="75000"/>
              </a:schemeClr>
            </a:solidFill>
          </a:ln>
        </p:spPr>
        <p:style>
          <a:lnRef idx="2">
            <a:schemeClr val="accent1"/>
          </a:lnRef>
          <a:fillRef idx="0">
            <a:srgbClr val="FFFFFF"/>
          </a:fillRef>
          <a:effectRef idx="0">
            <a:srgbClr val="FFFFFF"/>
          </a:effectRef>
          <a:fontRef idx="minor">
            <a:schemeClr val="dk1"/>
          </a:fontRef>
        </p:style>
        <p:txBody>
          <a:bodyPr rtlCol="0" anchor="ctr"/>
          <a:lstStyle/>
          <a:p>
            <a:pPr algn="ctr"/>
            <a:r>
              <a:rPr lang="zh-CN" altLang="en-US" sz="900">
                <a:solidFill>
                  <a:schemeClr val="tx1"/>
                </a:solidFill>
                <a:latin typeface="微软雅黑" panose="020B0503020204020204" pitchFamily="34" charset="-122"/>
                <a:ea typeface="微软雅黑" panose="020B0503020204020204" pitchFamily="34" charset="-122"/>
              </a:rPr>
              <a:t>活动参与</a:t>
            </a:r>
            <a:endParaRPr lang="zh-CN" altLang="en-US" sz="900">
              <a:solidFill>
                <a:schemeClr val="tx1"/>
              </a:solidFill>
              <a:latin typeface="微软雅黑" panose="020B0503020204020204" pitchFamily="34" charset="-122"/>
              <a:ea typeface="微软雅黑" panose="020B0503020204020204" pitchFamily="34" charset="-122"/>
            </a:endParaRPr>
          </a:p>
        </p:txBody>
      </p:sp>
      <p:sp>
        <p:nvSpPr>
          <p:cNvPr id="59" name="文本框 58"/>
          <p:cNvSpPr txBox="1"/>
          <p:nvPr>
            <p:custDataLst>
              <p:tags r:id="rId170"/>
            </p:custDataLst>
          </p:nvPr>
        </p:nvSpPr>
        <p:spPr>
          <a:xfrm>
            <a:off x="8903580" y="1895475"/>
            <a:ext cx="1112520" cy="216000"/>
          </a:xfrm>
          <a:prstGeom prst="rect">
            <a:avLst/>
          </a:prstGeom>
          <a:noFill/>
          <a:ln>
            <a:noFill/>
          </a:ln>
        </p:spPr>
        <p:txBody>
          <a:bodyPr wrap="square" rtlCol="0" anchor="t">
            <a:noAutofit/>
          </a:bodyPr>
          <a:lstStyle/>
          <a:p>
            <a:pPr algn="ctr"/>
            <a:r>
              <a:rPr lang="zh-CN" altLang="en-US" sz="1000" b="1">
                <a:latin typeface="微软雅黑" panose="020B0503020204020204" pitchFamily="34" charset="-122"/>
                <a:ea typeface="微软雅黑" panose="020B0503020204020204" pitchFamily="34" charset="-122"/>
                <a:sym typeface="+mn-ea"/>
              </a:rPr>
              <a:t>运营活动</a:t>
            </a:r>
            <a:endParaRPr lang="zh-CN" altLang="en-US" sz="1000" b="1">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模块客户服务流程图</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图片 3"/>
          <p:cNvPicPr>
            <a:picLocks noChangeAspect="1"/>
          </p:cNvPicPr>
          <p:nvPr/>
        </p:nvPicPr>
        <p:blipFill>
          <a:blip r:embed="rId1"/>
          <a:stretch>
            <a:fillRect/>
          </a:stretch>
        </p:blipFill>
        <p:spPr>
          <a:xfrm>
            <a:off x="1882140" y="859790"/>
            <a:ext cx="4314825" cy="59982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695325" y="347980"/>
            <a:ext cx="7244715" cy="571500"/>
          </a:xfrm>
          <a:prstGeom prst="rect">
            <a:avLst/>
          </a:prstGeom>
          <a:noFill/>
        </p:spPr>
        <p:txBody>
          <a:bodyPr wrap="square" rtlCol="0">
            <a:noAutofit/>
          </a:bodyPr>
          <a:lstStyle/>
          <a:p>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智能客服</a:t>
            </a: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a:t>
            </a:r>
            <a:r>
              <a:rPr 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400</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模块功能架构</a:t>
            </a:r>
            <a:endParaRPr kumimoji="0" lang="en-GB" sz="28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 </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pic>
        <p:nvPicPr>
          <p:cNvPr id="4" name="图片 3"/>
          <p:cNvPicPr>
            <a:picLocks noChangeAspect="1"/>
          </p:cNvPicPr>
          <p:nvPr/>
        </p:nvPicPr>
        <p:blipFill>
          <a:blip r:embed="rId1"/>
          <a:stretch>
            <a:fillRect/>
          </a:stretch>
        </p:blipFill>
        <p:spPr>
          <a:xfrm>
            <a:off x="1631950" y="907415"/>
            <a:ext cx="7746365" cy="5816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p:cNvSpPr txBox="1"/>
          <p:nvPr>
            <p:custDataLst>
              <p:tags r:id="rId1"/>
            </p:custDataLst>
          </p:nvPr>
        </p:nvSpPr>
        <p:spPr>
          <a:xfrm>
            <a:off x="7466330" y="1776730"/>
            <a:ext cx="3836035" cy="2864485"/>
          </a:xfrm>
          <a:prstGeom prst="rect">
            <a:avLst/>
          </a:prstGeom>
          <a:noFill/>
        </p:spPr>
        <p:txBody>
          <a:bodyPr wrap="square">
            <a:noAutofit/>
          </a:bodyPr>
          <a:lstStyle/>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a</a:t>
            </a:r>
            <a:r>
              <a:rPr lang="zh-CN" altLang="en-US" sz="1200" dirty="0">
                <a:latin typeface="微软雅黑" charset="0"/>
                <a:ea typeface="微软雅黑" charset="0"/>
                <a:cs typeface="微软雅黑" charset="0"/>
              </a:rPr>
              <a:t>）发分结算：发分即产生费用，兑分即产生收入</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 </a:t>
            </a: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发分：即业务单元发分，应付大会员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 </a:t>
            </a: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兑分：即业务单元收分，应收大会员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b</a:t>
            </a:r>
            <a:r>
              <a:rPr lang="zh-CN" altLang="en-US" sz="1200" dirty="0">
                <a:latin typeface="微软雅黑" charset="0"/>
                <a:ea typeface="微软雅黑" charset="0"/>
                <a:cs typeface="微软雅黑" charset="0"/>
              </a:rPr>
              <a:t>）兑分结算：发分不产生费用，积分跨场兑换后产生积分费用</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本场积分本场兑：不结算</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本场积分他场兑：应付大会员</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en-US" altLang="zh-CN" sz="1200" dirty="0">
                <a:latin typeface="微软雅黑" charset="0"/>
                <a:ea typeface="微软雅黑" charset="0"/>
                <a:cs typeface="微软雅黑" charset="0"/>
              </a:rPr>
              <a:t>     </a:t>
            </a:r>
            <a:r>
              <a:rPr lang="zh-CN" altLang="en-US" sz="1200" dirty="0">
                <a:latin typeface="微软雅黑" charset="0"/>
                <a:ea typeface="微软雅黑" charset="0"/>
                <a:cs typeface="微软雅黑" charset="0"/>
              </a:rPr>
              <a:t>他场积分本场兑：应收大会员</a:t>
            </a:r>
            <a:endParaRPr lang="zh-CN" altLang="en-US" sz="1200" dirty="0">
              <a:latin typeface="微软雅黑" charset="0"/>
              <a:ea typeface="微软雅黑" charset="0"/>
              <a:cs typeface="微软雅黑" charset="0"/>
            </a:endParaRPr>
          </a:p>
        </p:txBody>
      </p:sp>
      <p:sp>
        <p:nvSpPr>
          <p:cNvPr id="10" name="文本框 9"/>
          <p:cNvSpPr txBox="1"/>
          <p:nvPr>
            <p:custDataLst>
              <p:tags r:id="rId2"/>
            </p:custDataLst>
          </p:nvPr>
        </p:nvSpPr>
        <p:spPr>
          <a:xfrm>
            <a:off x="6913245" y="1102995"/>
            <a:ext cx="4321810" cy="4059555"/>
          </a:xfrm>
          <a:prstGeom prst="rect">
            <a:avLst/>
          </a:prstGeom>
          <a:noFill/>
        </p:spPr>
        <p:txBody>
          <a:bodyPr wrap="square">
            <a:noAutofit/>
          </a:bodyPr>
          <a:lstStyle/>
          <a:p>
            <a:pPr indent="0">
              <a:lnSpc>
                <a:spcPct val="150000"/>
              </a:lnSpc>
              <a:buFont typeface="Wingdings" panose="05000000000000000000" pitchFamily="2" charset="2"/>
              <a:buNone/>
            </a:pPr>
            <a:r>
              <a:rPr lang="zh-CN" altLang="en-US" sz="1400" b="1" dirty="0">
                <a:latin typeface="微软雅黑" charset="0"/>
                <a:ea typeface="微软雅黑" charset="0"/>
                <a:cs typeface="微软雅黑" charset="0"/>
                <a:sym typeface="+mn-ea"/>
              </a:rPr>
              <a:t>【设计要素】结算方式</a:t>
            </a:r>
            <a:endParaRPr lang="en-US" altLang="zh-CN" sz="1400" b="1"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1</a:t>
            </a:r>
            <a:r>
              <a:rPr lang="zh-CN" altLang="en-US" sz="1200" dirty="0">
                <a:latin typeface="微软雅黑" charset="0"/>
                <a:ea typeface="微软雅黑" charset="0"/>
                <a:cs typeface="微软雅黑" charset="0"/>
              </a:rPr>
              <a:t>）共两种结算方式：</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2</a:t>
            </a:r>
            <a:r>
              <a:rPr lang="zh-CN" altLang="en-US" sz="1200" dirty="0">
                <a:latin typeface="微软雅黑" charset="0"/>
                <a:ea typeface="微软雅黑" charset="0"/>
                <a:cs typeface="微软雅黑" charset="0"/>
              </a:rPr>
              <a:t>）</a:t>
            </a:r>
            <a:r>
              <a:rPr lang="zh-CN" altLang="en-US" sz="1200" dirty="0">
                <a:latin typeface="微软雅黑" charset="0"/>
                <a:ea typeface="微软雅黑" charset="0"/>
                <a:cs typeface="微软雅黑" charset="0"/>
                <a:sym typeface="+mn-ea"/>
              </a:rPr>
              <a:t>过期积分残值价值归属：发分结算归属大会员；兑分归属发分方。</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3</a:t>
            </a:r>
            <a:r>
              <a:rPr lang="zh-CN" altLang="en-US" sz="1200" dirty="0">
                <a:latin typeface="微软雅黑" charset="0"/>
                <a:ea typeface="微软雅黑" charset="0"/>
                <a:cs typeface="微软雅黑" charset="0"/>
              </a:rPr>
              <a:t>）建议采用</a:t>
            </a:r>
            <a:r>
              <a:rPr lang="zh-CN" altLang="en-US" sz="1200" b="1" dirty="0">
                <a:latin typeface="微软雅黑" charset="0"/>
                <a:ea typeface="微软雅黑" charset="0"/>
                <a:cs typeface="微软雅黑" charset="0"/>
              </a:rPr>
              <a:t>发分结算</a:t>
            </a:r>
            <a:r>
              <a:rPr lang="zh-CN" altLang="en-US" sz="1200" dirty="0">
                <a:latin typeface="微软雅黑" charset="0"/>
                <a:ea typeface="微软雅黑" charset="0"/>
                <a:cs typeface="微软雅黑" charset="0"/>
              </a:rPr>
              <a:t>的方式。</a:t>
            </a:r>
            <a:endParaRPr lang="zh-CN" altLang="en-US" sz="1200" dirty="0">
              <a:latin typeface="微软雅黑" charset="0"/>
              <a:ea typeface="微软雅黑" charset="0"/>
              <a:cs typeface="微软雅黑" charset="0"/>
            </a:endParaRPr>
          </a:p>
        </p:txBody>
      </p:sp>
      <p:sp>
        <p:nvSpPr>
          <p:cNvPr id="54" name="圆角矩形 53"/>
          <p:cNvSpPr/>
          <p:nvPr>
            <p:custDataLst>
              <p:tags r:id="rId3"/>
            </p:custDataLst>
          </p:nvPr>
        </p:nvSpPr>
        <p:spPr>
          <a:xfrm>
            <a:off x="6859270" y="1074420"/>
            <a:ext cx="4411345" cy="4744085"/>
          </a:xfrm>
          <a:prstGeom prst="roundRect">
            <a:avLst>
              <a:gd name="adj" fmla="val 1924"/>
            </a:avLst>
          </a:prstGeom>
          <a:noFill/>
          <a:ln>
            <a:solidFill>
              <a:srgbClr val="99B1DE"/>
            </a:solidFill>
            <a:prstDash val="dash"/>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200" b="1" dirty="0">
              <a:solidFill>
                <a:schemeClr val="tx1"/>
              </a:solidFill>
              <a:latin typeface="微软雅黑" charset="0"/>
              <a:ea typeface="微软雅黑" charset="0"/>
            </a:endParaRPr>
          </a:p>
        </p:txBody>
      </p:sp>
      <p:sp>
        <p:nvSpPr>
          <p:cNvPr id="42" name="圆角矩形 41"/>
          <p:cNvSpPr/>
          <p:nvPr>
            <p:custDataLst>
              <p:tags r:id="rId4"/>
            </p:custDataLst>
          </p:nvPr>
        </p:nvSpPr>
        <p:spPr>
          <a:xfrm>
            <a:off x="560070" y="1074420"/>
            <a:ext cx="5680075" cy="4718050"/>
          </a:xfrm>
          <a:prstGeom prst="roundRect">
            <a:avLst>
              <a:gd name="adj" fmla="val 1195"/>
            </a:avLst>
          </a:prstGeom>
          <a:noFill/>
          <a:ln>
            <a:solidFill>
              <a:srgbClr val="99B1DE"/>
            </a:solidFill>
            <a:prstDash val="dash"/>
          </a:ln>
          <a:extLst>
            <a:ext uri="{909E8E84-426E-40DD-AFC4-6F175D3DCCD1}">
              <a14:hiddenFill xmlns:a14="http://schemas.microsoft.com/office/drawing/2010/main">
                <a:solidFill>
                  <a:srgbClr val="2A608B"/>
                </a:solidFill>
              </a14:hiddenFill>
            </a:ext>
          </a:extLst>
        </p:spPr>
        <p:txBody>
          <a:bodyPr wrap="square" rtlCol="0" anchor="ctr">
            <a:noAutofit/>
          </a:bodyPr>
          <a:lstStyle/>
          <a:p>
            <a:pPr algn="ctr"/>
            <a:endParaRPr lang="zh-CN" altLang="en-US" sz="1200" b="1" dirty="0">
              <a:solidFill>
                <a:schemeClr val="tx1"/>
              </a:solidFill>
              <a:latin typeface="微软雅黑" charset="0"/>
              <a:ea typeface="微软雅黑" charset="0"/>
            </a:endParaRPr>
          </a:p>
        </p:txBody>
      </p:sp>
      <p:sp>
        <p:nvSpPr>
          <p:cNvPr id="12" name="文本框 11"/>
          <p:cNvSpPr txBox="1"/>
          <p:nvPr>
            <p:custDataLst>
              <p:tags r:id="rId5"/>
            </p:custDataLst>
          </p:nvPr>
        </p:nvSpPr>
        <p:spPr>
          <a:xfrm>
            <a:off x="608965" y="1125855"/>
            <a:ext cx="5521325" cy="1911985"/>
          </a:xfrm>
          <a:prstGeom prst="rect">
            <a:avLst/>
          </a:prstGeom>
          <a:noFill/>
        </p:spPr>
        <p:txBody>
          <a:bodyPr wrap="square">
            <a:noAutofit/>
          </a:bodyPr>
          <a:lstStyle/>
          <a:p>
            <a:pPr indent="0">
              <a:lnSpc>
                <a:spcPct val="150000"/>
              </a:lnSpc>
              <a:buFont typeface="Wingdings" panose="05000000000000000000" pitchFamily="2" charset="2"/>
              <a:buNone/>
            </a:pPr>
            <a:r>
              <a:rPr lang="zh-CN" altLang="en-US" sz="1400" b="1" dirty="0">
                <a:latin typeface="微软雅黑" charset="0"/>
                <a:ea typeface="微软雅黑" charset="0"/>
                <a:cs typeface="微软雅黑" charset="0"/>
                <a:sym typeface="+mn-ea"/>
              </a:rPr>
              <a:t>【设计要素】清结算模型</a:t>
            </a:r>
            <a:endParaRPr lang="en-US" altLang="zh-CN" sz="1400" b="1"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sz="1200" dirty="0">
                <a:latin typeface="微软雅黑" charset="0"/>
                <a:ea typeface="微软雅黑" charset="0"/>
                <a:cs typeface="微软雅黑" charset="0"/>
                <a:sym typeface="+mn-ea"/>
              </a:rPr>
              <a:t>（</a:t>
            </a:r>
            <a:r>
              <a:rPr lang="en-US" altLang="zh-CN" sz="1200" dirty="0">
                <a:latin typeface="微软雅黑" charset="0"/>
                <a:ea typeface="微软雅黑" charset="0"/>
                <a:cs typeface="微软雅黑" charset="0"/>
                <a:sym typeface="+mn-ea"/>
              </a:rPr>
              <a:t>1</a:t>
            </a:r>
            <a:r>
              <a:rPr lang="zh-CN" sz="1200" dirty="0">
                <a:latin typeface="微软雅黑" charset="0"/>
                <a:ea typeface="微软雅黑" charset="0"/>
                <a:cs typeface="微软雅黑" charset="0"/>
                <a:sym typeface="+mn-ea"/>
              </a:rPr>
              <a:t>）</a:t>
            </a:r>
            <a:r>
              <a:rPr sz="1200" dirty="0" err="1">
                <a:latin typeface="微软雅黑" charset="0"/>
                <a:ea typeface="微软雅黑" charset="0"/>
                <a:cs typeface="微软雅黑" charset="0"/>
                <a:sym typeface="+mn-ea"/>
              </a:rPr>
              <a:t>会员</a:t>
            </a:r>
            <a:r>
              <a:rPr lang="zh-CN" altLang="en-US" sz="1200" dirty="0">
                <a:latin typeface="微软雅黑" charset="0"/>
                <a:ea typeface="微软雅黑" charset="0"/>
                <a:cs typeface="微软雅黑" charset="0"/>
                <a:sym typeface="+mn-ea"/>
              </a:rPr>
              <a:t>平台</a:t>
            </a:r>
            <a:r>
              <a:rPr sz="1200" dirty="0" err="1">
                <a:latin typeface="微软雅黑" charset="0"/>
                <a:ea typeface="微软雅黑" charset="0"/>
                <a:cs typeface="微软雅黑" charset="0"/>
                <a:sym typeface="+mn-ea"/>
              </a:rPr>
              <a:t>采用中央银行模式，进行积分清结算。清结算系统作为管理方，向</a:t>
            </a:r>
            <a:r>
              <a:rPr lang="zh-CN" altLang="en-US" sz="1200" dirty="0">
                <a:latin typeface="微软雅黑" charset="0"/>
                <a:ea typeface="微软雅黑" charset="0"/>
                <a:cs typeface="微软雅黑" charset="0"/>
                <a:sym typeface="+mn-ea"/>
              </a:rPr>
              <a:t>业务方</a:t>
            </a:r>
            <a:r>
              <a:rPr sz="1200" dirty="0" err="1">
                <a:latin typeface="微软雅黑" charset="0"/>
                <a:ea typeface="微软雅黑" charset="0"/>
                <a:cs typeface="微软雅黑" charset="0"/>
                <a:sym typeface="+mn-ea"/>
              </a:rPr>
              <a:t>输出积分结算账单</a:t>
            </a:r>
            <a:r>
              <a:rPr sz="1200" dirty="0">
                <a:latin typeface="微软雅黑" charset="0"/>
                <a:ea typeface="微软雅黑" charset="0"/>
                <a:cs typeface="微软雅黑" charset="0"/>
                <a:sym typeface="+mn-ea"/>
              </a:rPr>
              <a:t>。</a:t>
            </a:r>
            <a:endParaRPr sz="1200" dirty="0">
              <a:latin typeface="微软雅黑" charset="0"/>
              <a:ea typeface="微软雅黑" charset="0"/>
              <a:cs typeface="微软雅黑" charset="0"/>
              <a:sym typeface="+mn-ea"/>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2</a:t>
            </a:r>
            <a:r>
              <a:rPr lang="zh-CN" altLang="en-US" sz="1200" dirty="0">
                <a:latin typeface="微软雅黑" charset="0"/>
                <a:ea typeface="微软雅黑" charset="0"/>
                <a:cs typeface="微软雅黑" charset="0"/>
              </a:rPr>
              <a:t>）成立特定组织（法人）负责“中央银行“的日常运营。</a:t>
            </a:r>
            <a:endParaRPr lang="zh-CN" altLang="en-US" sz="1200" dirty="0">
              <a:latin typeface="微软雅黑" charset="0"/>
              <a:ea typeface="微软雅黑" charset="0"/>
              <a:cs typeface="微软雅黑" charset="0"/>
            </a:endParaRPr>
          </a:p>
          <a:p>
            <a:pPr indent="0">
              <a:lnSpc>
                <a:spcPct val="180000"/>
              </a:lnSpc>
              <a:spcBef>
                <a:spcPts val="0"/>
              </a:spcBef>
              <a:spcAft>
                <a:spcPts val="0"/>
              </a:spcAft>
              <a:buFont typeface="Wingdings" panose="05000000000000000000" pitchFamily="2" charset="2"/>
              <a:buNone/>
            </a:pPr>
            <a:r>
              <a:rPr lang="zh-CN" altLang="en-US" sz="1200" dirty="0">
                <a:latin typeface="微软雅黑" charset="0"/>
                <a:ea typeface="微软雅黑" charset="0"/>
                <a:cs typeface="微软雅黑" charset="0"/>
              </a:rPr>
              <a:t>（</a:t>
            </a:r>
            <a:r>
              <a:rPr lang="en-US" altLang="zh-CN" sz="1200" dirty="0">
                <a:latin typeface="微软雅黑" charset="0"/>
                <a:ea typeface="微软雅黑" charset="0"/>
                <a:cs typeface="微软雅黑" charset="0"/>
              </a:rPr>
              <a:t>3</a:t>
            </a:r>
            <a:r>
              <a:rPr lang="zh-CN" altLang="en-US" sz="1200" dirty="0">
                <a:latin typeface="微软雅黑" charset="0"/>
                <a:ea typeface="微软雅黑" charset="0"/>
                <a:cs typeface="微软雅黑" charset="0"/>
              </a:rPr>
              <a:t>）房屋租赁公司（公共住房、市场租赁、商业运营）内部跨场结算采用营销费用调拨的方式；房屋租赁公司与城服公司间采用开票结算的方式。</a:t>
            </a:r>
            <a:endParaRPr lang="zh-CN" altLang="en-US" sz="1200" dirty="0">
              <a:latin typeface="微软雅黑" charset="0"/>
              <a:ea typeface="微软雅黑" charset="0"/>
              <a:cs typeface="微软雅黑" charset="0"/>
            </a:endParaRPr>
          </a:p>
        </p:txBody>
      </p:sp>
      <p:sp>
        <p:nvSpPr>
          <p:cNvPr id="22" name="右箭头 21"/>
          <p:cNvSpPr/>
          <p:nvPr>
            <p:custDataLst>
              <p:tags r:id="rId6"/>
            </p:custDataLst>
          </p:nvPr>
        </p:nvSpPr>
        <p:spPr>
          <a:xfrm rot="5400000">
            <a:off x="3293110" y="4718050"/>
            <a:ext cx="379730" cy="50101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17" name="圆角矩形 16"/>
          <p:cNvSpPr/>
          <p:nvPr>
            <p:custDataLst>
              <p:tags r:id="rId7"/>
            </p:custDataLst>
          </p:nvPr>
        </p:nvSpPr>
        <p:spPr>
          <a:xfrm>
            <a:off x="2821305" y="3923665"/>
            <a:ext cx="1265555" cy="968375"/>
          </a:xfrm>
          <a:prstGeom prst="roundRect">
            <a:avLst>
              <a:gd name="adj" fmla="val 3450"/>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spcAft>
                <a:spcPts val="0"/>
              </a:spcAft>
            </a:pPr>
            <a:r>
              <a:rPr lang="zh-CN" altLang="en-US" sz="1200" b="1" dirty="0">
                <a:latin typeface="微软雅黑" charset="0"/>
                <a:ea typeface="微软雅黑" charset="0"/>
                <a:sym typeface="+mn-ea"/>
              </a:rPr>
              <a:t>房屋租赁公司会员平台</a:t>
            </a:r>
            <a:endParaRPr lang="zh-CN" altLang="en-US" sz="1200" b="1" dirty="0">
              <a:latin typeface="微软雅黑" charset="0"/>
              <a:ea typeface="微软雅黑" charset="0"/>
              <a:sym typeface="+mn-ea"/>
            </a:endParaRPr>
          </a:p>
          <a:p>
            <a:pPr algn="ctr">
              <a:lnSpc>
                <a:spcPct val="120000"/>
              </a:lnSpc>
              <a:spcBef>
                <a:spcPts val="0"/>
              </a:spcBef>
              <a:spcAft>
                <a:spcPts val="0"/>
              </a:spcAft>
            </a:pPr>
            <a:r>
              <a:rPr lang="zh-CN" altLang="en-US" sz="1200" b="1" dirty="0">
                <a:latin typeface="微软雅黑" charset="0"/>
                <a:ea typeface="微软雅黑" charset="0"/>
                <a:sym typeface="+mn-ea"/>
              </a:rPr>
              <a:t>清结算</a:t>
            </a:r>
            <a:endParaRPr lang="zh-CN" altLang="en-US" sz="1200" b="1" dirty="0">
              <a:latin typeface="微软雅黑" charset="0"/>
              <a:ea typeface="微软雅黑" charset="0"/>
              <a:sym typeface="+mn-ea"/>
            </a:endParaRPr>
          </a:p>
        </p:txBody>
      </p:sp>
      <p:sp>
        <p:nvSpPr>
          <p:cNvPr id="34" name="椭圆 33"/>
          <p:cNvSpPr/>
          <p:nvPr>
            <p:custDataLst>
              <p:tags r:id="rId8"/>
            </p:custDataLst>
          </p:nvPr>
        </p:nvSpPr>
        <p:spPr>
          <a:xfrm>
            <a:off x="4722495" y="456882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城服</a:t>
            </a:r>
            <a:endParaRPr lang="zh-CN" altLang="en-US" sz="1200" b="1">
              <a:latin typeface="微软雅黑" charset="0"/>
              <a:ea typeface="微软雅黑" charset="0"/>
            </a:endParaRPr>
          </a:p>
          <a:p>
            <a:pPr algn="ctr"/>
            <a:r>
              <a:rPr lang="zh-CN" altLang="en-US" sz="1200" b="1">
                <a:latin typeface="微软雅黑" charset="0"/>
                <a:ea typeface="微软雅黑" charset="0"/>
              </a:rPr>
              <a:t>公司</a:t>
            </a:r>
            <a:endParaRPr lang="zh-CN" altLang="en-US" sz="1200" b="1">
              <a:latin typeface="微软雅黑" charset="0"/>
              <a:ea typeface="微软雅黑" charset="0"/>
            </a:endParaRPr>
          </a:p>
        </p:txBody>
      </p:sp>
      <p:sp>
        <p:nvSpPr>
          <p:cNvPr id="35" name="椭圆 34"/>
          <p:cNvSpPr/>
          <p:nvPr>
            <p:custDataLst>
              <p:tags r:id="rId9"/>
            </p:custDataLst>
          </p:nvPr>
        </p:nvSpPr>
        <p:spPr>
          <a:xfrm>
            <a:off x="4692015" y="3220720"/>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市场</a:t>
            </a:r>
            <a:endParaRPr lang="zh-CN" altLang="en-US" sz="1200" b="1">
              <a:latin typeface="微软雅黑" charset="0"/>
              <a:ea typeface="微软雅黑" charset="0"/>
            </a:endParaRPr>
          </a:p>
          <a:p>
            <a:pPr algn="ctr"/>
            <a:r>
              <a:rPr lang="zh-CN" altLang="en-US" sz="1200" b="1">
                <a:latin typeface="微软雅黑" charset="0"/>
                <a:ea typeface="微软雅黑" charset="0"/>
              </a:rPr>
              <a:t>租赁</a:t>
            </a:r>
            <a:endParaRPr lang="zh-CN" altLang="en-US" sz="1200" b="1">
              <a:latin typeface="微软雅黑" charset="0"/>
              <a:ea typeface="微软雅黑" charset="0"/>
            </a:endParaRPr>
          </a:p>
        </p:txBody>
      </p:sp>
      <p:sp>
        <p:nvSpPr>
          <p:cNvPr id="44" name="椭圆 43"/>
          <p:cNvSpPr/>
          <p:nvPr>
            <p:custDataLst>
              <p:tags r:id="rId10"/>
            </p:custDataLst>
          </p:nvPr>
        </p:nvSpPr>
        <p:spPr>
          <a:xfrm>
            <a:off x="929005" y="471487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商业</a:t>
            </a:r>
            <a:endParaRPr lang="zh-CN" altLang="en-US" sz="1200" b="1">
              <a:latin typeface="微软雅黑" charset="0"/>
              <a:ea typeface="微软雅黑" charset="0"/>
            </a:endParaRPr>
          </a:p>
          <a:p>
            <a:pPr algn="ctr"/>
            <a:r>
              <a:rPr lang="zh-CN" altLang="en-US" sz="1200" b="1">
                <a:latin typeface="微软雅黑" charset="0"/>
                <a:ea typeface="微软雅黑" charset="0"/>
              </a:rPr>
              <a:t>运营</a:t>
            </a:r>
            <a:endParaRPr lang="zh-CN" altLang="en-US" sz="1200" b="1">
              <a:latin typeface="微软雅黑" charset="0"/>
              <a:ea typeface="微软雅黑" charset="0"/>
            </a:endParaRPr>
          </a:p>
        </p:txBody>
      </p:sp>
      <p:sp>
        <p:nvSpPr>
          <p:cNvPr id="45" name="椭圆 44"/>
          <p:cNvSpPr/>
          <p:nvPr>
            <p:custDataLst>
              <p:tags r:id="rId11"/>
            </p:custDataLst>
          </p:nvPr>
        </p:nvSpPr>
        <p:spPr>
          <a:xfrm>
            <a:off x="982345" y="3231515"/>
            <a:ext cx="1257300" cy="793115"/>
          </a:xfrm>
          <a:prstGeom prst="ellipse">
            <a:avLst/>
          </a:prstGeom>
          <a:solidFill>
            <a:srgbClr val="4472C4"/>
          </a:solidFill>
          <a:ln>
            <a:solidFill>
              <a:srgbClr val="4472C4"/>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latin typeface="微软雅黑" charset="0"/>
                <a:ea typeface="微软雅黑" charset="0"/>
              </a:rPr>
              <a:t>公共</a:t>
            </a:r>
            <a:endParaRPr lang="zh-CN" altLang="en-US" sz="1200" b="1">
              <a:latin typeface="微软雅黑" charset="0"/>
              <a:ea typeface="微软雅黑" charset="0"/>
            </a:endParaRPr>
          </a:p>
          <a:p>
            <a:pPr algn="ctr"/>
            <a:r>
              <a:rPr lang="zh-CN" altLang="en-US" sz="1200" b="1">
                <a:latin typeface="微软雅黑" charset="0"/>
                <a:ea typeface="微软雅黑" charset="0"/>
              </a:rPr>
              <a:t>住房</a:t>
            </a:r>
            <a:endParaRPr lang="zh-CN" altLang="en-US" sz="1200" b="1">
              <a:latin typeface="微软雅黑" charset="0"/>
              <a:ea typeface="微软雅黑" charset="0"/>
            </a:endParaRPr>
          </a:p>
        </p:txBody>
      </p:sp>
      <p:sp>
        <p:nvSpPr>
          <p:cNvPr id="18" name="右箭头 17"/>
          <p:cNvSpPr/>
          <p:nvPr>
            <p:custDataLst>
              <p:tags r:id="rId12"/>
            </p:custDataLst>
          </p:nvPr>
        </p:nvSpPr>
        <p:spPr>
          <a:xfrm rot="20100000">
            <a:off x="4317365" y="367220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0" name="右箭头 19"/>
          <p:cNvSpPr/>
          <p:nvPr>
            <p:custDataLst>
              <p:tags r:id="rId13"/>
            </p:custDataLst>
          </p:nvPr>
        </p:nvSpPr>
        <p:spPr>
          <a:xfrm rot="13200000">
            <a:off x="2372995" y="365823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1" name="右箭头 20"/>
          <p:cNvSpPr/>
          <p:nvPr>
            <p:custDataLst>
              <p:tags r:id="rId14"/>
            </p:custDataLst>
          </p:nvPr>
        </p:nvSpPr>
        <p:spPr>
          <a:xfrm rot="1200000">
            <a:off x="4305935" y="4685665"/>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23" name="右箭头 22"/>
          <p:cNvSpPr/>
          <p:nvPr>
            <p:custDataLst>
              <p:tags r:id="rId15"/>
            </p:custDataLst>
          </p:nvPr>
        </p:nvSpPr>
        <p:spPr>
          <a:xfrm rot="8820000">
            <a:off x="2395855" y="4693920"/>
            <a:ext cx="304800" cy="2838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latin typeface="微软雅黑" charset="0"/>
              <a:ea typeface="微软雅黑" charset="0"/>
            </a:endParaRPr>
          </a:p>
        </p:txBody>
      </p:sp>
      <p:sp>
        <p:nvSpPr>
          <p:cNvPr id="19" name="圆角矩形 18"/>
          <p:cNvSpPr/>
          <p:nvPr>
            <p:custDataLst>
              <p:tags r:id="rId16"/>
            </p:custDataLst>
          </p:nvPr>
        </p:nvSpPr>
        <p:spPr>
          <a:xfrm>
            <a:off x="2750820" y="5203825"/>
            <a:ext cx="1397000" cy="407670"/>
          </a:xfrm>
          <a:prstGeom prst="roundRect">
            <a:avLst>
              <a:gd name="adj" fmla="val 3450"/>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Bef>
                <a:spcPts val="0"/>
              </a:spcBef>
              <a:spcAft>
                <a:spcPts val="0"/>
              </a:spcAft>
            </a:pPr>
            <a:r>
              <a:rPr lang="zh-CN" altLang="en-US" sz="1200" b="1" dirty="0">
                <a:latin typeface="微软雅黑" charset="0"/>
                <a:ea typeface="微软雅黑" charset="0"/>
                <a:sym typeface="+mn-ea"/>
              </a:rPr>
              <a:t>第三方发分主体</a:t>
            </a:r>
            <a:endParaRPr lang="zh-CN" altLang="en-US" sz="1200" b="1" dirty="0">
              <a:latin typeface="微软雅黑" charset="0"/>
              <a:ea typeface="微软雅黑" charset="0"/>
              <a:sym typeface="+mn-ea"/>
            </a:endParaRPr>
          </a:p>
        </p:txBody>
      </p:sp>
      <p:sp>
        <p:nvSpPr>
          <p:cNvPr id="2" name="文本框 1"/>
          <p:cNvSpPr txBox="1"/>
          <p:nvPr/>
        </p:nvSpPr>
        <p:spPr>
          <a:xfrm>
            <a:off x="588645" y="5937885"/>
            <a:ext cx="5673725" cy="648335"/>
          </a:xfrm>
          <a:prstGeom prst="rect">
            <a:avLst/>
          </a:prstGeom>
          <a:noFill/>
        </p:spPr>
        <p:txBody>
          <a:bodyPr wrap="square" rtlCol="0" anchor="t">
            <a:noAutofit/>
          </a:bodyPr>
          <a:lstStyle/>
          <a:p>
            <a:r>
              <a:rPr lang="zh-CN" altLang="en-US" sz="1400" b="1">
                <a:solidFill>
                  <a:srgbClr val="0074B8"/>
                </a:solidFill>
                <a:latin typeface="微软雅黑" charset="0"/>
                <a:ea typeface="微软雅黑" charset="0"/>
                <a:cs typeface="微软雅黑" charset="0"/>
              </a:rPr>
              <a:t>研讨一：是否成立独立的法人组织，负责“中央银行”日常运营及日常积分清结算工作。</a:t>
            </a:r>
            <a:endParaRPr lang="zh-CN" altLang="en-US" sz="1400" b="1">
              <a:solidFill>
                <a:srgbClr val="0074B8"/>
              </a:solidFill>
              <a:latin typeface="微软雅黑" charset="0"/>
              <a:ea typeface="微软雅黑" charset="0"/>
              <a:cs typeface="微软雅黑" charset="0"/>
            </a:endParaRPr>
          </a:p>
        </p:txBody>
      </p:sp>
      <p:sp>
        <p:nvSpPr>
          <p:cNvPr id="100" name="文本框 99"/>
          <p:cNvSpPr txBox="1"/>
          <p:nvPr/>
        </p:nvSpPr>
        <p:spPr>
          <a:xfrm>
            <a:off x="6771640" y="5937885"/>
            <a:ext cx="4728210" cy="648335"/>
          </a:xfrm>
          <a:prstGeom prst="rect">
            <a:avLst/>
          </a:prstGeom>
          <a:noFill/>
          <a:ln w="9525">
            <a:noFill/>
          </a:ln>
        </p:spPr>
        <p:txBody>
          <a:bodyPr>
            <a:noAutofit/>
          </a:bodyPr>
          <a:lstStyle/>
          <a:p>
            <a:pPr algn="l">
              <a:buClrTx/>
              <a:buSzTx/>
              <a:buFontTx/>
            </a:pPr>
            <a:r>
              <a:rPr lang="zh-CN" altLang="en-US" sz="1400" b="1">
                <a:solidFill>
                  <a:srgbClr val="0074B8"/>
                </a:solidFill>
                <a:latin typeface="微软雅黑" charset="0"/>
                <a:ea typeface="微软雅黑" charset="0"/>
                <a:cs typeface="微软雅黑" charset="0"/>
              </a:rPr>
              <a:t>研讨二：基于公司业务实际，研讨积分结算采用哪种结算方式，发分结算VS兑分结算。</a:t>
            </a:r>
            <a:endParaRPr lang="zh-CN" altLang="en-US" sz="1400" b="1">
              <a:solidFill>
                <a:srgbClr val="0074B8"/>
              </a:solidFill>
              <a:latin typeface="微软雅黑" charset="0"/>
              <a:ea typeface="微软雅黑" charset="0"/>
              <a:cs typeface="微软雅黑" charset="0"/>
            </a:endParaRPr>
          </a:p>
        </p:txBody>
      </p:sp>
      <p:sp>
        <p:nvSpPr>
          <p:cNvPr id="5" name="文本框 4"/>
          <p:cNvSpPr txBox="1"/>
          <p:nvPr/>
        </p:nvSpPr>
        <p:spPr>
          <a:xfrm>
            <a:off x="695325" y="347980"/>
            <a:ext cx="6771005" cy="607695"/>
          </a:xfrm>
          <a:prstGeom prst="rect">
            <a:avLst/>
          </a:prstGeom>
          <a:noFill/>
        </p:spPr>
        <p:txBody>
          <a:bodyPr wrap="square" rtlCol="0">
            <a:spAutoFit/>
          </a:bodyPr>
          <a:lstStyle/>
          <a:p>
            <a:pPr>
              <a:lnSpc>
                <a:spcPct val="120000"/>
              </a:lnSpc>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sym typeface="+mn-ea"/>
              </a:rPr>
              <a:t>关键设计要素说明——积分清结算模型</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Segoe UI Black" panose="020B0A02040204020203"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774" y="1167848"/>
            <a:ext cx="4452730" cy="452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感谢！</a:t>
            </a:r>
            <a:endParaRPr kumimoji="0" lang="en-US" sz="96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ADV_TOP" val="493.4643"/>
  <p:tag name="ADV_LEFT" val="175.979"/>
  <p:tag name="ADV_HEIGHT" val="29.19685"/>
  <p:tag name="ADV_WIDTH" val="610.7717"/>
  <p:tag name="ADV_COPYRIGHT" val="TRUE"/>
</p:tagLst>
</file>

<file path=ppt/tags/tag2.xml><?xml version="1.0" encoding="utf-8"?>
<p:tagLst xmlns:p="http://schemas.openxmlformats.org/presentationml/2006/main">
  <p:tag name="ADV_TOP" val="493.4643"/>
  <p:tag name="ADV_LEFT" val="175.979"/>
  <p:tag name="ADV_HEIGHT" val="29.19685"/>
  <p:tag name="ADV_WIDTH" val="610.7717"/>
  <p:tag name="ADV_COPYRIGHT" val="TRUE"/>
</p:tagLst>
</file>

<file path=ppt/tags/tag3.xml><?xml version="1.0" encoding="utf-8"?>
<p:tagLst xmlns:p="http://schemas.openxmlformats.org/presentationml/2006/main">
  <p:tag name="ADV_TOP" val="493.4643"/>
  <p:tag name="ADV_LEFT" val="175.979"/>
  <p:tag name="ADV_HEIGHT" val="29.19685"/>
  <p:tag name="ADV_WIDTH" val="610.7717"/>
  <p:tag name="ADV_COPYRIGHT" val="TRU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3B8VcOYfTJiMFx2jVW7mWg"/>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4uWjOUqYx1o.HBg.fRbAjg"/>
</p:tagLst>
</file>

<file path=ppt/tags/tag10.xml><?xml version="1.0" encoding="utf-8"?>
<p:tagLst xmlns:p="http://schemas.openxmlformats.org/presentationml/2006/main">
  <p:tag name="ADV_TOP" val="497.6471"/>
  <p:tag name="ADV_LEFT" val="121.9184"/>
  <p:tag name="ADV_HEIGHT" val="29.19685"/>
  <p:tag name="ADV_WIDTH" val="538.937"/>
  <p:tag name="ADV_COPYRIGHT" val="TRU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3B8VcOYfTJiMFx2jVW7mWg"/>
</p:tagLst>
</file>

<file path=ppt/tags/tag13.xml><?xml version="1.0" encoding="utf-8"?>
<p:tagLst xmlns:p="http://schemas.openxmlformats.org/presentationml/2006/main">
  <p:tag name="ADV_TOP" val="497.6471"/>
  <p:tag name="ADV_LEFT" val="121.9184"/>
  <p:tag name="ADV_HEIGHT" val="29.19685"/>
  <p:tag name="ADV_WIDTH" val="538.937"/>
  <p:tag name="ADV_COPYRIGHT" val="TRU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4uWjOUqYx1o.HBg.fRbAjg"/>
</p:tagLst>
</file>

<file path=ppt/tags/tag16.xml><?xml version="1.0" encoding="utf-8"?>
<p:tagLst xmlns:p="http://schemas.openxmlformats.org/presentationml/2006/main">
  <p:tag name="ADV_TOP" val="497.6471"/>
  <p:tag name="ADV_LEFT" val="121.9184"/>
  <p:tag name="ADV_HEIGHT" val="29.19685"/>
  <p:tag name="ADV_WIDTH" val="538.937"/>
  <p:tag name="ADV_COPYRIGHT" val="TRU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ABLE_ENDDRAG_ORIGIN_RECT" val="447*294"/>
  <p:tag name="TABLE_ENDDRAG_RECT" val="1033*189*447*294"/>
  <p:tag name="KSO_WM_BEAUTIFY_FLAG" val=""/>
</p:tagLst>
</file>

<file path=ppt/tags/tag19.xml><?xml version="1.0" encoding="utf-8"?>
<p:tagLst xmlns:p="http://schemas.openxmlformats.org/presentationml/2006/main">
  <p:tag name="TABLE_ENDDRAG_ORIGIN_RECT" val="455*401"/>
  <p:tag name="TABLE_ENDDRAG_RECT" val="40*90*455*401"/>
  <p:tag name="KSO_WM_BEAUTIFY_FLAG" val=""/>
</p:tagLst>
</file>

<file path=ppt/tags/tag20.xml><?xml version="1.0" encoding="utf-8"?>
<p:tagLst xmlns:p="http://schemas.openxmlformats.org/presentationml/2006/main">
  <p:tag name="TABLE_ENDDRAG_ORIGIN_RECT" val="431*412"/>
  <p:tag name="TABLE_ENDDRAG_RECT" val="506*90*431*412"/>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4.xml><?xml version="1.0" encoding="utf-8"?>
<p:tagLst xmlns:p="http://schemas.openxmlformats.org/presentationml/2006/main">
  <p:tag name="THINKCELLUNDODONOTDELETE" val="0"/>
</p:tagLst>
</file>

<file path=ppt/theme/theme1.xml><?xml version="1.0" encoding="utf-8"?>
<a:theme xmlns:a="http://schemas.openxmlformats.org/drawingml/2006/main" name="7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自定义 1">
      <a:majorFont>
        <a:latin typeface="KPMG Extralight"/>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5G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0d5dwoi">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ln>
          <a:solidFill>
            <a:srgbClr val="FF9999"/>
          </a:solidFill>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rtlCol="0" anchor="ctr">
        <a:noAutofit/>
      </a:bodyPr>
      <a:lstStyle>
        <a:defPPr marR="0" algn="ctr" defTabSz="914400" rtl="0" eaLnBrk="0" fontAlgn="base" latinLnBrk="0" hangingPunct="0">
          <a:lnSpc>
            <a:spcPct val="100000"/>
          </a:lnSpc>
          <a:spcBef>
            <a:spcPct val="20000"/>
          </a:spcBef>
          <a:spcAft>
            <a:spcPct val="0"/>
          </a:spcAft>
          <a:buClrTx/>
          <a:buSzTx/>
          <a:defRPr kumimoji="1" sz="2000" b="1" dirty="0" smtClean="0">
            <a:latin typeface="+mn-lt"/>
            <a:ea typeface="+mn-ea"/>
            <a:cs typeface="微软雅黑" panose="020B0503020204020204" pitchFamily="34" charset="-122"/>
            <a:sym typeface="Calibri" panose="020F050202020403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41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41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1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c="http://schemas.microsoft.com/office/infopath/2007/PartnerControls" xmlns:p="http://schemas.microsoft.com/office/2006/metadata/properties" xmlns:xsi="http://www.w3.org/2001/XMLSchema-instance">
  <documentManagement>
    <PublishingExpirationDate xmlns="http://schemas.microsoft.com/sharepoint/v3" xsi:nil="true"/>
    <PublishingStartDate xmlns="http://schemas.microsoft.com/sharepoint/v3" xsi:nil="true"/>
    <Email_x0020_From xmlns="1EB9234B-3EF0-4438-85C1-29115B6A0884" xsi:nil="true"/>
    <Email_x0020_Importance xmlns="1EB9234B-3EF0-4438-85C1-29115B6A0884" xsi:nil="true"/>
    <Email_x0020_Subject xmlns="1EB9234B-3EF0-4438-85C1-29115B6A0884" xsi:nil="true"/>
    <Email_x0020_Cc xmlns="1EB9234B-3EF0-4438-85C1-29115B6A0884" xsi:nil="true"/>
    <Email_x0020_DateTime xmlns="1EB9234B-3EF0-4438-85C1-29115B6A0884" xsi:nil="true"/>
    <Email_x0020_To xmlns="1EB9234B-3EF0-4438-85C1-29115B6A0884" xsi:nil="true"/>
    <Display xmlns="1EB9234B-3EF0-4438-85C1-29115B6A0884">true</Display>
  </documentManagement>
</p:properties>
</file>

<file path=customXml/item3.xml><?xml version="1.0" encoding="utf-8"?>
<ct:contentTypeSchema xmlns:ct="http://schemas.microsoft.com/office/2006/metadata/contentType" xmlns:ma="http://schemas.microsoft.com/office/2006/metadata/properties/metaAttributes" ma:contentTypeID="0x0101002AB2D2FD19F34B4C81FB877218B32E98" ma:contentTypeVersion="" ct:_="" ma:_="" ma:contentTypeDescription="Create a new document." ma:contentTypeScope="" ma:contentTypeName="Document" ma:versionID="6517f2a19c7926be7f13e765facea42a">
  <xsd:schema xmlns:ns3="61c59613-fa3d-49ac-a488-29be1c5cd5ec" xmlns:ns1="http://schemas.microsoft.com/sharepoint/v3" xmlns:xs="http://www.w3.org/2001/XMLSchema" xmlns:p="http://schemas.microsoft.com/office/2006/metadata/properties" xmlns:ns2="1EB9234B-3EF0-4438-85C1-29115B6A0884" xmlns:xsd="http://www.w3.org/2001/XMLSchema" ns3:_="" ma:root="true" ma:fieldsID="8fade61f09b4dd69c711cb280a1f546f" ns1:_="" targetNamespace="http://schemas.microsoft.com/office/2006/metadata/properties" ns2:_="">
    <xsd:import namespace="http://schemas.microsoft.com/sharepoint/v3"/>
    <xsd:import namespace="1EB9234B-3EF0-4438-85C1-29115B6A0884"/>
    <xsd:import namespace="61c59613-fa3d-49ac-a488-29be1c5cd5ec"/>
    <xsd:element name="properties">
      <xsd:complexType>
        <xsd:sequence>
          <xsd:element name="documentManagement">
            <xsd:complexType>
              <xsd:all>
                <xsd:element minOccurs="0" ref="ns1:PublishingStartDate"/>
                <xsd:element minOccurs="0" ref="ns1:PublishingExpirationDate"/>
                <xsd:element minOccurs="0" ref="ns2:Email_x0020_Subject"/>
                <xsd:element minOccurs="0" ref="ns2:Email_x0020_From"/>
                <xsd:element minOccurs="0" ref="ns2:Email_x0020_To"/>
                <xsd:element minOccurs="0" ref="ns2:Email_x0020_Cc"/>
                <xsd:element minOccurs="0" ref="ns2:Email_x0020_DateTime"/>
                <xsd:element minOccurs="0" ref="ns2:Email_x0020_Importance"/>
                <xsd:element minOccurs="0" ref="ns2:Display"/>
                <xsd:element minOccurs="0" ref="ns3:SharedWithUsers"/>
              </xsd:all>
            </xsd:complexType>
          </xsd:element>
        </xsd:sequence>
      </xsd:complexType>
    </xsd:element>
  </xsd:schema>
  <xsd:schema xmlns:pc="http://schemas.microsoft.com/office/infopath/2007/PartnerControls" xmlns:xs="http://www.w3.org/2001/XMLSchema" xmlns:xsd="http://www.w3.org/2001/XMLSchema" xmlns:dms="http://schemas.microsoft.com/office/2006/documentManagement/types" elementFormDefault="qualified" targetNamespace="http://schemas.microsoft.com/sharepoint/v3">
    <xsd:import namespace="http://schemas.microsoft.com/office/2006/documentManagement/types"/>
    <xsd:import namespace="http://schemas.microsoft.com/office/infopath/2007/PartnerControls"/>
    <xsd:element ma:description="Scheduling Start Date is a site column created by the Publishing feature. It is used to specify the date and time on which this page will first appear to site visitors." nillable="true" ma:displayName="Scheduling Start Date" name="PublishingStartDate" ma:index="4" ma:internalName="PublishingStartDate">
      <xsd:simpleType>
        <xsd:restriction base="dms:Unknown"/>
      </xsd:simpleType>
    </xsd:element>
    <xsd:element ma:description="Scheduling End Date is a site column created by the Publishing feature. It is used to specify the date and time on which this page will no longer appear to site visitors." nillable="true" ma:displayName="Scheduling End Date" name="PublishingExpirationDate" ma:index="5" ma:internalName="PublishingExpirationDate">
      <xsd:simpleType>
        <xsd:restriction base="dms:Unknown"/>
      </xsd:simpleType>
    </xsd:element>
  </xsd:schema>
  <xsd:schema xmlns:pc="http://schemas.microsoft.com/office/infopath/2007/PartnerControls" xmlns:xs="http://www.w3.org/2001/XMLSchema" xmlns:xsd="http://www.w3.org/2001/XMLSchema" xmlns:dms="http://schemas.microsoft.com/office/2006/documentManagement/types" elementFormDefault="qualified" targetNamespace="1EB9234B-3EF0-4438-85C1-29115B6A0884">
    <xsd:import namespace="http://schemas.microsoft.com/office/2006/documentManagement/types"/>
    <xsd:import namespace="http://schemas.microsoft.com/office/infopath/2007/PartnerControls"/>
    <xsd:element ma:readOnly="false" nillable="true" ma:displayName="Email Subject" name="Email_x0020_Subject" ma:index="6" ma:internalName="Email_x0020_Subject">
      <xsd:simpleType>
        <xsd:restriction base="dms:Text">
          <xsd:maxLength value="255"/>
        </xsd:restriction>
      </xsd:simpleType>
    </xsd:element>
    <xsd:element ma:readOnly="false" nillable="true" ma:displayName="Email From" name="Email_x0020_From" ma:index="7" ma:internalName="Email_x0020_From">
      <xsd:simpleType>
        <xsd:restriction base="dms:Text">
          <xsd:maxLength value="255"/>
        </xsd:restriction>
      </xsd:simpleType>
    </xsd:element>
    <xsd:element ma:readOnly="false" nillable="true" ma:displayName="Email To" name="Email_x0020_To" ma:index="8" ma:internalName="Email_x0020_To">
      <xsd:simpleType>
        <xsd:restriction base="dms:Text">
          <xsd:maxLength value="255"/>
        </xsd:restriction>
      </xsd:simpleType>
    </xsd:element>
    <xsd:element ma:readOnly="false" nillable="true" ma:displayName="Email Cc" name="Email_x0020_Cc" ma:index="9" ma:internalName="Email_x0020_Cc">
      <xsd:simpleType>
        <xsd:restriction base="dms:Text">
          <xsd:maxLength value="255"/>
        </xsd:restriction>
      </xsd:simpleType>
    </xsd:element>
    <xsd:element ma:readOnly="false" nillable="true" ma:format="DateTime" ma:displayName="Email DateTime" name="Email_x0020_DateTime" ma:index="10" ma:internalName="Email_x0020_DateTime">
      <xsd:simpleType>
        <xsd:restriction base="dms:DateTime"/>
      </xsd:simpleType>
    </xsd:element>
    <xsd:element ma:readOnly="false" nillable="true" ma:displayName="Email Importance" name="Email_x0020_Importance" ma:index="11" ma:internalName="Email_x0020_Importance">
      <xsd:simpleType>
        <xsd:restriction base="dms:Text">
          <xsd:maxLength value="255"/>
        </xsd:restriction>
      </xsd:simpleType>
    </xsd:element>
    <xsd:element nillable="true" ma:displayName="Display" name="Display" ma:default="1" ma:index="16" ma:internalName="Display">
      <xsd:simpleType>
        <xsd:restriction base="dms:Boolean"/>
      </xsd:simpleType>
    </xsd:element>
  </xsd:schema>
  <xsd:schema xmlns:pc="http://schemas.microsoft.com/office/infopath/2007/PartnerControls" xmlns:xs="http://www.w3.org/2001/XMLSchema" xmlns:xsd="http://www.w3.org/2001/XMLSchema" xmlns:dms="http://schemas.microsoft.com/office/2006/documentManagement/types" elementFormDefault="qualified" targetNamespace="61c59613-fa3d-49ac-a488-29be1c5cd5ec">
    <xsd:import namespace="http://schemas.microsoft.com/office/2006/documentManagement/types"/>
    <xsd:import namespace="http://schemas.microsoft.com/office/infopath/2007/PartnerControls"/>
    <xsd:element ma:readOnly="true" nillable="true" ma:displayName="Shared With" name="SharedWithUsers" ma:index="17" ma:internalName="SharedWithUsers">
      <xsd:complexType>
        <xsd:complexContent>
          <xsd:extension base="dms:UserMulti">
            <xsd:sequence>
              <xsd:element maxOccurs="unbounded" name="UserInfo" minOccurs="0">
                <xsd:complexType>
                  <xsd:sequence>
                    <xsd:element type="xsd:string" name="DisplayName" minOccurs="0"/>
                    <xsd:element type="dms:UserId" nillable="true" name="AccountId" minOccurs="0"/>
                    <xsd:element type="xsd:string" name="AccountType" minOccurs="0"/>
                  </xsd:sequence>
                </xsd:complexType>
              </xsd:element>
            </xsd:sequence>
          </xsd:extension>
        </xsd:complexContent>
      </xsd:complexType>
    </xsd:element>
  </xsd:schema>
  <xsd:schema xmlns:dcterms="http://purl.org/dc/terms/" xmlns:odoc="http://schemas.microsoft.com/internal/obd" xmlns="http://schemas.openxmlformats.org/package/2006/metadata/core-properties" xmlns:xsd="http://www.w3.org/2001/XMLSchema" xmlns:dc="http://purl.org/dc/elements/1.1/" xmlns:xsi="http://www.w3.org/2001/XMLSchema-instance" attributeFormDefault="unqualified" elementFormDefault="qualified" blockDefault="#all" targetNamespace="http://schemas.openxmlformats.org/package/2006/metadata/core-properties">
    <xsd:import schemaLocation="http://dublincore.org/schemas/xmls/qdc/2003/04/02/dc.xsd" namespace="http://purl.org/dc/elements/1.1/"/>
    <xsd:import schemaLocation="http://dublincore.org/schemas/xmls/qdc/2003/04/02/dcterms.xsd" namespace="http://purl.org/dc/terms/"/>
    <xsd:element type="CT_coreProperties" name="coreProperties"/>
    <xsd:complexType name="CT_coreProperties">
      <xsd:all>
        <xsd:element maxOccurs="1" minOccurs="0" ref="dc:creator"/>
        <xsd:element maxOccurs="1" minOccurs="0" ref="dcterms:created"/>
        <xsd:element maxOccurs="1" minOccurs="0" ref="dc:identifier"/>
        <xsd:element type="xsd:string" maxOccurs="1" ma:displayName="Content Type" name="contentType" minOccurs="0" ma:index="12"/>
        <xsd:element maxOccurs="1" ma:displayName="Title" minOccurs="0" ma:index="3" ref="dc:title"/>
        <xsd:element maxOccurs="1" minOccurs="0" ref="dc:subject"/>
        <xsd:element maxOccurs="1" minOccurs="0" ref="dc:description"/>
        <xsd:element type="xsd:string" maxOccurs="1" name="keywords" minOccurs="0"/>
        <xsd:element maxOccurs="1" minOccurs="0" ref="dc:language"/>
        <xsd:element type="xsd:string" maxOccurs="1" name="category" minOccurs="0"/>
        <xsd:element type="xsd:string" maxOccurs="1" name="version" minOccurs="0"/>
        <xsd:element type="xsd:string" maxOccurs="1" name="revision" minOccurs="0">
          <xsd:annotation>
            <xsd:documentation>
                        This value indicates the number of saves or revisions. The application is responsible for updating this value after each revision.
                    </xsd:documentation>
          </xsd:annotation>
        </xsd:element>
        <xsd:element type="xsd:string" maxOccurs="1" name="lastModifiedBy" minOccurs="0"/>
        <xsd:element maxOccurs="1" minOccurs="0" ref="dcterms:modified"/>
        <xsd:element type="xsd:string" maxOccurs="1" name="contentStatus" minOccurs="0"/>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Props411.xml><?xml version="1.0" encoding="utf-8"?>
<ds:datastoreItem xmlns:ds="http://schemas.openxmlformats.org/officeDocument/2006/customXml" ds:itemID="{E6514A09-765E-4393-80CA-D13DCB2DA4A4}">
  <ds:schemaRefs/>
</ds:datastoreItem>
</file>

<file path=customXml/itemProps412.xml><?xml version="1.0" encoding="utf-8"?>
<ds:datastoreItem xmlns:ds="http://schemas.openxmlformats.org/officeDocument/2006/customXml" ds:itemID="{A6AB9A83-368B-41D4-97FA-E9F00DB82C03}">
  <ds:schemaRefs/>
</ds:datastoreItem>
</file>

<file path=customXml/itemProps413.xml><?xml version="1.0" encoding="utf-8"?>
<ds:datastoreItem xmlns:ds="http://schemas.openxmlformats.org/officeDocument/2006/customXml" ds:itemID="{AC59C3E5-A26C-48CE-BFC2-80A5CA8DEA11}">
  <ds:schemaRefs/>
</ds:datastoreItem>
</file>

<file path=docProps/app.xml><?xml version="1.0" encoding="utf-8"?>
<Properties xmlns="http://schemas.openxmlformats.org/officeDocument/2006/extended-properties" xmlns:vt="http://schemas.openxmlformats.org/officeDocument/2006/docPropsVTypes">
  <TotalTime>0</TotalTime>
  <Words>15237</Words>
  <Application>WPS 演示</Application>
  <PresentationFormat>Widescreen</PresentationFormat>
  <Paragraphs>4067</Paragraphs>
  <Slides>31</Slides>
  <Notes>30</Notes>
  <HiddenSlides>2</HiddenSlides>
  <MMClips>0</MMClips>
  <ScaleCrop>false</ScaleCrop>
  <HeadingPairs>
    <vt:vector size="8" baseType="variant">
      <vt:variant>
        <vt:lpstr>已用的字体</vt:lpstr>
      </vt:variant>
      <vt:variant>
        <vt:i4>44</vt:i4>
      </vt:variant>
      <vt:variant>
        <vt:lpstr>主题</vt:lpstr>
      </vt:variant>
      <vt:variant>
        <vt:i4>7</vt:i4>
      </vt:variant>
      <vt:variant>
        <vt:lpstr>嵌入 OLE 服务器</vt:lpstr>
      </vt:variant>
      <vt:variant>
        <vt:i4>7</vt:i4>
      </vt:variant>
      <vt:variant>
        <vt:lpstr>幻灯片标题</vt:lpstr>
      </vt:variant>
      <vt:variant>
        <vt:i4>31</vt:i4>
      </vt:variant>
    </vt:vector>
  </HeadingPairs>
  <TitlesOfParts>
    <vt:vector size="89" baseType="lpstr">
      <vt:lpstr>Arial</vt:lpstr>
      <vt:lpstr>宋体</vt:lpstr>
      <vt:lpstr>Wingdings</vt:lpstr>
      <vt:lpstr>微软雅黑</vt:lpstr>
      <vt:lpstr>汉仪旗黑</vt:lpstr>
      <vt:lpstr>Arial</vt:lpstr>
      <vt:lpstr>Univers for KPMG</vt:lpstr>
      <vt:lpstr>黑体</vt:lpstr>
      <vt:lpstr>微软雅黑</vt:lpstr>
      <vt:lpstr>华文楷体</vt:lpstr>
      <vt:lpstr>汉仪书宋二KW</vt:lpstr>
      <vt:lpstr>Calibri</vt:lpstr>
      <vt:lpstr>Helvetica Neue</vt:lpstr>
      <vt:lpstr>Open Sans</vt:lpstr>
      <vt:lpstr>等线</vt:lpstr>
      <vt:lpstr>等线</vt:lpstr>
      <vt:lpstr>Georgia</vt:lpstr>
      <vt:lpstr>MiSans</vt:lpstr>
      <vt:lpstr>宋体</vt:lpstr>
      <vt:lpstr>Arial Unicode MS</vt:lpstr>
      <vt:lpstr>宋体</vt:lpstr>
      <vt:lpstr>微软雅黑</vt:lpstr>
      <vt:lpstr>Calibri</vt:lpstr>
      <vt:lpstr>Noto Sans SC</vt:lpstr>
      <vt:lpstr>Poppins</vt:lpstr>
      <vt:lpstr>Segoe UI Black</vt:lpstr>
      <vt:lpstr>Arial Bold</vt:lpstr>
      <vt:lpstr>仿宋</vt:lpstr>
      <vt:lpstr>思源黑体 CN Regular</vt:lpstr>
      <vt:lpstr>Thonburi</vt:lpstr>
      <vt:lpstr>汉仪中黑KW</vt:lpstr>
      <vt:lpstr>苹方-简</vt:lpstr>
      <vt:lpstr>汉仪中等线KW</vt:lpstr>
      <vt:lpstr>方正仿宋_GBK</vt:lpstr>
      <vt:lpstr>KPMG Extralight</vt:lpstr>
      <vt:lpstr>微软雅黑</vt:lpstr>
      <vt:lpstr>MiSans</vt:lpstr>
      <vt:lpstr>Noto Sans SC</vt:lpstr>
      <vt:lpstr>Poppins</vt:lpstr>
      <vt:lpstr>Wingdings</vt:lpstr>
      <vt:lpstr>仿宋</vt:lpstr>
      <vt:lpstr>思源黑体 CN Regular</vt:lpstr>
      <vt:lpstr>等线</vt:lpstr>
      <vt:lpstr>KPMG Bold</vt:lpstr>
      <vt:lpstr>7_KPMG_Talkbook_4x3_1021_2015</vt:lpstr>
      <vt:lpstr>KPMG_Widescreen_16:9 02/02/2016</vt:lpstr>
      <vt:lpstr>1_KPMG_Widescreen_16:9 02/02/2016</vt:lpstr>
      <vt:lpstr>2_KPMG_Widescreen_16:9 02/02/2016</vt:lpstr>
      <vt:lpstr>4_KPMG_Widescreen_16:9 02/02/2016</vt:lpstr>
      <vt:lpstr>1_5G模板</vt:lpstr>
      <vt:lpstr>1_KPMG Widescreen [16:9] Feb 2022</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KPMG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category>KPMG Confidential</cp:category>
  <cp:lastModifiedBy>这一刻</cp:lastModifiedBy>
  <cp:revision>6558</cp:revision>
  <cp:lastPrinted>2026-04-13T14:35:59Z</cp:lastPrinted>
  <dcterms:created xsi:type="dcterms:W3CDTF">2026-04-13T14:35:59Z</dcterms:created>
  <dcterms:modified xsi:type="dcterms:W3CDTF">2026-04-13T14:35:59Z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2052-12.1.24031.24031</vt:lpwstr>
  </property>
  <property fmtid="{D5CDD505-2E9C-101B-9397-08002B2CF9AE}" pid="4" name="ContentTypeId">
    <vt:lpwstr>0x0101002AB2D2FD19F34B4C81FB877218B32E98</vt:lpwstr>
  </property>
  <property fmtid="{D5CDD505-2E9C-101B-9397-08002B2CF9AE}" pid="5" name="ICV">
    <vt:lpwstr>C3AA4FCFEF200400CD49CA69B1D0537C_42</vt:lpwstr>
  </property>
</Properties>
</file>